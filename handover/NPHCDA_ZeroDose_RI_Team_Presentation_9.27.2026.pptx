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83" r:id="rId3"/>
    <p:sldId id="257" r:id="rId4"/>
    <p:sldId id="258" r:id="rId5"/>
    <p:sldId id="259" r:id="rId6"/>
    <p:sldId id="260" r:id="rId7"/>
    <p:sldId id="261" r:id="rId8"/>
    <p:sldId id="262" r:id="rId9"/>
    <p:sldId id="263" r:id="rId10"/>
    <p:sldId id="282" r:id="rId11"/>
    <p:sldId id="284" r:id="rId12"/>
    <p:sldId id="264" r:id="rId13"/>
    <p:sldId id="265" r:id="rId14"/>
    <p:sldId id="266" r:id="rId15"/>
    <p:sldId id="267" r:id="rId16"/>
    <p:sldId id="268" r:id="rId17"/>
    <p:sldId id="269" r:id="rId18"/>
    <p:sldId id="270" r:id="rId19"/>
    <p:sldId id="271" r:id="rId20"/>
    <p:sldId id="286" r:id="rId21"/>
    <p:sldId id="288" r:id="rId22"/>
    <p:sldId id="272" r:id="rId23"/>
    <p:sldId id="273" r:id="rId24"/>
    <p:sldId id="274" r:id="rId25"/>
    <p:sldId id="275" r:id="rId26"/>
    <p:sldId id="276" r:id="rId27"/>
    <p:sldId id="277" r:id="rId28"/>
    <p:sldId id="293" r:id="rId29"/>
    <p:sldId id="294" r:id="rId30"/>
    <p:sldId id="278" r:id="rId31"/>
    <p:sldId id="279" r:id="rId32"/>
    <p:sldId id="280"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15"/>
    <p:restoredTop sz="94610"/>
  </p:normalViewPr>
  <p:slideViewPr>
    <p:cSldViewPr snapToGrid="0" snapToObjects="1">
      <p:cViewPr varScale="1">
        <p:scale>
          <a:sx n="110" d="100"/>
          <a:sy n="110" d="100"/>
        </p:scale>
        <p:origin x="1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bi Onovo" userId="f5d163b4486c922d" providerId="LiveId" clId="{5C11370D-CF95-43A9-A887-691A76A8B4F0}"/>
    <pc:docChg chg="modSld">
      <pc:chgData name="Amobi Onovo" userId="f5d163b4486c922d" providerId="LiveId" clId="{5C11370D-CF95-43A9-A887-691A76A8B4F0}" dt="2026-08-20T07:57:24.848" v="16" actId="20577"/>
      <pc:docMkLst>
        <pc:docMk/>
      </pc:docMkLst>
      <pc:sldChg chg="modSp mod">
        <pc:chgData name="Amobi Onovo" userId="f5d163b4486c922d" providerId="LiveId" clId="{5C11370D-CF95-43A9-A887-691A76A8B4F0}" dt="2026-08-20T07:57:24.848" v="16" actId="20577"/>
        <pc:sldMkLst>
          <pc:docMk/>
          <pc:sldMk cId="0" sldId="262"/>
        </pc:sldMkLst>
        <pc:spChg chg="mod">
          <ac:chgData name="Amobi Onovo" userId="f5d163b4486c922d" providerId="LiveId" clId="{5C11370D-CF95-43A9-A887-691A76A8B4F0}" dt="2026-08-20T07:57:24.848" v="16" actId="20577"/>
          <ac:spMkLst>
            <pc:docMk/>
            <pc:sldMk cId="0" sldId="26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148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modelling check-in (your portion, after the three project-summary slides). Page references match the numbers printed on each slide. Five main-deck areas plus the Hugging Face application. If you prefer the printed page numbers to match each slide's physical position, the whole deck can be renumbered so this outline becomes slide 4 with content running 5 to 26.</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state-level check was the headline. This is the harder test, because agreement always gets noisier the further down you go.
Against the IHME DTP1 surface - an independent product, different team, different method - our local-government ranking agrees at rho of 0.60 across all 730 matched areas. On the tercile grid, 394 areas fall in the same third on both, 292 are one third apart, and only 44 land in opposite thirds; those 44 are flagged for review rather than buried.
Be precise about the claim. IHME's latest year is 2018 and ours is 2026, so the eight-year gap moves the levels but not the broad geography. We are validating the ordering, not asserting an exact district coverage percentage.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tour on what makes it useful in a room. It re-runs live on new uploads, so a review meeting can work with the latest data. ZARA answers questions in plain language and local languages, locked to the live numbers. And it produces the factsheet and brief in one click, all from the same source of truth, with governance for the DIH.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a:effectLst/>
      </p:bgPr>
    </p:bg>
    <p:spTree>
      <p:nvGrpSpPr>
        <p:cNvPr id="1" name=""/>
        <p:cNvGrpSpPr/>
        <p:nvPr/>
      </p:nvGrpSpPr>
      <p:grpSpPr>
        <a:xfrm>
          <a:off x="0" y="0"/>
          <a:ext cx="0" cy="0"/>
          <a:chOff x="0" y="0"/>
          <a:chExt cx="0" cy="0"/>
        </a:xfrm>
      </p:grpSpPr>
      <p:sp>
        <p:nvSpPr>
          <p:cNvPr id="2" name="Text 0"/>
          <p:cNvSpPr/>
          <p:nvPr/>
        </p:nvSpPr>
        <p:spPr>
          <a:xfrm>
            <a:off x="548640" y="822960"/>
            <a:ext cx="11091672" cy="274320"/>
          </a:xfrm>
          <a:prstGeom prst="rect">
            <a:avLst/>
          </a:prstGeom>
          <a:noFill/>
          <a:ln/>
        </p:spPr>
        <p:txBody>
          <a:bodyPr wrap="square" lIns="0" tIns="0" rIns="0" bIns="0" rtlCol="0" anchor="ctr"/>
          <a:lstStyle/>
          <a:p>
            <a:pPr marL="0" indent="0">
              <a:buNone/>
            </a:pPr>
            <a:r>
              <a:rPr lang="en-US" sz="1400" b="1" kern="0" spc="200" dirty="0">
                <a:solidFill>
                  <a:srgbClr val="9BB8D6"/>
                </a:solidFill>
                <a:latin typeface="Arial" pitchFamily="34" charset="0"/>
                <a:ea typeface="Arial" pitchFamily="34" charset="-122"/>
                <a:cs typeface="Arial" pitchFamily="34" charset="-120"/>
              </a:rPr>
              <a:t>NPHCDA  ·  UNICEF  ·  GAVI</a:t>
            </a:r>
            <a:endParaRPr lang="en-US" sz="1400" dirty="0"/>
          </a:p>
        </p:txBody>
      </p:sp>
      <p:sp>
        <p:nvSpPr>
          <p:cNvPr id="3" name="Text 1"/>
          <p:cNvSpPr/>
          <p:nvPr/>
        </p:nvSpPr>
        <p:spPr>
          <a:xfrm>
            <a:off x="548640" y="1417320"/>
            <a:ext cx="10424160" cy="1737360"/>
          </a:xfrm>
          <a:prstGeom prst="rect">
            <a:avLst/>
          </a:prstGeom>
          <a:noFill/>
          <a:ln/>
        </p:spPr>
        <p:txBody>
          <a:bodyPr wrap="square" lIns="0" tIns="0" rIns="0" bIns="0" rtlCol="0" anchor="t"/>
          <a:lstStyle/>
          <a:p>
            <a:pPr marL="0" indent="0">
              <a:lnSpc>
                <a:spcPct val="115000"/>
              </a:lnSpc>
              <a:buNone/>
            </a:pPr>
            <a:r>
              <a:rPr lang="en-US" sz="4000" b="1" dirty="0">
                <a:solidFill>
                  <a:srgbClr val="FFFFFF"/>
                </a:solidFill>
                <a:latin typeface="Arial" pitchFamily="34" charset="0"/>
                <a:ea typeface="Arial" pitchFamily="34" charset="-122"/>
                <a:cs typeface="Arial" pitchFamily="34" charset="-120"/>
              </a:rPr>
              <a:t>Predictive Modelling of Zero-Dose and</a:t>
            </a:r>
            <a:endParaRPr lang="en-US" sz="4000" dirty="0"/>
          </a:p>
          <a:p>
            <a:r>
              <a:rPr lang="en-US" sz="4000" b="1" dirty="0">
                <a:solidFill>
                  <a:srgbClr val="FFFFFF"/>
                </a:solidFill>
                <a:latin typeface="Arial" pitchFamily="34" charset="0"/>
                <a:ea typeface="Arial" pitchFamily="34" charset="-122"/>
                <a:cs typeface="Arial" pitchFamily="34" charset="-120"/>
              </a:rPr>
              <a:t>Under-Immunized Children for Improved Immunization Decision Making in Nigeria</a:t>
            </a:r>
            <a:endParaRPr lang="en-US" sz="4000" dirty="0"/>
          </a:p>
        </p:txBody>
      </p:sp>
      <p:sp>
        <p:nvSpPr>
          <p:cNvPr id="4" name="Text 2"/>
          <p:cNvSpPr/>
          <p:nvPr/>
        </p:nvSpPr>
        <p:spPr>
          <a:xfrm>
            <a:off x="548640" y="3438331"/>
            <a:ext cx="10424160" cy="365760"/>
          </a:xfrm>
          <a:prstGeom prst="rect">
            <a:avLst/>
          </a:prstGeom>
          <a:noFill/>
          <a:ln/>
        </p:spPr>
        <p:txBody>
          <a:bodyPr wrap="square" lIns="0" tIns="0" rIns="0" bIns="0" rtlCol="0" anchor="t"/>
          <a:lstStyle/>
          <a:p>
            <a:pPr marL="0" indent="0">
              <a:buNone/>
            </a:pPr>
            <a:r>
              <a:rPr lang="en-US" sz="2000" dirty="0">
                <a:solidFill>
                  <a:srgbClr val="CFE0F0"/>
                </a:solidFill>
                <a:latin typeface="Arial" pitchFamily="34" charset="0"/>
                <a:ea typeface="Arial" pitchFamily="34" charset="-122"/>
                <a:cs typeface="Arial" pitchFamily="34" charset="-120"/>
              </a:rPr>
              <a:t>Findings and programme use for the National Routine Immunization (RI) team</a:t>
            </a:r>
            <a:endParaRPr lang="en-US" sz="2000" dirty="0"/>
          </a:p>
        </p:txBody>
      </p:sp>
      <p:sp>
        <p:nvSpPr>
          <p:cNvPr id="5" name="Shape 3"/>
          <p:cNvSpPr/>
          <p:nvPr/>
        </p:nvSpPr>
        <p:spPr>
          <a:xfrm>
            <a:off x="548640" y="3840480"/>
            <a:ext cx="2011680" cy="45720"/>
          </a:xfrm>
          <a:prstGeom prst="rect">
            <a:avLst/>
          </a:prstGeom>
          <a:solidFill>
            <a:srgbClr val="1C7A3D"/>
          </a:solidFill>
          <a:ln/>
        </p:spPr>
        <p:txBody>
          <a:bodyPr/>
          <a:lstStyle/>
          <a:p>
            <a:endParaRPr lang="LID4096"/>
          </a:p>
        </p:txBody>
      </p:sp>
      <p:sp>
        <p:nvSpPr>
          <p:cNvPr id="7" name="Text 5"/>
          <p:cNvSpPr/>
          <p:nvPr/>
        </p:nvSpPr>
        <p:spPr>
          <a:xfrm>
            <a:off x="548640" y="5577840"/>
            <a:ext cx="10424160" cy="777240"/>
          </a:xfrm>
          <a:prstGeom prst="rect">
            <a:avLst/>
          </a:prstGeom>
          <a:noFill/>
          <a:ln/>
        </p:spPr>
        <p:txBody>
          <a:bodyPr wrap="square" lIns="0" tIns="0" rIns="0" bIns="0" rtlCol="0" anchor="t"/>
          <a:lstStyle/>
          <a:p>
            <a:pPr marL="0" indent="0">
              <a:lnSpc>
                <a:spcPct val="125000"/>
              </a:lnSpc>
              <a:buNone/>
            </a:pPr>
            <a:r>
              <a:rPr lang="en-US" sz="1400" dirty="0">
                <a:solidFill>
                  <a:srgbClr val="9BB8D6"/>
                </a:solidFill>
                <a:latin typeface="Arial" pitchFamily="34" charset="0"/>
                <a:ea typeface="Arial" pitchFamily="34" charset="-122"/>
                <a:cs typeface="Arial" pitchFamily="34" charset="-120"/>
              </a:rPr>
              <a:t>Prepared by the CIDRE and Quantium Insights LLC consortium, in technical support of NPHCDA, with UNICEF and Gavi (the global vaccine partnership).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6928" y="530352"/>
            <a:ext cx="11055096"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noProof="0" dirty="0">
                <a:ln>
                  <a:noFill/>
                </a:ln>
                <a:effectLst/>
                <a:uLnTx/>
                <a:uFillTx/>
                <a:latin typeface="Calibri" pitchFamily="34" charset="0"/>
                <a:ea typeface="Calibri" pitchFamily="34" charset="-122"/>
                <a:cs typeface="Calibri" pitchFamily="34" charset="-120"/>
              </a:rPr>
              <a:t>Outline</a:t>
            </a:r>
            <a:endParaRPr kumimoji="0" lang="en-US" sz="3200" b="0" i="0" u="none" strike="noStrike" kern="1200" cap="none" spc="0" normalizeH="0" noProof="0" dirty="0">
              <a:ln>
                <a:noFill/>
              </a:ln>
              <a:effectLst/>
              <a:uLnTx/>
              <a:uFillTx/>
              <a:latin typeface="Calibri" panose="020F0502020204030204"/>
              <a:ea typeface="+mn-ea"/>
              <a:cs typeface="+mn-cs"/>
            </a:endParaRPr>
          </a:p>
        </p:txBody>
      </p:sp>
      <p:sp>
        <p:nvSpPr>
          <p:cNvPr id="5" name="Shape 3"/>
          <p:cNvSpPr/>
          <p:nvPr/>
        </p:nvSpPr>
        <p:spPr>
          <a:xfrm>
            <a:off x="566928" y="173736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68096" y="179222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68096" y="179222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435608" y="173736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Project summary: project journey, outputs and handover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701784" y="173736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66928" y="235915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68096" y="241401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68096" y="241401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435608" y="235915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results and programme messages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701784" y="235915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66928" y="2980944"/>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768096" y="3035808"/>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768096" y="3035808"/>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435608" y="2980944"/>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Modelling approach: state estimates down to LGA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701784" y="2980944"/>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66928" y="3602736"/>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68096" y="3657600"/>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68096" y="365760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435608" y="3602736"/>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External benchmarks and an independent Concordant check</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9701784" y="3602736"/>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66928" y="4224528"/>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768096" y="4279392"/>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768096" y="4279392"/>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435608" y="4224528"/>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Practical use and use cases for decision-making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9701784" y="4224528"/>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66928" y="484632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768096" y="490118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768096" y="490118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435608" y="484632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Methodological considerations: data quality, model transparency, archetype robustness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9701784" y="484632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566928" y="546811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768096" y="552297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768096" y="552297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1435608" y="546811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Hugging Face application: filtering, outputs, programme support and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9701784" y="546811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11164824" y="638251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C7185"/>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3">
            <a:extLst>
              <a:ext uri="{FF2B5EF4-FFF2-40B4-BE49-F238E27FC236}">
                <a16:creationId xmlns:a16="http://schemas.microsoft.com/office/drawing/2014/main" id="{5CC6D308-C2E8-CF34-7DF0-AE0157CC9CF6}"/>
              </a:ext>
            </a:extLst>
          </p:cNvPr>
          <p:cNvSpPr/>
          <p:nvPr/>
        </p:nvSpPr>
        <p:spPr>
          <a:xfrm>
            <a:off x="566928" y="6066361"/>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               </a:t>
            </a:r>
            <a:r>
              <a:rPr kumimoji="0" lang="en-US" sz="1350" b="1" i="0" u="none" strike="noStrike" kern="1200" cap="none" spc="0" normalizeH="0" noProof="0" dirty="0">
                <a:ln>
                  <a:noFill/>
                </a:ln>
                <a:solidFill>
                  <a:schemeClr val="bg1"/>
                </a:solidFill>
                <a:effectLst/>
                <a:uLnTx/>
                <a:uFillTx/>
                <a:latin typeface="Calibri" panose="020F0502020204030204"/>
                <a:ea typeface="+mn-ea"/>
                <a:cs typeface="+mn-cs"/>
              </a:rPr>
              <a:t>Recommendations</a:t>
            </a:r>
            <a:endParaRPr kumimoji="0" lang="LID4096" sz="13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34">
            <a:extLst>
              <a:ext uri="{FF2B5EF4-FFF2-40B4-BE49-F238E27FC236}">
                <a16:creationId xmlns:a16="http://schemas.microsoft.com/office/drawing/2014/main" id="{F76A3AD6-D31E-E1F6-2E19-CF368441A0A2}"/>
              </a:ext>
            </a:extLst>
          </p:cNvPr>
          <p:cNvSpPr/>
          <p:nvPr/>
        </p:nvSpPr>
        <p:spPr>
          <a:xfrm>
            <a:off x="710184" y="611733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8</a:t>
            </a:r>
            <a:endParaRPr kumimoji="0" lang="LID4096" sz="1800" b="0" i="0" u="none" strike="noStrike" kern="1200" cap="none" spc="0" normalizeH="0" noProof="0" dirty="0">
              <a:ln>
                <a:noFill/>
              </a:ln>
              <a:solidFill>
                <a:schemeClr val="bg1"/>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Project journey: inception to handover</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integrated cycle over six months, from assessment to handover.</a:t>
            </a:r>
            <a:endParaRPr lang="en-US" sz="1800" dirty="0"/>
          </a:p>
        </p:txBody>
      </p:sp>
      <p:sp>
        <p:nvSpPr>
          <p:cNvPr id="4" name="Shape 2"/>
          <p:cNvSpPr/>
          <p:nvPr/>
        </p:nvSpPr>
        <p:spPr>
          <a:xfrm>
            <a:off x="1613916" y="1620774"/>
            <a:ext cx="8961120" cy="0"/>
          </a:xfrm>
          <a:prstGeom prst="line">
            <a:avLst/>
          </a:prstGeom>
          <a:noFill/>
          <a:ln w="25400">
            <a:solidFill>
              <a:srgbClr val="C9D6E2"/>
            </a:solidFill>
            <a:prstDash val="solid"/>
          </a:ln>
        </p:spPr>
        <p:txBody>
          <a:bodyPr/>
          <a:lstStyle/>
          <a:p>
            <a:endParaRPr lang="LID4096"/>
          </a:p>
        </p:txBody>
      </p:sp>
      <p:sp>
        <p:nvSpPr>
          <p:cNvPr id="5" name="Text 3"/>
          <p:cNvSpPr/>
          <p:nvPr/>
        </p:nvSpPr>
        <p:spPr>
          <a:xfrm>
            <a:off x="106527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a:t>
            </a:r>
            <a:endParaRPr lang="en-US" sz="1400" dirty="0"/>
          </a:p>
        </p:txBody>
      </p:sp>
      <p:sp>
        <p:nvSpPr>
          <p:cNvPr id="6" name="Shape 4"/>
          <p:cNvSpPr/>
          <p:nvPr/>
        </p:nvSpPr>
        <p:spPr>
          <a:xfrm>
            <a:off x="149504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7" name="Shape 5"/>
          <p:cNvSpPr/>
          <p:nvPr/>
        </p:nvSpPr>
        <p:spPr>
          <a:xfrm>
            <a:off x="54864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65836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Inception and governance</a:t>
            </a:r>
            <a:endParaRPr lang="en-US" sz="1500" dirty="0"/>
          </a:p>
        </p:txBody>
      </p:sp>
      <p:sp>
        <p:nvSpPr>
          <p:cNvPr id="9" name="Text 7"/>
          <p:cNvSpPr/>
          <p:nvPr/>
        </p:nvSpPr>
        <p:spPr>
          <a:xfrm>
            <a:off x="65836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Kickoff, workplan, data inventory, stakeholder alignment</a:t>
            </a:r>
            <a:endParaRPr lang="en-US" sz="1400" dirty="0"/>
          </a:p>
        </p:txBody>
      </p:sp>
      <p:sp>
        <p:nvSpPr>
          <p:cNvPr id="10" name="Text 8"/>
          <p:cNvSpPr/>
          <p:nvPr/>
        </p:nvSpPr>
        <p:spPr>
          <a:xfrm>
            <a:off x="330555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M1-M2</a:t>
            </a:r>
            <a:endParaRPr lang="en-US" sz="1400" dirty="0"/>
          </a:p>
        </p:txBody>
      </p:sp>
      <p:sp>
        <p:nvSpPr>
          <p:cNvPr id="11" name="Shape 9"/>
          <p:cNvSpPr/>
          <p:nvPr/>
        </p:nvSpPr>
        <p:spPr>
          <a:xfrm>
            <a:off x="373532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2" name="Shape 10"/>
          <p:cNvSpPr/>
          <p:nvPr/>
        </p:nvSpPr>
        <p:spPr>
          <a:xfrm>
            <a:off x="278892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3" name="Text 11"/>
          <p:cNvSpPr/>
          <p:nvPr/>
        </p:nvSpPr>
        <p:spPr>
          <a:xfrm>
            <a:off x="289864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Baseline and modelling questions</a:t>
            </a:r>
            <a:endParaRPr lang="en-US" sz="1500" dirty="0"/>
          </a:p>
        </p:txBody>
      </p:sp>
      <p:sp>
        <p:nvSpPr>
          <p:cNvPr id="14" name="Text 12"/>
          <p:cNvSpPr/>
          <p:nvPr/>
        </p:nvSpPr>
        <p:spPr>
          <a:xfrm>
            <a:off x="289864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Readiness review, decision-use questions, use-case matrix</a:t>
            </a:r>
            <a:endParaRPr lang="en-US" sz="1400" dirty="0"/>
          </a:p>
        </p:txBody>
      </p:sp>
      <p:sp>
        <p:nvSpPr>
          <p:cNvPr id="15" name="Text 13"/>
          <p:cNvSpPr/>
          <p:nvPr/>
        </p:nvSpPr>
        <p:spPr>
          <a:xfrm>
            <a:off x="554583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M3</a:t>
            </a:r>
            <a:endParaRPr lang="en-US" sz="1400" dirty="0"/>
          </a:p>
        </p:txBody>
      </p:sp>
      <p:sp>
        <p:nvSpPr>
          <p:cNvPr id="16" name="Shape 14"/>
          <p:cNvSpPr/>
          <p:nvPr/>
        </p:nvSpPr>
        <p:spPr>
          <a:xfrm>
            <a:off x="597560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7" name="Shape 15"/>
          <p:cNvSpPr/>
          <p:nvPr/>
        </p:nvSpPr>
        <p:spPr>
          <a:xfrm>
            <a:off x="502920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8" name="Text 16"/>
          <p:cNvSpPr/>
          <p:nvPr/>
        </p:nvSpPr>
        <p:spPr>
          <a:xfrm>
            <a:off x="513892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Capacity building</a:t>
            </a:r>
            <a:endParaRPr lang="en-US" sz="1500" dirty="0"/>
          </a:p>
        </p:txBody>
      </p:sp>
      <p:sp>
        <p:nvSpPr>
          <p:cNvPr id="19" name="Text 17"/>
          <p:cNvSpPr/>
          <p:nvPr/>
        </p:nvSpPr>
        <p:spPr>
          <a:xfrm>
            <a:off x="513892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Self-learning, virtual class, in-person fellowship, tests</a:t>
            </a:r>
            <a:endParaRPr lang="en-US" sz="1400" dirty="0"/>
          </a:p>
        </p:txBody>
      </p:sp>
      <p:sp>
        <p:nvSpPr>
          <p:cNvPr id="20" name="Text 18"/>
          <p:cNvSpPr/>
          <p:nvPr/>
        </p:nvSpPr>
        <p:spPr>
          <a:xfrm>
            <a:off x="778611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M4-M5</a:t>
            </a:r>
            <a:endParaRPr lang="en-US" sz="1400" dirty="0"/>
          </a:p>
        </p:txBody>
      </p:sp>
      <p:sp>
        <p:nvSpPr>
          <p:cNvPr id="21" name="Shape 19"/>
          <p:cNvSpPr/>
          <p:nvPr/>
        </p:nvSpPr>
        <p:spPr>
          <a:xfrm>
            <a:off x="821588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22" name="Shape 20"/>
          <p:cNvSpPr/>
          <p:nvPr/>
        </p:nvSpPr>
        <p:spPr>
          <a:xfrm>
            <a:off x="726948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737920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Applied modelling</a:t>
            </a:r>
            <a:endParaRPr lang="en-US" sz="1500" dirty="0"/>
          </a:p>
        </p:txBody>
      </p:sp>
      <p:sp>
        <p:nvSpPr>
          <p:cNvPr id="24" name="Text 22"/>
          <p:cNvSpPr/>
          <p:nvPr/>
        </p:nvSpPr>
        <p:spPr>
          <a:xfrm>
            <a:off x="737920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Group mentorship, abstracts, model validation, domain outputs</a:t>
            </a:r>
            <a:endParaRPr lang="en-US" sz="1400" dirty="0"/>
          </a:p>
        </p:txBody>
      </p:sp>
      <p:sp>
        <p:nvSpPr>
          <p:cNvPr id="25" name="Text 23"/>
          <p:cNvSpPr/>
          <p:nvPr/>
        </p:nvSpPr>
        <p:spPr>
          <a:xfrm>
            <a:off x="10026396" y="1227582"/>
            <a:ext cx="1097280" cy="237744"/>
          </a:xfrm>
          <a:prstGeom prst="rect">
            <a:avLst/>
          </a:prstGeom>
          <a:noFill/>
          <a:ln/>
        </p:spPr>
        <p:txBody>
          <a:bodyPr wrap="square" lIns="0" tIns="0" rIns="0" bIns="0" rtlCol="0" anchor="t"/>
          <a:lstStyle/>
          <a:p>
            <a:pPr marL="0" indent="0" algn="ctr">
              <a:buNone/>
            </a:pPr>
            <a:r>
              <a:rPr lang="en-US" sz="1400" b="1" dirty="0">
                <a:solidFill>
                  <a:srgbClr val="1C7A3D"/>
                </a:solidFill>
                <a:latin typeface="Arial" pitchFamily="34" charset="0"/>
                <a:ea typeface="Arial" pitchFamily="34" charset="-122"/>
                <a:cs typeface="Arial" pitchFamily="34" charset="-120"/>
              </a:rPr>
              <a:t>M6</a:t>
            </a:r>
            <a:endParaRPr lang="en-US" sz="1400" dirty="0"/>
          </a:p>
        </p:txBody>
      </p:sp>
      <p:sp>
        <p:nvSpPr>
          <p:cNvPr id="26" name="Shape 24"/>
          <p:cNvSpPr/>
          <p:nvPr/>
        </p:nvSpPr>
        <p:spPr>
          <a:xfrm>
            <a:off x="10456164" y="1501902"/>
            <a:ext cx="237744" cy="237744"/>
          </a:xfrm>
          <a:prstGeom prst="ellipse">
            <a:avLst/>
          </a:prstGeom>
          <a:solidFill>
            <a:srgbClr val="1C7A3D"/>
          </a:solidFill>
          <a:ln w="19050">
            <a:solidFill>
              <a:srgbClr val="FFFFFF"/>
            </a:solidFill>
            <a:prstDash val="solid"/>
          </a:ln>
        </p:spPr>
        <p:txBody>
          <a:bodyPr/>
          <a:lstStyle/>
          <a:p>
            <a:endParaRPr lang="LID4096"/>
          </a:p>
        </p:txBody>
      </p:sp>
      <p:sp>
        <p:nvSpPr>
          <p:cNvPr id="27" name="Shape 25"/>
          <p:cNvSpPr/>
          <p:nvPr/>
        </p:nvSpPr>
        <p:spPr>
          <a:xfrm>
            <a:off x="9509760" y="1885950"/>
            <a:ext cx="2130552" cy="1363828"/>
          </a:xfrm>
          <a:prstGeom prst="rect">
            <a:avLst/>
          </a:prstGeom>
          <a:solidFill>
            <a:srgbClr val="E7F1EB"/>
          </a:solidFill>
          <a:ln w="9525">
            <a:solidFill>
              <a:srgbClr val="C9D6E2"/>
            </a:solidFill>
            <a:prstDash val="solid"/>
          </a:ln>
        </p:spPr>
        <p:txBody>
          <a:bodyPr/>
          <a:lstStyle/>
          <a:p>
            <a:endParaRPr lang="LID4096"/>
          </a:p>
        </p:txBody>
      </p:sp>
      <p:sp>
        <p:nvSpPr>
          <p:cNvPr id="28" name="Text 26"/>
          <p:cNvSpPr/>
          <p:nvPr/>
        </p:nvSpPr>
        <p:spPr>
          <a:xfrm>
            <a:off x="961948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Endline, Integration and handover</a:t>
            </a:r>
            <a:endParaRPr lang="en-US" sz="1500" dirty="0"/>
          </a:p>
        </p:txBody>
      </p:sp>
      <p:sp>
        <p:nvSpPr>
          <p:cNvPr id="29" name="Text 27"/>
          <p:cNvSpPr/>
          <p:nvPr/>
        </p:nvSpPr>
        <p:spPr>
          <a:xfrm>
            <a:off x="961948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No-code app, ZARA, procedures, user guides, endline, closeout</a:t>
            </a:r>
            <a:endParaRPr lang="en-US" sz="1400" dirty="0"/>
          </a:p>
        </p:txBody>
      </p:sp>
      <p:sp>
        <p:nvSpPr>
          <p:cNvPr id="30" name="Text 28"/>
          <p:cNvSpPr/>
          <p:nvPr/>
        </p:nvSpPr>
        <p:spPr>
          <a:xfrm>
            <a:off x="548640"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Delivery stream</a:t>
            </a:r>
            <a:endParaRPr lang="en-US" sz="1800" dirty="0"/>
          </a:p>
        </p:txBody>
      </p:sp>
      <p:sp>
        <p:nvSpPr>
          <p:cNvPr id="31" name="Text 29"/>
          <p:cNvSpPr/>
          <p:nvPr/>
        </p:nvSpPr>
        <p:spPr>
          <a:xfrm>
            <a:off x="786384"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Baseline assessment - documented status, infrastructure, staff capacity and governance.</a:t>
            </a:r>
            <a:endParaRPr lang="en-US" sz="1800" dirty="0"/>
          </a:p>
        </p:txBody>
      </p:sp>
      <p:sp>
        <p:nvSpPr>
          <p:cNvPr id="32" name="Shape 30"/>
          <p:cNvSpPr/>
          <p:nvPr/>
        </p:nvSpPr>
        <p:spPr>
          <a:xfrm>
            <a:off x="603504"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33" name="Text 31"/>
          <p:cNvSpPr/>
          <p:nvPr/>
        </p:nvSpPr>
        <p:spPr>
          <a:xfrm>
            <a:off x="786384"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Modelling questions refined into eight domains aligned to NPHCDA decision needs.</a:t>
            </a:r>
            <a:endParaRPr lang="en-US" sz="1800" dirty="0"/>
          </a:p>
        </p:txBody>
      </p:sp>
      <p:sp>
        <p:nvSpPr>
          <p:cNvPr id="34" name="Shape 32"/>
          <p:cNvSpPr/>
          <p:nvPr/>
        </p:nvSpPr>
        <p:spPr>
          <a:xfrm>
            <a:off x="603504"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86384"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fellowship combined virtual learning, in-person modelling, and supervised group work.</a:t>
            </a:r>
            <a:endParaRPr lang="en-US" sz="1800" dirty="0"/>
          </a:p>
        </p:txBody>
      </p:sp>
      <p:sp>
        <p:nvSpPr>
          <p:cNvPr id="36" name="Shape 34"/>
          <p:cNvSpPr/>
          <p:nvPr/>
        </p:nvSpPr>
        <p:spPr>
          <a:xfrm>
            <a:off x="603504"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37" name="Text 35"/>
          <p:cNvSpPr/>
          <p:nvPr/>
        </p:nvSpPr>
        <p:spPr>
          <a:xfrm>
            <a:off x="6291072"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Evidence of implementation</a:t>
            </a:r>
            <a:endParaRPr lang="en-US" sz="1800" dirty="0"/>
          </a:p>
        </p:txBody>
      </p:sp>
      <p:sp>
        <p:nvSpPr>
          <p:cNvPr id="38" name="Text 36"/>
          <p:cNvSpPr/>
          <p:nvPr/>
        </p:nvSpPr>
        <p:spPr>
          <a:xfrm>
            <a:off x="6528816"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Abstract presentations turned model outputs into policy-facing products.</a:t>
            </a:r>
            <a:endParaRPr lang="en-US" sz="1800" dirty="0"/>
          </a:p>
        </p:txBody>
      </p:sp>
      <p:sp>
        <p:nvSpPr>
          <p:cNvPr id="39" name="Shape 37"/>
          <p:cNvSpPr/>
          <p:nvPr/>
        </p:nvSpPr>
        <p:spPr>
          <a:xfrm>
            <a:off x="6345936"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40" name="Text 38"/>
          <p:cNvSpPr/>
          <p:nvPr/>
        </p:nvSpPr>
        <p:spPr>
          <a:xfrm>
            <a:off x="6528816"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Endline assessment - measured uptake, readiness gains and remaining barriers.</a:t>
            </a:r>
            <a:endParaRPr lang="en-US" sz="1800" dirty="0"/>
          </a:p>
        </p:txBody>
      </p:sp>
      <p:sp>
        <p:nvSpPr>
          <p:cNvPr id="41" name="Shape 39"/>
          <p:cNvSpPr/>
          <p:nvPr/>
        </p:nvSpPr>
        <p:spPr>
          <a:xfrm>
            <a:off x="6345936"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42" name="Text 40"/>
          <p:cNvSpPr/>
          <p:nvPr/>
        </p:nvSpPr>
        <p:spPr>
          <a:xfrm>
            <a:off x="6528816"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Handover packaged models, documentation, dashboards and recommendations.</a:t>
            </a:r>
            <a:endParaRPr lang="en-US" sz="1800" dirty="0"/>
          </a:p>
        </p:txBody>
      </p:sp>
      <p:sp>
        <p:nvSpPr>
          <p:cNvPr id="43" name="Shape 41"/>
          <p:cNvSpPr/>
          <p:nvPr/>
        </p:nvSpPr>
        <p:spPr>
          <a:xfrm>
            <a:off x="6345936"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44" name="Text 42"/>
          <p:cNvSpPr/>
          <p:nvPr/>
        </p:nvSpPr>
        <p:spPr>
          <a:xfrm>
            <a:off x="548640" y="571408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Key achievement: from one-off training to a modelling workflow NPHCDA now runs in-house.</a:t>
            </a:r>
            <a:endParaRPr lang="en-US" sz="1800" dirty="0"/>
          </a:p>
        </p:txBody>
      </p:sp>
      <p:sp>
        <p:nvSpPr>
          <p:cNvPr id="45" name="Text 4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project record, January to June 2026. DIH = Digital Innovation Hub, the agency's in-house data team; ZARA = Zero-dose Analytics and Risk Assistant.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seven research questions</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Agreed with NPHCDA as the scope of work. Seven domains, one shared question: who is missed, where, and why.</a:t>
            </a:r>
            <a:endParaRPr lang="en-US" sz="1800" dirty="0"/>
          </a:p>
        </p:txBody>
      </p:sp>
      <p:sp>
        <p:nvSpPr>
          <p:cNvPr id="4" name="Shape 2"/>
          <p:cNvSpPr/>
          <p:nvPr/>
        </p:nvSpPr>
        <p:spPr>
          <a:xfrm>
            <a:off x="548640"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31520"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1</a:t>
            </a:r>
            <a:endParaRPr lang="en-US" sz="1400" dirty="0"/>
          </a:p>
        </p:txBody>
      </p:sp>
      <p:sp>
        <p:nvSpPr>
          <p:cNvPr id="6" name="Text 4"/>
          <p:cNvSpPr/>
          <p:nvPr/>
        </p:nvSpPr>
        <p:spPr>
          <a:xfrm>
            <a:off x="731520" y="1842516"/>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Which antigens are at risk of falling below the 80 percent coverage target in the next 6 to 12 months?</a:t>
            </a:r>
            <a:endParaRPr lang="en-US" sz="1800" dirty="0"/>
          </a:p>
        </p:txBody>
      </p:sp>
      <p:sp>
        <p:nvSpPr>
          <p:cNvPr id="7" name="Shape 5"/>
          <p:cNvSpPr/>
          <p:nvPr/>
        </p:nvSpPr>
        <p:spPr>
          <a:xfrm>
            <a:off x="548640"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731520"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2</a:t>
            </a:r>
            <a:endParaRPr lang="en-US" sz="1400" dirty="0"/>
          </a:p>
        </p:txBody>
      </p:sp>
      <p:sp>
        <p:nvSpPr>
          <p:cNvPr id="9" name="Text 7"/>
          <p:cNvSpPr/>
          <p:nvPr/>
        </p:nvSpPr>
        <p:spPr>
          <a:xfrm>
            <a:off x="731520" y="3012948"/>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What are the dropout rates across antigen pairs, and what drives incomplete vaccination?</a:t>
            </a:r>
            <a:endParaRPr lang="en-US" sz="1800" dirty="0"/>
          </a:p>
        </p:txBody>
      </p:sp>
      <p:sp>
        <p:nvSpPr>
          <p:cNvPr id="10" name="Shape 8"/>
          <p:cNvSpPr/>
          <p:nvPr/>
        </p:nvSpPr>
        <p:spPr>
          <a:xfrm>
            <a:off x="548640"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11" name="Text 9"/>
          <p:cNvSpPr/>
          <p:nvPr/>
        </p:nvSpPr>
        <p:spPr>
          <a:xfrm>
            <a:off x="731520"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3</a:t>
            </a:r>
            <a:endParaRPr lang="en-US" sz="1400" dirty="0"/>
          </a:p>
        </p:txBody>
      </p:sp>
      <p:sp>
        <p:nvSpPr>
          <p:cNvPr id="12" name="Text 10"/>
          <p:cNvSpPr/>
          <p:nvPr/>
        </p:nvSpPr>
        <p:spPr>
          <a:xfrm>
            <a:off x="731520"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does zero-dose risk vary by place, wealth, education and access?</a:t>
            </a:r>
            <a:endParaRPr lang="en-US" sz="1800" dirty="0"/>
          </a:p>
        </p:txBody>
      </p:sp>
      <p:sp>
        <p:nvSpPr>
          <p:cNvPr id="13" name="Shape 11"/>
          <p:cNvSpPr/>
          <p:nvPr/>
        </p:nvSpPr>
        <p:spPr>
          <a:xfrm>
            <a:off x="548640" y="5006340"/>
            <a:ext cx="5349240" cy="1042416"/>
          </a:xfrm>
          <a:prstGeom prst="rect">
            <a:avLst/>
          </a:prstGeom>
          <a:solidFill>
            <a:srgbClr val="EEF2F6"/>
          </a:solidFill>
          <a:ln w="9525">
            <a:solidFill>
              <a:srgbClr val="C9D6E2"/>
            </a:solidFill>
            <a:prstDash val="solid"/>
          </a:ln>
        </p:spPr>
        <p:txBody>
          <a:bodyPr/>
          <a:lstStyle/>
          <a:p>
            <a:endParaRPr lang="LID4096"/>
          </a:p>
        </p:txBody>
      </p:sp>
      <p:sp>
        <p:nvSpPr>
          <p:cNvPr id="14" name="Text 12"/>
          <p:cNvSpPr/>
          <p:nvPr/>
        </p:nvSpPr>
        <p:spPr>
          <a:xfrm>
            <a:off x="731520" y="5088636"/>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4</a:t>
            </a:r>
            <a:endParaRPr lang="en-US" sz="1400" dirty="0"/>
          </a:p>
        </p:txBody>
      </p:sp>
      <p:sp>
        <p:nvSpPr>
          <p:cNvPr id="15" name="Text 13"/>
          <p:cNvSpPr/>
          <p:nvPr/>
        </p:nvSpPr>
        <p:spPr>
          <a:xfrm>
            <a:off x="731520" y="5353812"/>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far does vaccine hesitancy explain coverage shortfalls?</a:t>
            </a:r>
            <a:endParaRPr lang="en-US" sz="1800" dirty="0"/>
          </a:p>
        </p:txBody>
      </p:sp>
      <p:sp>
        <p:nvSpPr>
          <p:cNvPr id="16" name="Shape 14"/>
          <p:cNvSpPr/>
          <p:nvPr/>
        </p:nvSpPr>
        <p:spPr>
          <a:xfrm>
            <a:off x="6291072"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17" name="Text 15"/>
          <p:cNvSpPr/>
          <p:nvPr/>
        </p:nvSpPr>
        <p:spPr>
          <a:xfrm>
            <a:off x="6473952"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5</a:t>
            </a:r>
            <a:endParaRPr lang="en-US" sz="1400" dirty="0"/>
          </a:p>
        </p:txBody>
      </p:sp>
      <p:sp>
        <p:nvSpPr>
          <p:cNvPr id="18" name="Text 16"/>
          <p:cNvSpPr/>
          <p:nvPr/>
        </p:nvSpPr>
        <p:spPr>
          <a:xfrm>
            <a:off x="6473952" y="1842516"/>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do zero-dose children concentrate, who are they, and where do we act first?</a:t>
            </a:r>
            <a:endParaRPr lang="en-US" sz="1800" dirty="0"/>
          </a:p>
        </p:txBody>
      </p:sp>
      <p:sp>
        <p:nvSpPr>
          <p:cNvPr id="19" name="Shape 17"/>
          <p:cNvSpPr/>
          <p:nvPr/>
        </p:nvSpPr>
        <p:spPr>
          <a:xfrm>
            <a:off x="6291072"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20" name="Text 18"/>
          <p:cNvSpPr/>
          <p:nvPr/>
        </p:nvSpPr>
        <p:spPr>
          <a:xfrm>
            <a:off x="6473952"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6</a:t>
            </a:r>
            <a:endParaRPr lang="en-US" sz="1400" dirty="0"/>
          </a:p>
        </p:txBody>
      </p:sp>
      <p:sp>
        <p:nvSpPr>
          <p:cNvPr id="21" name="Text 19"/>
          <p:cNvSpPr/>
          <p:nvPr/>
        </p:nvSpPr>
        <p:spPr>
          <a:xfrm>
            <a:off x="6473952" y="3012948"/>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polio-detection and transmission risk highest on the path to certification?</a:t>
            </a:r>
            <a:endParaRPr lang="en-US" sz="1800" dirty="0"/>
          </a:p>
        </p:txBody>
      </p:sp>
      <p:sp>
        <p:nvSpPr>
          <p:cNvPr id="22" name="Shape 20"/>
          <p:cNvSpPr/>
          <p:nvPr/>
        </p:nvSpPr>
        <p:spPr>
          <a:xfrm>
            <a:off x="6291072"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6473952"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7</a:t>
            </a:r>
            <a:endParaRPr lang="en-US" sz="1400" dirty="0"/>
          </a:p>
        </p:txBody>
      </p:sp>
      <p:sp>
        <p:nvSpPr>
          <p:cNvPr id="24" name="Text 22"/>
          <p:cNvSpPr/>
          <p:nvPr/>
        </p:nvSpPr>
        <p:spPr>
          <a:xfrm>
            <a:off x="6473952"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outbreak risk highest, and how does it link to child deaths?</a:t>
            </a:r>
            <a:endParaRPr lang="en-US" sz="1800" dirty="0"/>
          </a:p>
        </p:txBody>
      </p:sp>
      <p:sp>
        <p:nvSpPr>
          <p:cNvPr id="25" name="Shape 23"/>
          <p:cNvSpPr/>
          <p:nvPr/>
        </p:nvSpPr>
        <p:spPr>
          <a:xfrm>
            <a:off x="6291072" y="5006340"/>
            <a:ext cx="5349240" cy="1042416"/>
          </a:xfrm>
          <a:prstGeom prst="rect">
            <a:avLst/>
          </a:prstGeom>
          <a:solidFill>
            <a:srgbClr val="E7F1EB"/>
          </a:solidFill>
          <a:ln w="9525">
            <a:solidFill>
              <a:srgbClr val="C9D6E2"/>
            </a:solidFill>
            <a:prstDash val="solid"/>
          </a:ln>
        </p:spPr>
        <p:txBody>
          <a:bodyPr/>
          <a:lstStyle/>
          <a:p>
            <a:endParaRPr lang="LID4096"/>
          </a:p>
        </p:txBody>
      </p:sp>
      <p:sp>
        <p:nvSpPr>
          <p:cNvPr id="26" name="Text 24"/>
          <p:cNvSpPr/>
          <p:nvPr/>
        </p:nvSpPr>
        <p:spPr>
          <a:xfrm>
            <a:off x="6473952" y="5170932"/>
            <a:ext cx="4983480" cy="777240"/>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Domains 1 to 7 are complete and validated. Domain 8, on campaign design and costing, awaits data from NPHCDA.</a:t>
            </a:r>
            <a:endParaRPr lang="en-US" sz="1800" dirty="0"/>
          </a:p>
        </p:txBody>
      </p:sp>
      <p:sp>
        <p:nvSpPr>
          <p:cNvPr id="27" name="Text 2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scope of work agreed with NPHCDA, 2026. LGA = local government area; RI = routine immunization.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modelling journey, end to end</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We brought many data sources together, checked them, and turned the results into a priority list and simple web tool.</a:t>
            </a:r>
          </a:p>
          <a:p>
            <a:pPr marL="0" indent="0">
              <a:buNone/>
            </a:pPr>
            <a:endParaRPr lang="en-US" sz="1800" dirty="0">
              <a:solidFill>
                <a:srgbClr val="45596B"/>
              </a:solidFill>
              <a:latin typeface="Arial" pitchFamily="34" charset="0"/>
              <a:ea typeface="Arial" pitchFamily="34" charset="-122"/>
              <a:cs typeface="Arial" pitchFamily="34" charset="-120"/>
            </a:endParaRPr>
          </a:p>
        </p:txBody>
      </p:sp>
      <p:sp>
        <p:nvSpPr>
          <p:cNvPr id="4" name="Text 2"/>
          <p:cNvSpPr/>
          <p:nvPr/>
        </p:nvSpPr>
        <p:spPr>
          <a:xfrm>
            <a:off x="548640" y="138988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1 · PREPARE</a:t>
            </a:r>
            <a:endParaRPr lang="en-US" sz="1200" dirty="0"/>
          </a:p>
        </p:txBody>
      </p:sp>
      <p:sp>
        <p:nvSpPr>
          <p:cNvPr id="5" name="Shape 3"/>
          <p:cNvSpPr/>
          <p:nvPr/>
        </p:nvSpPr>
        <p:spPr>
          <a:xfrm>
            <a:off x="1600200"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6" name="Text 4"/>
          <p:cNvSpPr/>
          <p:nvPr/>
        </p:nvSpPr>
        <p:spPr>
          <a:xfrm>
            <a:off x="1673352"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Data retrieval</a:t>
            </a:r>
            <a:endParaRPr lang="en-US" sz="1200" dirty="0"/>
          </a:p>
        </p:txBody>
      </p:sp>
      <p:sp>
        <p:nvSpPr>
          <p:cNvPr id="7" name="Text 5"/>
          <p:cNvSpPr/>
          <p:nvPr/>
        </p:nvSpPr>
        <p:spPr>
          <a:xfrm>
            <a:off x="1673352" y="1733017"/>
            <a:ext cx="2151126" cy="807987"/>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Routine immunization records, household surveys, population data, maps, travel-time data and surveillance records</a:t>
            </a:r>
          </a:p>
        </p:txBody>
      </p:sp>
      <p:sp>
        <p:nvSpPr>
          <p:cNvPr id="8" name="Shape 6"/>
          <p:cNvSpPr/>
          <p:nvPr/>
        </p:nvSpPr>
        <p:spPr>
          <a:xfrm>
            <a:off x="3920490"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9" name="Shape 7"/>
          <p:cNvSpPr/>
          <p:nvPr/>
        </p:nvSpPr>
        <p:spPr>
          <a:xfrm>
            <a:off x="4181094"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0" name="Text 8"/>
          <p:cNvSpPr/>
          <p:nvPr/>
        </p:nvSpPr>
        <p:spPr>
          <a:xfrm>
            <a:off x="4254246" y="1463040"/>
            <a:ext cx="2151126" cy="384505"/>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Harmonization and triangulation</a:t>
            </a:r>
            <a:endParaRPr lang="en-US" sz="1200" dirty="0"/>
          </a:p>
        </p:txBody>
      </p:sp>
      <p:sp>
        <p:nvSpPr>
          <p:cNvPr id="11" name="Text 9"/>
          <p:cNvSpPr/>
          <p:nvPr/>
        </p:nvSpPr>
        <p:spPr>
          <a:xfrm>
            <a:off x="4254246" y="1902409"/>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Make sure state and local government names match across files</a:t>
            </a:r>
          </a:p>
        </p:txBody>
      </p:sp>
      <p:sp>
        <p:nvSpPr>
          <p:cNvPr id="12" name="Shape 10"/>
          <p:cNvSpPr/>
          <p:nvPr/>
        </p:nvSpPr>
        <p:spPr>
          <a:xfrm>
            <a:off x="6501384"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3" name="Shape 11"/>
          <p:cNvSpPr/>
          <p:nvPr/>
        </p:nvSpPr>
        <p:spPr>
          <a:xfrm>
            <a:off x="6761988"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4" name="Text 12"/>
          <p:cNvSpPr/>
          <p:nvPr/>
        </p:nvSpPr>
        <p:spPr>
          <a:xfrm>
            <a:off x="6835140"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Pre-processing</a:t>
            </a:r>
            <a:endParaRPr lang="en-US" sz="1200" dirty="0"/>
          </a:p>
        </p:txBody>
      </p:sp>
      <p:sp>
        <p:nvSpPr>
          <p:cNvPr id="15" name="Text 13"/>
          <p:cNvSpPr/>
          <p:nvPr/>
        </p:nvSpPr>
        <p:spPr>
          <a:xfrm>
            <a:off x="6835140"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Check missing records, reporting gaps and population figures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16" name="Shape 14"/>
          <p:cNvSpPr/>
          <p:nvPr/>
        </p:nvSpPr>
        <p:spPr>
          <a:xfrm>
            <a:off x="9082278"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7" name="Shape 15"/>
          <p:cNvSpPr/>
          <p:nvPr/>
        </p:nvSpPr>
        <p:spPr>
          <a:xfrm>
            <a:off x="9342882"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8" name="Text 16"/>
          <p:cNvSpPr/>
          <p:nvPr/>
        </p:nvSpPr>
        <p:spPr>
          <a:xfrm>
            <a:off x="9416034"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Feature engineering</a:t>
            </a:r>
            <a:endParaRPr lang="en-US" sz="1200" dirty="0"/>
          </a:p>
        </p:txBody>
      </p:sp>
      <p:sp>
        <p:nvSpPr>
          <p:cNvPr id="19" name="Text 17"/>
          <p:cNvSpPr/>
          <p:nvPr/>
        </p:nvSpPr>
        <p:spPr>
          <a:xfrm>
            <a:off x="9416034"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Missed children, dropout, child population and local barriers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20" name="Shape 18"/>
          <p:cNvSpPr/>
          <p:nvPr/>
        </p:nvSpPr>
        <p:spPr>
          <a:xfrm>
            <a:off x="6519672" y="2834640"/>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21" name="Text 19"/>
          <p:cNvSpPr/>
          <p:nvPr/>
        </p:nvSpPr>
        <p:spPr>
          <a:xfrm>
            <a:off x="548640" y="312724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2 · ANALYSE</a:t>
            </a:r>
            <a:endParaRPr lang="en-US" sz="1200" dirty="0"/>
          </a:p>
        </p:txBody>
      </p:sp>
      <p:sp>
        <p:nvSpPr>
          <p:cNvPr id="22" name="Shape 20"/>
          <p:cNvSpPr/>
          <p:nvPr/>
        </p:nvSpPr>
        <p:spPr>
          <a:xfrm>
            <a:off x="160020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3" name="Text 21"/>
          <p:cNvSpPr/>
          <p:nvPr/>
        </p:nvSpPr>
        <p:spPr>
          <a:xfrm>
            <a:off x="167335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Statistical analysis</a:t>
            </a:r>
            <a:endParaRPr lang="en-US" sz="1100" dirty="0"/>
          </a:p>
        </p:txBody>
      </p:sp>
      <p:sp>
        <p:nvSpPr>
          <p:cNvPr id="24" name="Text 22"/>
          <p:cNvSpPr/>
          <p:nvPr/>
        </p:nvSpPr>
        <p:spPr>
          <a:xfrm>
            <a:off x="1673352"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LASSO driver selection</a:t>
            </a:r>
            <a:endParaRPr lang="en-US" sz="900" dirty="0"/>
          </a:p>
        </p:txBody>
      </p:sp>
      <p:sp>
        <p:nvSpPr>
          <p:cNvPr id="25" name="Shape 23"/>
          <p:cNvSpPr/>
          <p:nvPr/>
        </p:nvSpPr>
        <p:spPr>
          <a:xfrm>
            <a:off x="3046258"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6" name="Text 24"/>
          <p:cNvSpPr/>
          <p:nvPr/>
        </p:nvSpPr>
        <p:spPr>
          <a:xfrm>
            <a:off x="3119410"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Machine learning</a:t>
            </a:r>
            <a:endParaRPr lang="en-US" sz="1100" dirty="0"/>
          </a:p>
        </p:txBody>
      </p:sp>
      <p:sp>
        <p:nvSpPr>
          <p:cNvPr id="27" name="Text 25"/>
          <p:cNvSpPr/>
          <p:nvPr/>
        </p:nvSpPr>
        <p:spPr>
          <a:xfrm>
            <a:off x="3119410" y="3456261"/>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Create five easy-to-use community types</a:t>
            </a:r>
          </a:p>
        </p:txBody>
      </p:sp>
      <p:sp>
        <p:nvSpPr>
          <p:cNvPr id="28" name="Shape 26"/>
          <p:cNvSpPr/>
          <p:nvPr/>
        </p:nvSpPr>
        <p:spPr>
          <a:xfrm>
            <a:off x="4492317"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9" name="Text 27"/>
          <p:cNvSpPr/>
          <p:nvPr/>
        </p:nvSpPr>
        <p:spPr>
          <a:xfrm>
            <a:off x="4565469"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analysis</a:t>
            </a:r>
            <a:endParaRPr lang="en-US" sz="1100" dirty="0"/>
          </a:p>
        </p:txBody>
      </p:sp>
      <p:sp>
        <p:nvSpPr>
          <p:cNvPr id="30" name="Text 28"/>
          <p:cNvSpPr/>
          <p:nvPr/>
        </p:nvSpPr>
        <p:spPr>
          <a:xfrm>
            <a:off x="4565469"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where the problem is concentrated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1" name="Shape 29"/>
          <p:cNvSpPr/>
          <p:nvPr/>
        </p:nvSpPr>
        <p:spPr>
          <a:xfrm>
            <a:off x="5938375"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2" name="Text 30"/>
          <p:cNvSpPr/>
          <p:nvPr/>
        </p:nvSpPr>
        <p:spPr>
          <a:xfrm>
            <a:off x="6011527"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Time-series forecasting</a:t>
            </a:r>
            <a:endParaRPr lang="en-US" sz="1100" dirty="0"/>
          </a:p>
        </p:txBody>
      </p:sp>
      <p:sp>
        <p:nvSpPr>
          <p:cNvPr id="33" name="Text 31"/>
          <p:cNvSpPr/>
          <p:nvPr/>
        </p:nvSpPr>
        <p:spPr>
          <a:xfrm>
            <a:off x="6011527"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where coverage or completion may fall</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4" name="Shape 32"/>
          <p:cNvSpPr/>
          <p:nvPr/>
        </p:nvSpPr>
        <p:spPr>
          <a:xfrm>
            <a:off x="7384433"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457585"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Bayesian regression</a:t>
            </a:r>
            <a:endParaRPr lang="en-US" sz="1100" dirty="0"/>
          </a:p>
        </p:txBody>
      </p:sp>
      <p:sp>
        <p:nvSpPr>
          <p:cNvPr id="36" name="Text 34"/>
          <p:cNvSpPr/>
          <p:nvPr/>
        </p:nvSpPr>
        <p:spPr>
          <a:xfrm>
            <a:off x="7457585" y="3611537"/>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how many children are being missed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7" name="Shape 35"/>
          <p:cNvSpPr/>
          <p:nvPr/>
        </p:nvSpPr>
        <p:spPr>
          <a:xfrm>
            <a:off x="8830491"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8" name="Text 36"/>
          <p:cNvSpPr/>
          <p:nvPr/>
        </p:nvSpPr>
        <p:spPr>
          <a:xfrm>
            <a:off x="8903643"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MGWR</a:t>
            </a:r>
            <a:endParaRPr lang="en-US" sz="1100" dirty="0"/>
          </a:p>
        </p:txBody>
      </p:sp>
      <p:sp>
        <p:nvSpPr>
          <p:cNvPr id="39" name="Text 37"/>
          <p:cNvSpPr/>
          <p:nvPr/>
        </p:nvSpPr>
        <p:spPr>
          <a:xfrm>
            <a:off x="8903643"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why different areas need different responses</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0" name="Shape 38"/>
          <p:cNvSpPr/>
          <p:nvPr/>
        </p:nvSpPr>
        <p:spPr>
          <a:xfrm>
            <a:off x="1027655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41" name="Text 39"/>
          <p:cNvSpPr/>
          <p:nvPr/>
        </p:nvSpPr>
        <p:spPr>
          <a:xfrm>
            <a:off x="1034970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scan statistics</a:t>
            </a:r>
            <a:endParaRPr lang="en-US" sz="1100" dirty="0"/>
          </a:p>
        </p:txBody>
      </p:sp>
      <p:sp>
        <p:nvSpPr>
          <p:cNvPr id="42" name="Text 40"/>
          <p:cNvSpPr/>
          <p:nvPr/>
        </p:nvSpPr>
        <p:spPr>
          <a:xfrm>
            <a:off x="10349702" y="3611537"/>
            <a:ext cx="1217458" cy="172764"/>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Identify where surveillance should remain strong</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3" name="Text 41"/>
          <p:cNvSpPr/>
          <p:nvPr/>
        </p:nvSpPr>
        <p:spPr>
          <a:xfrm>
            <a:off x="1600200" y="4242816"/>
            <a:ext cx="10040112" cy="201168"/>
          </a:xfrm>
          <a:prstGeom prst="rect">
            <a:avLst/>
          </a:prstGeom>
          <a:noFill/>
          <a:ln/>
        </p:spPr>
        <p:txBody>
          <a:bodyPr wrap="square" lIns="0" tIns="0" rIns="0" bIns="0" rtlCol="0" anchor="t"/>
          <a:lstStyle/>
          <a:p>
            <a:pPr marL="0" indent="0">
              <a:buNone/>
            </a:pPr>
            <a:r>
              <a:rPr lang="en-US" sz="1100" i="1" dirty="0">
                <a:solidFill>
                  <a:srgbClr val="5C6B78"/>
                </a:solidFill>
                <a:latin typeface="Arial" pitchFamily="34" charset="0"/>
                <a:ea typeface="Arial" pitchFamily="34" charset="-122"/>
                <a:cs typeface="Arial" pitchFamily="34" charset="-120"/>
              </a:rPr>
              <a:t>Seven methods run in parallel on the same engineered features</a:t>
            </a:r>
            <a:endParaRPr lang="en-US" sz="1100" dirty="0"/>
          </a:p>
        </p:txBody>
      </p:sp>
      <p:sp>
        <p:nvSpPr>
          <p:cNvPr id="44" name="Shape 42"/>
          <p:cNvSpPr/>
          <p:nvPr/>
        </p:nvSpPr>
        <p:spPr>
          <a:xfrm>
            <a:off x="6519672" y="4498848"/>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45" name="Text 43"/>
          <p:cNvSpPr/>
          <p:nvPr/>
        </p:nvSpPr>
        <p:spPr>
          <a:xfrm>
            <a:off x="548640" y="4828032"/>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3 · VALIDATE</a:t>
            </a:r>
            <a:endParaRPr lang="en-US" sz="1200" dirty="0"/>
          </a:p>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AND USE</a:t>
            </a:r>
            <a:endParaRPr lang="en-US" sz="1200" dirty="0"/>
          </a:p>
        </p:txBody>
      </p:sp>
      <p:sp>
        <p:nvSpPr>
          <p:cNvPr id="46" name="Shape 44"/>
          <p:cNvSpPr/>
          <p:nvPr/>
        </p:nvSpPr>
        <p:spPr>
          <a:xfrm>
            <a:off x="1600200"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47" name="Text 45"/>
          <p:cNvSpPr/>
          <p:nvPr/>
        </p:nvSpPr>
        <p:spPr>
          <a:xfrm>
            <a:off x="1673352"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Convergent validation</a:t>
            </a:r>
            <a:endParaRPr lang="en-US" sz="1200" dirty="0"/>
          </a:p>
        </p:txBody>
      </p:sp>
      <p:sp>
        <p:nvSpPr>
          <p:cNvPr id="48" name="Text 46"/>
          <p:cNvSpPr/>
          <p:nvPr/>
        </p:nvSpPr>
        <p:spPr>
          <a:xfrm>
            <a:off x="1673352"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Compare with newer surveys, independent maps and child-death patterns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49" name="Shape 47"/>
          <p:cNvSpPr/>
          <p:nvPr/>
        </p:nvSpPr>
        <p:spPr>
          <a:xfrm>
            <a:off x="4770120"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0" name="Shape 48"/>
          <p:cNvSpPr/>
          <p:nvPr/>
        </p:nvSpPr>
        <p:spPr>
          <a:xfrm>
            <a:off x="5062728"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51" name="Text 49"/>
          <p:cNvSpPr/>
          <p:nvPr/>
        </p:nvSpPr>
        <p:spPr>
          <a:xfrm>
            <a:off x="5135880"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Priority list development</a:t>
            </a:r>
            <a:endParaRPr lang="en-US" sz="1200" dirty="0"/>
          </a:p>
        </p:txBody>
      </p:sp>
      <p:sp>
        <p:nvSpPr>
          <p:cNvPr id="52" name="Text 50"/>
          <p:cNvSpPr/>
          <p:nvPr/>
        </p:nvSpPr>
        <p:spPr>
          <a:xfrm>
            <a:off x="5135880"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Rank local governments and match them with practical response packages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53" name="Shape 51"/>
          <p:cNvSpPr/>
          <p:nvPr/>
        </p:nvSpPr>
        <p:spPr>
          <a:xfrm>
            <a:off x="8232648"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4" name="Shape 52"/>
          <p:cNvSpPr/>
          <p:nvPr/>
        </p:nvSpPr>
        <p:spPr>
          <a:xfrm>
            <a:off x="8525256" y="4828032"/>
            <a:ext cx="3115056" cy="1188720"/>
          </a:xfrm>
          <a:prstGeom prst="roundRect">
            <a:avLst>
              <a:gd name="adj" fmla="val 4615"/>
            </a:avLst>
          </a:prstGeom>
          <a:solidFill>
            <a:srgbClr val="1C7A3D"/>
          </a:solidFill>
          <a:ln w="12700">
            <a:solidFill>
              <a:srgbClr val="1C7A3D"/>
            </a:solidFill>
            <a:prstDash val="solid"/>
          </a:ln>
        </p:spPr>
        <p:txBody>
          <a:bodyPr/>
          <a:lstStyle/>
          <a:p>
            <a:endParaRPr lang="LID4096"/>
          </a:p>
        </p:txBody>
      </p:sp>
      <p:sp>
        <p:nvSpPr>
          <p:cNvPr id="55" name="Text 53"/>
          <p:cNvSpPr/>
          <p:nvPr/>
        </p:nvSpPr>
        <p:spPr>
          <a:xfrm>
            <a:off x="8598408"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FFFFFF"/>
                </a:solidFill>
                <a:latin typeface="Arial" pitchFamily="34" charset="0"/>
                <a:ea typeface="Arial" pitchFamily="34" charset="-122"/>
                <a:cs typeface="Arial" pitchFamily="34" charset="-120"/>
              </a:rPr>
              <a:t>Programme use</a:t>
            </a:r>
            <a:endParaRPr lang="en-US" sz="1200" dirty="0"/>
          </a:p>
        </p:txBody>
      </p:sp>
      <p:sp>
        <p:nvSpPr>
          <p:cNvPr id="56" name="Text 54"/>
          <p:cNvSpPr/>
          <p:nvPr/>
        </p:nvSpPr>
        <p:spPr>
          <a:xfrm>
            <a:off x="8598408"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NPHCDA microplanning; the Hugging Face web application and the ZARA analyst</a:t>
            </a:r>
            <a:endParaRPr lang="en-US" sz="900" dirty="0"/>
          </a:p>
        </p:txBody>
      </p:sp>
      <p:sp>
        <p:nvSpPr>
          <p:cNvPr id="57" name="Text 5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modelling pipeline, 2026. Every acronym is spelled out on the methods, datasets and reference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Methods at a glance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method per question. Every finding is reproducible from the consortium notebooks.</a:t>
            </a:r>
            <a:endParaRPr lang="en-US" sz="1800" dirty="0"/>
          </a:p>
        </p:txBody>
      </p:sp>
      <p:sp>
        <p:nvSpPr>
          <p:cNvPr id="4" name="Shape 2"/>
          <p:cNvSpPr/>
          <p:nvPr/>
        </p:nvSpPr>
        <p:spPr>
          <a:xfrm>
            <a:off x="548640" y="1227582"/>
            <a:ext cx="11091672" cy="530352"/>
          </a:xfrm>
          <a:prstGeom prst="rect">
            <a:avLst/>
          </a:prstGeom>
          <a:solidFill>
            <a:srgbClr val="EEF2F6"/>
          </a:solidFill>
          <a:ln/>
        </p:spPr>
        <p:txBody>
          <a:bodyPr/>
          <a:lstStyle/>
          <a:p>
            <a:endParaRPr lang="LID4096"/>
          </a:p>
        </p:txBody>
      </p:sp>
      <p:sp>
        <p:nvSpPr>
          <p:cNvPr id="5" name="Text 3"/>
          <p:cNvSpPr/>
          <p:nvPr/>
        </p:nvSpPr>
        <p:spPr>
          <a:xfrm>
            <a:off x="694944" y="122758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1</a:t>
            </a:r>
            <a:endParaRPr lang="en-US" sz="1800" dirty="0"/>
          </a:p>
        </p:txBody>
      </p:sp>
      <p:sp>
        <p:nvSpPr>
          <p:cNvPr id="6" name="Text 4"/>
          <p:cNvSpPr/>
          <p:nvPr/>
        </p:nvSpPr>
        <p:spPr>
          <a:xfrm>
            <a:off x="1920240" y="133616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which vaccines may need attention soon.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Text 5"/>
          <p:cNvSpPr/>
          <p:nvPr/>
        </p:nvSpPr>
        <p:spPr>
          <a:xfrm>
            <a:off x="694944" y="1757934"/>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2</a:t>
            </a:r>
            <a:endParaRPr lang="en-US" sz="1800" dirty="0"/>
          </a:p>
        </p:txBody>
      </p:sp>
      <p:sp>
        <p:nvSpPr>
          <p:cNvPr id="8" name="Text 6"/>
          <p:cNvSpPr/>
          <p:nvPr/>
        </p:nvSpPr>
        <p:spPr>
          <a:xfrm>
            <a:off x="1920240" y="1902006"/>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children start vaccination but do not complete it.</a:t>
            </a:r>
          </a:p>
        </p:txBody>
      </p:sp>
      <p:sp>
        <p:nvSpPr>
          <p:cNvPr id="9" name="Shape 7"/>
          <p:cNvSpPr/>
          <p:nvPr/>
        </p:nvSpPr>
        <p:spPr>
          <a:xfrm>
            <a:off x="548640" y="2448306"/>
            <a:ext cx="11091672" cy="690372"/>
          </a:xfrm>
          <a:prstGeom prst="rect">
            <a:avLst/>
          </a:prstGeom>
          <a:solidFill>
            <a:srgbClr val="EEF2F6"/>
          </a:solidFill>
          <a:ln/>
        </p:spPr>
        <p:txBody>
          <a:bodyPr/>
          <a:lstStyle/>
          <a:p>
            <a:endParaRPr lang="LID4096"/>
          </a:p>
        </p:txBody>
      </p:sp>
      <p:sp>
        <p:nvSpPr>
          <p:cNvPr id="10" name="Text 8"/>
          <p:cNvSpPr/>
          <p:nvPr/>
        </p:nvSpPr>
        <p:spPr>
          <a:xfrm>
            <a:off x="694944" y="2448306"/>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3</a:t>
            </a:r>
            <a:endParaRPr lang="en-US" sz="1800" dirty="0"/>
          </a:p>
        </p:txBody>
      </p:sp>
      <p:sp>
        <p:nvSpPr>
          <p:cNvPr id="11" name="Text 9"/>
          <p:cNvSpPr/>
          <p:nvPr/>
        </p:nvSpPr>
        <p:spPr>
          <a:xfrm>
            <a:off x="1920240" y="2614681"/>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poverty, distance, education and access barriers are strongest.</a:t>
            </a:r>
          </a:p>
        </p:txBody>
      </p:sp>
      <p:sp>
        <p:nvSpPr>
          <p:cNvPr id="12" name="Text 10"/>
          <p:cNvSpPr/>
          <p:nvPr/>
        </p:nvSpPr>
        <p:spPr>
          <a:xfrm>
            <a:off x="694944" y="3138678"/>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4</a:t>
            </a:r>
            <a:endParaRPr lang="en-US" sz="1800" dirty="0"/>
          </a:p>
        </p:txBody>
      </p:sp>
      <p:sp>
        <p:nvSpPr>
          <p:cNvPr id="13" name="Text 11"/>
          <p:cNvSpPr/>
          <p:nvPr/>
        </p:nvSpPr>
        <p:spPr>
          <a:xfrm>
            <a:off x="1920240" y="3247263"/>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Checked whether vaccine concerns explain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2"/>
          <p:cNvSpPr/>
          <p:nvPr/>
        </p:nvSpPr>
        <p:spPr>
          <a:xfrm>
            <a:off x="548640" y="3669030"/>
            <a:ext cx="11091672" cy="690372"/>
          </a:xfrm>
          <a:prstGeom prst="rect">
            <a:avLst/>
          </a:prstGeom>
          <a:solidFill>
            <a:srgbClr val="EEF2F6"/>
          </a:solidFill>
          <a:ln/>
        </p:spPr>
        <p:txBody>
          <a:bodyPr/>
          <a:lstStyle/>
          <a:p>
            <a:endParaRPr lang="LID4096"/>
          </a:p>
        </p:txBody>
      </p:sp>
      <p:sp>
        <p:nvSpPr>
          <p:cNvPr id="15" name="Text 13"/>
          <p:cNvSpPr/>
          <p:nvPr/>
        </p:nvSpPr>
        <p:spPr>
          <a:xfrm>
            <a:off x="694944" y="3669030"/>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5</a:t>
            </a:r>
            <a:endParaRPr lang="en-US" sz="1800" dirty="0"/>
          </a:p>
        </p:txBody>
      </p:sp>
      <p:sp>
        <p:nvSpPr>
          <p:cNvPr id="16" name="Text 14"/>
          <p:cNvSpPr/>
          <p:nvPr/>
        </p:nvSpPr>
        <p:spPr>
          <a:xfrm>
            <a:off x="1920240" y="3880008"/>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Estimated where missed children are and grouped areas by the type of barrier.</a:t>
            </a:r>
          </a:p>
        </p:txBody>
      </p:sp>
      <p:sp>
        <p:nvSpPr>
          <p:cNvPr id="17" name="Text 15"/>
          <p:cNvSpPr/>
          <p:nvPr/>
        </p:nvSpPr>
        <p:spPr>
          <a:xfrm>
            <a:off x="694944" y="435940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6</a:t>
            </a:r>
            <a:endParaRPr lang="en-US" sz="1800" dirty="0"/>
          </a:p>
        </p:txBody>
      </p:sp>
      <p:sp>
        <p:nvSpPr>
          <p:cNvPr id="18" name="Text 16"/>
          <p:cNvSpPr/>
          <p:nvPr/>
        </p:nvSpPr>
        <p:spPr>
          <a:xfrm>
            <a:off x="1920240" y="446798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polio surveillance and response should remain strong.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9" name="Shape 17"/>
          <p:cNvSpPr/>
          <p:nvPr/>
        </p:nvSpPr>
        <p:spPr>
          <a:xfrm>
            <a:off x="548640" y="4889754"/>
            <a:ext cx="11091672" cy="530352"/>
          </a:xfrm>
          <a:prstGeom prst="rect">
            <a:avLst/>
          </a:prstGeom>
          <a:solidFill>
            <a:srgbClr val="EEF2F6"/>
          </a:solidFill>
          <a:ln/>
        </p:spPr>
        <p:txBody>
          <a:bodyPr/>
          <a:lstStyle/>
          <a:p>
            <a:endParaRPr lang="LID4096"/>
          </a:p>
        </p:txBody>
      </p:sp>
      <p:sp>
        <p:nvSpPr>
          <p:cNvPr id="20" name="Text 18"/>
          <p:cNvSpPr/>
          <p:nvPr/>
        </p:nvSpPr>
        <p:spPr>
          <a:xfrm>
            <a:off x="694944" y="4889754"/>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7</a:t>
            </a:r>
            <a:endParaRPr lang="en-US" sz="1800" dirty="0"/>
          </a:p>
        </p:txBody>
      </p:sp>
      <p:sp>
        <p:nvSpPr>
          <p:cNvPr id="21" name="Text 19"/>
          <p:cNvSpPr/>
          <p:nvPr/>
        </p:nvSpPr>
        <p:spPr>
          <a:xfrm>
            <a:off x="1920240" y="4998339"/>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low coverage is linked with higher child-survival risk.</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Text 20"/>
          <p:cNvSpPr/>
          <p:nvPr/>
        </p:nvSpPr>
        <p:spPr>
          <a:xfrm>
            <a:off x="548640" y="5672880"/>
            <a:ext cx="11091672" cy="530352"/>
          </a:xfrm>
          <a:prstGeom prst="rect">
            <a:avLst/>
          </a:prstGeom>
          <a:noFill/>
          <a:ln/>
        </p:spPr>
        <p:txBody>
          <a:bodyPr wrap="square" lIns="0" tIns="0" rIns="0" bIns="0" rtlCol="0" anchor="t"/>
          <a:lstStyle/>
          <a:p>
            <a:pPr>
              <a:lnSpc>
                <a:spcPct val="105000"/>
              </a:lnSpc>
            </a:pPr>
            <a:r>
              <a:rPr lang="" b="1" dirty="0">
                <a:latin typeface="Arial" panose="020B0604020202020204" pitchFamily="34" charset="0"/>
                <a:cs typeface="Arial" panose="020B0604020202020204" pitchFamily="34" charset="0"/>
              </a:rPr>
              <a:t>Validation: Independent testing showed the model was highly accurate (3 to 4% error)</a:t>
            </a:r>
            <a:endParaRPr lang="en-US" sz="1800" b="1" dirty="0">
              <a:latin typeface="Arial" panose="020B0604020202020204" pitchFamily="34" charset="0"/>
              <a:cs typeface="Arial" panose="020B0604020202020204" pitchFamily="34" charset="0"/>
            </a:endParaRPr>
          </a:p>
        </p:txBody>
      </p:sp>
      <p:sp>
        <p:nvSpPr>
          <p:cNvPr id="23" name="Text 21"/>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methods, 2026. Model estimates reported with their uncertainty; clean convergence, maximum R-hat = 1.00.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datasets behind every estimate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Eleven sources, mapped to the domains they feed. Nothing is modelled from a single data stream.</a:t>
            </a:r>
            <a:endParaRPr lang="en-US" sz="1800" dirty="0"/>
          </a:p>
        </p:txBody>
      </p:sp>
      <p:sp>
        <p:nvSpPr>
          <p:cNvPr id="4" name="Shape 2"/>
          <p:cNvSpPr/>
          <p:nvPr/>
        </p:nvSpPr>
        <p:spPr>
          <a:xfrm>
            <a:off x="548640" y="1227582"/>
            <a:ext cx="11091672" cy="329184"/>
          </a:xfrm>
          <a:prstGeom prst="rect">
            <a:avLst/>
          </a:prstGeom>
          <a:solidFill>
            <a:srgbClr val="1F3B57"/>
          </a:solidFill>
          <a:ln/>
        </p:spPr>
        <p:txBody>
          <a:bodyPr/>
          <a:lstStyle/>
          <a:p>
            <a:endParaRPr lang="LID4096"/>
          </a:p>
        </p:txBody>
      </p:sp>
      <p:sp>
        <p:nvSpPr>
          <p:cNvPr id="5" name="Text 3"/>
          <p:cNvSpPr/>
          <p:nvPr/>
        </p:nvSpPr>
        <p:spPr>
          <a:xfrm>
            <a:off x="694944" y="1227582"/>
            <a:ext cx="40690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Dataset</a:t>
            </a:r>
            <a:endParaRPr lang="en-US" sz="1400" dirty="0"/>
          </a:p>
        </p:txBody>
      </p:sp>
      <p:sp>
        <p:nvSpPr>
          <p:cNvPr id="6" name="Text 4"/>
          <p:cNvSpPr/>
          <p:nvPr/>
        </p:nvSpPr>
        <p:spPr>
          <a:xfrm>
            <a:off x="4764024" y="1227582"/>
            <a:ext cx="5669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What it provides</a:t>
            </a:r>
            <a:endParaRPr lang="en-US" sz="1400" dirty="0"/>
          </a:p>
        </p:txBody>
      </p:sp>
      <p:sp>
        <p:nvSpPr>
          <p:cNvPr id="7" name="Text 5"/>
          <p:cNvSpPr/>
          <p:nvPr/>
        </p:nvSpPr>
        <p:spPr>
          <a:xfrm>
            <a:off x="10433304" y="1227582"/>
            <a:ext cx="1097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Domains</a:t>
            </a:r>
            <a:endParaRPr lang="en-US" sz="1400" dirty="0"/>
          </a:p>
        </p:txBody>
      </p:sp>
      <p:sp>
        <p:nvSpPr>
          <p:cNvPr id="8" name="Text 6"/>
          <p:cNvSpPr/>
          <p:nvPr/>
        </p:nvSpPr>
        <p:spPr>
          <a:xfrm>
            <a:off x="694944" y="155676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DHIS2 routine RI reports</a:t>
            </a:r>
            <a:endParaRPr lang="en-US" sz="1500" dirty="0"/>
          </a:p>
        </p:txBody>
      </p:sp>
      <p:sp>
        <p:nvSpPr>
          <p:cNvPr id="9" name="Text 7"/>
          <p:cNvSpPr/>
          <p:nvPr/>
        </p:nvSpPr>
        <p:spPr>
          <a:xfrm>
            <a:off x="4764024" y="155676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Monthly administrative dose counts, all states, 2021 to 2025</a:t>
            </a:r>
            <a:endParaRPr lang="en-US" sz="1500" dirty="0"/>
          </a:p>
        </p:txBody>
      </p:sp>
      <p:sp>
        <p:nvSpPr>
          <p:cNvPr id="10" name="Text 8"/>
          <p:cNvSpPr/>
          <p:nvPr/>
        </p:nvSpPr>
        <p:spPr>
          <a:xfrm>
            <a:off x="10433304" y="155676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1, 2, 5</a:t>
            </a:r>
            <a:endParaRPr lang="en-US" sz="1500" dirty="0"/>
          </a:p>
        </p:txBody>
      </p:sp>
      <p:sp>
        <p:nvSpPr>
          <p:cNvPr id="11" name="Shape 9"/>
          <p:cNvSpPr/>
          <p:nvPr/>
        </p:nvSpPr>
        <p:spPr>
          <a:xfrm>
            <a:off x="548640" y="1940814"/>
            <a:ext cx="11091672" cy="384048"/>
          </a:xfrm>
          <a:prstGeom prst="rect">
            <a:avLst/>
          </a:prstGeom>
          <a:solidFill>
            <a:srgbClr val="EEF2F6"/>
          </a:solidFill>
          <a:ln/>
        </p:spPr>
        <p:txBody>
          <a:bodyPr/>
          <a:lstStyle/>
          <a:p>
            <a:endParaRPr lang="LID4096"/>
          </a:p>
        </p:txBody>
      </p:sp>
      <p:sp>
        <p:nvSpPr>
          <p:cNvPr id="12" name="Text 10"/>
          <p:cNvSpPr/>
          <p:nvPr/>
        </p:nvSpPr>
        <p:spPr>
          <a:xfrm>
            <a:off x="694944" y="194081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NDHS 2008 to 2024 (verified)</a:t>
            </a:r>
            <a:endParaRPr lang="en-US" sz="1500" dirty="0"/>
          </a:p>
        </p:txBody>
      </p:sp>
      <p:sp>
        <p:nvSpPr>
          <p:cNvPr id="13" name="Text 11"/>
          <p:cNvSpPr/>
          <p:nvPr/>
        </p:nvSpPr>
        <p:spPr>
          <a:xfrm>
            <a:off x="4764024" y="194081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Survey DTP1 coverage and zero-dose, 12-to-23-month cohort</a:t>
            </a:r>
            <a:endParaRPr lang="en-US" sz="1500" dirty="0"/>
          </a:p>
        </p:txBody>
      </p:sp>
      <p:sp>
        <p:nvSpPr>
          <p:cNvPr id="14" name="Text 12"/>
          <p:cNvSpPr/>
          <p:nvPr/>
        </p:nvSpPr>
        <p:spPr>
          <a:xfrm>
            <a:off x="10433304" y="194081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1, 3, 4, 5</a:t>
            </a:r>
            <a:endParaRPr lang="en-US" sz="1500" dirty="0"/>
          </a:p>
        </p:txBody>
      </p:sp>
      <p:sp>
        <p:nvSpPr>
          <p:cNvPr id="15" name="Text 13"/>
          <p:cNvSpPr/>
          <p:nvPr/>
        </p:nvSpPr>
        <p:spPr>
          <a:xfrm>
            <a:off x="694944" y="232486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NmDHS 2025-26</a:t>
            </a:r>
            <a:endParaRPr lang="en-US" sz="1500" dirty="0"/>
          </a:p>
        </p:txBody>
      </p:sp>
      <p:sp>
        <p:nvSpPr>
          <p:cNvPr id="16" name="Text 14"/>
          <p:cNvSpPr/>
          <p:nvPr/>
        </p:nvSpPr>
        <p:spPr>
          <a:xfrm>
            <a:off x="4764024" y="232486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New national survey, released after this work: out-of-sample check</a:t>
            </a:r>
            <a:endParaRPr lang="en-US" sz="1500" dirty="0"/>
          </a:p>
        </p:txBody>
      </p:sp>
      <p:sp>
        <p:nvSpPr>
          <p:cNvPr id="17" name="Text 15"/>
          <p:cNvSpPr/>
          <p:nvPr/>
        </p:nvSpPr>
        <p:spPr>
          <a:xfrm>
            <a:off x="10433304" y="232486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Validation</a:t>
            </a:r>
            <a:endParaRPr lang="en-US" sz="1500" dirty="0"/>
          </a:p>
        </p:txBody>
      </p:sp>
      <p:sp>
        <p:nvSpPr>
          <p:cNvPr id="18" name="Shape 16"/>
          <p:cNvSpPr/>
          <p:nvPr/>
        </p:nvSpPr>
        <p:spPr>
          <a:xfrm>
            <a:off x="548640" y="2708910"/>
            <a:ext cx="11091672" cy="384048"/>
          </a:xfrm>
          <a:prstGeom prst="rect">
            <a:avLst/>
          </a:prstGeom>
          <a:solidFill>
            <a:srgbClr val="EEF2F6"/>
          </a:solidFill>
          <a:ln/>
        </p:spPr>
        <p:txBody>
          <a:bodyPr/>
          <a:lstStyle/>
          <a:p>
            <a:endParaRPr lang="LID4096"/>
          </a:p>
        </p:txBody>
      </p:sp>
      <p:sp>
        <p:nvSpPr>
          <p:cNvPr id="19" name="Text 17"/>
          <p:cNvSpPr/>
          <p:nvPr/>
        </p:nvSpPr>
        <p:spPr>
          <a:xfrm>
            <a:off x="694944" y="270891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Zero-dose master dataset</a:t>
            </a:r>
            <a:endParaRPr lang="en-US" sz="1500" dirty="0"/>
          </a:p>
        </p:txBody>
      </p:sp>
      <p:sp>
        <p:nvSpPr>
          <p:cNvPr id="20" name="Text 18"/>
          <p:cNvSpPr/>
          <p:nvPr/>
        </p:nvSpPr>
        <p:spPr>
          <a:xfrm>
            <a:off x="4764024" y="270891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37-state file: survey coverage plus 30+ predictors</a:t>
            </a:r>
            <a:endParaRPr lang="en-US" sz="1500" dirty="0"/>
          </a:p>
        </p:txBody>
      </p:sp>
      <p:sp>
        <p:nvSpPr>
          <p:cNvPr id="21" name="Text 19"/>
          <p:cNvSpPr/>
          <p:nvPr/>
        </p:nvSpPr>
        <p:spPr>
          <a:xfrm>
            <a:off x="10433304" y="270891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2, 3, 4, 5</a:t>
            </a:r>
            <a:endParaRPr lang="en-US" sz="1500" dirty="0"/>
          </a:p>
        </p:txBody>
      </p:sp>
      <p:sp>
        <p:nvSpPr>
          <p:cNvPr id="22" name="Text 20"/>
          <p:cNvSpPr/>
          <p:nvPr/>
        </p:nvSpPr>
        <p:spPr>
          <a:xfrm>
            <a:off x="694944" y="309295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Equity indicators file</a:t>
            </a:r>
            <a:endParaRPr lang="en-US" sz="1500" dirty="0"/>
          </a:p>
        </p:txBody>
      </p:sp>
      <p:sp>
        <p:nvSpPr>
          <p:cNvPr id="23" name="Text 21"/>
          <p:cNvSpPr/>
          <p:nvPr/>
        </p:nvSpPr>
        <p:spPr>
          <a:xfrm>
            <a:off x="4764024" y="309295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education, distance to care, urbanicity, fertility</a:t>
            </a:r>
            <a:endParaRPr lang="en-US" sz="1500" dirty="0"/>
          </a:p>
        </p:txBody>
      </p:sp>
      <p:sp>
        <p:nvSpPr>
          <p:cNvPr id="24" name="Text 22"/>
          <p:cNvSpPr/>
          <p:nvPr/>
        </p:nvSpPr>
        <p:spPr>
          <a:xfrm>
            <a:off x="10433304" y="309295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25" name="Shape 23"/>
          <p:cNvSpPr/>
          <p:nvPr/>
        </p:nvSpPr>
        <p:spPr>
          <a:xfrm>
            <a:off x="548640" y="3477006"/>
            <a:ext cx="11091672" cy="384048"/>
          </a:xfrm>
          <a:prstGeom prst="rect">
            <a:avLst/>
          </a:prstGeom>
          <a:solidFill>
            <a:srgbClr val="EEF2F6"/>
          </a:solidFill>
          <a:ln/>
        </p:spPr>
        <p:txBody>
          <a:bodyPr/>
          <a:lstStyle/>
          <a:p>
            <a:endParaRPr lang="LID4096"/>
          </a:p>
        </p:txBody>
      </p:sp>
      <p:sp>
        <p:nvSpPr>
          <p:cNvPr id="26" name="Text 24"/>
          <p:cNvSpPr/>
          <p:nvPr/>
        </p:nvSpPr>
        <p:spPr>
          <a:xfrm>
            <a:off x="694944" y="347700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GRID3 admin boundaries</a:t>
            </a:r>
            <a:endParaRPr lang="en-US" sz="1500" dirty="0"/>
          </a:p>
        </p:txBody>
      </p:sp>
      <p:sp>
        <p:nvSpPr>
          <p:cNvPr id="27" name="Text 25"/>
          <p:cNvSpPr/>
          <p:nvPr/>
        </p:nvSpPr>
        <p:spPr>
          <a:xfrm>
            <a:off x="4764024" y="347700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Admin-1 and admin-2 layers for maps and contiguity</a:t>
            </a:r>
            <a:endParaRPr lang="en-US" sz="1500" dirty="0"/>
          </a:p>
        </p:txBody>
      </p:sp>
      <p:sp>
        <p:nvSpPr>
          <p:cNvPr id="28" name="Text 26"/>
          <p:cNvSpPr/>
          <p:nvPr/>
        </p:nvSpPr>
        <p:spPr>
          <a:xfrm>
            <a:off x="10433304" y="347700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3, 5, 6</a:t>
            </a:r>
            <a:endParaRPr lang="en-US" sz="1500" dirty="0"/>
          </a:p>
        </p:txBody>
      </p:sp>
      <p:sp>
        <p:nvSpPr>
          <p:cNvPr id="29" name="Text 27"/>
          <p:cNvSpPr/>
          <p:nvPr/>
        </p:nvSpPr>
        <p:spPr>
          <a:xfrm>
            <a:off x="694944" y="386105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AFP national line list</a:t>
            </a:r>
            <a:endParaRPr lang="en-US" sz="1500" dirty="0"/>
          </a:p>
        </p:txBody>
      </p:sp>
      <p:sp>
        <p:nvSpPr>
          <p:cNvPr id="30" name="Text 28"/>
          <p:cNvSpPr/>
          <p:nvPr/>
        </p:nvSpPr>
        <p:spPr>
          <a:xfrm>
            <a:off x="4764024" y="386105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Case-level surveillance, about 103,000 records, 2015 to 2025</a:t>
            </a:r>
            <a:endParaRPr lang="en-US" sz="1500" dirty="0"/>
          </a:p>
        </p:txBody>
      </p:sp>
      <p:sp>
        <p:nvSpPr>
          <p:cNvPr id="31" name="Text 29"/>
          <p:cNvSpPr/>
          <p:nvPr/>
        </p:nvSpPr>
        <p:spPr>
          <a:xfrm>
            <a:off x="10433304" y="386105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6</a:t>
            </a:r>
            <a:endParaRPr lang="en-US" sz="1500" dirty="0"/>
          </a:p>
        </p:txBody>
      </p:sp>
      <p:sp>
        <p:nvSpPr>
          <p:cNvPr id="32" name="Shape 30"/>
          <p:cNvSpPr/>
          <p:nvPr/>
        </p:nvSpPr>
        <p:spPr>
          <a:xfrm>
            <a:off x="548640" y="4245102"/>
            <a:ext cx="11091672" cy="384048"/>
          </a:xfrm>
          <a:prstGeom prst="rect">
            <a:avLst/>
          </a:prstGeom>
          <a:solidFill>
            <a:srgbClr val="EEF2F6"/>
          </a:solidFill>
          <a:ln/>
        </p:spPr>
        <p:txBody>
          <a:bodyPr/>
          <a:lstStyle/>
          <a:p>
            <a:endParaRPr lang="LID4096"/>
          </a:p>
        </p:txBody>
      </p:sp>
      <p:sp>
        <p:nvSpPr>
          <p:cNvPr id="33" name="Text 31"/>
          <p:cNvSpPr/>
          <p:nvPr/>
        </p:nvSpPr>
        <p:spPr>
          <a:xfrm>
            <a:off x="694944" y="424510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IHME GBD 2023 (Nigeria)</a:t>
            </a:r>
            <a:endParaRPr lang="en-US" sz="1500" dirty="0"/>
          </a:p>
        </p:txBody>
      </p:sp>
      <p:sp>
        <p:nvSpPr>
          <p:cNvPr id="34" name="Text 32"/>
          <p:cNvSpPr/>
          <p:nvPr/>
        </p:nvSpPr>
        <p:spPr>
          <a:xfrm>
            <a:off x="4764024" y="424510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State cause-of-death fractions; independent mortality record</a:t>
            </a:r>
            <a:endParaRPr lang="en-US" sz="1500" dirty="0"/>
          </a:p>
        </p:txBody>
      </p:sp>
      <p:sp>
        <p:nvSpPr>
          <p:cNvPr id="35" name="Text 33"/>
          <p:cNvSpPr/>
          <p:nvPr/>
        </p:nvSpPr>
        <p:spPr>
          <a:xfrm>
            <a:off x="10433304" y="424510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7</a:t>
            </a:r>
            <a:endParaRPr lang="en-US" sz="1500" dirty="0"/>
          </a:p>
        </p:txBody>
      </p:sp>
      <p:sp>
        <p:nvSpPr>
          <p:cNvPr id="36" name="Text 34"/>
          <p:cNvSpPr/>
          <p:nvPr/>
        </p:nvSpPr>
        <p:spPr>
          <a:xfrm>
            <a:off x="694944" y="462915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NPHCDA ACSM register</a:t>
            </a:r>
            <a:endParaRPr lang="en-US" sz="1500" dirty="0"/>
          </a:p>
        </p:txBody>
      </p:sp>
      <p:sp>
        <p:nvSpPr>
          <p:cNvPr id="37" name="Text 35"/>
          <p:cNvSpPr/>
          <p:nvPr/>
        </p:nvSpPr>
        <p:spPr>
          <a:xfrm>
            <a:off x="4764024" y="462915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2,593 advocacy and social-mobilization activities, 36 states</a:t>
            </a:r>
            <a:endParaRPr lang="en-US" sz="1500" dirty="0"/>
          </a:p>
        </p:txBody>
      </p:sp>
      <p:sp>
        <p:nvSpPr>
          <p:cNvPr id="38" name="Text 36"/>
          <p:cNvSpPr/>
          <p:nvPr/>
        </p:nvSpPr>
        <p:spPr>
          <a:xfrm>
            <a:off x="10433304" y="462915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4</a:t>
            </a:r>
            <a:endParaRPr lang="en-US" sz="1500" dirty="0"/>
          </a:p>
        </p:txBody>
      </p:sp>
      <p:sp>
        <p:nvSpPr>
          <p:cNvPr id="39" name="Shape 37"/>
          <p:cNvSpPr/>
          <p:nvPr/>
        </p:nvSpPr>
        <p:spPr>
          <a:xfrm>
            <a:off x="548640" y="5013198"/>
            <a:ext cx="11091672" cy="384048"/>
          </a:xfrm>
          <a:prstGeom prst="rect">
            <a:avLst/>
          </a:prstGeom>
          <a:solidFill>
            <a:srgbClr val="EEF2F6"/>
          </a:solidFill>
          <a:ln/>
        </p:spPr>
        <p:txBody>
          <a:bodyPr/>
          <a:lstStyle/>
          <a:p>
            <a:endParaRPr lang="LID4096"/>
          </a:p>
        </p:txBody>
      </p:sp>
      <p:sp>
        <p:nvSpPr>
          <p:cNvPr id="40" name="Text 38"/>
          <p:cNvSpPr/>
          <p:nvPr/>
        </p:nvSpPr>
        <p:spPr>
          <a:xfrm>
            <a:off x="694944" y="501319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Population: NPC 2022 and WorldPop</a:t>
            </a:r>
            <a:endParaRPr lang="en-US" sz="1500" dirty="0"/>
          </a:p>
        </p:txBody>
      </p:sp>
      <p:sp>
        <p:nvSpPr>
          <p:cNvPr id="41" name="Text 39"/>
          <p:cNvSpPr/>
          <p:nvPr/>
        </p:nvSpPr>
        <p:spPr>
          <a:xfrm>
            <a:off x="4764024" y="501319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Local-government denominators for absolute-burden conversion</a:t>
            </a:r>
            <a:endParaRPr lang="en-US" sz="1500" dirty="0"/>
          </a:p>
        </p:txBody>
      </p:sp>
      <p:sp>
        <p:nvSpPr>
          <p:cNvPr id="42" name="Text 40"/>
          <p:cNvSpPr/>
          <p:nvPr/>
        </p:nvSpPr>
        <p:spPr>
          <a:xfrm>
            <a:off x="10433304" y="501319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1, 4, 5, 7</a:t>
            </a:r>
            <a:endParaRPr lang="en-US" sz="1500" dirty="0"/>
          </a:p>
        </p:txBody>
      </p:sp>
      <p:sp>
        <p:nvSpPr>
          <p:cNvPr id="43" name="Text 41"/>
          <p:cNvSpPr/>
          <p:nvPr/>
        </p:nvSpPr>
        <p:spPr>
          <a:xfrm>
            <a:off x="694944" y="5397246"/>
            <a:ext cx="3886200" cy="560641"/>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Meta Relative Wealth Index; Weiss travel time; ACLED</a:t>
            </a:r>
            <a:endParaRPr lang="en-US" sz="1500" dirty="0"/>
          </a:p>
        </p:txBody>
      </p:sp>
      <p:sp>
        <p:nvSpPr>
          <p:cNvPr id="44" name="Text 42"/>
          <p:cNvSpPr/>
          <p:nvPr/>
        </p:nvSpPr>
        <p:spPr>
          <a:xfrm>
            <a:off x="4764024" y="5397246"/>
            <a:ext cx="5486400" cy="560641"/>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remoteness and political-violence covariates</a:t>
            </a:r>
            <a:endParaRPr lang="en-US" sz="1500" dirty="0"/>
          </a:p>
        </p:txBody>
      </p:sp>
      <p:sp>
        <p:nvSpPr>
          <p:cNvPr id="45" name="Text 43"/>
          <p:cNvSpPr/>
          <p:nvPr/>
        </p:nvSpPr>
        <p:spPr>
          <a:xfrm>
            <a:off x="10433304" y="5397246"/>
            <a:ext cx="1097280" cy="560641"/>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46" name="Text 4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All acronyms are spelled out in the reference slides. Domain 8 datasets (programme and expenditure) are pending from NPHCDA.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44 local government areas we could not model</a:t>
            </a:r>
            <a:endParaRPr lang="en-US" sz="3200" dirty="0"/>
          </a:p>
        </p:txBody>
      </p:sp>
      <p:sp>
        <p:nvSpPr>
          <p:cNvPr id="3" name="Text 1"/>
          <p:cNvSpPr/>
          <p:nvPr/>
        </p:nvSpPr>
        <p:spPr>
          <a:xfrm>
            <a:off x="493051" y="949234"/>
            <a:ext cx="11193705" cy="643623"/>
          </a:xfrm>
          <a:prstGeom prst="rect">
            <a:avLst/>
          </a:prstGeom>
          <a:noFill/>
          <a:ln/>
        </p:spPr>
        <p:txBody>
          <a:bodyPr wrap="square" lIns="0" tIns="0" rIns="0" bIns="0" rtlCol="0" anchor="t"/>
          <a:lstStyle/>
          <a:p>
            <a:r>
              <a:rPr lang="" dirty="0">
                <a:solidFill>
                  <a:schemeClr val="tx2"/>
                </a:solidFill>
                <a:latin typeface="Arial" panose="020B0604020202020204" pitchFamily="34" charset="0"/>
                <a:cs typeface="Arial" panose="020B0604020202020204" pitchFamily="34" charset="0"/>
              </a:rPr>
              <a:t>LGAs without Penta1 reporting were excluded from the analysis and flagged for data-quality investigation.</a:t>
            </a:r>
            <a:r>
              <a:rPr lang="en-US" dirty="0">
                <a:solidFill>
                  <a:schemeClr val="tx2"/>
                </a:solidFill>
                <a:latin typeface="Arial" panose="020B0604020202020204" pitchFamily="34" charset="0"/>
                <a:cs typeface="Arial" panose="020B0604020202020204" pitchFamily="34" charset="0"/>
              </a:rPr>
              <a:t> </a:t>
            </a:r>
            <a:r>
              <a:rPr lang="en-US" dirty="0">
                <a:solidFill>
                  <a:schemeClr val="tx2"/>
                </a:solidFill>
                <a:latin typeface="Arial" pitchFamily="34" charset="0"/>
                <a:ea typeface="Arial" pitchFamily="34" charset="-122"/>
                <a:cs typeface="Arial" pitchFamily="34" charset="-120"/>
              </a:rPr>
              <a:t>730 of the 774 local government areas met the reporting standard. </a:t>
            </a:r>
          </a:p>
        </p:txBody>
      </p:sp>
      <p:sp>
        <p:nvSpPr>
          <p:cNvPr id="5" name="Text 3"/>
          <p:cNvSpPr/>
          <p:nvPr/>
        </p:nvSpPr>
        <p:spPr>
          <a:xfrm>
            <a:off x="402336" y="1887207"/>
            <a:ext cx="11521078"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Every excluded local government area, by state  ·  23 North-West  ·  16 North-East  ·  3 North-Central  ·  2 South-South</a:t>
            </a:r>
            <a:endParaRPr lang="en-US" sz="1400" dirty="0"/>
          </a:p>
        </p:txBody>
      </p:sp>
      <p:sp>
        <p:nvSpPr>
          <p:cNvPr id="6" name="Text 4"/>
          <p:cNvSpPr/>
          <p:nvPr/>
        </p:nvSpPr>
        <p:spPr>
          <a:xfrm>
            <a:off x="591312"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Adamawa</a:t>
            </a:r>
            <a:endParaRPr lang="en-US" sz="1500" dirty="0"/>
          </a:p>
        </p:txBody>
      </p:sp>
      <p:sp>
        <p:nvSpPr>
          <p:cNvPr id="7" name="Text 5"/>
          <p:cNvSpPr/>
          <p:nvPr/>
        </p:nvSpPr>
        <p:spPr>
          <a:xfrm>
            <a:off x="682752"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Fufore</a:t>
            </a:r>
            <a:endParaRPr lang="en-US" sz="1500" dirty="0"/>
          </a:p>
        </p:txBody>
      </p:sp>
      <p:sp>
        <p:nvSpPr>
          <p:cNvPr id="8" name="Text 6"/>
          <p:cNvSpPr/>
          <p:nvPr/>
        </p:nvSpPr>
        <p:spPr>
          <a:xfrm>
            <a:off x="682752"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Hong</a:t>
            </a:r>
            <a:endParaRPr lang="en-US" sz="1500" dirty="0"/>
          </a:p>
        </p:txBody>
      </p:sp>
      <p:sp>
        <p:nvSpPr>
          <p:cNvPr id="9" name="Text 7"/>
          <p:cNvSpPr/>
          <p:nvPr/>
        </p:nvSpPr>
        <p:spPr>
          <a:xfrm>
            <a:off x="682752"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Yola North</a:t>
            </a:r>
            <a:endParaRPr lang="en-US" sz="1500" dirty="0"/>
          </a:p>
        </p:txBody>
      </p:sp>
      <p:sp>
        <p:nvSpPr>
          <p:cNvPr id="10" name="Text 8"/>
          <p:cNvSpPr/>
          <p:nvPr/>
        </p:nvSpPr>
        <p:spPr>
          <a:xfrm>
            <a:off x="591312" y="3178226"/>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Bauchi</a:t>
            </a:r>
            <a:endParaRPr lang="en-US" sz="1500" dirty="0"/>
          </a:p>
        </p:txBody>
      </p:sp>
      <p:sp>
        <p:nvSpPr>
          <p:cNvPr id="11" name="Text 9"/>
          <p:cNvSpPr/>
          <p:nvPr/>
        </p:nvSpPr>
        <p:spPr>
          <a:xfrm>
            <a:off x="682752"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Alkaleri</a:t>
            </a:r>
            <a:endParaRPr lang="en-US" sz="1500" dirty="0"/>
          </a:p>
        </p:txBody>
      </p:sp>
      <p:sp>
        <p:nvSpPr>
          <p:cNvPr id="12" name="Text 10"/>
          <p:cNvSpPr/>
          <p:nvPr/>
        </p:nvSpPr>
        <p:spPr>
          <a:xfrm>
            <a:off x="682752"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Bauchi *</a:t>
            </a:r>
            <a:endParaRPr lang="en-US" sz="1500" dirty="0"/>
          </a:p>
        </p:txBody>
      </p:sp>
      <p:sp>
        <p:nvSpPr>
          <p:cNvPr id="13" name="Text 11"/>
          <p:cNvSpPr/>
          <p:nvPr/>
        </p:nvSpPr>
        <p:spPr>
          <a:xfrm>
            <a:off x="682752"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Ganjuwa</a:t>
            </a:r>
            <a:endParaRPr lang="en-US" sz="1500" dirty="0"/>
          </a:p>
        </p:txBody>
      </p:sp>
      <p:sp>
        <p:nvSpPr>
          <p:cNvPr id="14" name="Text 12"/>
          <p:cNvSpPr/>
          <p:nvPr/>
        </p:nvSpPr>
        <p:spPr>
          <a:xfrm>
            <a:off x="682752"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Ningi</a:t>
            </a:r>
            <a:endParaRPr lang="en-US" sz="1500" dirty="0"/>
          </a:p>
        </p:txBody>
      </p:sp>
      <p:sp>
        <p:nvSpPr>
          <p:cNvPr id="15" name="Text 13"/>
          <p:cNvSpPr/>
          <p:nvPr/>
        </p:nvSpPr>
        <p:spPr>
          <a:xfrm>
            <a:off x="682752"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Toro</a:t>
            </a:r>
            <a:endParaRPr lang="en-US" sz="1500" dirty="0"/>
          </a:p>
        </p:txBody>
      </p:sp>
      <p:sp>
        <p:nvSpPr>
          <p:cNvPr id="16" name="Text 14"/>
          <p:cNvSpPr/>
          <p:nvPr/>
        </p:nvSpPr>
        <p:spPr>
          <a:xfrm>
            <a:off x="2438400"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Borno</a:t>
            </a:r>
            <a:endParaRPr lang="en-US" sz="1500" dirty="0"/>
          </a:p>
        </p:txBody>
      </p:sp>
      <p:sp>
        <p:nvSpPr>
          <p:cNvPr id="17" name="Text 15"/>
          <p:cNvSpPr/>
          <p:nvPr/>
        </p:nvSpPr>
        <p:spPr>
          <a:xfrm>
            <a:off x="2529840"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Biu</a:t>
            </a:r>
            <a:endParaRPr lang="en-US" sz="1500" dirty="0"/>
          </a:p>
        </p:txBody>
      </p:sp>
      <p:sp>
        <p:nvSpPr>
          <p:cNvPr id="18" name="Text 16"/>
          <p:cNvSpPr/>
          <p:nvPr/>
        </p:nvSpPr>
        <p:spPr>
          <a:xfrm>
            <a:off x="2529840"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Guzamala **</a:t>
            </a:r>
            <a:endParaRPr lang="en-US" sz="1500" dirty="0"/>
          </a:p>
        </p:txBody>
      </p:sp>
      <p:sp>
        <p:nvSpPr>
          <p:cNvPr id="19" name="Text 17"/>
          <p:cNvSpPr/>
          <p:nvPr/>
        </p:nvSpPr>
        <p:spPr>
          <a:xfrm>
            <a:off x="2529840"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Maiduguri</a:t>
            </a:r>
            <a:endParaRPr lang="en-US" sz="1500" dirty="0"/>
          </a:p>
        </p:txBody>
      </p:sp>
      <p:sp>
        <p:nvSpPr>
          <p:cNvPr id="20" name="Text 18"/>
          <p:cNvSpPr/>
          <p:nvPr/>
        </p:nvSpPr>
        <p:spPr>
          <a:xfrm>
            <a:off x="2438400" y="3178226"/>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FCT</a:t>
            </a:r>
            <a:endParaRPr lang="en-US" sz="1500" dirty="0"/>
          </a:p>
        </p:txBody>
      </p:sp>
      <p:sp>
        <p:nvSpPr>
          <p:cNvPr id="21" name="Text 19"/>
          <p:cNvSpPr/>
          <p:nvPr/>
        </p:nvSpPr>
        <p:spPr>
          <a:xfrm>
            <a:off x="2529840"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Abuja Municipal *</a:t>
            </a:r>
            <a:endParaRPr lang="en-US" sz="1500" dirty="0"/>
          </a:p>
        </p:txBody>
      </p:sp>
      <p:sp>
        <p:nvSpPr>
          <p:cNvPr id="22" name="Text 20"/>
          <p:cNvSpPr/>
          <p:nvPr/>
        </p:nvSpPr>
        <p:spPr>
          <a:xfrm>
            <a:off x="2529840"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Bwari</a:t>
            </a:r>
            <a:endParaRPr lang="en-US" sz="1500" dirty="0"/>
          </a:p>
        </p:txBody>
      </p:sp>
      <p:sp>
        <p:nvSpPr>
          <p:cNvPr id="23" name="Text 21"/>
          <p:cNvSpPr/>
          <p:nvPr/>
        </p:nvSpPr>
        <p:spPr>
          <a:xfrm>
            <a:off x="2438400" y="3928034"/>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Gombe</a:t>
            </a:r>
            <a:endParaRPr lang="en-US" sz="1500" dirty="0"/>
          </a:p>
        </p:txBody>
      </p:sp>
      <p:sp>
        <p:nvSpPr>
          <p:cNvPr id="24" name="Text 22"/>
          <p:cNvSpPr/>
          <p:nvPr/>
        </p:nvSpPr>
        <p:spPr>
          <a:xfrm>
            <a:off x="2529840" y="416577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Akko</a:t>
            </a:r>
            <a:endParaRPr lang="en-US" sz="1500" dirty="0"/>
          </a:p>
        </p:txBody>
      </p:sp>
      <p:sp>
        <p:nvSpPr>
          <p:cNvPr id="25" name="Text 23"/>
          <p:cNvSpPr/>
          <p:nvPr/>
        </p:nvSpPr>
        <p:spPr>
          <a:xfrm>
            <a:off x="2529840" y="438980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Gombe</a:t>
            </a:r>
            <a:endParaRPr lang="en-US" sz="1500" dirty="0"/>
          </a:p>
        </p:txBody>
      </p:sp>
      <p:sp>
        <p:nvSpPr>
          <p:cNvPr id="26" name="Text 24"/>
          <p:cNvSpPr/>
          <p:nvPr/>
        </p:nvSpPr>
        <p:spPr>
          <a:xfrm>
            <a:off x="2529840" y="46138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Yamaltu/Deba</a:t>
            </a:r>
            <a:endParaRPr lang="en-US" sz="1500" dirty="0"/>
          </a:p>
        </p:txBody>
      </p:sp>
      <p:sp>
        <p:nvSpPr>
          <p:cNvPr id="27" name="Text 25"/>
          <p:cNvSpPr/>
          <p:nvPr/>
        </p:nvSpPr>
        <p:spPr>
          <a:xfrm>
            <a:off x="4285488"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Jigawa</a:t>
            </a:r>
            <a:endParaRPr lang="en-US" sz="1500" dirty="0"/>
          </a:p>
        </p:txBody>
      </p:sp>
      <p:sp>
        <p:nvSpPr>
          <p:cNvPr id="28" name="Text 26"/>
          <p:cNvSpPr/>
          <p:nvPr/>
        </p:nvSpPr>
        <p:spPr>
          <a:xfrm>
            <a:off x="4376928"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Birnin Kudu</a:t>
            </a:r>
            <a:endParaRPr lang="en-US" sz="1500" dirty="0"/>
          </a:p>
        </p:txBody>
      </p:sp>
      <p:sp>
        <p:nvSpPr>
          <p:cNvPr id="29" name="Text 27"/>
          <p:cNvSpPr/>
          <p:nvPr/>
        </p:nvSpPr>
        <p:spPr>
          <a:xfrm>
            <a:off x="4376928"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Gwaram</a:t>
            </a:r>
            <a:endParaRPr lang="en-US" sz="1500" dirty="0"/>
          </a:p>
        </p:txBody>
      </p:sp>
      <p:sp>
        <p:nvSpPr>
          <p:cNvPr id="30" name="Text 28"/>
          <p:cNvSpPr/>
          <p:nvPr/>
        </p:nvSpPr>
        <p:spPr>
          <a:xfrm>
            <a:off x="4285488" y="295419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Kaduna</a:t>
            </a:r>
            <a:endParaRPr lang="en-US" sz="1500" dirty="0"/>
          </a:p>
        </p:txBody>
      </p:sp>
      <p:sp>
        <p:nvSpPr>
          <p:cNvPr id="31" name="Text 29"/>
          <p:cNvSpPr/>
          <p:nvPr/>
        </p:nvSpPr>
        <p:spPr>
          <a:xfrm>
            <a:off x="4376928" y="319194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Birnin Gwari</a:t>
            </a:r>
            <a:endParaRPr lang="en-US" sz="1500" dirty="0"/>
          </a:p>
        </p:txBody>
      </p:sp>
      <p:sp>
        <p:nvSpPr>
          <p:cNvPr id="32" name="Text 30"/>
          <p:cNvSpPr/>
          <p:nvPr/>
        </p:nvSpPr>
        <p:spPr>
          <a:xfrm>
            <a:off x="4376928"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Chikun</a:t>
            </a:r>
            <a:endParaRPr lang="en-US" sz="1500" dirty="0"/>
          </a:p>
        </p:txBody>
      </p:sp>
      <p:sp>
        <p:nvSpPr>
          <p:cNvPr id="33" name="Text 31"/>
          <p:cNvSpPr/>
          <p:nvPr/>
        </p:nvSpPr>
        <p:spPr>
          <a:xfrm>
            <a:off x="4376928"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Giwa</a:t>
            </a:r>
            <a:endParaRPr lang="en-US" sz="1500" dirty="0"/>
          </a:p>
        </p:txBody>
      </p:sp>
      <p:sp>
        <p:nvSpPr>
          <p:cNvPr id="34" name="Text 32"/>
          <p:cNvSpPr/>
          <p:nvPr/>
        </p:nvSpPr>
        <p:spPr>
          <a:xfrm>
            <a:off x="4376928"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Igabi</a:t>
            </a:r>
            <a:endParaRPr lang="en-US" sz="1500" dirty="0"/>
          </a:p>
        </p:txBody>
      </p:sp>
      <p:sp>
        <p:nvSpPr>
          <p:cNvPr id="35" name="Text 33"/>
          <p:cNvSpPr/>
          <p:nvPr/>
        </p:nvSpPr>
        <p:spPr>
          <a:xfrm>
            <a:off x="4376928"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Ikara</a:t>
            </a:r>
            <a:endParaRPr lang="en-US" sz="1500" dirty="0"/>
          </a:p>
        </p:txBody>
      </p:sp>
      <p:sp>
        <p:nvSpPr>
          <p:cNvPr id="36" name="Text 34"/>
          <p:cNvSpPr/>
          <p:nvPr/>
        </p:nvSpPr>
        <p:spPr>
          <a:xfrm>
            <a:off x="4376928"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Kaduna South</a:t>
            </a:r>
            <a:endParaRPr lang="en-US" sz="1500" dirty="0"/>
          </a:p>
        </p:txBody>
      </p:sp>
      <p:sp>
        <p:nvSpPr>
          <p:cNvPr id="37" name="Text 35"/>
          <p:cNvSpPr/>
          <p:nvPr/>
        </p:nvSpPr>
        <p:spPr>
          <a:xfrm>
            <a:off x="6132576"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Kaduna (cont.)</a:t>
            </a:r>
            <a:endParaRPr lang="en-US" sz="1500" dirty="0"/>
          </a:p>
        </p:txBody>
      </p:sp>
      <p:sp>
        <p:nvSpPr>
          <p:cNvPr id="38" name="Text 36"/>
          <p:cNvSpPr/>
          <p:nvPr/>
        </p:nvSpPr>
        <p:spPr>
          <a:xfrm>
            <a:off x="6224016"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Kauru</a:t>
            </a:r>
            <a:endParaRPr lang="en-US" sz="1500" dirty="0"/>
          </a:p>
        </p:txBody>
      </p:sp>
      <p:sp>
        <p:nvSpPr>
          <p:cNvPr id="39" name="Text 37"/>
          <p:cNvSpPr/>
          <p:nvPr/>
        </p:nvSpPr>
        <p:spPr>
          <a:xfrm>
            <a:off x="6224016"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Lere</a:t>
            </a:r>
            <a:endParaRPr lang="en-US" sz="1500" dirty="0"/>
          </a:p>
        </p:txBody>
      </p:sp>
      <p:sp>
        <p:nvSpPr>
          <p:cNvPr id="40" name="Text 38"/>
          <p:cNvSpPr/>
          <p:nvPr/>
        </p:nvSpPr>
        <p:spPr>
          <a:xfrm>
            <a:off x="6224016"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Sabon Gari</a:t>
            </a:r>
            <a:endParaRPr lang="en-US" sz="1500" dirty="0"/>
          </a:p>
        </p:txBody>
      </p:sp>
      <p:sp>
        <p:nvSpPr>
          <p:cNvPr id="41" name="Text 39"/>
          <p:cNvSpPr/>
          <p:nvPr/>
        </p:nvSpPr>
        <p:spPr>
          <a:xfrm>
            <a:off x="6224016" y="311421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Soba</a:t>
            </a:r>
            <a:endParaRPr lang="en-US" sz="1500" dirty="0"/>
          </a:p>
        </p:txBody>
      </p:sp>
      <p:sp>
        <p:nvSpPr>
          <p:cNvPr id="42" name="Text 40"/>
          <p:cNvSpPr/>
          <p:nvPr/>
        </p:nvSpPr>
        <p:spPr>
          <a:xfrm>
            <a:off x="6224016" y="333824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Zaria</a:t>
            </a:r>
            <a:endParaRPr lang="en-US" sz="1500" dirty="0"/>
          </a:p>
        </p:txBody>
      </p:sp>
      <p:sp>
        <p:nvSpPr>
          <p:cNvPr id="43" name="Text 41"/>
          <p:cNvSpPr/>
          <p:nvPr/>
        </p:nvSpPr>
        <p:spPr>
          <a:xfrm>
            <a:off x="6132576" y="3626282"/>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Kano</a:t>
            </a:r>
            <a:endParaRPr lang="en-US" sz="1500" dirty="0"/>
          </a:p>
        </p:txBody>
      </p:sp>
      <p:sp>
        <p:nvSpPr>
          <p:cNvPr id="44" name="Text 42"/>
          <p:cNvSpPr/>
          <p:nvPr/>
        </p:nvSpPr>
        <p:spPr>
          <a:xfrm>
            <a:off x="6224016"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Dala</a:t>
            </a:r>
            <a:endParaRPr lang="en-US" sz="1500" dirty="0"/>
          </a:p>
        </p:txBody>
      </p:sp>
      <p:sp>
        <p:nvSpPr>
          <p:cNvPr id="45" name="Text 43"/>
          <p:cNvSpPr/>
          <p:nvPr/>
        </p:nvSpPr>
        <p:spPr>
          <a:xfrm>
            <a:off x="6224016"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Gezawa</a:t>
            </a:r>
            <a:endParaRPr lang="en-US" sz="1500" dirty="0"/>
          </a:p>
        </p:txBody>
      </p:sp>
      <p:sp>
        <p:nvSpPr>
          <p:cNvPr id="46" name="Text 44"/>
          <p:cNvSpPr/>
          <p:nvPr/>
        </p:nvSpPr>
        <p:spPr>
          <a:xfrm>
            <a:off x="6224016"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Gwale</a:t>
            </a:r>
            <a:endParaRPr lang="en-US" sz="1500" dirty="0"/>
          </a:p>
        </p:txBody>
      </p:sp>
      <p:sp>
        <p:nvSpPr>
          <p:cNvPr id="47" name="Text 45"/>
          <p:cNvSpPr/>
          <p:nvPr/>
        </p:nvSpPr>
        <p:spPr>
          <a:xfrm>
            <a:off x="6224016" y="453611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Kano Municipal</a:t>
            </a:r>
            <a:endParaRPr lang="en-US" sz="1500" dirty="0"/>
          </a:p>
        </p:txBody>
      </p:sp>
      <p:sp>
        <p:nvSpPr>
          <p:cNvPr id="48" name="Text 46"/>
          <p:cNvSpPr/>
          <p:nvPr/>
        </p:nvSpPr>
        <p:spPr>
          <a:xfrm>
            <a:off x="7979664"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Kano (cont.)</a:t>
            </a:r>
            <a:endParaRPr lang="en-US" sz="1500" dirty="0"/>
          </a:p>
        </p:txBody>
      </p:sp>
      <p:sp>
        <p:nvSpPr>
          <p:cNvPr id="49" name="Text 47"/>
          <p:cNvSpPr/>
          <p:nvPr/>
        </p:nvSpPr>
        <p:spPr>
          <a:xfrm>
            <a:off x="8071104"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Kiru</a:t>
            </a:r>
            <a:endParaRPr lang="en-US" sz="1500" dirty="0"/>
          </a:p>
        </p:txBody>
      </p:sp>
      <p:sp>
        <p:nvSpPr>
          <p:cNvPr id="50" name="Text 48"/>
          <p:cNvSpPr/>
          <p:nvPr/>
        </p:nvSpPr>
        <p:spPr>
          <a:xfrm>
            <a:off x="8071104"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Kumbotso</a:t>
            </a:r>
            <a:endParaRPr lang="en-US" sz="1500" dirty="0"/>
          </a:p>
        </p:txBody>
      </p:sp>
      <p:sp>
        <p:nvSpPr>
          <p:cNvPr id="51" name="Text 49"/>
          <p:cNvSpPr/>
          <p:nvPr/>
        </p:nvSpPr>
        <p:spPr>
          <a:xfrm>
            <a:off x="8071104"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Nasarawa *</a:t>
            </a:r>
            <a:endParaRPr lang="en-US" sz="1500" dirty="0"/>
          </a:p>
        </p:txBody>
      </p:sp>
      <p:sp>
        <p:nvSpPr>
          <p:cNvPr id="52" name="Text 50"/>
          <p:cNvSpPr/>
          <p:nvPr/>
        </p:nvSpPr>
        <p:spPr>
          <a:xfrm>
            <a:off x="8071104" y="311421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Sumaila</a:t>
            </a:r>
            <a:endParaRPr lang="en-US" sz="1500" dirty="0"/>
          </a:p>
        </p:txBody>
      </p:sp>
      <p:sp>
        <p:nvSpPr>
          <p:cNvPr id="53" name="Text 51"/>
          <p:cNvSpPr/>
          <p:nvPr/>
        </p:nvSpPr>
        <p:spPr>
          <a:xfrm>
            <a:off x="8071104" y="333824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Tudun Wada</a:t>
            </a:r>
            <a:endParaRPr lang="en-US" sz="1500" dirty="0"/>
          </a:p>
        </p:txBody>
      </p:sp>
      <p:sp>
        <p:nvSpPr>
          <p:cNvPr id="54" name="Text 52"/>
          <p:cNvSpPr/>
          <p:nvPr/>
        </p:nvSpPr>
        <p:spPr>
          <a:xfrm>
            <a:off x="8071104" y="356227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Ungogo</a:t>
            </a:r>
            <a:endParaRPr lang="en-US" sz="1500" dirty="0"/>
          </a:p>
        </p:txBody>
      </p:sp>
      <p:sp>
        <p:nvSpPr>
          <p:cNvPr id="55" name="Text 53"/>
          <p:cNvSpPr/>
          <p:nvPr/>
        </p:nvSpPr>
        <p:spPr>
          <a:xfrm>
            <a:off x="9826752"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Nasarawa</a:t>
            </a:r>
            <a:endParaRPr lang="en-US" sz="1500" dirty="0"/>
          </a:p>
        </p:txBody>
      </p:sp>
      <p:sp>
        <p:nvSpPr>
          <p:cNvPr id="56" name="Text 54"/>
          <p:cNvSpPr/>
          <p:nvPr/>
        </p:nvSpPr>
        <p:spPr>
          <a:xfrm>
            <a:off x="9918192"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Lafia</a:t>
            </a:r>
            <a:endParaRPr lang="en-US" sz="1500" dirty="0"/>
          </a:p>
        </p:txBody>
      </p:sp>
      <p:sp>
        <p:nvSpPr>
          <p:cNvPr id="57" name="Text 55"/>
          <p:cNvSpPr/>
          <p:nvPr/>
        </p:nvSpPr>
        <p:spPr>
          <a:xfrm>
            <a:off x="9826752" y="273017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Rivers</a:t>
            </a:r>
            <a:endParaRPr lang="en-US" sz="1500" dirty="0"/>
          </a:p>
        </p:txBody>
      </p:sp>
      <p:sp>
        <p:nvSpPr>
          <p:cNvPr id="58" name="Text 56"/>
          <p:cNvSpPr/>
          <p:nvPr/>
        </p:nvSpPr>
        <p:spPr>
          <a:xfrm>
            <a:off x="9918192" y="296791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Obio/Akpor *</a:t>
            </a:r>
            <a:endParaRPr lang="en-US" sz="1500" dirty="0"/>
          </a:p>
        </p:txBody>
      </p:sp>
      <p:sp>
        <p:nvSpPr>
          <p:cNvPr id="59" name="Text 57"/>
          <p:cNvSpPr/>
          <p:nvPr/>
        </p:nvSpPr>
        <p:spPr>
          <a:xfrm>
            <a:off x="9918192" y="319194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Port-Harcourt</a:t>
            </a:r>
            <a:endParaRPr lang="en-US" sz="1500" dirty="0"/>
          </a:p>
        </p:txBody>
      </p:sp>
      <p:sp>
        <p:nvSpPr>
          <p:cNvPr id="60" name="Text 58"/>
          <p:cNvSpPr/>
          <p:nvPr/>
        </p:nvSpPr>
        <p:spPr>
          <a:xfrm>
            <a:off x="9826752" y="347997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Taraba</a:t>
            </a:r>
            <a:endParaRPr lang="en-US" sz="1500" dirty="0"/>
          </a:p>
        </p:txBody>
      </p:sp>
      <p:sp>
        <p:nvSpPr>
          <p:cNvPr id="61" name="Text 59"/>
          <p:cNvSpPr/>
          <p:nvPr/>
        </p:nvSpPr>
        <p:spPr>
          <a:xfrm>
            <a:off x="9918192" y="371772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Sardauna</a:t>
            </a:r>
            <a:endParaRPr lang="en-US" sz="1500" dirty="0"/>
          </a:p>
        </p:txBody>
      </p:sp>
      <p:sp>
        <p:nvSpPr>
          <p:cNvPr id="62" name="Text 60"/>
          <p:cNvSpPr/>
          <p:nvPr/>
        </p:nvSpPr>
        <p:spPr>
          <a:xfrm>
            <a:off x="9826752" y="400575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Yobe</a:t>
            </a:r>
            <a:endParaRPr lang="en-US" sz="1500" dirty="0"/>
          </a:p>
        </p:txBody>
      </p:sp>
      <p:sp>
        <p:nvSpPr>
          <p:cNvPr id="63" name="Text 61"/>
          <p:cNvSpPr/>
          <p:nvPr/>
        </p:nvSpPr>
        <p:spPr>
          <a:xfrm>
            <a:off x="9918192" y="424350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Potiskum</a:t>
            </a:r>
            <a:endParaRPr lang="en-US" sz="1500" dirty="0"/>
          </a:p>
        </p:txBody>
      </p:sp>
      <p:sp>
        <p:nvSpPr>
          <p:cNvPr id="64" name="Text 62"/>
          <p:cNvSpPr/>
          <p:nvPr/>
        </p:nvSpPr>
        <p:spPr>
          <a:xfrm>
            <a:off x="548640" y="5352783"/>
            <a:ext cx="11091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the data team can fix. </a:t>
            </a:r>
            <a:r>
              <a:rPr lang="en-US" sz="1800" dirty="0">
                <a:solidFill>
                  <a:srgbClr val="22333F"/>
                </a:solidFill>
                <a:latin typeface="Arial" pitchFamily="34" charset="0"/>
                <a:ea typeface="Arial" pitchFamily="34" charset="-122"/>
                <a:cs typeface="Arial" pitchFamily="34" charset="-120"/>
              </a:rPr>
              <a:t>Restore the Penta1 data element where other antigens already report, starting with the metropolitan areas: Maiduguri, Kano Municipal, Port-Harcourt.</a:t>
            </a:r>
            <a:endParaRPr lang="en-US" sz="1800" dirty="0"/>
          </a:p>
        </p:txBody>
      </p:sp>
      <p:sp>
        <p:nvSpPr>
          <p:cNvPr id="65" name="Text 6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  Penta1 blank and overall reporting sparse (4 LGAs).   **  No data of any kind (1 LGA).   Source: DHIS2 routine antigen export by local government area and month, 2021 to 2025.</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1: which antigens are at risk of falling below target?</a:t>
            </a:r>
            <a:endParaRPr lang="en-US" sz="3200" dirty="0"/>
          </a:p>
        </p:txBody>
      </p:sp>
      <p:sp>
        <p:nvSpPr>
          <p:cNvPr id="3" name="Text 1"/>
          <p:cNvSpPr/>
          <p:nvPr/>
        </p:nvSpPr>
        <p:spPr>
          <a:xfrm>
            <a:off x="2049636" y="813816"/>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An early-warning signal that delivery is falling. It is not a count of children vaccinated.</a:t>
            </a:r>
            <a:endParaRPr lang="en-US" sz="1800" dirty="0"/>
          </a:p>
        </p:txBody>
      </p:sp>
      <p:pic>
        <p:nvPicPr>
          <p:cNvPr id="4" name="Image 0" descr="/home/claude/d1/ppt/media/image2.png"/>
          <p:cNvPicPr>
            <a:picLocks noChangeAspect="1"/>
          </p:cNvPicPr>
          <p:nvPr/>
        </p:nvPicPr>
        <p:blipFill>
          <a:blip r:embed="rId3"/>
          <a:stretch>
            <a:fillRect/>
          </a:stretch>
        </p:blipFill>
        <p:spPr>
          <a:xfrm>
            <a:off x="548640" y="1278674"/>
            <a:ext cx="5376672" cy="3840480"/>
          </a:xfrm>
          <a:prstGeom prst="rect">
            <a:avLst/>
          </a:prstGeom>
        </p:spPr>
      </p:pic>
      <p:sp>
        <p:nvSpPr>
          <p:cNvPr id="5" name="Shape 2"/>
          <p:cNvSpPr/>
          <p:nvPr/>
        </p:nvSpPr>
        <p:spPr>
          <a:xfrm>
            <a:off x="6400800" y="1227582"/>
            <a:ext cx="523951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6601968" y="1373886"/>
            <a:ext cx="483717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1,645</a:t>
            </a:r>
            <a:endParaRPr lang="en-US" sz="4600" dirty="0"/>
          </a:p>
        </p:txBody>
      </p:sp>
      <p:sp>
        <p:nvSpPr>
          <p:cNvPr id="7" name="Text 4"/>
          <p:cNvSpPr/>
          <p:nvPr/>
        </p:nvSpPr>
        <p:spPr>
          <a:xfrm>
            <a:off x="6601968" y="2139696"/>
            <a:ext cx="483717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early-warning alerts, in 591 of the 730 reporting areas</a:t>
            </a:r>
            <a:endParaRPr lang="en-US" sz="1800" dirty="0"/>
          </a:p>
        </p:txBody>
      </p:sp>
      <p:sp>
        <p:nvSpPr>
          <p:cNvPr id="8" name="Text 5"/>
          <p:cNvSpPr/>
          <p:nvPr/>
        </p:nvSpPr>
        <p:spPr>
          <a:xfrm>
            <a:off x="6400800" y="3012948"/>
            <a:ext cx="523951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Every reporting area has its own forecast for each of the four tracer vaccines. That gives 2,657 forecasts, and 1,645 fall below the mark in the next 6 to 12 months.</a:t>
            </a:r>
            <a:endParaRPr lang="en-US" sz="1800" dirty="0"/>
          </a:p>
        </p:txBody>
      </p:sp>
      <p:sp>
        <p:nvSpPr>
          <p:cNvPr id="9" name="Shape 6"/>
          <p:cNvSpPr/>
          <p:nvPr/>
        </p:nvSpPr>
        <p:spPr>
          <a:xfrm>
            <a:off x="6400800" y="4282592"/>
            <a:ext cx="5239512" cy="1724216"/>
          </a:xfrm>
          <a:prstGeom prst="rect">
            <a:avLst/>
          </a:prstGeom>
          <a:solidFill>
            <a:srgbClr val="EEF2F6"/>
          </a:solidFill>
          <a:ln w="9525">
            <a:solidFill>
              <a:srgbClr val="C9D6E2"/>
            </a:solidFill>
            <a:prstDash val="solid"/>
          </a:ln>
        </p:spPr>
        <p:txBody>
          <a:bodyPr/>
          <a:lstStyle/>
          <a:p>
            <a:endParaRPr lang="LID4096"/>
          </a:p>
        </p:txBody>
      </p:sp>
      <p:sp>
        <p:nvSpPr>
          <p:cNvPr id="10" name="Text 7"/>
          <p:cNvSpPr/>
          <p:nvPr/>
        </p:nvSpPr>
        <p:spPr>
          <a:xfrm>
            <a:off x="6601968" y="4419752"/>
            <a:ext cx="483717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below 80 percent means. </a:t>
            </a:r>
            <a:r>
              <a:rPr lang="en-US" sz="1800" dirty="0">
                <a:solidFill>
                  <a:srgbClr val="22333F"/>
                </a:solidFill>
                <a:latin typeface="Arial" pitchFamily="34" charset="0"/>
                <a:ea typeface="Arial" pitchFamily="34" charset="-122"/>
                <a:cs typeface="Arial" pitchFamily="34" charset="-120"/>
              </a:rPr>
              <a:t>Doses delivered have dropped below four-fifths of what that area managed in 2024. It does not mean only 80 percent of children were reached.</a:t>
            </a:r>
            <a:endParaRPr lang="en-US" sz="1800" dirty="0"/>
          </a:p>
        </p:txBody>
      </p:sp>
      <p:sp>
        <p:nvSpPr>
          <p:cNvPr id="11" name="Text 8"/>
          <p:cNvSpPr/>
          <p:nvPr/>
        </p:nvSpPr>
        <p:spPr>
          <a:xfrm>
            <a:off x="548640" y="5196078"/>
            <a:ext cx="5376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 </a:t>
            </a:r>
            <a:r>
              <a:rPr lang="en-US" sz="1800" dirty="0">
                <a:solidFill>
                  <a:srgbClr val="22333F"/>
                </a:solidFill>
                <a:latin typeface="Arial" pitchFamily="34" charset="0"/>
                <a:ea typeface="Arial" pitchFamily="34" charset="-122"/>
                <a:cs typeface="Arial" pitchFamily="34" charset="-120"/>
              </a:rPr>
              <a:t>Alert by vaccine and by month, and send supervision to those exact areas.</a:t>
            </a:r>
            <a:endParaRPr lang="en-US" sz="1800" dirty="0"/>
          </a:p>
        </p:txBody>
      </p:sp>
      <p:sp>
        <p:nvSpPr>
          <p:cNvPr id="12" name="Text 9"/>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The 80 percent mark compares each area with its own 2024 level of doses delivered. It is a decline tripwire, not coverage of the eligible child population. Source: Domain 1 Prophet forecasts on DHIS2 routine data, 2021 to 2025.</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3815"/>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All nine additional antigens show stable, or improving trajectories with no decline warnings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Same method, nine more vaccines. None of them raised a warning, and some are still rising.</a:t>
            </a:r>
            <a:endParaRPr lang="en-US" sz="1450" dirty="0"/>
          </a:p>
        </p:txBody>
      </p:sp>
      <p:sp>
        <p:nvSpPr>
          <p:cNvPr id="4" name="Shape 2"/>
          <p:cNvSpPr/>
          <p:nvPr/>
        </p:nvSpPr>
        <p:spPr>
          <a:xfrm>
            <a:off x="548640" y="1353312"/>
            <a:ext cx="2743200" cy="1517904"/>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694944" y="1444752"/>
            <a:ext cx="2450592" cy="475488"/>
          </a:xfrm>
          <a:prstGeom prst="rect">
            <a:avLst/>
          </a:prstGeom>
          <a:noFill/>
          <a:ln/>
        </p:spPr>
        <p:txBody>
          <a:bodyPr wrap="square" lIns="0" tIns="0" rIns="0" bIns="0" rtlCol="0" anchor="ctr"/>
          <a:lstStyle/>
          <a:p>
            <a:pPr marL="0" indent="0">
              <a:buNone/>
            </a:pPr>
            <a:r>
              <a:rPr lang="en-US" sz="3200" b="1" dirty="0">
                <a:solidFill>
                  <a:srgbClr val="1F3B57"/>
                </a:solidFill>
                <a:latin typeface="Arial" pitchFamily="34" charset="0"/>
                <a:ea typeface="Arial" pitchFamily="34" charset="-122"/>
                <a:cs typeface="Arial" pitchFamily="34" charset="-120"/>
              </a:rPr>
              <a:t>5 of 5</a:t>
            </a:r>
            <a:endParaRPr lang="en-US" sz="3200" dirty="0"/>
          </a:p>
        </p:txBody>
      </p:sp>
      <p:sp>
        <p:nvSpPr>
          <p:cNvPr id="6" name="Text 4"/>
          <p:cNvSpPr/>
          <p:nvPr/>
        </p:nvSpPr>
        <p:spPr>
          <a:xfrm>
            <a:off x="694944" y="1920240"/>
            <a:ext cx="2450592" cy="877824"/>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established antigens added - OPV3, IPV1, PCV3, Yellow Fever and Meningitis A - are projected to stay above 80 percent of their own 2024 level. None is flagged.</a:t>
            </a:r>
            <a:endParaRPr lang="en-US" sz="1150" dirty="0"/>
          </a:p>
        </p:txBody>
      </p:sp>
      <p:sp>
        <p:nvSpPr>
          <p:cNvPr id="7" name="Shape 5"/>
          <p:cNvSpPr/>
          <p:nvPr/>
        </p:nvSpPr>
        <p:spPr>
          <a:xfrm>
            <a:off x="548640" y="2999232"/>
            <a:ext cx="2743200" cy="1371600"/>
          </a:xfrm>
          <a:prstGeom prst="rect">
            <a:avLst/>
          </a:prstGeom>
          <a:solidFill>
            <a:srgbClr val="FFFFFF"/>
          </a:solidFill>
          <a:ln w="9525">
            <a:solidFill>
              <a:srgbClr val="D6DEE7"/>
            </a:solidFill>
            <a:prstDash val="solid"/>
          </a:ln>
        </p:spPr>
        <p:txBody>
          <a:bodyPr/>
          <a:lstStyle/>
          <a:p>
            <a:endParaRPr lang="LID4096"/>
          </a:p>
        </p:txBody>
      </p:sp>
      <p:sp>
        <p:nvSpPr>
          <p:cNvPr id="8" name="Text 6"/>
          <p:cNvSpPr/>
          <p:nvPr/>
        </p:nvSpPr>
        <p:spPr>
          <a:xfrm>
            <a:off x="694944" y="3090672"/>
            <a:ext cx="2450592" cy="475488"/>
          </a:xfrm>
          <a:prstGeom prst="rect">
            <a:avLst/>
          </a:prstGeom>
          <a:noFill/>
          <a:ln/>
        </p:spPr>
        <p:txBody>
          <a:bodyPr wrap="square" lIns="0" tIns="0" rIns="0" bIns="0" rtlCol="0" anchor="ctr"/>
          <a:lstStyle/>
          <a:p>
            <a:pPr marL="0" indent="0">
              <a:buNone/>
            </a:pPr>
            <a:r>
              <a:rPr lang="en-US" sz="3200" b="1" dirty="0">
                <a:solidFill>
                  <a:srgbClr val="1C7A3D"/>
                </a:solidFill>
                <a:latin typeface="Arial" pitchFamily="34" charset="0"/>
                <a:ea typeface="Arial" pitchFamily="34" charset="-122"/>
                <a:cs typeface="Arial" pitchFamily="34" charset="-120"/>
              </a:rPr>
              <a:t>4 of 4</a:t>
            </a:r>
            <a:endParaRPr lang="en-US" sz="3200" dirty="0"/>
          </a:p>
        </p:txBody>
      </p:sp>
      <p:sp>
        <p:nvSpPr>
          <p:cNvPr id="9" name="Text 7"/>
          <p:cNvSpPr/>
          <p:nvPr/>
        </p:nvSpPr>
        <p:spPr>
          <a:xfrm>
            <a:off x="694944" y="3566160"/>
            <a:ext cx="2450592" cy="731520"/>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recently introduced series - IPV2 and Rotavirus 1 to 3 - keep rising. They are monitored for uptake, not screened for decline.</a:t>
            </a:r>
            <a:endParaRPr lang="en-US" sz="1150" dirty="0"/>
          </a:p>
        </p:txBody>
      </p:sp>
      <p:sp>
        <p:nvSpPr>
          <p:cNvPr id="10" name="Shape 8"/>
          <p:cNvSpPr/>
          <p:nvPr/>
        </p:nvSpPr>
        <p:spPr>
          <a:xfrm>
            <a:off x="548640" y="4480560"/>
            <a:ext cx="2743200" cy="1481328"/>
          </a:xfrm>
          <a:prstGeom prst="rect">
            <a:avLst/>
          </a:prstGeom>
          <a:solidFill>
            <a:srgbClr val="FFFFFF"/>
          </a:solidFill>
          <a:ln w="9525">
            <a:solidFill>
              <a:srgbClr val="D6DEE7"/>
            </a:solidFill>
            <a:prstDash val="solid"/>
          </a:ln>
        </p:spPr>
        <p:txBody>
          <a:bodyPr/>
          <a:lstStyle/>
          <a:p>
            <a:endParaRPr lang="LID4096"/>
          </a:p>
        </p:txBody>
      </p:sp>
      <p:sp>
        <p:nvSpPr>
          <p:cNvPr id="11" name="Text 9"/>
          <p:cNvSpPr/>
          <p:nvPr/>
        </p:nvSpPr>
        <p:spPr>
          <a:xfrm>
            <a:off x="694944" y="4572000"/>
            <a:ext cx="2450592"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How to read the chart</a:t>
            </a:r>
            <a:endParaRPr lang="en-US" sz="1250" dirty="0"/>
          </a:p>
        </p:txBody>
      </p:sp>
      <p:sp>
        <p:nvSpPr>
          <p:cNvPr id="12" name="Text 10"/>
          <p:cNvSpPr/>
          <p:nvPr/>
        </p:nvSpPr>
        <p:spPr>
          <a:xfrm>
            <a:off x="694944" y="4846320"/>
            <a:ext cx="2450592" cy="1042416"/>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The purple dotted line is 80 percent of that antigen's own 2024 doses - the at-risk-of-decline early-warning mark. Rising series carry no line, because they should not be screened for decline.</a:t>
            </a:r>
            <a:endParaRPr lang="en-US" sz="1150" dirty="0"/>
          </a:p>
        </p:txBody>
      </p:sp>
      <p:pic>
        <p:nvPicPr>
          <p:cNvPr id="13" name="Image 0" descr="fig/additional_antigen_forecasts.png"/>
          <p:cNvPicPr>
            <a:picLocks noChangeAspect="1"/>
          </p:cNvPicPr>
          <p:nvPr/>
        </p:nvPicPr>
        <p:blipFill>
          <a:blip r:embed="rId3"/>
          <a:stretch>
            <a:fillRect/>
          </a:stretch>
        </p:blipFill>
        <p:spPr>
          <a:xfrm>
            <a:off x="3520440" y="1353312"/>
            <a:ext cx="8119872" cy="4608576"/>
          </a:xfrm>
          <a:prstGeom prst="rect">
            <a:avLst/>
          </a:prstGeom>
        </p:spPr>
      </p:pic>
      <p:sp>
        <p:nvSpPr>
          <p:cNvPr id="14" name="Text 11"/>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Domain 1 Prophet forecasts on DHIS2 (District Health Information System, version 2) routine data, 2021 to 2025, projected to 2027. OPV = oral polio vaccine; IPV = inactivated polio vaccine; PCV3 = third dose of pneumococcal conjugate vaccine.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What the at-risk-of-decline early-warning measures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It tells you when delivery is slipping against a settled benchmark. It is not a coverage figure.</a:t>
            </a:r>
            <a:endParaRPr lang="en-US" sz="1450" dirty="0"/>
          </a:p>
        </p:txBody>
      </p:sp>
      <p:sp>
        <p:nvSpPr>
          <p:cNvPr id="4" name="Shape 2"/>
          <p:cNvSpPr/>
          <p:nvPr/>
        </p:nvSpPr>
        <p:spPr>
          <a:xfrm>
            <a:off x="548640" y="1353312"/>
            <a:ext cx="6812280" cy="2807208"/>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731520" y="1463040"/>
            <a:ext cx="6446520" cy="219456"/>
          </a:xfrm>
          <a:prstGeom prst="rect">
            <a:avLst/>
          </a:prstGeom>
          <a:noFill/>
          <a:ln/>
        </p:spPr>
        <p:txBody>
          <a:bodyPr wrap="square" lIns="0" tIns="0" rIns="0" bIns="0" rtlCol="0" anchor="ctr"/>
          <a:lstStyle/>
          <a:p>
            <a:pPr marL="0" indent="0">
              <a:buNone/>
            </a:pPr>
            <a:r>
              <a:rPr lang="en-US" sz="1050" b="1" kern="0" spc="150" dirty="0">
                <a:solidFill>
                  <a:srgbClr val="5C6B78"/>
                </a:solidFill>
                <a:latin typeface="Arial" pitchFamily="34" charset="0"/>
                <a:ea typeface="Arial" pitchFamily="34" charset="-122"/>
                <a:cs typeface="Arial" pitchFamily="34" charset="-120"/>
              </a:rPr>
              <a:t>THE FLAG, IN FOUR LINES</a:t>
            </a:r>
            <a:endParaRPr lang="en-US" sz="1050" dirty="0"/>
          </a:p>
        </p:txBody>
      </p:sp>
      <p:sp>
        <p:nvSpPr>
          <p:cNvPr id="6" name="Text 4"/>
          <p:cNvSpPr/>
          <p:nvPr/>
        </p:nvSpPr>
        <p:spPr>
          <a:xfrm>
            <a:off x="731520" y="1682496"/>
            <a:ext cx="6446520" cy="329184"/>
          </a:xfrm>
          <a:prstGeom prst="rect">
            <a:avLst/>
          </a:prstGeom>
          <a:noFill/>
          <a:ln/>
        </p:spPr>
        <p:txBody>
          <a:bodyPr wrap="square" lIns="0" tIns="0" rIns="0" bIns="0" rtlCol="0" anchor="ctr"/>
          <a:lstStyle/>
          <a:p>
            <a:pPr marL="0" indent="0">
              <a:buNone/>
            </a:pPr>
            <a:r>
              <a:rPr lang="en-US" sz="1700" b="1" dirty="0">
                <a:solidFill>
                  <a:srgbClr val="1F3B57"/>
                </a:solidFill>
                <a:latin typeface="Arial" pitchFamily="34" charset="0"/>
                <a:ea typeface="Arial" pitchFamily="34" charset="-122"/>
                <a:cs typeface="Arial" pitchFamily="34" charset="-120"/>
              </a:rPr>
              <a:t>At-risk-of-decline early-warning</a:t>
            </a:r>
            <a:endParaRPr lang="en-US" sz="1700" dirty="0"/>
          </a:p>
        </p:txBody>
      </p:sp>
      <p:sp>
        <p:nvSpPr>
          <p:cNvPr id="7" name="Text 5"/>
          <p:cNvSpPr/>
          <p:nvPr/>
        </p:nvSpPr>
        <p:spPr>
          <a:xfrm>
            <a:off x="731520" y="2066544"/>
            <a:ext cx="6446520" cy="1965960"/>
          </a:xfrm>
          <a:prstGeom prst="rect">
            <a:avLst/>
          </a:prstGeom>
          <a:noFill/>
          <a:ln/>
        </p:spPr>
        <p:txBody>
          <a:bodyPr wrap="square" lIns="0" tIns="0" rIns="0" bIns="0" rtlCol="0" anchor="t"/>
          <a:lstStyle/>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it measures. </a:t>
            </a:r>
            <a:r>
              <a:rPr lang="en-US" sz="1300" dirty="0">
                <a:solidFill>
                  <a:srgbClr val="22333F"/>
                </a:solidFill>
                <a:latin typeface="Arial" pitchFamily="34" charset="0"/>
                <a:ea typeface="Arial" pitchFamily="34" charset="-122"/>
                <a:cs typeface="Arial" pitchFamily="34" charset="-120"/>
              </a:rPr>
              <a:t>Projected monthly doses for an antigen, expressed as a percent of that antigen's own 2024 level.</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The mark. </a:t>
            </a:r>
            <a:r>
              <a:rPr lang="en-US" sz="1300" dirty="0">
                <a:solidFill>
                  <a:srgbClr val="22333F"/>
                </a:solidFill>
                <a:latin typeface="Arial" pitchFamily="34" charset="0"/>
                <a:ea typeface="Arial" pitchFamily="34" charset="-122"/>
                <a:cs typeface="Arial" pitchFamily="34" charset="-120"/>
              </a:rPr>
              <a:t>Below 80 percent means doses are slipping against the settled 2024 benchmark. That is what raises the flag.</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It is denominator-free. </a:t>
            </a:r>
            <a:r>
              <a:rPr lang="en-US" sz="1300" dirty="0">
                <a:solidFill>
                  <a:srgbClr val="22333F"/>
                </a:solidFill>
                <a:latin typeface="Arial" pitchFamily="34" charset="0"/>
                <a:ea typeface="Arial" pitchFamily="34" charset="-122"/>
                <a:cs typeface="Arial" pitchFamily="34" charset="-120"/>
              </a:rPr>
              <a:t>It does not say what share of children were reached, because no child population enters the calculation.</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to do with it. </a:t>
            </a:r>
            <a:r>
              <a:rPr lang="en-US" sz="1300" dirty="0">
                <a:solidFill>
                  <a:srgbClr val="22333F"/>
                </a:solidFill>
                <a:latin typeface="Arial" pitchFamily="34" charset="0"/>
                <a:ea typeface="Arial" pitchFamily="34" charset="-122"/>
                <a:cs typeface="Arial" pitchFamily="34" charset="-120"/>
              </a:rPr>
              <a:t>Catch the decline early, and route supervision to the exact antigen, month and local government area.</a:t>
            </a:r>
            <a:endParaRPr lang="en-US" sz="1300" dirty="0"/>
          </a:p>
        </p:txBody>
      </p:sp>
      <p:pic>
        <p:nvPicPr>
          <p:cNvPr id="8" name="Image 0" descr="fig/opv3_panel.png"/>
          <p:cNvPicPr>
            <a:picLocks noChangeAspect="1"/>
          </p:cNvPicPr>
          <p:nvPr/>
        </p:nvPicPr>
        <p:blipFill>
          <a:blip r:embed="rId3"/>
          <a:stretch>
            <a:fillRect/>
          </a:stretch>
        </p:blipFill>
        <p:spPr>
          <a:xfrm>
            <a:off x="7543800" y="1353312"/>
            <a:ext cx="4096512" cy="2459736"/>
          </a:xfrm>
          <a:prstGeom prst="rect">
            <a:avLst/>
          </a:prstGeom>
        </p:spPr>
      </p:pic>
      <p:sp>
        <p:nvSpPr>
          <p:cNvPr id="9" name="Text 6"/>
          <p:cNvSpPr/>
          <p:nvPr/>
        </p:nvSpPr>
        <p:spPr>
          <a:xfrm>
            <a:off x="7543800" y="3858768"/>
            <a:ext cx="4096512" cy="420624"/>
          </a:xfrm>
          <a:prstGeom prst="rect">
            <a:avLst/>
          </a:prstGeom>
          <a:noFill/>
          <a:ln/>
        </p:spPr>
        <p:txBody>
          <a:bodyPr wrap="square" lIns="0" tIns="0" rIns="0" bIns="0" rtlCol="0" anchor="t"/>
          <a:lstStyle/>
          <a:p>
            <a:pPr marL="0" indent="0">
              <a:lnSpc>
                <a:spcPct val="102000"/>
              </a:lnSpc>
              <a:buNone/>
            </a:pPr>
            <a:r>
              <a:rPr lang="en-US" sz="1050" b="1" dirty="0">
                <a:solidFill>
                  <a:srgbClr val="1F3B57"/>
                </a:solidFill>
                <a:latin typeface="Arial" pitchFamily="34" charset="0"/>
                <a:ea typeface="Arial" pitchFamily="34" charset="-122"/>
                <a:cs typeface="Arial" pitchFamily="34" charset="-120"/>
              </a:rPr>
              <a:t>Reading one panel. </a:t>
            </a:r>
            <a:r>
              <a:rPr lang="en-US" sz="1050" dirty="0">
                <a:solidFill>
                  <a:srgbClr val="22333F"/>
                </a:solidFill>
                <a:latin typeface="Arial" pitchFamily="34" charset="0"/>
                <a:ea typeface="Arial" pitchFamily="34" charset="-122"/>
                <a:cs typeface="Arial" pitchFamily="34" charset="-120"/>
              </a:rPr>
              <a:t>The purple dotted line is 80 percent of OPV3's 2024 doses; the forecast stays clear of it, so OPV3 is not flagged.</a:t>
            </a:r>
            <a:endParaRPr lang="en-US" sz="1050" dirty="0"/>
          </a:p>
        </p:txBody>
      </p:sp>
      <p:sp>
        <p:nvSpPr>
          <p:cNvPr id="10" name="Shape 7"/>
          <p:cNvSpPr/>
          <p:nvPr/>
        </p:nvSpPr>
        <p:spPr>
          <a:xfrm>
            <a:off x="548640" y="4315968"/>
            <a:ext cx="5669280" cy="1115568"/>
          </a:xfrm>
          <a:prstGeom prst="rect">
            <a:avLst/>
          </a:prstGeom>
          <a:solidFill>
            <a:srgbClr val="FFFFFF"/>
          </a:solidFill>
          <a:ln w="9525">
            <a:solidFill>
              <a:srgbClr val="D6DEE7"/>
            </a:solidFill>
            <a:prstDash val="solid"/>
          </a:ln>
        </p:spPr>
        <p:txBody>
          <a:bodyPr/>
          <a:lstStyle/>
          <a:p>
            <a:endParaRPr lang="LID4096"/>
          </a:p>
        </p:txBody>
      </p:sp>
      <p:sp>
        <p:nvSpPr>
          <p:cNvPr id="11" name="Text 8"/>
          <p:cNvSpPr/>
          <p:nvPr/>
        </p:nvSpPr>
        <p:spPr>
          <a:xfrm>
            <a:off x="713232" y="4398264"/>
            <a:ext cx="5340096"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Why the benchmark is 2024, not 2025</a:t>
            </a:r>
            <a:endParaRPr lang="en-US" sz="1250" dirty="0"/>
          </a:p>
        </p:txBody>
      </p:sp>
      <p:sp>
        <p:nvSpPr>
          <p:cNvPr id="12" name="Text 9"/>
          <p:cNvSpPr/>
          <p:nvPr/>
        </p:nvSpPr>
        <p:spPr>
          <a:xfrm>
            <a:off x="713232" y="4663440"/>
            <a:ext cx="5340096"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2024 is the last complete, fully-reported year, so it holds still. 2025 is partial and keeps shifting as late reports arrive, which would raise alerts that are really reporting lag.</a:t>
            </a:r>
            <a:endParaRPr lang="en-US" sz="1150" dirty="0"/>
          </a:p>
        </p:txBody>
      </p:sp>
      <p:sp>
        <p:nvSpPr>
          <p:cNvPr id="13" name="Shape 10"/>
          <p:cNvSpPr/>
          <p:nvPr/>
        </p:nvSpPr>
        <p:spPr>
          <a:xfrm>
            <a:off x="6355080" y="4315968"/>
            <a:ext cx="5285232" cy="1115568"/>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6519672" y="4398264"/>
            <a:ext cx="4956048"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Not to be confused with true coverage</a:t>
            </a:r>
            <a:endParaRPr lang="en-US" sz="1250" dirty="0"/>
          </a:p>
        </p:txBody>
      </p:sp>
      <p:sp>
        <p:nvSpPr>
          <p:cNvPr id="15" name="Text 12"/>
          <p:cNvSpPr/>
          <p:nvPr/>
        </p:nvSpPr>
        <p:spPr>
          <a:xfrm>
            <a:off x="6519672" y="4663440"/>
            <a:ext cx="4956048"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True coverage divides doses by the eligible child population, the 12-to-23-month cohort. It answers a different question and is shown separately in the application as "Estimated coverage (eligible cohort)".</a:t>
            </a:r>
            <a:endParaRPr lang="en-US" sz="1150" dirty="0"/>
          </a:p>
        </p:txBody>
      </p:sp>
      <p:sp>
        <p:nvSpPr>
          <p:cNvPr id="16" name="Shape 13"/>
          <p:cNvSpPr/>
          <p:nvPr/>
        </p:nvSpPr>
        <p:spPr>
          <a:xfrm>
            <a:off x="548640" y="5541264"/>
            <a:ext cx="11091672" cy="566928"/>
          </a:xfrm>
          <a:prstGeom prst="rect">
            <a:avLst/>
          </a:prstGeom>
          <a:solidFill>
            <a:srgbClr val="1F3B57"/>
          </a:solidFill>
          <a:ln/>
        </p:spPr>
        <p:txBody>
          <a:bodyPr/>
          <a:lstStyle/>
          <a:p>
            <a:endParaRPr lang="LID4096"/>
          </a:p>
        </p:txBody>
      </p:sp>
      <p:sp>
        <p:nvSpPr>
          <p:cNvPr id="17" name="Text 14"/>
          <p:cNvSpPr/>
          <p:nvPr/>
        </p:nvSpPr>
        <p:spPr>
          <a:xfrm>
            <a:off x="731520" y="5541264"/>
            <a:ext cx="10725912" cy="56692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The early-warning tells you when delivery is falling. Coverage tells you how many children you reached. Different questions, different denominators.</a:t>
            </a:r>
            <a:endParaRPr lang="en-US" sz="1300" dirty="0"/>
          </a:p>
        </p:txBody>
      </p:sp>
      <p:sp>
        <p:nvSpPr>
          <p:cNvPr id="18" name="Text 15"/>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Source: Domain 1 methods, consortium documentation, 2026. WHO = World Health Organization; Gavi = the global vaccine partnership. Projected values are model estimates.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2: what drives incomplete vaccination?</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dropout transition has a different driver, so retention needs three tailored responses, not one.</a:t>
            </a:r>
            <a:endParaRPr lang="en-US" sz="1800" dirty="0"/>
          </a:p>
        </p:txBody>
      </p:sp>
      <p:pic>
        <p:nvPicPr>
          <p:cNvPr id="4" name="Image 0" descr="/home/claude/d1/ppt/media/image8.png"/>
          <p:cNvPicPr>
            <a:picLocks noChangeAspect="1"/>
          </p:cNvPicPr>
          <p:nvPr/>
        </p:nvPicPr>
        <p:blipFill>
          <a:blip r:embed="rId3"/>
          <a:stretch>
            <a:fillRect/>
          </a:stretch>
        </p:blipFill>
        <p:spPr>
          <a:xfrm>
            <a:off x="548640" y="1495044"/>
            <a:ext cx="6355080" cy="2286000"/>
          </a:xfrm>
          <a:prstGeom prst="rect">
            <a:avLst/>
          </a:prstGeom>
        </p:spPr>
      </p:pic>
      <p:sp>
        <p:nvSpPr>
          <p:cNvPr id="5" name="Text 2"/>
          <p:cNvSpPr/>
          <p:nvPr/>
        </p:nvSpPr>
        <p:spPr>
          <a:xfrm>
            <a:off x="7498080" y="1495044"/>
            <a:ext cx="414223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biggest remaining gap is between Measles1 and Measles2. It has improved but still needs follow-up.</a:t>
            </a:r>
          </a:p>
        </p:txBody>
      </p:sp>
      <p:sp>
        <p:nvSpPr>
          <p:cNvPr id="6" name="Shape 3"/>
          <p:cNvSpPr/>
          <p:nvPr/>
        </p:nvSpPr>
        <p:spPr>
          <a:xfrm>
            <a:off x="54864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7" name="Text 4"/>
          <p:cNvSpPr/>
          <p:nvPr/>
        </p:nvSpPr>
        <p:spPr>
          <a:xfrm>
            <a:off x="713232" y="4073652"/>
            <a:ext cx="3264408"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Penta1 to Penta3</a:t>
            </a:r>
            <a:endParaRPr lang="en-US" sz="1800" dirty="0"/>
          </a:p>
        </p:txBody>
      </p:sp>
      <p:sp>
        <p:nvSpPr>
          <p:cNvPr id="8" name="Text 5"/>
          <p:cNvSpPr/>
          <p:nvPr/>
        </p:nvSpPr>
        <p:spPr>
          <a:xfrm>
            <a:off x="71323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Stunting; media exposure; lowest wealth.</a:t>
            </a:r>
            <a:endParaRPr lang="en-US" sz="1800" dirty="0"/>
          </a:p>
        </p:txBody>
      </p:sp>
      <p:sp>
        <p:nvSpPr>
          <p:cNvPr id="9" name="Text 6"/>
          <p:cNvSpPr/>
          <p:nvPr/>
        </p:nvSpPr>
        <p:spPr>
          <a:xfrm>
            <a:off x="71323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Defaulter tracing where poverty and undernutrition drive early loss.</a:t>
            </a:r>
            <a:endParaRPr lang="en-US" sz="1800" dirty="0"/>
          </a:p>
        </p:txBody>
      </p:sp>
      <p:sp>
        <p:nvSpPr>
          <p:cNvPr id="10" name="Shape 7"/>
          <p:cNvSpPr/>
          <p:nvPr/>
        </p:nvSpPr>
        <p:spPr>
          <a:xfrm>
            <a:off x="4297680" y="3945636"/>
            <a:ext cx="3593592" cy="1837944"/>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4462272" y="4073652"/>
            <a:ext cx="3264408" cy="274320"/>
          </a:xfrm>
          <a:prstGeom prst="rect">
            <a:avLst/>
          </a:prstGeom>
          <a:noFill/>
          <a:ln/>
        </p:spPr>
        <p:txBody>
          <a:bodyPr wrap="square" lIns="0" tIns="0" rIns="0" bIns="0" rtlCol="0" anchor="t"/>
          <a:lstStyle/>
          <a:p>
            <a:pPr marL="0" indent="0">
              <a:buNone/>
            </a:pPr>
            <a:r>
              <a:rPr lang="en-US" sz="1800" b="1" dirty="0">
                <a:solidFill>
                  <a:srgbClr val="2E6E8E"/>
                </a:solidFill>
                <a:latin typeface="Arial" pitchFamily="34" charset="0"/>
                <a:ea typeface="Arial" pitchFamily="34" charset="-122"/>
                <a:cs typeface="Arial" pitchFamily="34" charset="-120"/>
              </a:rPr>
              <a:t>Penta1 to Measles1</a:t>
            </a:r>
            <a:endParaRPr lang="en-US" sz="1800" dirty="0"/>
          </a:p>
        </p:txBody>
      </p:sp>
      <p:sp>
        <p:nvSpPr>
          <p:cNvPr id="12" name="Text 9"/>
          <p:cNvSpPr/>
          <p:nvPr/>
        </p:nvSpPr>
        <p:spPr>
          <a:xfrm>
            <a:off x="446227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Women employed; facility delivery; religion share.</a:t>
            </a:r>
            <a:endParaRPr lang="en-US" sz="1800" dirty="0"/>
          </a:p>
        </p:txBody>
      </p:sp>
      <p:sp>
        <p:nvSpPr>
          <p:cNvPr id="13" name="Text 10"/>
          <p:cNvSpPr/>
          <p:nvPr/>
        </p:nvSpPr>
        <p:spPr>
          <a:xfrm>
            <a:off x="4462272" y="5074920"/>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Facility-linked, workplace-friendly scheduling.</a:t>
            </a:r>
            <a:endParaRPr lang="en-US" sz="1800" dirty="0"/>
          </a:p>
        </p:txBody>
      </p:sp>
      <p:sp>
        <p:nvSpPr>
          <p:cNvPr id="14" name="Shape 11"/>
          <p:cNvSpPr/>
          <p:nvPr/>
        </p:nvSpPr>
        <p:spPr>
          <a:xfrm>
            <a:off x="804672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15" name="Text 12"/>
          <p:cNvSpPr/>
          <p:nvPr/>
        </p:nvSpPr>
        <p:spPr>
          <a:xfrm>
            <a:off x="8211312" y="4073652"/>
            <a:ext cx="3264408" cy="274320"/>
          </a:xfrm>
          <a:prstGeom prst="rect">
            <a:avLst/>
          </a:prstGeom>
          <a:noFill/>
          <a:ln/>
        </p:spPr>
        <p:txBody>
          <a:bodyPr wrap="square" lIns="0" tIns="0" rIns="0" bIns="0" rtlCol="0" anchor="t"/>
          <a:lstStyle/>
          <a:p>
            <a:pPr marL="0" indent="0">
              <a:buNone/>
            </a:pPr>
            <a:r>
              <a:rPr lang="en-US" sz="1800" b="1" dirty="0">
                <a:solidFill>
                  <a:srgbClr val="C8902A"/>
                </a:solidFill>
                <a:latin typeface="Arial" pitchFamily="34" charset="0"/>
                <a:ea typeface="Arial" pitchFamily="34" charset="-122"/>
                <a:cs typeface="Arial" pitchFamily="34" charset="-120"/>
              </a:rPr>
              <a:t>Measles1 to Measles2</a:t>
            </a:r>
            <a:endParaRPr lang="en-US" sz="1800" dirty="0"/>
          </a:p>
        </p:txBody>
      </p:sp>
      <p:sp>
        <p:nvSpPr>
          <p:cNvPr id="16" name="Text 13"/>
          <p:cNvSpPr/>
          <p:nvPr/>
        </p:nvSpPr>
        <p:spPr>
          <a:xfrm>
            <a:off x="821131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Religion share; distance to facility; treated-net use.</a:t>
            </a:r>
            <a:endParaRPr lang="en-US" sz="1800" dirty="0"/>
          </a:p>
        </p:txBody>
      </p:sp>
      <p:sp>
        <p:nvSpPr>
          <p:cNvPr id="17" name="Text 14"/>
          <p:cNvSpPr/>
          <p:nvPr/>
        </p:nvSpPr>
        <p:spPr>
          <a:xfrm>
            <a:off x="821131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Outreach and trusted messengers where distance is the barrier.</a:t>
            </a:r>
            <a:endParaRPr lang="en-US" sz="1800" dirty="0"/>
          </a:p>
        </p:txBody>
      </p:sp>
      <p:sp>
        <p:nvSpPr>
          <p:cNvPr id="18" name="Text 15"/>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Bootstrap-stable LASSO selection, then a parsimonious model per transition. Ecological associations across all 37 states: directional, not causal.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3: where children are hardest to reach</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The index combines travel time, education, poverty and wealth.</a:t>
            </a:r>
            <a:endParaRPr lang="en-US" sz="1800" dirty="0"/>
          </a:p>
        </p:txBody>
      </p:sp>
      <p:pic>
        <p:nvPicPr>
          <p:cNvPr id="4" name="Image 0" descr="/mnt/user-data/uploads/1784260008432_LGA_equity_deprivation_tiers.png"/>
          <p:cNvPicPr>
            <a:picLocks noChangeAspect="1"/>
          </p:cNvPicPr>
          <p:nvPr/>
        </p:nvPicPr>
        <p:blipFill>
          <a:blip r:embed="rId3"/>
          <a:stretch>
            <a:fillRect/>
          </a:stretch>
        </p:blipFill>
        <p:spPr>
          <a:xfrm>
            <a:off x="548640" y="1227582"/>
            <a:ext cx="6035040" cy="3191256"/>
          </a:xfrm>
          <a:prstGeom prst="rect">
            <a:avLst/>
          </a:prstGeom>
        </p:spPr>
      </p:pic>
      <p:sp>
        <p:nvSpPr>
          <p:cNvPr id="5" name="Shape 2"/>
          <p:cNvSpPr/>
          <p:nvPr/>
        </p:nvSpPr>
        <p:spPr>
          <a:xfrm>
            <a:off x="7680960" y="1264158"/>
            <a:ext cx="256032" cy="237744"/>
          </a:xfrm>
          <a:prstGeom prst="rect">
            <a:avLst/>
          </a:prstGeom>
          <a:solidFill>
            <a:srgbClr val="A02040"/>
          </a:solidFill>
          <a:ln w="6350">
            <a:solidFill>
              <a:srgbClr val="C9D6E2"/>
            </a:solidFill>
            <a:prstDash val="solid"/>
          </a:ln>
        </p:spPr>
        <p:txBody>
          <a:bodyPr/>
          <a:lstStyle/>
          <a:p>
            <a:endParaRPr lang="LID4096"/>
          </a:p>
        </p:txBody>
      </p:sp>
      <p:sp>
        <p:nvSpPr>
          <p:cNvPr id="6" name="Text 3"/>
          <p:cNvSpPr/>
          <p:nvPr/>
        </p:nvSpPr>
        <p:spPr>
          <a:xfrm>
            <a:off x="8046720" y="122758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1  Most deprived</a:t>
            </a:r>
            <a:endParaRPr lang="en-US" sz="1800" dirty="0"/>
          </a:p>
        </p:txBody>
      </p:sp>
      <p:sp>
        <p:nvSpPr>
          <p:cNvPr id="7" name="Shape 4"/>
          <p:cNvSpPr/>
          <p:nvPr/>
        </p:nvSpPr>
        <p:spPr>
          <a:xfrm>
            <a:off x="7680960" y="1629918"/>
            <a:ext cx="256032" cy="237744"/>
          </a:xfrm>
          <a:prstGeom prst="rect">
            <a:avLst/>
          </a:prstGeom>
          <a:solidFill>
            <a:srgbClr val="E06A3C"/>
          </a:solidFill>
          <a:ln w="6350">
            <a:solidFill>
              <a:srgbClr val="C9D6E2"/>
            </a:solidFill>
            <a:prstDash val="solid"/>
          </a:ln>
        </p:spPr>
        <p:txBody>
          <a:bodyPr/>
          <a:lstStyle/>
          <a:p>
            <a:endParaRPr lang="LID4096"/>
          </a:p>
        </p:txBody>
      </p:sp>
      <p:sp>
        <p:nvSpPr>
          <p:cNvPr id="8" name="Text 5"/>
          <p:cNvSpPr/>
          <p:nvPr/>
        </p:nvSpPr>
        <p:spPr>
          <a:xfrm>
            <a:off x="8046720" y="159334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2  Deprived</a:t>
            </a:r>
            <a:endParaRPr lang="en-US" sz="1800" dirty="0"/>
          </a:p>
        </p:txBody>
      </p:sp>
      <p:sp>
        <p:nvSpPr>
          <p:cNvPr id="9" name="Shape 6"/>
          <p:cNvSpPr/>
          <p:nvPr/>
        </p:nvSpPr>
        <p:spPr>
          <a:xfrm>
            <a:off x="7680960" y="1995678"/>
            <a:ext cx="256032" cy="237744"/>
          </a:xfrm>
          <a:prstGeom prst="rect">
            <a:avLst/>
          </a:prstGeom>
          <a:solidFill>
            <a:srgbClr val="F7D9C4"/>
          </a:solidFill>
          <a:ln w="6350">
            <a:solidFill>
              <a:srgbClr val="C9D6E2"/>
            </a:solidFill>
            <a:prstDash val="solid"/>
          </a:ln>
        </p:spPr>
        <p:txBody>
          <a:bodyPr/>
          <a:lstStyle/>
          <a:p>
            <a:endParaRPr lang="LID4096"/>
          </a:p>
        </p:txBody>
      </p:sp>
      <p:sp>
        <p:nvSpPr>
          <p:cNvPr id="10" name="Text 7"/>
          <p:cNvSpPr/>
          <p:nvPr/>
        </p:nvSpPr>
        <p:spPr>
          <a:xfrm>
            <a:off x="8046720" y="195910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3  Moderate</a:t>
            </a:r>
            <a:endParaRPr lang="en-US" sz="1800" dirty="0"/>
          </a:p>
        </p:txBody>
      </p:sp>
      <p:sp>
        <p:nvSpPr>
          <p:cNvPr id="11" name="Shape 8"/>
          <p:cNvSpPr/>
          <p:nvPr/>
        </p:nvSpPr>
        <p:spPr>
          <a:xfrm>
            <a:off x="7680960" y="2361438"/>
            <a:ext cx="256032" cy="237744"/>
          </a:xfrm>
          <a:prstGeom prst="rect">
            <a:avLst/>
          </a:prstGeom>
          <a:solidFill>
            <a:srgbClr val="7FB2DC"/>
          </a:solidFill>
          <a:ln w="6350">
            <a:solidFill>
              <a:srgbClr val="C9D6E2"/>
            </a:solidFill>
            <a:prstDash val="solid"/>
          </a:ln>
        </p:spPr>
        <p:txBody>
          <a:bodyPr/>
          <a:lstStyle/>
          <a:p>
            <a:endParaRPr lang="LID4096"/>
          </a:p>
        </p:txBody>
      </p:sp>
      <p:sp>
        <p:nvSpPr>
          <p:cNvPr id="12" name="Text 9"/>
          <p:cNvSpPr/>
          <p:nvPr/>
        </p:nvSpPr>
        <p:spPr>
          <a:xfrm>
            <a:off x="8046720" y="232486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4  Least deprived</a:t>
            </a:r>
            <a:endParaRPr lang="en-US" sz="1800" dirty="0"/>
          </a:p>
        </p:txBody>
      </p:sp>
      <p:sp>
        <p:nvSpPr>
          <p:cNvPr id="13" name="Text 10"/>
          <p:cNvSpPr/>
          <p:nvPr/>
        </p:nvSpPr>
        <p:spPr>
          <a:xfrm>
            <a:off x="7680960" y="2745486"/>
            <a:ext cx="395935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Darker areas have stronger barriers: longer travel, lower education and more poverty.</a:t>
            </a:r>
          </a:p>
        </p:txBody>
      </p:sp>
      <p:sp>
        <p:nvSpPr>
          <p:cNvPr id="14" name="Text 11"/>
          <p:cNvSpPr/>
          <p:nvPr/>
        </p:nvSpPr>
        <p:spPr>
          <a:xfrm>
            <a:off x="7680960" y="4295966"/>
            <a:ext cx="395935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Many of the hardest-to-reach LGAs are in the North-East and North-West.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5" name="Shape 12"/>
          <p:cNvSpPr/>
          <p:nvPr/>
        </p:nvSpPr>
        <p:spPr>
          <a:xfrm>
            <a:off x="548640" y="4528566"/>
            <a:ext cx="6949440" cy="1443380"/>
          </a:xfrm>
          <a:prstGeom prst="rect">
            <a:avLst/>
          </a:prstGeom>
          <a:solidFill>
            <a:srgbClr val="E7F1EB"/>
          </a:solidFill>
          <a:ln w="9525">
            <a:solidFill>
              <a:srgbClr val="C9D6E2"/>
            </a:solidFill>
            <a:prstDash val="solid"/>
          </a:ln>
        </p:spPr>
        <p:txBody>
          <a:bodyPr/>
          <a:lstStyle/>
          <a:p>
            <a:endParaRPr lang="LID4096"/>
          </a:p>
        </p:txBody>
      </p:sp>
      <p:sp>
        <p:nvSpPr>
          <p:cNvPr id="16" name="Text 13"/>
          <p:cNvSpPr/>
          <p:nvPr/>
        </p:nvSpPr>
        <p:spPr>
          <a:xfrm>
            <a:off x="749808" y="4665726"/>
            <a:ext cx="654710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Use this with the burden ranking. </a:t>
            </a:r>
            <a:r>
              <a:rPr lang="en-US" sz="1800" dirty="0">
                <a:solidFill>
                  <a:srgbClr val="22333F"/>
                </a:solidFill>
                <a:latin typeface="Arial" pitchFamily="34" charset="0"/>
                <a:ea typeface="Arial" pitchFamily="34" charset="-122"/>
                <a:cs typeface="Arial" pitchFamily="34" charset="-120"/>
              </a:rPr>
              <a:t>Burden shows where the most children are; this tier shows where barriers are deepest. Areas with both high burden and high deprivation should be prioritized..</a:t>
            </a:r>
            <a:endParaRPr lang="en-US" sz="1800" dirty="0"/>
          </a:p>
        </p:txBody>
      </p:sp>
      <p:sp>
        <p:nvSpPr>
          <p:cNvPr id="17" name="Text 14"/>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Composite equity-deprivation index (0 to 100) built from Weiss travel time, education, poverty and the Meta Relative Wealth Index, grouped into four equal bands; GRID3 boundaries.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causes act locally</a:t>
            </a:r>
            <a:endParaRPr lang="en-US" sz="3200" dirty="0"/>
          </a:p>
        </p:txBody>
      </p:sp>
      <p:sp>
        <p:nvSpPr>
          <p:cNvPr id="3" name="Text 1"/>
          <p:cNvSpPr/>
          <p:nvPr/>
        </p:nvSpPr>
        <p:spPr>
          <a:xfrm>
            <a:off x="548640" y="728622"/>
            <a:ext cx="11091672" cy="313182"/>
          </a:xfrm>
          <a:prstGeom prst="rect">
            <a:avLst/>
          </a:prstGeom>
          <a:noFill/>
          <a:ln/>
        </p:spPr>
        <p:txBody>
          <a:bodyPr wrap="square" lIns="0" tIns="0" rIns="0" bIns="0" rtlCol="0" anchor="t"/>
          <a:lstStyle/>
          <a:p>
            <a:pPr marL="0" indent="0">
              <a:buNone/>
            </a:pPr>
            <a:r>
              <a:rPr lang="en-US" sz="1600" dirty="0">
                <a:solidFill>
                  <a:srgbClr val="45596B"/>
                </a:solidFill>
                <a:latin typeface="Arial" pitchFamily="34" charset="0"/>
                <a:ea typeface="Arial" pitchFamily="34" charset="-122"/>
                <a:cs typeface="Arial" pitchFamily="34" charset="-120"/>
              </a:rPr>
              <a:t>The previous slide showed where disadvantage is deepest. These maps show which barrier appears strongest in each place.</a:t>
            </a:r>
          </a:p>
          <a:p>
            <a:pPr marL="0" indent="0">
              <a:buNone/>
            </a:pPr>
            <a:endParaRPr lang="en-US" sz="1600" dirty="0">
              <a:solidFill>
                <a:srgbClr val="45596B"/>
              </a:solidFill>
              <a:latin typeface="Arial" pitchFamily="34" charset="0"/>
              <a:ea typeface="Arial" pitchFamily="34" charset="-122"/>
              <a:cs typeface="Arial" pitchFamily="34" charset="-120"/>
            </a:endParaRPr>
          </a:p>
        </p:txBody>
      </p:sp>
      <p:pic>
        <p:nvPicPr>
          <p:cNvPr id="4" name="Image 0" descr="/mnt/user-data/uploads/1784263571430_LGA_MGWR_driver_surfaces.png"/>
          <p:cNvPicPr>
            <a:picLocks noChangeAspect="1"/>
          </p:cNvPicPr>
          <p:nvPr/>
        </p:nvPicPr>
        <p:blipFill>
          <a:blip r:embed="rId3"/>
          <a:stretch>
            <a:fillRect/>
          </a:stretch>
        </p:blipFill>
        <p:spPr>
          <a:xfrm>
            <a:off x="548640" y="1227582"/>
            <a:ext cx="7680960" cy="4489704"/>
          </a:xfrm>
          <a:prstGeom prst="rect">
            <a:avLst/>
          </a:prstGeom>
        </p:spPr>
      </p:pic>
      <p:sp>
        <p:nvSpPr>
          <p:cNvPr id="5" name="Shape 2"/>
          <p:cNvSpPr/>
          <p:nvPr/>
        </p:nvSpPr>
        <p:spPr>
          <a:xfrm>
            <a:off x="8412480" y="1227582"/>
            <a:ext cx="3227832" cy="1954530"/>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8613648" y="1373886"/>
            <a:ext cx="2825496" cy="491490"/>
          </a:xfrm>
          <a:prstGeom prst="rect">
            <a:avLst/>
          </a:prstGeom>
          <a:noFill/>
          <a:ln/>
        </p:spPr>
        <p:txBody>
          <a:bodyPr wrap="square" lIns="0" tIns="0" rIns="0" bIns="0" rtlCol="0" anchor="t"/>
          <a:lstStyle/>
          <a:p>
            <a:pPr marL="0" indent="0">
              <a:buNone/>
            </a:pPr>
            <a:r>
              <a:rPr lang="en-US" sz="3000" b="1" dirty="0">
                <a:solidFill>
                  <a:srgbClr val="1C7A3D"/>
                </a:solidFill>
                <a:latin typeface="Arial" pitchFamily="34" charset="0"/>
                <a:ea typeface="Arial" pitchFamily="34" charset="-122"/>
                <a:cs typeface="Arial" pitchFamily="34" charset="-120"/>
              </a:rPr>
              <a:t>39% → 55%</a:t>
            </a:r>
            <a:endParaRPr lang="en-US" sz="3000" dirty="0"/>
          </a:p>
        </p:txBody>
      </p:sp>
      <p:sp>
        <p:nvSpPr>
          <p:cNvPr id="7" name="Text 4"/>
          <p:cNvSpPr/>
          <p:nvPr/>
        </p:nvSpPr>
        <p:spPr>
          <a:xfrm>
            <a:off x="8613648" y="1901952"/>
            <a:ext cx="2825496" cy="1115568"/>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variation explained, once drivers can act differently in different places</a:t>
            </a:r>
            <a:endParaRPr lang="en-US" sz="1800" dirty="0"/>
          </a:p>
        </p:txBody>
      </p:sp>
      <p:sp>
        <p:nvSpPr>
          <p:cNvPr id="8" name="Text 5"/>
          <p:cNvSpPr/>
          <p:nvPr/>
        </p:nvSpPr>
        <p:spPr>
          <a:xfrm>
            <a:off x="8412480" y="3310128"/>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map shows one possible barrier to vaccination.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9" name="Text 6"/>
          <p:cNvSpPr/>
          <p:nvPr/>
        </p:nvSpPr>
        <p:spPr>
          <a:xfrm>
            <a:off x="8412480" y="4298937"/>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Red means the factor is linked with more zero-dose children. Blue means the opposite. Darker </a:t>
            </a:r>
            <a:r>
              <a:rPr lang="en-US" sz="1800" dirty="0" err="1">
                <a:solidFill>
                  <a:srgbClr val="22333F"/>
                </a:solidFill>
                <a:latin typeface="Arial" pitchFamily="34" charset="0"/>
                <a:ea typeface="Arial" pitchFamily="34" charset="-122"/>
                <a:cs typeface="Arial" pitchFamily="34" charset="-120"/>
              </a:rPr>
              <a:t>colour</a:t>
            </a:r>
            <a:r>
              <a:rPr lang="en-US" sz="1800" dirty="0">
                <a:solidFill>
                  <a:srgbClr val="22333F"/>
                </a:solidFill>
                <a:latin typeface="Arial" pitchFamily="34" charset="0"/>
                <a:ea typeface="Arial" pitchFamily="34" charset="-122"/>
                <a:cs typeface="Arial" pitchFamily="34" charset="-120"/>
              </a:rPr>
              <a:t> means stronger effect.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Text 7"/>
          <p:cNvSpPr/>
          <p:nvPr/>
        </p:nvSpPr>
        <p:spPr>
          <a:xfrm>
            <a:off x="548640" y="5950458"/>
            <a:ext cx="11091672" cy="669798"/>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across the 774 local government areas. MGWR = multiscale geographically weighted regression, which lets each driver's effect vary from place to place. These are local, standardised, partial associations, not causal effects. White areas are not modelled because they have no DTP1 reporting, so they carry no estimate rather than a zero.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4: does hesitancy explain the shortfall?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Hesitancy is real, but it does not sit where the missed children are.</a:t>
            </a:r>
            <a:endParaRPr lang="en-US" sz="1800" dirty="0"/>
          </a:p>
        </p:txBody>
      </p:sp>
      <p:pic>
        <p:nvPicPr>
          <p:cNvPr id="4" name="Image 0" descr="/mnt/user-data/uploads/1784266770040_d4_decoupling.png"/>
          <p:cNvPicPr>
            <a:picLocks noChangeAspect="1"/>
          </p:cNvPicPr>
          <p:nvPr/>
        </p:nvPicPr>
        <p:blipFill>
          <a:blip r:embed="rId3"/>
          <a:stretch>
            <a:fillRect/>
          </a:stretch>
        </p:blipFill>
        <p:spPr>
          <a:xfrm>
            <a:off x="548640" y="1227582"/>
            <a:ext cx="7498080" cy="3602736"/>
          </a:xfrm>
          <a:prstGeom prst="rect">
            <a:avLst/>
          </a:prstGeom>
        </p:spPr>
      </p:pic>
      <p:sp>
        <p:nvSpPr>
          <p:cNvPr id="5" name="Shape 2"/>
          <p:cNvSpPr/>
          <p:nvPr/>
        </p:nvSpPr>
        <p:spPr>
          <a:xfrm>
            <a:off x="9235440" y="1227582"/>
            <a:ext cx="2404872" cy="2162556"/>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9436608" y="1373886"/>
            <a:ext cx="2002536" cy="432054"/>
          </a:xfrm>
          <a:prstGeom prst="rect">
            <a:avLst/>
          </a:prstGeom>
          <a:noFill/>
          <a:ln/>
        </p:spPr>
        <p:txBody>
          <a:bodyPr wrap="square" lIns="0" tIns="0" rIns="0" bIns="0" rtlCol="0" anchor="t"/>
          <a:lstStyle/>
          <a:p>
            <a:pPr marL="0" indent="0">
              <a:buNone/>
            </a:pPr>
            <a:r>
              <a:rPr lang="en-US" sz="2600" b="1" dirty="0">
                <a:solidFill>
                  <a:srgbClr val="1F3B57"/>
                </a:solidFill>
                <a:latin typeface="Arial" pitchFamily="34" charset="0"/>
                <a:ea typeface="Arial" pitchFamily="34" charset="-122"/>
                <a:cs typeface="Arial" pitchFamily="34" charset="-120"/>
              </a:rPr>
              <a:t>rho = -0.33</a:t>
            </a:r>
            <a:endParaRPr lang="en-US" sz="2600" dirty="0"/>
          </a:p>
        </p:txBody>
      </p:sp>
      <p:sp>
        <p:nvSpPr>
          <p:cNvPr id="7" name="Text 4"/>
          <p:cNvSpPr/>
          <p:nvPr/>
        </p:nvSpPr>
        <p:spPr>
          <a:xfrm>
            <a:off x="9436608" y="1842516"/>
            <a:ext cx="2002536" cy="138303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states with the most recorded doubt are not the states missing the most children.</a:t>
            </a:r>
            <a:endParaRPr lang="en-US" sz="1800" dirty="0"/>
          </a:p>
        </p:txBody>
      </p:sp>
      <p:sp>
        <p:nvSpPr>
          <p:cNvPr id="8" name="Text 5"/>
          <p:cNvSpPr/>
          <p:nvPr/>
        </p:nvSpPr>
        <p:spPr>
          <a:xfrm>
            <a:off x="9235440" y="3518154"/>
            <a:ext cx="240487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bubble is a state. Bubble size is the under-five population.</a:t>
            </a:r>
            <a:endParaRPr lang="en-US" sz="1800" dirty="0"/>
          </a:p>
        </p:txBody>
      </p:sp>
      <p:sp>
        <p:nvSpPr>
          <p:cNvPr id="9" name="Shape 6"/>
          <p:cNvSpPr/>
          <p:nvPr/>
        </p:nvSpPr>
        <p:spPr>
          <a:xfrm>
            <a:off x="548640" y="4921758"/>
            <a:ext cx="7498080" cy="1162545"/>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5058918"/>
            <a:ext cx="709574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a:t>
            </a:r>
            <a:r>
              <a:rPr lang="en-US" sz="1800" dirty="0">
                <a:solidFill>
                  <a:srgbClr val="22333F"/>
                </a:solidFill>
                <a:latin typeface="Arial" pitchFamily="34" charset="0"/>
                <a:ea typeface="Arial" pitchFamily="34" charset="-122"/>
                <a:cs typeface="Arial" pitchFamily="34" charset="-120"/>
              </a:rPr>
              <a:t> In high zero-dose but low-hesitancy areas, focus on access, outreach and service availability. Use trust-building where hesitancy is actually high.</a:t>
            </a:r>
            <a:endParaRPr lang="en-US" sz="1800" dirty="0"/>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Domain 4 Composite Hesitancy Index against the Domain 5 zero-dose forecast. rho = Spearman rank correlation; full provenance on the figure.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5: where do zero-dose children concentrate?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North-West hotspot that stays fixed from 2026 to 2028, held in place by structural conditions.</a:t>
            </a:r>
            <a:endParaRPr lang="en-US" sz="1800" dirty="0"/>
          </a:p>
        </p:txBody>
      </p:sp>
      <p:pic>
        <p:nvPicPr>
          <p:cNvPr id="4" name="Image 0" descr="/home/claude/d1/ppt/media/image12.png"/>
          <p:cNvPicPr>
            <a:picLocks noChangeAspect="1"/>
          </p:cNvPicPr>
          <p:nvPr/>
        </p:nvPicPr>
        <p:blipFill>
          <a:blip r:embed="rId3"/>
          <a:stretch>
            <a:fillRect/>
          </a:stretch>
        </p:blipFill>
        <p:spPr>
          <a:xfrm>
            <a:off x="548640" y="1227582"/>
            <a:ext cx="6583680" cy="2706624"/>
          </a:xfrm>
          <a:prstGeom prst="rect">
            <a:avLst/>
          </a:prstGeom>
        </p:spPr>
      </p:pic>
      <p:sp>
        <p:nvSpPr>
          <p:cNvPr id="5" name="Text 2"/>
          <p:cNvSpPr/>
          <p:nvPr/>
        </p:nvSpPr>
        <p:spPr>
          <a:xfrm>
            <a:off x="548640" y="4153662"/>
            <a:ext cx="6858000"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maps show the modelled zero-dose surface for 2026, 2027 and 2028. The hot area sits over the North-West in every year.</a:t>
            </a:r>
            <a:endParaRPr lang="en-US" sz="1800" dirty="0"/>
          </a:p>
        </p:txBody>
      </p:sp>
      <p:sp>
        <p:nvSpPr>
          <p:cNvPr id="6" name="Text 3"/>
          <p:cNvSpPr/>
          <p:nvPr/>
        </p:nvSpPr>
        <p:spPr>
          <a:xfrm>
            <a:off x="548640" y="5142471"/>
            <a:ext cx="6949440"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Sokoto, Kebbi and Zamfara </a:t>
            </a:r>
            <a:r>
              <a:rPr lang="en-US" sz="1800" dirty="0">
                <a:solidFill>
                  <a:srgbClr val="1F3B57"/>
                </a:solidFill>
                <a:latin typeface="Arial" pitchFamily="34" charset="0"/>
                <a:ea typeface="Arial" pitchFamily="34" charset="-122"/>
                <a:cs typeface="Arial" pitchFamily="34" charset="-120"/>
              </a:rPr>
              <a:t>remain high-priority throughout the forecast period. They require a multi-year plan, not a one-off activity.</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7" name="Shape 4"/>
          <p:cNvSpPr/>
          <p:nvPr/>
        </p:nvSpPr>
        <p:spPr>
          <a:xfrm>
            <a:off x="7589520" y="1227582"/>
            <a:ext cx="4050792" cy="1835658"/>
          </a:xfrm>
          <a:prstGeom prst="rect">
            <a:avLst/>
          </a:prstGeom>
          <a:solidFill>
            <a:srgbClr val="EEF2F6"/>
          </a:solidFill>
          <a:ln w="9525">
            <a:solidFill>
              <a:srgbClr val="C9D6E2"/>
            </a:solidFill>
            <a:prstDash val="solid"/>
          </a:ln>
        </p:spPr>
        <p:txBody>
          <a:bodyPr/>
          <a:lstStyle/>
          <a:p>
            <a:endParaRPr lang="LID4096"/>
          </a:p>
        </p:txBody>
      </p:sp>
      <p:sp>
        <p:nvSpPr>
          <p:cNvPr id="8" name="Text 5"/>
          <p:cNvSpPr/>
          <p:nvPr/>
        </p:nvSpPr>
        <p:spPr>
          <a:xfrm>
            <a:off x="7790688" y="1373886"/>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2.08 million</a:t>
            </a:r>
            <a:endParaRPr lang="en-US" sz="4000" dirty="0"/>
          </a:p>
        </p:txBody>
      </p:sp>
      <p:sp>
        <p:nvSpPr>
          <p:cNvPr id="9" name="Text 6"/>
          <p:cNvSpPr/>
          <p:nvPr/>
        </p:nvSpPr>
        <p:spPr>
          <a:xfrm>
            <a:off x="7790688" y="2050542"/>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zero-dose children in 2026, across the 730 modelled local government areas</a:t>
            </a:r>
            <a:endParaRPr lang="en-US" sz="1800" dirty="0"/>
          </a:p>
        </p:txBody>
      </p:sp>
      <p:sp>
        <p:nvSpPr>
          <p:cNvPr id="10" name="Shape 7"/>
          <p:cNvSpPr/>
          <p:nvPr/>
        </p:nvSpPr>
        <p:spPr>
          <a:xfrm>
            <a:off x="7589520" y="3191256"/>
            <a:ext cx="4050792" cy="1835658"/>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7790688" y="3337560"/>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62%</a:t>
            </a:r>
            <a:endParaRPr lang="en-US" sz="4000" dirty="0"/>
          </a:p>
        </p:txBody>
      </p:sp>
      <p:sp>
        <p:nvSpPr>
          <p:cNvPr id="12" name="Text 9"/>
          <p:cNvSpPr/>
          <p:nvPr/>
        </p:nvSpPr>
        <p:spPr>
          <a:xfrm>
            <a:off x="7790688" y="4014216"/>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burden is in the top 20% of LGAs</a:t>
            </a:r>
          </a:p>
        </p:txBody>
      </p:sp>
      <p:sp>
        <p:nvSpPr>
          <p:cNvPr id="13" name="Text 10"/>
          <p:cNvSpPr/>
          <p:nvPr/>
        </p:nvSpPr>
        <p:spPr>
          <a:xfrm>
            <a:off x="7589520" y="5154930"/>
            <a:ext cx="405079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270 local government areas hold 80 percent - concentrated, but not the textbook 80/20.</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Bayesian hierarchical Beta regression on NDHS 2008 to 2024, calibrated to local government areas on GRID3 boundaries; Getis-Ord Gi* hotspots.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Every local government area, ranked by burden</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The top 150 reach 62 percent of zero-dose children; the top 270 reach 80 percent.</a:t>
            </a:r>
            <a:endParaRPr lang="en-US" sz="1800" dirty="0"/>
          </a:p>
        </p:txBody>
      </p:sp>
      <p:pic>
        <p:nvPicPr>
          <p:cNvPr id="4" name="Image 0" descr="/home/claude/d3/ppt/media/image4.png"/>
          <p:cNvPicPr>
            <a:picLocks noChangeAspect="1"/>
          </p:cNvPicPr>
          <p:nvPr/>
        </p:nvPicPr>
        <p:blipFill>
          <a:blip r:embed="rId3"/>
          <a:stretch>
            <a:fillRect/>
          </a:stretch>
        </p:blipFill>
        <p:spPr>
          <a:xfrm>
            <a:off x="548640" y="1227582"/>
            <a:ext cx="4389120" cy="3749040"/>
          </a:xfrm>
          <a:prstGeom prst="rect">
            <a:avLst/>
          </a:prstGeom>
        </p:spPr>
      </p:pic>
      <p:sp>
        <p:nvSpPr>
          <p:cNvPr id="5" name="Text 2"/>
          <p:cNvSpPr/>
          <p:nvPr/>
        </p:nvSpPr>
        <p:spPr>
          <a:xfrm>
            <a:off x="548640" y="5077206"/>
            <a:ext cx="4389120"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Red marks clusters of high zero-dose burden; blue marks low-burden clusters.</a:t>
            </a:r>
            <a:endParaRPr lang="en-US" sz="1800" dirty="0"/>
          </a:p>
        </p:txBody>
      </p:sp>
      <p:sp>
        <p:nvSpPr>
          <p:cNvPr id="6" name="Shape 3"/>
          <p:cNvSpPr/>
          <p:nvPr/>
        </p:nvSpPr>
        <p:spPr>
          <a:xfrm>
            <a:off x="5257800" y="1227582"/>
            <a:ext cx="6382512" cy="329184"/>
          </a:xfrm>
          <a:prstGeom prst="rect">
            <a:avLst/>
          </a:prstGeom>
          <a:solidFill>
            <a:srgbClr val="1F3B57"/>
          </a:solidFill>
          <a:ln/>
        </p:spPr>
        <p:txBody>
          <a:bodyPr/>
          <a:lstStyle/>
          <a:p>
            <a:endParaRPr lang="LID4096"/>
          </a:p>
        </p:txBody>
      </p:sp>
      <p:sp>
        <p:nvSpPr>
          <p:cNvPr id="7" name="Text 4"/>
          <p:cNvSpPr/>
          <p:nvPr/>
        </p:nvSpPr>
        <p:spPr>
          <a:xfrm>
            <a:off x="5312664" y="1227582"/>
            <a:ext cx="438912"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Rank</a:t>
            </a:r>
            <a:endParaRPr lang="en-US" sz="1400" dirty="0"/>
          </a:p>
        </p:txBody>
      </p:sp>
      <p:sp>
        <p:nvSpPr>
          <p:cNvPr id="8" name="Text 5"/>
          <p:cNvSpPr/>
          <p:nvPr/>
        </p:nvSpPr>
        <p:spPr>
          <a:xfrm>
            <a:off x="5861304" y="1227582"/>
            <a:ext cx="10789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State</a:t>
            </a:r>
            <a:endParaRPr lang="en-US" sz="1400" dirty="0"/>
          </a:p>
        </p:txBody>
      </p:sp>
      <p:sp>
        <p:nvSpPr>
          <p:cNvPr id="9" name="Text 6"/>
          <p:cNvSpPr/>
          <p:nvPr/>
        </p:nvSpPr>
        <p:spPr>
          <a:xfrm>
            <a:off x="7050024" y="1227582"/>
            <a:ext cx="15361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LGA</a:t>
            </a:r>
            <a:endParaRPr lang="en-US" sz="1400" dirty="0"/>
          </a:p>
        </p:txBody>
      </p:sp>
      <p:sp>
        <p:nvSpPr>
          <p:cNvPr id="10" name="Text 7"/>
          <p:cNvSpPr/>
          <p:nvPr/>
        </p:nvSpPr>
        <p:spPr>
          <a:xfrm>
            <a:off x="8695944" y="1227582"/>
            <a:ext cx="126187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Zone</a:t>
            </a:r>
            <a:endParaRPr lang="en-US" sz="1400" dirty="0"/>
          </a:p>
        </p:txBody>
      </p:sp>
      <p:sp>
        <p:nvSpPr>
          <p:cNvPr id="11" name="Text 8"/>
          <p:cNvSpPr/>
          <p:nvPr/>
        </p:nvSpPr>
        <p:spPr>
          <a:xfrm>
            <a:off x="10067544" y="1227582"/>
            <a:ext cx="94183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Burden</a:t>
            </a:r>
            <a:endParaRPr lang="en-US" sz="1400" dirty="0"/>
          </a:p>
        </p:txBody>
      </p:sp>
      <p:sp>
        <p:nvSpPr>
          <p:cNvPr id="12" name="Text 9"/>
          <p:cNvSpPr/>
          <p:nvPr/>
        </p:nvSpPr>
        <p:spPr>
          <a:xfrm>
            <a:off x="11119104" y="1227582"/>
            <a:ext cx="466344"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Rate %</a:t>
            </a:r>
            <a:endParaRPr lang="en-US" sz="1400" dirty="0"/>
          </a:p>
        </p:txBody>
      </p:sp>
      <p:sp>
        <p:nvSpPr>
          <p:cNvPr id="13" name="Text 10"/>
          <p:cNvSpPr/>
          <p:nvPr/>
        </p:nvSpPr>
        <p:spPr>
          <a:xfrm>
            <a:off x="5312664" y="15567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5861304" y="15567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15" name="Text 12"/>
          <p:cNvSpPr/>
          <p:nvPr/>
        </p:nvSpPr>
        <p:spPr>
          <a:xfrm>
            <a:off x="7050024" y="15567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 North</a:t>
            </a:r>
            <a:endParaRPr lang="en-US" sz="1800" dirty="0"/>
          </a:p>
        </p:txBody>
      </p:sp>
      <p:sp>
        <p:nvSpPr>
          <p:cNvPr id="16" name="Text 13"/>
          <p:cNvSpPr/>
          <p:nvPr/>
        </p:nvSpPr>
        <p:spPr>
          <a:xfrm>
            <a:off x="8695944" y="15567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17" name="Text 14"/>
          <p:cNvSpPr/>
          <p:nvPr/>
        </p:nvSpPr>
        <p:spPr>
          <a:xfrm>
            <a:off x="10067544" y="15567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29,585</a:t>
            </a:r>
            <a:endParaRPr lang="en-US" sz="1800" dirty="0"/>
          </a:p>
        </p:txBody>
      </p:sp>
      <p:sp>
        <p:nvSpPr>
          <p:cNvPr id="18" name="Text 15"/>
          <p:cNvSpPr/>
          <p:nvPr/>
        </p:nvSpPr>
        <p:spPr>
          <a:xfrm>
            <a:off x="11119104" y="15567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78.9</a:t>
            </a:r>
            <a:endParaRPr lang="en-US" sz="1800" dirty="0"/>
          </a:p>
        </p:txBody>
      </p:sp>
      <p:sp>
        <p:nvSpPr>
          <p:cNvPr id="19" name="Shape 16"/>
          <p:cNvSpPr/>
          <p:nvPr/>
        </p:nvSpPr>
        <p:spPr>
          <a:xfrm>
            <a:off x="5257800" y="1922526"/>
            <a:ext cx="6382512" cy="365760"/>
          </a:xfrm>
          <a:prstGeom prst="rect">
            <a:avLst/>
          </a:prstGeom>
          <a:solidFill>
            <a:srgbClr val="EEF2F6"/>
          </a:solidFill>
          <a:ln/>
        </p:spPr>
        <p:txBody>
          <a:bodyPr/>
          <a:lstStyle/>
          <a:p>
            <a:endParaRPr lang="LID4096"/>
          </a:p>
        </p:txBody>
      </p:sp>
      <p:sp>
        <p:nvSpPr>
          <p:cNvPr id="20" name="Text 17"/>
          <p:cNvSpPr/>
          <p:nvPr/>
        </p:nvSpPr>
        <p:spPr>
          <a:xfrm>
            <a:off x="5312664" y="19225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2</a:t>
            </a:r>
            <a:endParaRPr lang="en-US" sz="1800" dirty="0"/>
          </a:p>
        </p:txBody>
      </p:sp>
      <p:sp>
        <p:nvSpPr>
          <p:cNvPr id="21" name="Text 18"/>
          <p:cNvSpPr/>
          <p:nvPr/>
        </p:nvSpPr>
        <p:spPr>
          <a:xfrm>
            <a:off x="5861304" y="19225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22" name="Text 19"/>
          <p:cNvSpPr/>
          <p:nvPr/>
        </p:nvSpPr>
        <p:spPr>
          <a:xfrm>
            <a:off x="7050024" y="19225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Kubau</a:t>
            </a:r>
            <a:endParaRPr lang="en-US" sz="1800" dirty="0"/>
          </a:p>
        </p:txBody>
      </p:sp>
      <p:sp>
        <p:nvSpPr>
          <p:cNvPr id="23" name="Text 20"/>
          <p:cNvSpPr/>
          <p:nvPr/>
        </p:nvSpPr>
        <p:spPr>
          <a:xfrm>
            <a:off x="8695944" y="19225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24" name="Text 21"/>
          <p:cNvSpPr/>
          <p:nvPr/>
        </p:nvSpPr>
        <p:spPr>
          <a:xfrm>
            <a:off x="10067544" y="19225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23,524</a:t>
            </a:r>
            <a:endParaRPr lang="en-US" sz="1800" dirty="0"/>
          </a:p>
        </p:txBody>
      </p:sp>
      <p:sp>
        <p:nvSpPr>
          <p:cNvPr id="25" name="Text 22"/>
          <p:cNvSpPr/>
          <p:nvPr/>
        </p:nvSpPr>
        <p:spPr>
          <a:xfrm>
            <a:off x="11119104" y="19225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81.4</a:t>
            </a:r>
            <a:endParaRPr lang="en-US" sz="1800" dirty="0"/>
          </a:p>
        </p:txBody>
      </p:sp>
      <p:sp>
        <p:nvSpPr>
          <p:cNvPr id="26" name="Text 23"/>
          <p:cNvSpPr/>
          <p:nvPr/>
        </p:nvSpPr>
        <p:spPr>
          <a:xfrm>
            <a:off x="5312664" y="22882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3</a:t>
            </a:r>
            <a:endParaRPr lang="en-US" sz="1800" dirty="0"/>
          </a:p>
        </p:txBody>
      </p:sp>
      <p:sp>
        <p:nvSpPr>
          <p:cNvPr id="27" name="Text 24"/>
          <p:cNvSpPr/>
          <p:nvPr/>
        </p:nvSpPr>
        <p:spPr>
          <a:xfrm>
            <a:off x="5861304" y="22882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28" name="Text 25"/>
          <p:cNvSpPr/>
          <p:nvPr/>
        </p:nvSpPr>
        <p:spPr>
          <a:xfrm>
            <a:off x="7050024" y="22882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Zangon Kataf</a:t>
            </a:r>
            <a:endParaRPr lang="en-US" sz="1800" dirty="0"/>
          </a:p>
        </p:txBody>
      </p:sp>
      <p:sp>
        <p:nvSpPr>
          <p:cNvPr id="29" name="Text 26"/>
          <p:cNvSpPr/>
          <p:nvPr/>
        </p:nvSpPr>
        <p:spPr>
          <a:xfrm>
            <a:off x="8695944" y="22882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0" name="Text 27"/>
          <p:cNvSpPr/>
          <p:nvPr/>
        </p:nvSpPr>
        <p:spPr>
          <a:xfrm>
            <a:off x="10067544" y="22882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22,943</a:t>
            </a:r>
            <a:endParaRPr lang="en-US" sz="1800" dirty="0"/>
          </a:p>
        </p:txBody>
      </p:sp>
      <p:sp>
        <p:nvSpPr>
          <p:cNvPr id="31" name="Text 28"/>
          <p:cNvSpPr/>
          <p:nvPr/>
        </p:nvSpPr>
        <p:spPr>
          <a:xfrm>
            <a:off x="11119104" y="22882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69.9</a:t>
            </a:r>
            <a:endParaRPr lang="en-US" sz="1800" dirty="0"/>
          </a:p>
        </p:txBody>
      </p:sp>
      <p:sp>
        <p:nvSpPr>
          <p:cNvPr id="32" name="Shape 29"/>
          <p:cNvSpPr/>
          <p:nvPr/>
        </p:nvSpPr>
        <p:spPr>
          <a:xfrm>
            <a:off x="5257800" y="2654046"/>
            <a:ext cx="6382512" cy="365760"/>
          </a:xfrm>
          <a:prstGeom prst="rect">
            <a:avLst/>
          </a:prstGeom>
          <a:solidFill>
            <a:srgbClr val="EEF2F6"/>
          </a:solidFill>
          <a:ln/>
        </p:spPr>
        <p:txBody>
          <a:bodyPr/>
          <a:lstStyle/>
          <a:p>
            <a:endParaRPr lang="LID4096"/>
          </a:p>
        </p:txBody>
      </p:sp>
      <p:sp>
        <p:nvSpPr>
          <p:cNvPr id="33" name="Text 30"/>
          <p:cNvSpPr/>
          <p:nvPr/>
        </p:nvSpPr>
        <p:spPr>
          <a:xfrm>
            <a:off x="5312664" y="26540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4</a:t>
            </a:r>
            <a:endParaRPr lang="en-US" sz="1800" dirty="0"/>
          </a:p>
        </p:txBody>
      </p:sp>
      <p:sp>
        <p:nvSpPr>
          <p:cNvPr id="34" name="Text 31"/>
          <p:cNvSpPr/>
          <p:nvPr/>
        </p:nvSpPr>
        <p:spPr>
          <a:xfrm>
            <a:off x="5861304" y="26540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35" name="Text 32"/>
          <p:cNvSpPr/>
          <p:nvPr/>
        </p:nvSpPr>
        <p:spPr>
          <a:xfrm>
            <a:off x="7050024" y="265404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Gusau</a:t>
            </a:r>
            <a:endParaRPr lang="en-US" sz="1800" dirty="0"/>
          </a:p>
        </p:txBody>
      </p:sp>
      <p:sp>
        <p:nvSpPr>
          <p:cNvPr id="36" name="Text 33"/>
          <p:cNvSpPr/>
          <p:nvPr/>
        </p:nvSpPr>
        <p:spPr>
          <a:xfrm>
            <a:off x="8695944" y="26540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7" name="Text 34"/>
          <p:cNvSpPr/>
          <p:nvPr/>
        </p:nvSpPr>
        <p:spPr>
          <a:xfrm>
            <a:off x="10067544" y="26540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21,871</a:t>
            </a:r>
            <a:endParaRPr lang="en-US" sz="1800" dirty="0"/>
          </a:p>
        </p:txBody>
      </p:sp>
      <p:sp>
        <p:nvSpPr>
          <p:cNvPr id="38" name="Text 35"/>
          <p:cNvSpPr/>
          <p:nvPr/>
        </p:nvSpPr>
        <p:spPr>
          <a:xfrm>
            <a:off x="11119104" y="26540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39" name="Text 36"/>
          <p:cNvSpPr/>
          <p:nvPr/>
        </p:nvSpPr>
        <p:spPr>
          <a:xfrm>
            <a:off x="5312664" y="30198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5</a:t>
            </a:r>
            <a:endParaRPr lang="en-US" sz="1800" dirty="0"/>
          </a:p>
        </p:txBody>
      </p:sp>
      <p:sp>
        <p:nvSpPr>
          <p:cNvPr id="40" name="Text 37"/>
          <p:cNvSpPr/>
          <p:nvPr/>
        </p:nvSpPr>
        <p:spPr>
          <a:xfrm>
            <a:off x="5861304" y="30198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41" name="Text 38"/>
          <p:cNvSpPr/>
          <p:nvPr/>
        </p:nvSpPr>
        <p:spPr>
          <a:xfrm>
            <a:off x="7050024" y="30198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Jema'A</a:t>
            </a:r>
            <a:endParaRPr lang="en-US" sz="1800" dirty="0"/>
          </a:p>
        </p:txBody>
      </p:sp>
      <p:sp>
        <p:nvSpPr>
          <p:cNvPr id="42" name="Text 39"/>
          <p:cNvSpPr/>
          <p:nvPr/>
        </p:nvSpPr>
        <p:spPr>
          <a:xfrm>
            <a:off x="8695944" y="30198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43" name="Text 40"/>
          <p:cNvSpPr/>
          <p:nvPr/>
        </p:nvSpPr>
        <p:spPr>
          <a:xfrm>
            <a:off x="10067544" y="30198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18,222</a:t>
            </a:r>
            <a:endParaRPr lang="en-US" sz="1800" dirty="0"/>
          </a:p>
        </p:txBody>
      </p:sp>
      <p:sp>
        <p:nvSpPr>
          <p:cNvPr id="44" name="Text 41"/>
          <p:cNvSpPr/>
          <p:nvPr/>
        </p:nvSpPr>
        <p:spPr>
          <a:xfrm>
            <a:off x="11119104" y="30198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63.6</a:t>
            </a:r>
            <a:endParaRPr lang="en-US" sz="1800" dirty="0"/>
          </a:p>
        </p:txBody>
      </p:sp>
      <p:sp>
        <p:nvSpPr>
          <p:cNvPr id="45" name="Shape 42"/>
          <p:cNvSpPr/>
          <p:nvPr/>
        </p:nvSpPr>
        <p:spPr>
          <a:xfrm>
            <a:off x="5257800" y="3385566"/>
            <a:ext cx="6382512" cy="365760"/>
          </a:xfrm>
          <a:prstGeom prst="rect">
            <a:avLst/>
          </a:prstGeom>
          <a:solidFill>
            <a:srgbClr val="EEF2F6"/>
          </a:solidFill>
          <a:ln/>
        </p:spPr>
        <p:txBody>
          <a:bodyPr/>
          <a:lstStyle/>
          <a:p>
            <a:endParaRPr lang="LID4096"/>
          </a:p>
        </p:txBody>
      </p:sp>
      <p:sp>
        <p:nvSpPr>
          <p:cNvPr id="46" name="Text 43"/>
          <p:cNvSpPr/>
          <p:nvPr/>
        </p:nvSpPr>
        <p:spPr>
          <a:xfrm>
            <a:off x="5312664" y="33855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6</a:t>
            </a:r>
            <a:endParaRPr lang="en-US" sz="1800" dirty="0"/>
          </a:p>
        </p:txBody>
      </p:sp>
      <p:sp>
        <p:nvSpPr>
          <p:cNvPr id="47" name="Text 44"/>
          <p:cNvSpPr/>
          <p:nvPr/>
        </p:nvSpPr>
        <p:spPr>
          <a:xfrm>
            <a:off x="5861304" y="33855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Bauchi</a:t>
            </a:r>
            <a:endParaRPr lang="en-US" sz="1800" dirty="0"/>
          </a:p>
        </p:txBody>
      </p:sp>
      <p:sp>
        <p:nvSpPr>
          <p:cNvPr id="48" name="Text 45"/>
          <p:cNvSpPr/>
          <p:nvPr/>
        </p:nvSpPr>
        <p:spPr>
          <a:xfrm>
            <a:off x="7050024" y="33855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Gamawa</a:t>
            </a:r>
            <a:endParaRPr lang="en-US" sz="1800" dirty="0"/>
          </a:p>
        </p:txBody>
      </p:sp>
      <p:sp>
        <p:nvSpPr>
          <p:cNvPr id="49" name="Text 46"/>
          <p:cNvSpPr/>
          <p:nvPr/>
        </p:nvSpPr>
        <p:spPr>
          <a:xfrm>
            <a:off x="8695944" y="33855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East</a:t>
            </a:r>
            <a:endParaRPr lang="en-US" sz="1800" dirty="0"/>
          </a:p>
        </p:txBody>
      </p:sp>
      <p:sp>
        <p:nvSpPr>
          <p:cNvPr id="50" name="Text 47"/>
          <p:cNvSpPr/>
          <p:nvPr/>
        </p:nvSpPr>
        <p:spPr>
          <a:xfrm>
            <a:off x="10067544" y="33855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17,943</a:t>
            </a:r>
            <a:endParaRPr lang="en-US" sz="1800" dirty="0"/>
          </a:p>
        </p:txBody>
      </p:sp>
      <p:sp>
        <p:nvSpPr>
          <p:cNvPr id="51" name="Text 48"/>
          <p:cNvSpPr/>
          <p:nvPr/>
        </p:nvSpPr>
        <p:spPr>
          <a:xfrm>
            <a:off x="11119104" y="33855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57.2</a:t>
            </a:r>
            <a:endParaRPr lang="en-US" sz="1800" dirty="0"/>
          </a:p>
        </p:txBody>
      </p:sp>
      <p:sp>
        <p:nvSpPr>
          <p:cNvPr id="52" name="Text 49"/>
          <p:cNvSpPr/>
          <p:nvPr/>
        </p:nvSpPr>
        <p:spPr>
          <a:xfrm>
            <a:off x="5312664" y="37513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7</a:t>
            </a:r>
            <a:endParaRPr lang="en-US" sz="1800" dirty="0"/>
          </a:p>
        </p:txBody>
      </p:sp>
      <p:sp>
        <p:nvSpPr>
          <p:cNvPr id="53" name="Text 50"/>
          <p:cNvSpPr/>
          <p:nvPr/>
        </p:nvSpPr>
        <p:spPr>
          <a:xfrm>
            <a:off x="5861304" y="37513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Kebbi</a:t>
            </a:r>
            <a:endParaRPr lang="en-US" sz="1800" dirty="0"/>
          </a:p>
        </p:txBody>
      </p:sp>
      <p:sp>
        <p:nvSpPr>
          <p:cNvPr id="54" name="Text 51"/>
          <p:cNvSpPr/>
          <p:nvPr/>
        </p:nvSpPr>
        <p:spPr>
          <a:xfrm>
            <a:off x="7050024" y="37513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Birnin Kebbi</a:t>
            </a:r>
            <a:endParaRPr lang="en-US" sz="1800" dirty="0"/>
          </a:p>
        </p:txBody>
      </p:sp>
      <p:sp>
        <p:nvSpPr>
          <p:cNvPr id="55" name="Text 52"/>
          <p:cNvSpPr/>
          <p:nvPr/>
        </p:nvSpPr>
        <p:spPr>
          <a:xfrm>
            <a:off x="8695944" y="37513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56" name="Text 53"/>
          <p:cNvSpPr/>
          <p:nvPr/>
        </p:nvSpPr>
        <p:spPr>
          <a:xfrm>
            <a:off x="10067544" y="37513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17,286</a:t>
            </a:r>
            <a:endParaRPr lang="en-US" sz="1800" dirty="0"/>
          </a:p>
        </p:txBody>
      </p:sp>
      <p:sp>
        <p:nvSpPr>
          <p:cNvPr id="57" name="Text 54"/>
          <p:cNvSpPr/>
          <p:nvPr/>
        </p:nvSpPr>
        <p:spPr>
          <a:xfrm>
            <a:off x="11119104" y="37513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58" name="Shape 55"/>
          <p:cNvSpPr/>
          <p:nvPr/>
        </p:nvSpPr>
        <p:spPr>
          <a:xfrm>
            <a:off x="5257800" y="4117086"/>
            <a:ext cx="6382512" cy="365760"/>
          </a:xfrm>
          <a:prstGeom prst="rect">
            <a:avLst/>
          </a:prstGeom>
          <a:solidFill>
            <a:srgbClr val="EEF2F6"/>
          </a:solidFill>
          <a:ln/>
        </p:spPr>
        <p:txBody>
          <a:bodyPr/>
          <a:lstStyle/>
          <a:p>
            <a:endParaRPr lang="LID4096"/>
          </a:p>
        </p:txBody>
      </p:sp>
      <p:sp>
        <p:nvSpPr>
          <p:cNvPr id="59" name="Text 56"/>
          <p:cNvSpPr/>
          <p:nvPr/>
        </p:nvSpPr>
        <p:spPr>
          <a:xfrm>
            <a:off x="5312664" y="41170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8</a:t>
            </a:r>
            <a:endParaRPr lang="en-US" sz="1800" dirty="0"/>
          </a:p>
        </p:txBody>
      </p:sp>
      <p:sp>
        <p:nvSpPr>
          <p:cNvPr id="60" name="Text 57"/>
          <p:cNvSpPr/>
          <p:nvPr/>
        </p:nvSpPr>
        <p:spPr>
          <a:xfrm>
            <a:off x="5861304" y="41170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Bauchi</a:t>
            </a:r>
            <a:endParaRPr lang="en-US" sz="1800" dirty="0"/>
          </a:p>
        </p:txBody>
      </p:sp>
      <p:sp>
        <p:nvSpPr>
          <p:cNvPr id="61" name="Text 58"/>
          <p:cNvSpPr/>
          <p:nvPr/>
        </p:nvSpPr>
        <p:spPr>
          <a:xfrm>
            <a:off x="7050024" y="41170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Misau</a:t>
            </a:r>
            <a:endParaRPr lang="en-US" sz="1800" dirty="0"/>
          </a:p>
        </p:txBody>
      </p:sp>
      <p:sp>
        <p:nvSpPr>
          <p:cNvPr id="62" name="Text 59"/>
          <p:cNvSpPr/>
          <p:nvPr/>
        </p:nvSpPr>
        <p:spPr>
          <a:xfrm>
            <a:off x="8695944" y="41170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East</a:t>
            </a:r>
            <a:endParaRPr lang="en-US" sz="1800" dirty="0"/>
          </a:p>
        </p:txBody>
      </p:sp>
      <p:sp>
        <p:nvSpPr>
          <p:cNvPr id="63" name="Text 60"/>
          <p:cNvSpPr/>
          <p:nvPr/>
        </p:nvSpPr>
        <p:spPr>
          <a:xfrm>
            <a:off x="10067544" y="41170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17,217</a:t>
            </a:r>
            <a:endParaRPr lang="en-US" sz="1800" dirty="0"/>
          </a:p>
        </p:txBody>
      </p:sp>
      <p:sp>
        <p:nvSpPr>
          <p:cNvPr id="64" name="Text 61"/>
          <p:cNvSpPr/>
          <p:nvPr/>
        </p:nvSpPr>
        <p:spPr>
          <a:xfrm>
            <a:off x="11119104" y="41170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59.8</a:t>
            </a:r>
            <a:endParaRPr lang="en-US" sz="1800" dirty="0"/>
          </a:p>
        </p:txBody>
      </p:sp>
      <p:sp>
        <p:nvSpPr>
          <p:cNvPr id="65" name="Text 62"/>
          <p:cNvSpPr/>
          <p:nvPr/>
        </p:nvSpPr>
        <p:spPr>
          <a:xfrm>
            <a:off x="5312664" y="44828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9</a:t>
            </a:r>
            <a:endParaRPr lang="en-US" sz="1800" dirty="0"/>
          </a:p>
        </p:txBody>
      </p:sp>
      <p:sp>
        <p:nvSpPr>
          <p:cNvPr id="66" name="Text 63"/>
          <p:cNvSpPr/>
          <p:nvPr/>
        </p:nvSpPr>
        <p:spPr>
          <a:xfrm>
            <a:off x="5861304" y="44828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Kebbi</a:t>
            </a:r>
            <a:endParaRPr lang="en-US" sz="1800" dirty="0"/>
          </a:p>
        </p:txBody>
      </p:sp>
      <p:sp>
        <p:nvSpPr>
          <p:cNvPr id="67" name="Text 64"/>
          <p:cNvSpPr/>
          <p:nvPr/>
        </p:nvSpPr>
        <p:spPr>
          <a:xfrm>
            <a:off x="7050024" y="448284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Danko/Wasagu</a:t>
            </a:r>
            <a:endParaRPr lang="en-US" sz="1800" dirty="0"/>
          </a:p>
        </p:txBody>
      </p:sp>
      <p:sp>
        <p:nvSpPr>
          <p:cNvPr id="68" name="Text 65"/>
          <p:cNvSpPr/>
          <p:nvPr/>
        </p:nvSpPr>
        <p:spPr>
          <a:xfrm>
            <a:off x="8695944" y="44828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69" name="Text 66"/>
          <p:cNvSpPr/>
          <p:nvPr/>
        </p:nvSpPr>
        <p:spPr>
          <a:xfrm>
            <a:off x="10067544" y="44828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17,071</a:t>
            </a:r>
            <a:endParaRPr lang="en-US" sz="1800" dirty="0"/>
          </a:p>
        </p:txBody>
      </p:sp>
      <p:sp>
        <p:nvSpPr>
          <p:cNvPr id="70" name="Text 67"/>
          <p:cNvSpPr/>
          <p:nvPr/>
        </p:nvSpPr>
        <p:spPr>
          <a:xfrm>
            <a:off x="11119104" y="44828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71" name="Shape 68"/>
          <p:cNvSpPr/>
          <p:nvPr/>
        </p:nvSpPr>
        <p:spPr>
          <a:xfrm>
            <a:off x="5257800" y="4848606"/>
            <a:ext cx="6382512" cy="365760"/>
          </a:xfrm>
          <a:prstGeom prst="rect">
            <a:avLst/>
          </a:prstGeom>
          <a:solidFill>
            <a:srgbClr val="EEF2F6"/>
          </a:solidFill>
          <a:ln/>
        </p:spPr>
        <p:txBody>
          <a:bodyPr/>
          <a:lstStyle/>
          <a:p>
            <a:endParaRPr lang="LID4096"/>
          </a:p>
        </p:txBody>
      </p:sp>
      <p:sp>
        <p:nvSpPr>
          <p:cNvPr id="72" name="Text 69"/>
          <p:cNvSpPr/>
          <p:nvPr/>
        </p:nvSpPr>
        <p:spPr>
          <a:xfrm>
            <a:off x="5312664" y="48486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10</a:t>
            </a:r>
            <a:endParaRPr lang="en-US" sz="1800" dirty="0"/>
          </a:p>
        </p:txBody>
      </p:sp>
      <p:sp>
        <p:nvSpPr>
          <p:cNvPr id="73" name="Text 70"/>
          <p:cNvSpPr/>
          <p:nvPr/>
        </p:nvSpPr>
        <p:spPr>
          <a:xfrm>
            <a:off x="5861304" y="48486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74" name="Text 71"/>
          <p:cNvSpPr/>
          <p:nvPr/>
        </p:nvSpPr>
        <p:spPr>
          <a:xfrm>
            <a:off x="7050024" y="48486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Zurmi</a:t>
            </a:r>
            <a:endParaRPr lang="en-US" sz="1800" dirty="0"/>
          </a:p>
        </p:txBody>
      </p:sp>
      <p:sp>
        <p:nvSpPr>
          <p:cNvPr id="75" name="Text 72"/>
          <p:cNvSpPr/>
          <p:nvPr/>
        </p:nvSpPr>
        <p:spPr>
          <a:xfrm>
            <a:off x="8695944" y="48486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76" name="Text 73"/>
          <p:cNvSpPr/>
          <p:nvPr/>
        </p:nvSpPr>
        <p:spPr>
          <a:xfrm>
            <a:off x="10067544" y="48486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16,755</a:t>
            </a:r>
            <a:endParaRPr lang="en-US" sz="1800" dirty="0"/>
          </a:p>
        </p:txBody>
      </p:sp>
      <p:sp>
        <p:nvSpPr>
          <p:cNvPr id="77" name="Text 74"/>
          <p:cNvSpPr/>
          <p:nvPr/>
        </p:nvSpPr>
        <p:spPr>
          <a:xfrm>
            <a:off x="11119104" y="48486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78" name="Text 75"/>
          <p:cNvSpPr/>
          <p:nvPr/>
        </p:nvSpPr>
        <p:spPr>
          <a:xfrm>
            <a:off x="5257800" y="5314950"/>
            <a:ext cx="6382512"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Top 10 shown here. The full list can be filtered by state or priority level in the web app.</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79" name="Text 76"/>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zero-dose model, 2026; GRID3 boundaries. Hotspot method: Getis-Ord Gi* (spatial clustering), k = 5 nearest neighbours.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37744"/>
            <a:ext cx="11091672" cy="457200"/>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Archetypes and modelled zero-dose burden</a:t>
            </a:r>
            <a:endParaRPr lang="en-US" sz="3200" dirty="0"/>
          </a:p>
        </p:txBody>
      </p:sp>
      <p:pic>
        <p:nvPicPr>
          <p:cNvPr id="3" name="Image 0" descr="/mnt/user-data/uploads/LGA_archetype_zerodose_overlay.png"/>
          <p:cNvPicPr>
            <a:picLocks noChangeAspect="1"/>
          </p:cNvPicPr>
          <p:nvPr/>
        </p:nvPicPr>
        <p:blipFill>
          <a:blip r:embed="rId3"/>
          <a:stretch>
            <a:fillRect/>
          </a:stretch>
        </p:blipFill>
        <p:spPr>
          <a:xfrm>
            <a:off x="2084832" y="713232"/>
            <a:ext cx="8028432" cy="3566160"/>
          </a:xfrm>
          <a:prstGeom prst="rect">
            <a:avLst/>
          </a:prstGeom>
        </p:spPr>
      </p:pic>
      <p:sp>
        <p:nvSpPr>
          <p:cNvPr id="4" name="Text 1"/>
          <p:cNvSpPr/>
          <p:nvPr/>
        </p:nvSpPr>
        <p:spPr>
          <a:xfrm>
            <a:off x="548640" y="4407408"/>
            <a:ext cx="6035040" cy="165049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Built from social and structural data alone - education, nutrition, poverty, wealth, travel time, antenatal care and conflict - the archetypes used no vaccination data. Yet they reproduce where the children are: Archetypes 1 and 2 hold </a:t>
            </a:r>
            <a:r>
              <a:rPr lang="en-US" sz="1800" b="1" dirty="0">
                <a:solidFill>
                  <a:srgbClr val="1F3B57"/>
                </a:solidFill>
                <a:latin typeface="Arial" pitchFamily="34" charset="0"/>
                <a:ea typeface="Arial" pitchFamily="34" charset="-122"/>
                <a:cs typeface="Arial" pitchFamily="34" charset="-120"/>
              </a:rPr>
              <a:t>1.44 million of 2.08 million zero-dose children (69 percent).</a:t>
            </a:r>
            <a:endParaRPr lang="en-US" sz="1800" dirty="0"/>
          </a:p>
        </p:txBody>
      </p:sp>
      <p:sp>
        <p:nvSpPr>
          <p:cNvPr id="5" name="Text 2"/>
          <p:cNvSpPr/>
          <p:nvPr/>
        </p:nvSpPr>
        <p:spPr>
          <a:xfrm>
            <a:off x="6766560" y="4407408"/>
            <a:ext cx="4873752" cy="1650492"/>
          </a:xfrm>
          <a:prstGeom prst="rect">
            <a:avLst/>
          </a:prstGeom>
          <a:noFill/>
          <a:ln/>
        </p:spPr>
        <p:txBody>
          <a:bodyPr wrap="square" lIns="0" tIns="0" rIns="0" bIns="0" rtlCol="0" anchor="t"/>
          <a:lstStyle/>
          <a:p>
            <a:pPr marL="0" indent="0">
              <a:lnSpc>
                <a:spcPct val="100000"/>
              </a:lnSpc>
              <a:buNone/>
            </a:pPr>
            <a:r>
              <a:rPr lang="en-US" sz="1800" b="1" dirty="0">
                <a:solidFill>
                  <a:srgbClr val="1F3B57"/>
                </a:solidFill>
                <a:latin typeface="Arial" pitchFamily="34" charset="0"/>
                <a:ea typeface="Arial" pitchFamily="34" charset="-122"/>
                <a:cs typeface="Arial" pitchFamily="34" charset="-120"/>
              </a:rPr>
              <a:t>Color shows the type of problem. Bubble size shows how many children are missed. This helps teams decide both where to go and what to do.</a:t>
            </a:r>
          </a:p>
          <a:p>
            <a:pPr marL="0" indent="0">
              <a:lnSpc>
                <a:spcPct val="100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6" name="Text 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Archetypes from agglomerative (Ward) clustering of 15 local-government covariates (IHME, DHS, Meta Relative Wealth Index, Weiss travel time, ACLED); bubbles are modelled zero-dose children; GRID3 admin-2 boundaries.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five archetypes and the response each one needs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Archetypes 1 and 2 hold about 72 percent of all zero-dose children.</a:t>
            </a:r>
            <a:endParaRPr lang="en-US" sz="1800" dirty="0"/>
          </a:p>
        </p:txBody>
      </p:sp>
      <p:sp>
        <p:nvSpPr>
          <p:cNvPr id="4" name="Shape 2"/>
          <p:cNvSpPr/>
          <p:nvPr/>
        </p:nvSpPr>
        <p:spPr>
          <a:xfrm>
            <a:off x="548640" y="1227582"/>
            <a:ext cx="11091672" cy="310896"/>
          </a:xfrm>
          <a:prstGeom prst="rect">
            <a:avLst/>
          </a:prstGeom>
          <a:solidFill>
            <a:srgbClr val="1F3B57"/>
          </a:solidFill>
          <a:ln/>
        </p:spPr>
        <p:txBody>
          <a:bodyPr/>
          <a:lstStyle/>
          <a:p>
            <a:endParaRPr lang="LID4096"/>
          </a:p>
        </p:txBody>
      </p:sp>
      <p:sp>
        <p:nvSpPr>
          <p:cNvPr id="5" name="Text 3"/>
          <p:cNvSpPr/>
          <p:nvPr/>
        </p:nvSpPr>
        <p:spPr>
          <a:xfrm>
            <a:off x="621792" y="1227582"/>
            <a:ext cx="2743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05840" y="1227582"/>
            <a:ext cx="203911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Archetype</a:t>
            </a:r>
            <a:endParaRPr lang="en-US" sz="1200" dirty="0"/>
          </a:p>
        </p:txBody>
      </p:sp>
      <p:sp>
        <p:nvSpPr>
          <p:cNvPr id="7" name="Text 5"/>
          <p:cNvSpPr/>
          <p:nvPr/>
        </p:nvSpPr>
        <p:spPr>
          <a:xfrm>
            <a:off x="3154680" y="1227582"/>
            <a:ext cx="54864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LGAs</a:t>
            </a:r>
            <a:endParaRPr lang="en-US" sz="1200" dirty="0"/>
          </a:p>
        </p:txBody>
      </p:sp>
      <p:sp>
        <p:nvSpPr>
          <p:cNvPr id="8" name="Text 6"/>
          <p:cNvSpPr/>
          <p:nvPr/>
        </p:nvSpPr>
        <p:spPr>
          <a:xfrm>
            <a:off x="3813048" y="1227582"/>
            <a:ext cx="11887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Zero-dose children</a:t>
            </a:r>
            <a:endParaRPr lang="en-US" sz="1200" dirty="0"/>
          </a:p>
        </p:txBody>
      </p:sp>
      <p:sp>
        <p:nvSpPr>
          <p:cNvPr id="9" name="Text 7"/>
          <p:cNvSpPr/>
          <p:nvPr/>
        </p:nvSpPr>
        <p:spPr>
          <a:xfrm>
            <a:off x="5111496" y="1227582"/>
            <a:ext cx="603504"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Mean rate</a:t>
            </a:r>
            <a:endParaRPr lang="en-US" sz="1200" dirty="0"/>
          </a:p>
        </p:txBody>
      </p:sp>
      <p:sp>
        <p:nvSpPr>
          <p:cNvPr id="10" name="Text 8"/>
          <p:cNvSpPr/>
          <p:nvPr/>
        </p:nvSpPr>
        <p:spPr>
          <a:xfrm>
            <a:off x="5824728" y="1227582"/>
            <a:ext cx="267919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Defining signature</a:t>
            </a:r>
            <a:endParaRPr lang="en-US" sz="1200" dirty="0"/>
          </a:p>
        </p:txBody>
      </p:sp>
      <p:sp>
        <p:nvSpPr>
          <p:cNvPr id="11" name="Text 9"/>
          <p:cNvSpPr/>
          <p:nvPr/>
        </p:nvSpPr>
        <p:spPr>
          <a:xfrm>
            <a:off x="8613648" y="1227582"/>
            <a:ext cx="2990088"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Priority intervention</a:t>
            </a:r>
            <a:endParaRPr lang="en-US" sz="1200" dirty="0"/>
          </a:p>
        </p:txBody>
      </p:sp>
      <p:sp>
        <p:nvSpPr>
          <p:cNvPr id="12" name="Text 10"/>
          <p:cNvSpPr/>
          <p:nvPr/>
        </p:nvSpPr>
        <p:spPr>
          <a:xfrm>
            <a:off x="621792" y="1538478"/>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1005840" y="1611630"/>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Remote Rural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Hard-to-Reach</a:t>
            </a:r>
            <a:endParaRPr lang="en-US" sz="1400" dirty="0"/>
          </a:p>
        </p:txBody>
      </p:sp>
      <p:sp>
        <p:nvSpPr>
          <p:cNvPr id="14" name="Text 12"/>
          <p:cNvSpPr/>
          <p:nvPr/>
        </p:nvSpPr>
        <p:spPr>
          <a:xfrm>
            <a:off x="1005840" y="2105406"/>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Kano, Jigawa, Katsina</a:t>
            </a:r>
            <a:endParaRPr lang="en-US" sz="1000" dirty="0"/>
          </a:p>
        </p:txBody>
      </p:sp>
      <p:sp>
        <p:nvSpPr>
          <p:cNvPr id="15" name="Text 13"/>
          <p:cNvSpPr/>
          <p:nvPr/>
        </p:nvSpPr>
        <p:spPr>
          <a:xfrm>
            <a:off x="3154680" y="1538478"/>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136</a:t>
            </a:r>
            <a:endParaRPr lang="en-US" sz="1400" dirty="0"/>
          </a:p>
        </p:txBody>
      </p:sp>
      <p:sp>
        <p:nvSpPr>
          <p:cNvPr id="16" name="Text 14"/>
          <p:cNvSpPr/>
          <p:nvPr/>
        </p:nvSpPr>
        <p:spPr>
          <a:xfrm>
            <a:off x="3813048" y="1538478"/>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684,473</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(33%)</a:t>
            </a:r>
            <a:endParaRPr lang="en-US" sz="1400" dirty="0"/>
          </a:p>
        </p:txBody>
      </p:sp>
      <p:sp>
        <p:nvSpPr>
          <p:cNvPr id="17" name="Text 15"/>
          <p:cNvSpPr/>
          <p:nvPr/>
        </p:nvSpPr>
        <p:spPr>
          <a:xfrm>
            <a:off x="5111496" y="1538478"/>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41.0%</a:t>
            </a:r>
            <a:endParaRPr lang="en-US" sz="1400" dirty="0"/>
          </a:p>
        </p:txBody>
      </p:sp>
      <p:sp>
        <p:nvSpPr>
          <p:cNvPr id="18" name="Text 16"/>
          <p:cNvSpPr/>
          <p:nvPr/>
        </p:nvSpPr>
        <p:spPr>
          <a:xfrm>
            <a:off x="5824728" y="1538478"/>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child undernutrition; lowest maternal education (about 2.5 years) and facility delivery (about 10%)</a:t>
            </a:r>
            <a:endParaRPr lang="en-US" sz="1200" dirty="0"/>
          </a:p>
        </p:txBody>
      </p:sp>
      <p:sp>
        <p:nvSpPr>
          <p:cNvPr id="19" name="Text 17"/>
          <p:cNvSpPr/>
          <p:nvPr/>
        </p:nvSpPr>
        <p:spPr>
          <a:xfrm>
            <a:off x="8613648" y="1538478"/>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Reaching-Every-Community microplanning, BHCPF outreach and community health workers; co-deliver with nutrition and antenatal care</a:t>
            </a:r>
            <a:endParaRPr lang="en-US" sz="1200" dirty="0"/>
          </a:p>
        </p:txBody>
      </p:sp>
      <p:sp>
        <p:nvSpPr>
          <p:cNvPr id="20" name="Shape 18"/>
          <p:cNvSpPr/>
          <p:nvPr/>
        </p:nvSpPr>
        <p:spPr>
          <a:xfrm>
            <a:off x="548640" y="2389784"/>
            <a:ext cx="11091672" cy="822960"/>
          </a:xfrm>
          <a:prstGeom prst="rect">
            <a:avLst/>
          </a:prstGeom>
          <a:solidFill>
            <a:srgbClr val="EEF2F6"/>
          </a:solidFill>
          <a:ln/>
        </p:spPr>
        <p:txBody>
          <a:bodyPr/>
          <a:lstStyle/>
          <a:p>
            <a:endParaRPr lang="LID4096"/>
          </a:p>
        </p:txBody>
      </p:sp>
      <p:sp>
        <p:nvSpPr>
          <p:cNvPr id="21" name="Text 19"/>
          <p:cNvSpPr/>
          <p:nvPr/>
        </p:nvSpPr>
        <p:spPr>
          <a:xfrm>
            <a:off x="621792" y="238978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2</a:t>
            </a:r>
            <a:endParaRPr lang="en-US" sz="1400" dirty="0"/>
          </a:p>
        </p:txBody>
      </p:sp>
      <p:sp>
        <p:nvSpPr>
          <p:cNvPr id="22" name="Text 20"/>
          <p:cNvSpPr/>
          <p:nvPr/>
        </p:nvSpPr>
        <p:spPr>
          <a:xfrm>
            <a:off x="1005840" y="246293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Conflict-Affected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Nomadic</a:t>
            </a:r>
            <a:endParaRPr lang="en-US" sz="1400" dirty="0"/>
          </a:p>
        </p:txBody>
      </p:sp>
      <p:sp>
        <p:nvSpPr>
          <p:cNvPr id="23" name="Text 21"/>
          <p:cNvSpPr/>
          <p:nvPr/>
        </p:nvSpPr>
        <p:spPr>
          <a:xfrm>
            <a:off x="1005840" y="295671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Borno, Niger, Adamawa</a:t>
            </a:r>
            <a:endParaRPr lang="en-US" sz="1000" dirty="0"/>
          </a:p>
        </p:txBody>
      </p:sp>
      <p:sp>
        <p:nvSpPr>
          <p:cNvPr id="24" name="Text 22"/>
          <p:cNvSpPr/>
          <p:nvPr/>
        </p:nvSpPr>
        <p:spPr>
          <a:xfrm>
            <a:off x="3154680" y="238978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192</a:t>
            </a:r>
            <a:endParaRPr lang="en-US" sz="1400" dirty="0"/>
          </a:p>
        </p:txBody>
      </p:sp>
      <p:sp>
        <p:nvSpPr>
          <p:cNvPr id="25" name="Text 23"/>
          <p:cNvSpPr/>
          <p:nvPr/>
        </p:nvSpPr>
        <p:spPr>
          <a:xfrm>
            <a:off x="3813048" y="238978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799,656</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(39%)</a:t>
            </a:r>
            <a:endParaRPr lang="en-US" sz="1400" dirty="0"/>
          </a:p>
        </p:txBody>
      </p:sp>
      <p:sp>
        <p:nvSpPr>
          <p:cNvPr id="26" name="Text 24"/>
          <p:cNvSpPr/>
          <p:nvPr/>
        </p:nvSpPr>
        <p:spPr>
          <a:xfrm>
            <a:off x="5111496" y="238978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41.9%</a:t>
            </a:r>
            <a:endParaRPr lang="en-US" sz="1400" dirty="0"/>
          </a:p>
        </p:txBody>
      </p:sp>
      <p:sp>
        <p:nvSpPr>
          <p:cNvPr id="27" name="Text 25"/>
          <p:cNvSpPr/>
          <p:nvPr/>
        </p:nvSpPr>
        <p:spPr>
          <a:xfrm>
            <a:off x="5824728" y="238978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political-violence fatalities; high antigen dropout; weak antenatal care and delivery</a:t>
            </a:r>
            <a:endParaRPr lang="en-US" sz="1200" dirty="0"/>
          </a:p>
        </p:txBody>
      </p:sp>
      <p:sp>
        <p:nvSpPr>
          <p:cNvPr id="28" name="Text 26"/>
          <p:cNvSpPr/>
          <p:nvPr/>
        </p:nvSpPr>
        <p:spPr>
          <a:xfrm>
            <a:off x="8613648" y="238978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Security-integrated microplanning, negotiated access, and mobile and transit-point teams</a:t>
            </a:r>
            <a:endParaRPr lang="en-US" sz="1200" dirty="0"/>
          </a:p>
        </p:txBody>
      </p:sp>
      <p:sp>
        <p:nvSpPr>
          <p:cNvPr id="29" name="Text 27"/>
          <p:cNvSpPr/>
          <p:nvPr/>
        </p:nvSpPr>
        <p:spPr>
          <a:xfrm>
            <a:off x="621792" y="321274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3</a:t>
            </a:r>
            <a:endParaRPr lang="en-US" sz="1400" dirty="0"/>
          </a:p>
        </p:txBody>
      </p:sp>
      <p:sp>
        <p:nvSpPr>
          <p:cNvPr id="30" name="Text 28"/>
          <p:cNvSpPr/>
          <p:nvPr/>
        </p:nvSpPr>
        <p:spPr>
          <a:xfrm>
            <a:off x="1005840" y="328589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Riverine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Geographically Isolated</a:t>
            </a:r>
            <a:endParaRPr lang="en-US" sz="1400" dirty="0"/>
          </a:p>
        </p:txBody>
      </p:sp>
      <p:sp>
        <p:nvSpPr>
          <p:cNvPr id="31" name="Text 29"/>
          <p:cNvSpPr/>
          <p:nvPr/>
        </p:nvSpPr>
        <p:spPr>
          <a:xfrm>
            <a:off x="1005840" y="377967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Cross River, Bayelsa, Delta</a:t>
            </a:r>
            <a:endParaRPr lang="en-US" sz="1000" dirty="0"/>
          </a:p>
        </p:txBody>
      </p:sp>
      <p:sp>
        <p:nvSpPr>
          <p:cNvPr id="32" name="Text 30"/>
          <p:cNvSpPr/>
          <p:nvPr/>
        </p:nvSpPr>
        <p:spPr>
          <a:xfrm>
            <a:off x="3154680" y="321274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20</a:t>
            </a:r>
            <a:endParaRPr lang="en-US" sz="1400" dirty="0"/>
          </a:p>
        </p:txBody>
      </p:sp>
      <p:sp>
        <p:nvSpPr>
          <p:cNvPr id="33" name="Text 31"/>
          <p:cNvSpPr/>
          <p:nvPr/>
        </p:nvSpPr>
        <p:spPr>
          <a:xfrm>
            <a:off x="3813048" y="321274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22,425</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a:t>
            </a:r>
            <a:endParaRPr lang="en-US" sz="1400" dirty="0"/>
          </a:p>
        </p:txBody>
      </p:sp>
      <p:sp>
        <p:nvSpPr>
          <p:cNvPr id="34" name="Text 32"/>
          <p:cNvSpPr/>
          <p:nvPr/>
        </p:nvSpPr>
        <p:spPr>
          <a:xfrm>
            <a:off x="5111496" y="321274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16.6%</a:t>
            </a:r>
            <a:endParaRPr lang="en-US" sz="1400" dirty="0"/>
          </a:p>
        </p:txBody>
      </p:sp>
      <p:sp>
        <p:nvSpPr>
          <p:cNvPr id="35" name="Text 33"/>
          <p:cNvSpPr/>
          <p:nvPr/>
        </p:nvSpPr>
        <p:spPr>
          <a:xfrm>
            <a:off x="5824728" y="321274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Extreme travel time to care (about 108 minutes); low improved-water access</a:t>
            </a:r>
            <a:endParaRPr lang="en-US" sz="1200" dirty="0"/>
          </a:p>
        </p:txBody>
      </p:sp>
      <p:sp>
        <p:nvSpPr>
          <p:cNvPr id="36" name="Text 34"/>
          <p:cNvSpPr/>
          <p:nvPr/>
        </p:nvSpPr>
        <p:spPr>
          <a:xfrm>
            <a:off x="8613648" y="321274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Boat-based outreach, community health worker networks, and multi-antigen bundling per visit</a:t>
            </a:r>
            <a:endParaRPr lang="en-US" sz="1200" dirty="0"/>
          </a:p>
        </p:txBody>
      </p:sp>
      <p:sp>
        <p:nvSpPr>
          <p:cNvPr id="37" name="Shape 35"/>
          <p:cNvSpPr/>
          <p:nvPr/>
        </p:nvSpPr>
        <p:spPr>
          <a:xfrm>
            <a:off x="548640" y="4035704"/>
            <a:ext cx="11091672" cy="822960"/>
          </a:xfrm>
          <a:prstGeom prst="rect">
            <a:avLst/>
          </a:prstGeom>
          <a:solidFill>
            <a:srgbClr val="EEF2F6"/>
          </a:solidFill>
          <a:ln/>
        </p:spPr>
        <p:txBody>
          <a:bodyPr/>
          <a:lstStyle/>
          <a:p>
            <a:endParaRPr lang="LID4096"/>
          </a:p>
        </p:txBody>
      </p:sp>
      <p:sp>
        <p:nvSpPr>
          <p:cNvPr id="38" name="Text 36"/>
          <p:cNvSpPr/>
          <p:nvPr/>
        </p:nvSpPr>
        <p:spPr>
          <a:xfrm>
            <a:off x="621792" y="403570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4</a:t>
            </a:r>
            <a:endParaRPr lang="en-US" sz="1400" dirty="0"/>
          </a:p>
        </p:txBody>
      </p:sp>
      <p:sp>
        <p:nvSpPr>
          <p:cNvPr id="39" name="Text 37"/>
          <p:cNvSpPr/>
          <p:nvPr/>
        </p:nvSpPr>
        <p:spPr>
          <a:xfrm>
            <a:off x="1005840" y="410885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Peri-urban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Migrant Dense</a:t>
            </a:r>
            <a:endParaRPr lang="en-US" sz="1400" dirty="0"/>
          </a:p>
        </p:txBody>
      </p:sp>
      <p:sp>
        <p:nvSpPr>
          <p:cNvPr id="40" name="Text 38"/>
          <p:cNvSpPr/>
          <p:nvPr/>
        </p:nvSpPr>
        <p:spPr>
          <a:xfrm>
            <a:off x="1005840" y="460263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Osun, Akwa Ibom, Oyo</a:t>
            </a:r>
            <a:endParaRPr lang="en-US" sz="1000" dirty="0"/>
          </a:p>
        </p:txBody>
      </p:sp>
      <p:sp>
        <p:nvSpPr>
          <p:cNvPr id="41" name="Text 39"/>
          <p:cNvSpPr/>
          <p:nvPr/>
        </p:nvSpPr>
        <p:spPr>
          <a:xfrm>
            <a:off x="3154680" y="403570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280</a:t>
            </a:r>
            <a:endParaRPr lang="en-US" sz="1400" dirty="0"/>
          </a:p>
        </p:txBody>
      </p:sp>
      <p:sp>
        <p:nvSpPr>
          <p:cNvPr id="42" name="Text 40"/>
          <p:cNvSpPr/>
          <p:nvPr/>
        </p:nvSpPr>
        <p:spPr>
          <a:xfrm>
            <a:off x="3813048" y="403570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406,045</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(20%)</a:t>
            </a:r>
            <a:endParaRPr lang="en-US" sz="1400" dirty="0"/>
          </a:p>
        </p:txBody>
      </p:sp>
      <p:sp>
        <p:nvSpPr>
          <p:cNvPr id="43" name="Text 41"/>
          <p:cNvSpPr/>
          <p:nvPr/>
        </p:nvSpPr>
        <p:spPr>
          <a:xfrm>
            <a:off x="5111496" y="403570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19.3%</a:t>
            </a:r>
            <a:endParaRPr lang="en-US" sz="1400" dirty="0"/>
          </a:p>
        </p:txBody>
      </p:sp>
      <p:sp>
        <p:nvSpPr>
          <p:cNvPr id="44" name="Text 42"/>
          <p:cNvSpPr/>
          <p:nvPr/>
        </p:nvSpPr>
        <p:spPr>
          <a:xfrm>
            <a:off x="5824728" y="403570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Moderate on all fronts; fair care-seeking (antenatal care 72%, delivery 61%)</a:t>
            </a:r>
            <a:endParaRPr lang="en-US" sz="1200" dirty="0"/>
          </a:p>
        </p:txBody>
      </p:sp>
      <p:sp>
        <p:nvSpPr>
          <p:cNvPr id="45" name="Text 43"/>
          <p:cNvSpPr/>
          <p:nvPr/>
        </p:nvSpPr>
        <p:spPr>
          <a:xfrm>
            <a:off x="8613648" y="403570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a:t>
            </a:r>
            <a:endParaRPr lang="en-US" sz="1200" dirty="0"/>
          </a:p>
        </p:txBody>
      </p:sp>
      <p:sp>
        <p:nvSpPr>
          <p:cNvPr id="46" name="Text 44"/>
          <p:cNvSpPr/>
          <p:nvPr/>
        </p:nvSpPr>
        <p:spPr>
          <a:xfrm>
            <a:off x="621792" y="4858664"/>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5</a:t>
            </a:r>
            <a:endParaRPr lang="en-US" sz="1400" dirty="0"/>
          </a:p>
        </p:txBody>
      </p:sp>
      <p:sp>
        <p:nvSpPr>
          <p:cNvPr id="47" name="Text 45"/>
          <p:cNvSpPr/>
          <p:nvPr/>
        </p:nvSpPr>
        <p:spPr>
          <a:xfrm>
            <a:off x="1005840" y="493181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Urban Slums</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(better-off core)</a:t>
            </a:r>
            <a:endParaRPr lang="en-US" sz="1400" dirty="0"/>
          </a:p>
        </p:txBody>
      </p:sp>
      <p:sp>
        <p:nvSpPr>
          <p:cNvPr id="48" name="Text 46"/>
          <p:cNvSpPr/>
          <p:nvPr/>
        </p:nvSpPr>
        <p:spPr>
          <a:xfrm>
            <a:off x="1005840" y="542559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Imo, Anambra, Lagos</a:t>
            </a:r>
            <a:endParaRPr lang="en-US" sz="1000" dirty="0"/>
          </a:p>
        </p:txBody>
      </p:sp>
      <p:sp>
        <p:nvSpPr>
          <p:cNvPr id="49" name="Text 47"/>
          <p:cNvSpPr/>
          <p:nvPr/>
        </p:nvSpPr>
        <p:spPr>
          <a:xfrm>
            <a:off x="3154680" y="4858664"/>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146</a:t>
            </a:r>
            <a:endParaRPr lang="en-US" sz="1400" dirty="0"/>
          </a:p>
        </p:txBody>
      </p:sp>
      <p:sp>
        <p:nvSpPr>
          <p:cNvPr id="50" name="Text 48"/>
          <p:cNvSpPr/>
          <p:nvPr/>
        </p:nvSpPr>
        <p:spPr>
          <a:xfrm>
            <a:off x="3813048" y="4858664"/>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151,256</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(7%)</a:t>
            </a:r>
            <a:endParaRPr lang="en-US" sz="1400" dirty="0"/>
          </a:p>
        </p:txBody>
      </p:sp>
      <p:sp>
        <p:nvSpPr>
          <p:cNvPr id="51" name="Text 49"/>
          <p:cNvSpPr/>
          <p:nvPr/>
        </p:nvSpPr>
        <p:spPr>
          <a:xfrm>
            <a:off x="5111496" y="4858664"/>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11.0%</a:t>
            </a:r>
            <a:endParaRPr lang="en-US" sz="1400" dirty="0"/>
          </a:p>
        </p:txBody>
      </p:sp>
      <p:sp>
        <p:nvSpPr>
          <p:cNvPr id="52" name="Text 50"/>
          <p:cNvSpPr/>
          <p:nvPr/>
        </p:nvSpPr>
        <p:spPr>
          <a:xfrm>
            <a:off x="5824728" y="4858664"/>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wealth and education (about 9.6 years) and facility delivery (78%); residual informal-settlement gaps</a:t>
            </a:r>
            <a:endParaRPr lang="en-US" sz="1200" dirty="0"/>
          </a:p>
        </p:txBody>
      </p:sp>
      <p:sp>
        <p:nvSpPr>
          <p:cNvPr id="53" name="Text 51"/>
          <p:cNvSpPr/>
          <p:nvPr/>
        </p:nvSpPr>
        <p:spPr>
          <a:xfrm>
            <a:off x="8613648" y="4858664"/>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Targeted social mobilisation, a fixed-plus-outreach hybrid, and private-sector last-mile reach</a:t>
            </a:r>
            <a:endParaRPr lang="en-US" sz="1200" dirty="0"/>
          </a:p>
        </p:txBody>
      </p:sp>
      <p:sp>
        <p:nvSpPr>
          <p:cNvPr id="54" name="Text 52"/>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Agglomerative (Ward) clustering of 15 covariates across all 774 local government areas; total about 2.06 million zero-dose children. Grey text names example states. BHCPF = Basic Health Care Provision Fund.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Maternal and immunization gaps sit in the same places</a:t>
            </a:r>
            <a:endParaRPr lang="en-US" sz="2600" dirty="0"/>
          </a:p>
        </p:txBody>
      </p:sp>
      <p:sp>
        <p:nvSpPr>
          <p:cNvPr id="3" name="Text 1"/>
          <p:cNvSpPr/>
          <p:nvPr/>
        </p:nvSpPr>
        <p:spPr>
          <a:xfrm>
            <a:off x="548640" y="914400"/>
            <a:ext cx="11091672" cy="493776"/>
          </a:xfrm>
          <a:prstGeom prst="rect">
            <a:avLst/>
          </a:prstGeom>
          <a:noFill/>
          <a:ln/>
        </p:spPr>
        <p:txBody>
          <a:bodyPr wrap="square" lIns="0" tIns="0" rIns="0" bIns="0" rtlCol="0" anchor="t"/>
          <a:lstStyle/>
          <a:p>
            <a:pPr marL="0" indent="0">
              <a:lnSpc>
                <a:spcPct val="105000"/>
              </a:lnSpc>
              <a:buNone/>
            </a:pPr>
            <a:r>
              <a:rPr lang="en-US" sz="1450" dirty="0">
                <a:solidFill>
                  <a:srgbClr val="5C6B78"/>
                </a:solidFill>
                <a:latin typeface="Arial" pitchFamily="34" charset="0"/>
                <a:ea typeface="Arial" pitchFamily="34" charset="-122"/>
                <a:cs typeface="Arial" pitchFamily="34" charset="-120"/>
              </a:rPr>
              <a:t>The local governments with the weakest antenatal care and facility delivery are the same ones missing the most zero-dose children, so an existing maternal contact is a ready entry point to reach them.</a:t>
            </a:r>
            <a:endParaRPr lang="en-US" sz="1450" dirty="0"/>
          </a:p>
        </p:txBody>
      </p:sp>
      <p:pic>
        <p:nvPicPr>
          <p:cNvPr id="4" name="Image 0" descr="fig/rmnch_epi_convergence_trim.png"/>
          <p:cNvPicPr>
            <a:picLocks noChangeAspect="1"/>
          </p:cNvPicPr>
          <p:nvPr/>
        </p:nvPicPr>
        <p:blipFill>
          <a:blip r:embed="rId3"/>
          <a:stretch>
            <a:fillRect/>
          </a:stretch>
        </p:blipFill>
        <p:spPr>
          <a:xfrm>
            <a:off x="548640" y="1481328"/>
            <a:ext cx="7882128" cy="3136392"/>
          </a:xfrm>
          <a:prstGeom prst="rect">
            <a:avLst/>
          </a:prstGeom>
        </p:spPr>
      </p:pic>
      <p:sp>
        <p:nvSpPr>
          <p:cNvPr id="5" name="Shape 2"/>
          <p:cNvSpPr/>
          <p:nvPr/>
        </p:nvSpPr>
        <p:spPr>
          <a:xfrm>
            <a:off x="8659368" y="1481328"/>
            <a:ext cx="2980944" cy="1572768"/>
          </a:xfrm>
          <a:prstGeom prst="rect">
            <a:avLst/>
          </a:prstGeom>
          <a:solidFill>
            <a:srgbClr val="EEF2F6"/>
          </a:solidFill>
          <a:ln w="9525">
            <a:solidFill>
              <a:srgbClr val="D6DEE7"/>
            </a:solidFill>
            <a:prstDash val="solid"/>
          </a:ln>
        </p:spPr>
        <p:txBody>
          <a:bodyPr/>
          <a:lstStyle/>
          <a:p>
            <a:endParaRPr lang="LID4096"/>
          </a:p>
        </p:txBody>
      </p:sp>
      <p:sp>
        <p:nvSpPr>
          <p:cNvPr id="6" name="Text 3"/>
          <p:cNvSpPr/>
          <p:nvPr/>
        </p:nvSpPr>
        <p:spPr>
          <a:xfrm>
            <a:off x="8805672" y="1572768"/>
            <a:ext cx="2688336" cy="402336"/>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1.4 million</a:t>
            </a:r>
            <a:endParaRPr lang="en-US" sz="2400" dirty="0"/>
          </a:p>
        </p:txBody>
      </p:sp>
      <p:sp>
        <p:nvSpPr>
          <p:cNvPr id="7" name="Text 4"/>
          <p:cNvSpPr/>
          <p:nvPr/>
        </p:nvSpPr>
        <p:spPr>
          <a:xfrm>
            <a:off x="8805672" y="1993392"/>
            <a:ext cx="2688336" cy="96926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of the roughly 2.08 million modelled zero-dose children are in the two archetypes with the weakest maternal care.</a:t>
            </a:r>
            <a:endParaRPr lang="en-US" sz="1300" dirty="0"/>
          </a:p>
        </p:txBody>
      </p:sp>
      <p:sp>
        <p:nvSpPr>
          <p:cNvPr id="8" name="Shape 5"/>
          <p:cNvSpPr/>
          <p:nvPr/>
        </p:nvSpPr>
        <p:spPr>
          <a:xfrm>
            <a:off x="8659368" y="3163824"/>
            <a:ext cx="2980944" cy="1453896"/>
          </a:xfrm>
          <a:prstGeom prst="rect">
            <a:avLst/>
          </a:prstGeom>
          <a:solidFill>
            <a:srgbClr val="FFFFFF"/>
          </a:solidFill>
          <a:ln w="9525">
            <a:solidFill>
              <a:srgbClr val="D6DEE7"/>
            </a:solidFill>
            <a:prstDash val="solid"/>
          </a:ln>
        </p:spPr>
        <p:txBody>
          <a:bodyPr/>
          <a:lstStyle/>
          <a:p>
            <a:endParaRPr lang="LID4096"/>
          </a:p>
        </p:txBody>
      </p:sp>
      <p:sp>
        <p:nvSpPr>
          <p:cNvPr id="9" name="Text 6"/>
          <p:cNvSpPr/>
          <p:nvPr/>
        </p:nvSpPr>
        <p:spPr>
          <a:xfrm>
            <a:off x="8805672" y="3255264"/>
            <a:ext cx="2688336" cy="384048"/>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r = -0.55</a:t>
            </a:r>
            <a:endParaRPr lang="en-US" sz="2400" dirty="0"/>
          </a:p>
        </p:txBody>
      </p:sp>
      <p:sp>
        <p:nvSpPr>
          <p:cNvPr id="10" name="Text 7"/>
          <p:cNvSpPr/>
          <p:nvPr/>
        </p:nvSpPr>
        <p:spPr>
          <a:xfrm>
            <a:off x="8805672" y="3657600"/>
            <a:ext cx="2688336" cy="87782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antenatal care, four or more visits, against the modelled zero-dose rate across the local governments. Facility delivery is r = -0.52.</a:t>
            </a:r>
            <a:endParaRPr lang="en-US" sz="1300" dirty="0"/>
          </a:p>
        </p:txBody>
      </p:sp>
      <p:sp>
        <p:nvSpPr>
          <p:cNvPr id="11" name="Shape 8"/>
          <p:cNvSpPr/>
          <p:nvPr/>
        </p:nvSpPr>
        <p:spPr>
          <a:xfrm>
            <a:off x="548640"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2" name="Text 9"/>
          <p:cNvSpPr/>
          <p:nvPr/>
        </p:nvSpPr>
        <p:spPr>
          <a:xfrm>
            <a:off x="694944"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link. </a:t>
            </a:r>
            <a:r>
              <a:rPr lang="en-US" sz="1350" dirty="0">
                <a:solidFill>
                  <a:srgbClr val="22333F"/>
                </a:solidFill>
                <a:latin typeface="Arial" pitchFamily="34" charset="0"/>
                <a:ea typeface="Arial" pitchFamily="34" charset="-122"/>
                <a:cs typeface="Arial" pitchFamily="34" charset="-120"/>
              </a:rPr>
              <a:t>Weaker antenatal care goes with higher zero-dose across all 774 local governments (ANC4+ r = -0.55; facility delivery r = -0.52). The link is strong and consistent.</a:t>
            </a:r>
            <a:endParaRPr lang="en-US" sz="1350" dirty="0"/>
          </a:p>
        </p:txBody>
      </p:sp>
      <p:sp>
        <p:nvSpPr>
          <p:cNvPr id="13" name="Shape 10"/>
          <p:cNvSpPr/>
          <p:nvPr/>
        </p:nvSpPr>
        <p:spPr>
          <a:xfrm>
            <a:off x="4306824"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4453128"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burden. </a:t>
            </a:r>
            <a:r>
              <a:rPr lang="en-US" sz="1350" dirty="0">
                <a:solidFill>
                  <a:srgbClr val="22333F"/>
                </a:solidFill>
                <a:latin typeface="Arial" pitchFamily="34" charset="0"/>
                <a:ea typeface="Arial" pitchFamily="34" charset="-122"/>
                <a:cs typeface="Arial" pitchFamily="34" charset="-120"/>
              </a:rPr>
              <a:t>Remote Rural and Conflict-Affected hold about 1.4 million zero-dose children, on the lowest antenatal care (36 to 40%) and facility delivery (10 to 19%).</a:t>
            </a:r>
            <a:endParaRPr lang="en-US" sz="1350" dirty="0"/>
          </a:p>
        </p:txBody>
      </p:sp>
      <p:sp>
        <p:nvSpPr>
          <p:cNvPr id="15" name="Shape 12"/>
          <p:cNvSpPr/>
          <p:nvPr/>
        </p:nvSpPr>
        <p:spPr>
          <a:xfrm>
            <a:off x="8065008" y="4791456"/>
            <a:ext cx="3575304" cy="1316736"/>
          </a:xfrm>
          <a:prstGeom prst="rect">
            <a:avLst/>
          </a:prstGeom>
          <a:solidFill>
            <a:srgbClr val="EEF2F6"/>
          </a:solidFill>
          <a:ln w="9525">
            <a:solidFill>
              <a:srgbClr val="D6DEE7"/>
            </a:solidFill>
            <a:prstDash val="solid"/>
          </a:ln>
        </p:spPr>
        <p:txBody>
          <a:bodyPr/>
          <a:lstStyle/>
          <a:p>
            <a:endParaRPr lang="LID4096"/>
          </a:p>
        </p:txBody>
      </p:sp>
      <p:sp>
        <p:nvSpPr>
          <p:cNvPr id="16" name="Text 13"/>
          <p:cNvSpPr/>
          <p:nvPr/>
        </p:nvSpPr>
        <p:spPr>
          <a:xfrm>
            <a:off x="8211312"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action. </a:t>
            </a:r>
            <a:r>
              <a:rPr lang="en-US" sz="1350" dirty="0">
                <a:solidFill>
                  <a:srgbClr val="22333F"/>
                </a:solidFill>
                <a:latin typeface="Arial" pitchFamily="34" charset="0"/>
                <a:ea typeface="Arial" pitchFamily="34" charset="-122"/>
                <a:cs typeface="Arial" pitchFamily="34" charset="-120"/>
              </a:rPr>
              <a:t>Co-deliver immunization with antenatal and delivery contacts in these archetypes - one visit, several services - rather than running immunization outreach on its own.</a:t>
            </a:r>
            <a:endParaRPr lang="en-US" sz="1350" dirty="0"/>
          </a:p>
        </p:txBody>
      </p:sp>
      <p:sp>
        <p:nvSpPr>
          <p:cNvPr id="17" name="Text 14"/>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(IHME and DHS antenatal-care and facility-delivery covariates; modelled zero-dose). RMNCH = reproductive, maternal, newborn and child health; EPI = Expanded Programme on Immunization; ANC4+ = antenatal care, four or more visits; LGA = local government area. Bubble size = modelled zero-dose children.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From archetype to action: the RMNCH-EPI operational list</a:t>
            </a:r>
            <a:endParaRPr lang="en-US" sz="2600" dirty="0"/>
          </a:p>
        </p:txBody>
      </p:sp>
      <p:sp>
        <p:nvSpPr>
          <p:cNvPr id="3" name="Text 1"/>
          <p:cNvSpPr/>
          <p:nvPr/>
        </p:nvSpPr>
        <p:spPr>
          <a:xfrm>
            <a:off x="548640" y="914400"/>
            <a:ext cx="11091672" cy="292608"/>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Five archetypes, the maternal-care numbers behind each, and the package matched to it.</a:t>
            </a:r>
            <a:endParaRPr lang="en-US" sz="1450" dirty="0"/>
          </a:p>
        </p:txBody>
      </p:sp>
      <p:sp>
        <p:nvSpPr>
          <p:cNvPr id="4" name="Shape 2"/>
          <p:cNvSpPr/>
          <p:nvPr/>
        </p:nvSpPr>
        <p:spPr>
          <a:xfrm>
            <a:off x="548640" y="1325880"/>
            <a:ext cx="11091672" cy="566928"/>
          </a:xfrm>
          <a:prstGeom prst="rect">
            <a:avLst/>
          </a:prstGeom>
          <a:solidFill>
            <a:srgbClr val="1F3B57"/>
          </a:solidFill>
          <a:ln/>
        </p:spPr>
        <p:txBody>
          <a:bodyPr/>
          <a:lstStyle/>
          <a:p>
            <a:endParaRPr lang="LID4096"/>
          </a:p>
        </p:txBody>
      </p:sp>
      <p:sp>
        <p:nvSpPr>
          <p:cNvPr id="5" name="Text 3"/>
          <p:cNvSpPr/>
          <p:nvPr/>
        </p:nvSpPr>
        <p:spPr>
          <a:xfrm>
            <a:off x="640080" y="1325880"/>
            <a:ext cx="216712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Archetype</a:t>
            </a:r>
            <a:endParaRPr lang="en-US" sz="1050" dirty="0"/>
          </a:p>
        </p:txBody>
      </p:sp>
      <p:sp>
        <p:nvSpPr>
          <p:cNvPr id="6" name="Text 4"/>
          <p:cNvSpPr/>
          <p:nvPr/>
        </p:nvSpPr>
        <p:spPr>
          <a:xfrm>
            <a:off x="2971800" y="1325880"/>
            <a:ext cx="42976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LGAs</a:t>
            </a:r>
            <a:endParaRPr lang="en-US" sz="1050" dirty="0"/>
          </a:p>
        </p:txBody>
      </p:sp>
      <p:sp>
        <p:nvSpPr>
          <p:cNvPr id="7" name="Text 5"/>
          <p:cNvSpPr/>
          <p:nvPr/>
        </p:nvSpPr>
        <p:spPr>
          <a:xfrm>
            <a:off x="3566160" y="1325880"/>
            <a:ext cx="64008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ANC4+ (%)</a:t>
            </a:r>
            <a:endParaRPr lang="en-US" sz="1050" dirty="0"/>
          </a:p>
        </p:txBody>
      </p:sp>
      <p:sp>
        <p:nvSpPr>
          <p:cNvPr id="8" name="Text 6"/>
          <p:cNvSpPr/>
          <p:nvPr/>
        </p:nvSpPr>
        <p:spPr>
          <a:xfrm>
            <a:off x="4370832" y="1325880"/>
            <a:ext cx="84124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Facility delivery (%)</a:t>
            </a:r>
            <a:endParaRPr lang="en-US" sz="1050" dirty="0"/>
          </a:p>
        </p:txBody>
      </p:sp>
      <p:sp>
        <p:nvSpPr>
          <p:cNvPr id="9" name="Text 7"/>
          <p:cNvSpPr/>
          <p:nvPr/>
        </p:nvSpPr>
        <p:spPr>
          <a:xfrm>
            <a:off x="5376672" y="1325880"/>
            <a:ext cx="694944"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rate (%)</a:t>
            </a:r>
            <a:endParaRPr lang="en-US" sz="1050" dirty="0"/>
          </a:p>
        </p:txBody>
      </p:sp>
      <p:sp>
        <p:nvSpPr>
          <p:cNvPr id="10" name="Text 8"/>
          <p:cNvSpPr/>
          <p:nvPr/>
        </p:nvSpPr>
        <p:spPr>
          <a:xfrm>
            <a:off x="6236208" y="1325880"/>
            <a:ext cx="91440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children</a:t>
            </a:r>
            <a:endParaRPr lang="en-US" sz="1050" dirty="0"/>
          </a:p>
        </p:txBody>
      </p:sp>
      <p:sp>
        <p:nvSpPr>
          <p:cNvPr id="11" name="Text 9"/>
          <p:cNvSpPr/>
          <p:nvPr/>
        </p:nvSpPr>
        <p:spPr>
          <a:xfrm>
            <a:off x="7315200" y="1325880"/>
            <a:ext cx="425196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RMNCH-EPI intervention, matched to the archetype</a:t>
            </a:r>
            <a:endParaRPr lang="en-US" sz="1050" dirty="0"/>
          </a:p>
        </p:txBody>
      </p:sp>
      <p:sp>
        <p:nvSpPr>
          <p:cNvPr id="12" name="Shape 10"/>
          <p:cNvSpPr/>
          <p:nvPr/>
        </p:nvSpPr>
        <p:spPr>
          <a:xfrm>
            <a:off x="548640" y="1892808"/>
            <a:ext cx="11091672" cy="749808"/>
          </a:xfrm>
          <a:prstGeom prst="rect">
            <a:avLst/>
          </a:prstGeom>
          <a:solidFill>
            <a:srgbClr val="EEF2F6"/>
          </a:solidFill>
          <a:ln/>
        </p:spPr>
        <p:txBody>
          <a:bodyPr/>
          <a:lstStyle/>
          <a:p>
            <a:endParaRPr lang="LID4096"/>
          </a:p>
        </p:txBody>
      </p:sp>
      <p:sp>
        <p:nvSpPr>
          <p:cNvPr id="13" name="Text 11"/>
          <p:cNvSpPr/>
          <p:nvPr/>
        </p:nvSpPr>
        <p:spPr>
          <a:xfrm>
            <a:off x="640080" y="1892808"/>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Remote Rural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Hard-to-Reach</a:t>
            </a:r>
            <a:endParaRPr lang="en-US" sz="1150" dirty="0"/>
          </a:p>
        </p:txBody>
      </p:sp>
      <p:sp>
        <p:nvSpPr>
          <p:cNvPr id="14" name="Text 12"/>
          <p:cNvSpPr/>
          <p:nvPr/>
        </p:nvSpPr>
        <p:spPr>
          <a:xfrm>
            <a:off x="2971800" y="1892808"/>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136</a:t>
            </a:r>
            <a:endParaRPr lang="en-US" sz="1150" dirty="0"/>
          </a:p>
        </p:txBody>
      </p:sp>
      <p:sp>
        <p:nvSpPr>
          <p:cNvPr id="15" name="Text 13"/>
          <p:cNvSpPr/>
          <p:nvPr/>
        </p:nvSpPr>
        <p:spPr>
          <a:xfrm>
            <a:off x="3566160" y="1892808"/>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35.7</a:t>
            </a:r>
            <a:endParaRPr lang="en-US" sz="1150" dirty="0"/>
          </a:p>
        </p:txBody>
      </p:sp>
      <p:sp>
        <p:nvSpPr>
          <p:cNvPr id="16" name="Text 14"/>
          <p:cNvSpPr/>
          <p:nvPr/>
        </p:nvSpPr>
        <p:spPr>
          <a:xfrm>
            <a:off x="4370832" y="1892808"/>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9.8</a:t>
            </a:r>
            <a:endParaRPr lang="en-US" sz="1150" dirty="0"/>
          </a:p>
        </p:txBody>
      </p:sp>
      <p:sp>
        <p:nvSpPr>
          <p:cNvPr id="17" name="Text 15"/>
          <p:cNvSpPr/>
          <p:nvPr/>
        </p:nvSpPr>
        <p:spPr>
          <a:xfrm>
            <a:off x="5376672" y="1892808"/>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41.2</a:t>
            </a:r>
            <a:endParaRPr lang="en-US" sz="1150" dirty="0"/>
          </a:p>
        </p:txBody>
      </p:sp>
      <p:sp>
        <p:nvSpPr>
          <p:cNvPr id="18" name="Text 16"/>
          <p:cNvSpPr/>
          <p:nvPr/>
        </p:nvSpPr>
        <p:spPr>
          <a:xfrm>
            <a:off x="6236208" y="1892808"/>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658,900</a:t>
            </a:r>
            <a:endParaRPr lang="en-US" sz="1150" dirty="0"/>
          </a:p>
        </p:txBody>
      </p:sp>
      <p:sp>
        <p:nvSpPr>
          <p:cNvPr id="19" name="Text 17"/>
          <p:cNvSpPr/>
          <p:nvPr/>
        </p:nvSpPr>
        <p:spPr>
          <a:xfrm>
            <a:off x="7315200" y="1892808"/>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Reaching-Every-Community microplanning, BHCPF outreach and community health workers; co-deliver immunization with antenatal and nutrition contacts</a:t>
            </a:r>
            <a:endParaRPr lang="en-US" sz="1000" dirty="0"/>
          </a:p>
        </p:txBody>
      </p:sp>
      <p:sp>
        <p:nvSpPr>
          <p:cNvPr id="20" name="Text 18"/>
          <p:cNvSpPr/>
          <p:nvPr/>
        </p:nvSpPr>
        <p:spPr>
          <a:xfrm>
            <a:off x="640080" y="2642616"/>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Conflict-Affected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Nomadic</a:t>
            </a:r>
            <a:endParaRPr lang="en-US" sz="1150" dirty="0"/>
          </a:p>
        </p:txBody>
      </p:sp>
      <p:sp>
        <p:nvSpPr>
          <p:cNvPr id="21" name="Text 19"/>
          <p:cNvSpPr/>
          <p:nvPr/>
        </p:nvSpPr>
        <p:spPr>
          <a:xfrm>
            <a:off x="2971800" y="2642616"/>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2" name="Text 20"/>
          <p:cNvSpPr/>
          <p:nvPr/>
        </p:nvSpPr>
        <p:spPr>
          <a:xfrm>
            <a:off x="3566160" y="2642616"/>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39.8</a:t>
            </a:r>
            <a:endParaRPr lang="en-US" sz="1150" dirty="0"/>
          </a:p>
        </p:txBody>
      </p:sp>
      <p:sp>
        <p:nvSpPr>
          <p:cNvPr id="23" name="Text 21"/>
          <p:cNvSpPr/>
          <p:nvPr/>
        </p:nvSpPr>
        <p:spPr>
          <a:xfrm>
            <a:off x="4370832" y="2642616"/>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4" name="Text 22"/>
          <p:cNvSpPr/>
          <p:nvPr/>
        </p:nvSpPr>
        <p:spPr>
          <a:xfrm>
            <a:off x="5376672" y="2642616"/>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42.0</a:t>
            </a:r>
            <a:endParaRPr lang="en-US" sz="1150" dirty="0"/>
          </a:p>
        </p:txBody>
      </p:sp>
      <p:sp>
        <p:nvSpPr>
          <p:cNvPr id="25" name="Text 23"/>
          <p:cNvSpPr/>
          <p:nvPr/>
        </p:nvSpPr>
        <p:spPr>
          <a:xfrm>
            <a:off x="6236208" y="2642616"/>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779,131</a:t>
            </a:r>
            <a:endParaRPr lang="en-US" sz="1150" dirty="0"/>
          </a:p>
        </p:txBody>
      </p:sp>
      <p:sp>
        <p:nvSpPr>
          <p:cNvPr id="26" name="Text 24"/>
          <p:cNvSpPr/>
          <p:nvPr/>
        </p:nvSpPr>
        <p:spPr>
          <a:xfrm>
            <a:off x="7315200" y="2642616"/>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Security-integrated microplanning, negotiated access, and mobile and transit-point teams delivering immunization and antenatal care together</a:t>
            </a:r>
            <a:endParaRPr lang="en-US" sz="1000" dirty="0"/>
          </a:p>
        </p:txBody>
      </p:sp>
      <p:sp>
        <p:nvSpPr>
          <p:cNvPr id="27" name="Shape 25"/>
          <p:cNvSpPr/>
          <p:nvPr/>
        </p:nvSpPr>
        <p:spPr>
          <a:xfrm>
            <a:off x="548640" y="3392424"/>
            <a:ext cx="11091672" cy="749808"/>
          </a:xfrm>
          <a:prstGeom prst="rect">
            <a:avLst/>
          </a:prstGeom>
          <a:solidFill>
            <a:srgbClr val="EEF2F6"/>
          </a:solidFill>
          <a:ln/>
        </p:spPr>
        <p:txBody>
          <a:bodyPr/>
          <a:lstStyle/>
          <a:p>
            <a:endParaRPr lang="LID4096"/>
          </a:p>
        </p:txBody>
      </p:sp>
      <p:sp>
        <p:nvSpPr>
          <p:cNvPr id="28" name="Text 26"/>
          <p:cNvSpPr/>
          <p:nvPr/>
        </p:nvSpPr>
        <p:spPr>
          <a:xfrm>
            <a:off x="640080" y="3392424"/>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Riverine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Geographically Isolated</a:t>
            </a:r>
            <a:endParaRPr lang="en-US" sz="1150" dirty="0"/>
          </a:p>
        </p:txBody>
      </p:sp>
      <p:sp>
        <p:nvSpPr>
          <p:cNvPr id="29" name="Text 27"/>
          <p:cNvSpPr/>
          <p:nvPr/>
        </p:nvSpPr>
        <p:spPr>
          <a:xfrm>
            <a:off x="2971800" y="3392424"/>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20</a:t>
            </a:r>
            <a:endParaRPr lang="en-US" sz="1150" dirty="0"/>
          </a:p>
        </p:txBody>
      </p:sp>
      <p:sp>
        <p:nvSpPr>
          <p:cNvPr id="30" name="Text 28"/>
          <p:cNvSpPr/>
          <p:nvPr/>
        </p:nvSpPr>
        <p:spPr>
          <a:xfrm>
            <a:off x="3566160" y="3392424"/>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42.6</a:t>
            </a:r>
            <a:endParaRPr lang="en-US" sz="1150" dirty="0"/>
          </a:p>
        </p:txBody>
      </p:sp>
      <p:sp>
        <p:nvSpPr>
          <p:cNvPr id="31" name="Text 29"/>
          <p:cNvSpPr/>
          <p:nvPr/>
        </p:nvSpPr>
        <p:spPr>
          <a:xfrm>
            <a:off x="4370832" y="3392424"/>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26.8</a:t>
            </a:r>
            <a:endParaRPr lang="en-US" sz="1150" dirty="0"/>
          </a:p>
        </p:txBody>
      </p:sp>
      <p:sp>
        <p:nvSpPr>
          <p:cNvPr id="32" name="Text 30"/>
          <p:cNvSpPr/>
          <p:nvPr/>
        </p:nvSpPr>
        <p:spPr>
          <a:xfrm>
            <a:off x="5376672" y="3392424"/>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16.6</a:t>
            </a:r>
            <a:endParaRPr lang="en-US" sz="1150" dirty="0"/>
          </a:p>
        </p:txBody>
      </p:sp>
      <p:sp>
        <p:nvSpPr>
          <p:cNvPr id="33" name="Text 31"/>
          <p:cNvSpPr/>
          <p:nvPr/>
        </p:nvSpPr>
        <p:spPr>
          <a:xfrm>
            <a:off x="6236208" y="3392424"/>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22,425</a:t>
            </a:r>
            <a:endParaRPr lang="en-US" sz="1150" dirty="0"/>
          </a:p>
        </p:txBody>
      </p:sp>
      <p:sp>
        <p:nvSpPr>
          <p:cNvPr id="34" name="Text 32"/>
          <p:cNvSpPr/>
          <p:nvPr/>
        </p:nvSpPr>
        <p:spPr>
          <a:xfrm>
            <a:off x="7315200" y="3392424"/>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Boat-based outreach, community health worker networks, and multi-antigen and antenatal bundling per visit</a:t>
            </a:r>
            <a:endParaRPr lang="en-US" sz="1000" dirty="0"/>
          </a:p>
        </p:txBody>
      </p:sp>
      <p:sp>
        <p:nvSpPr>
          <p:cNvPr id="35" name="Text 33"/>
          <p:cNvSpPr/>
          <p:nvPr/>
        </p:nvSpPr>
        <p:spPr>
          <a:xfrm>
            <a:off x="640080" y="4142232"/>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Peri-urban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Migrant Dense</a:t>
            </a:r>
            <a:endParaRPr lang="en-US" sz="1150" dirty="0"/>
          </a:p>
        </p:txBody>
      </p:sp>
      <p:sp>
        <p:nvSpPr>
          <p:cNvPr id="36" name="Text 34"/>
          <p:cNvSpPr/>
          <p:nvPr/>
        </p:nvSpPr>
        <p:spPr>
          <a:xfrm>
            <a:off x="2971800" y="4142232"/>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280</a:t>
            </a:r>
            <a:endParaRPr lang="en-US" sz="1150" dirty="0"/>
          </a:p>
        </p:txBody>
      </p:sp>
      <p:sp>
        <p:nvSpPr>
          <p:cNvPr id="37" name="Text 35"/>
          <p:cNvSpPr/>
          <p:nvPr/>
        </p:nvSpPr>
        <p:spPr>
          <a:xfrm>
            <a:off x="3566160" y="4142232"/>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71.8</a:t>
            </a:r>
            <a:endParaRPr lang="en-US" sz="1150" dirty="0"/>
          </a:p>
        </p:txBody>
      </p:sp>
      <p:sp>
        <p:nvSpPr>
          <p:cNvPr id="38" name="Text 36"/>
          <p:cNvSpPr/>
          <p:nvPr/>
        </p:nvSpPr>
        <p:spPr>
          <a:xfrm>
            <a:off x="4370832" y="4142232"/>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60.7</a:t>
            </a:r>
            <a:endParaRPr lang="en-US" sz="1150" dirty="0"/>
          </a:p>
        </p:txBody>
      </p:sp>
      <p:sp>
        <p:nvSpPr>
          <p:cNvPr id="39" name="Text 37"/>
          <p:cNvSpPr/>
          <p:nvPr/>
        </p:nvSpPr>
        <p:spPr>
          <a:xfrm>
            <a:off x="5376672" y="4142232"/>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19.5</a:t>
            </a:r>
            <a:endParaRPr lang="en-US" sz="1150" dirty="0"/>
          </a:p>
        </p:txBody>
      </p:sp>
      <p:sp>
        <p:nvSpPr>
          <p:cNvPr id="40" name="Text 38"/>
          <p:cNvSpPr/>
          <p:nvPr/>
        </p:nvSpPr>
        <p:spPr>
          <a:xfrm>
            <a:off x="6236208" y="4142232"/>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380,154</a:t>
            </a:r>
            <a:endParaRPr lang="en-US" sz="1150" dirty="0"/>
          </a:p>
        </p:txBody>
      </p:sp>
      <p:sp>
        <p:nvSpPr>
          <p:cNvPr id="41" name="Text 39"/>
          <p:cNvSpPr/>
          <p:nvPr/>
        </p:nvSpPr>
        <p:spPr>
          <a:xfrm>
            <a:off x="7315200" y="4142232"/>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 linked to antenatal clinics</a:t>
            </a:r>
            <a:endParaRPr lang="en-US" sz="1000" dirty="0"/>
          </a:p>
        </p:txBody>
      </p:sp>
      <p:sp>
        <p:nvSpPr>
          <p:cNvPr id="42" name="Shape 40"/>
          <p:cNvSpPr/>
          <p:nvPr/>
        </p:nvSpPr>
        <p:spPr>
          <a:xfrm>
            <a:off x="548640" y="4892040"/>
            <a:ext cx="11091672" cy="749808"/>
          </a:xfrm>
          <a:prstGeom prst="rect">
            <a:avLst/>
          </a:prstGeom>
          <a:solidFill>
            <a:srgbClr val="EEF2F6"/>
          </a:solidFill>
          <a:ln/>
        </p:spPr>
        <p:txBody>
          <a:bodyPr/>
          <a:lstStyle/>
          <a:p>
            <a:endParaRPr lang="LID4096"/>
          </a:p>
        </p:txBody>
      </p:sp>
      <p:sp>
        <p:nvSpPr>
          <p:cNvPr id="43" name="Text 41"/>
          <p:cNvSpPr/>
          <p:nvPr/>
        </p:nvSpPr>
        <p:spPr>
          <a:xfrm>
            <a:off x="640080" y="4892040"/>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Urban Slums</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(better-off urban core)</a:t>
            </a:r>
            <a:endParaRPr lang="en-US" sz="1150" dirty="0"/>
          </a:p>
        </p:txBody>
      </p:sp>
      <p:sp>
        <p:nvSpPr>
          <p:cNvPr id="44" name="Text 42"/>
          <p:cNvSpPr/>
          <p:nvPr/>
        </p:nvSpPr>
        <p:spPr>
          <a:xfrm>
            <a:off x="2971800" y="4892040"/>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146</a:t>
            </a:r>
            <a:endParaRPr lang="en-US" sz="1150" dirty="0"/>
          </a:p>
        </p:txBody>
      </p:sp>
      <p:sp>
        <p:nvSpPr>
          <p:cNvPr id="45" name="Text 43"/>
          <p:cNvSpPr/>
          <p:nvPr/>
        </p:nvSpPr>
        <p:spPr>
          <a:xfrm>
            <a:off x="3566160" y="4892040"/>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80.9</a:t>
            </a:r>
            <a:endParaRPr lang="en-US" sz="1150" dirty="0"/>
          </a:p>
        </p:txBody>
      </p:sp>
      <p:sp>
        <p:nvSpPr>
          <p:cNvPr id="46" name="Text 44"/>
          <p:cNvSpPr/>
          <p:nvPr/>
        </p:nvSpPr>
        <p:spPr>
          <a:xfrm>
            <a:off x="4370832" y="4892040"/>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77.8</a:t>
            </a:r>
            <a:endParaRPr lang="en-US" sz="1150" dirty="0"/>
          </a:p>
        </p:txBody>
      </p:sp>
      <p:sp>
        <p:nvSpPr>
          <p:cNvPr id="47" name="Text 45"/>
          <p:cNvSpPr/>
          <p:nvPr/>
        </p:nvSpPr>
        <p:spPr>
          <a:xfrm>
            <a:off x="5376672" y="4892040"/>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11.0</a:t>
            </a:r>
            <a:endParaRPr lang="en-US" sz="1150" dirty="0"/>
          </a:p>
        </p:txBody>
      </p:sp>
      <p:sp>
        <p:nvSpPr>
          <p:cNvPr id="48" name="Text 46"/>
          <p:cNvSpPr/>
          <p:nvPr/>
        </p:nvSpPr>
        <p:spPr>
          <a:xfrm>
            <a:off x="6236208" y="4892040"/>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150,166</a:t>
            </a:r>
            <a:endParaRPr lang="en-US" sz="1150" dirty="0"/>
          </a:p>
        </p:txBody>
      </p:sp>
      <p:sp>
        <p:nvSpPr>
          <p:cNvPr id="49" name="Text 47"/>
          <p:cNvSpPr/>
          <p:nvPr/>
        </p:nvSpPr>
        <p:spPr>
          <a:xfrm>
            <a:off x="7315200" y="4892040"/>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Targeted social mobilization, a fixed-plus-outreach hybrid, and private-sector last-mile reach for immunization and antenatal care</a:t>
            </a:r>
            <a:endParaRPr lang="en-US" sz="1000" dirty="0"/>
          </a:p>
        </p:txBody>
      </p:sp>
      <p:sp>
        <p:nvSpPr>
          <p:cNvPr id="50" name="Shape 48"/>
          <p:cNvSpPr/>
          <p:nvPr/>
        </p:nvSpPr>
        <p:spPr>
          <a:xfrm>
            <a:off x="548640" y="5687568"/>
            <a:ext cx="11091672" cy="457200"/>
          </a:xfrm>
          <a:prstGeom prst="rect">
            <a:avLst/>
          </a:prstGeom>
          <a:solidFill>
            <a:srgbClr val="EEF2F6"/>
          </a:solidFill>
          <a:ln w="9525">
            <a:solidFill>
              <a:srgbClr val="D6DEE7"/>
            </a:solidFill>
            <a:prstDash val="solid"/>
          </a:ln>
        </p:spPr>
        <p:txBody>
          <a:bodyPr/>
          <a:lstStyle/>
          <a:p>
            <a:endParaRPr lang="LID4096"/>
          </a:p>
        </p:txBody>
      </p:sp>
      <p:sp>
        <p:nvSpPr>
          <p:cNvPr id="51" name="Text 49"/>
          <p:cNvSpPr/>
          <p:nvPr/>
        </p:nvSpPr>
        <p:spPr>
          <a:xfrm>
            <a:off x="694944" y="5687568"/>
            <a:ext cx="10799064" cy="457200"/>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The full list. </a:t>
            </a:r>
            <a:r>
              <a:rPr lang="en-US" sz="1150" dirty="0">
                <a:solidFill>
                  <a:srgbClr val="22333F"/>
                </a:solidFill>
                <a:latin typeface="Arial" pitchFamily="34" charset="0"/>
                <a:ea typeface="Arial" pitchFamily="34" charset="-122"/>
                <a:cs typeface="Arial" pitchFamily="34" charset="-120"/>
              </a:rPr>
              <a:t>All 774 local government areas are ranked worst-to-best by modelled zero-dose burden in the operational workbook, each carrying its archetype, antenatal care and facility-delivery figures, and the matched package, ready for microplanning.</a:t>
            </a:r>
            <a:endParaRPr lang="en-US" sz="1150" dirty="0"/>
          </a:p>
        </p:txBody>
      </p:sp>
      <p:sp>
        <p:nvSpPr>
          <p:cNvPr id="52" name="Text 50"/>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and the RMNCH-EPI operational workbook (IHME and DHS antenatal-care and facility-delivery covariates; modelled zero-dose). BHCPF = Basic Health Care Provision Fund. Facility-level primary health care lists and facility density are not included; those need a GRID3 or National Health Facility Registry dataset.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Where is polio-detection risk highest?</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cluster on the north-east border, and six states that have not yet reached the three-year mark.</a:t>
            </a:r>
            <a:endParaRPr lang="en-US" sz="1800" dirty="0"/>
          </a:p>
        </p:txBody>
      </p:sp>
      <p:pic>
        <p:nvPicPr>
          <p:cNvPr id="4" name="Image 0" descr="/home/claude/d1/ppt/media/image18.png"/>
          <p:cNvPicPr>
            <a:picLocks noChangeAspect="1"/>
          </p:cNvPicPr>
          <p:nvPr/>
        </p:nvPicPr>
        <p:blipFill>
          <a:blip r:embed="rId3"/>
          <a:stretch>
            <a:fillRect/>
          </a:stretch>
        </p:blipFill>
        <p:spPr>
          <a:xfrm>
            <a:off x="33623" y="1296636"/>
            <a:ext cx="5343049" cy="4498847"/>
          </a:xfrm>
          <a:prstGeom prst="rect">
            <a:avLst/>
          </a:prstGeom>
        </p:spPr>
      </p:pic>
      <p:sp>
        <p:nvSpPr>
          <p:cNvPr id="5" name="Shape 2"/>
          <p:cNvSpPr/>
          <p:nvPr/>
        </p:nvSpPr>
        <p:spPr>
          <a:xfrm>
            <a:off x="5577840" y="1495044"/>
            <a:ext cx="606247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5779008" y="1641348"/>
            <a:ext cx="566013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RR = 10.5</a:t>
            </a:r>
            <a:endParaRPr lang="en-US" sz="4600" dirty="0"/>
          </a:p>
        </p:txBody>
      </p:sp>
      <p:sp>
        <p:nvSpPr>
          <p:cNvPr id="7" name="Text 4"/>
          <p:cNvSpPr/>
          <p:nvPr/>
        </p:nvSpPr>
        <p:spPr>
          <a:xfrm>
            <a:off x="5779008" y="2407158"/>
            <a:ext cx="566013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highlighted border area needs closer surveillance and response</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5577840" y="3280410"/>
            <a:ext cx="606247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Meaning: </a:t>
            </a:r>
            <a:r>
              <a:rPr lang="en-US" sz="1800" dirty="0">
                <a:solidFill>
                  <a:srgbClr val="1F3B57"/>
                </a:solidFill>
                <a:latin typeface="Arial" pitchFamily="34" charset="0"/>
                <a:ea typeface="Arial" pitchFamily="34" charset="-122"/>
                <a:cs typeface="Arial" pitchFamily="34" charset="-120"/>
              </a:rPr>
              <a:t>the highlighted area should remain a priority for surveillance, investigation and response.</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5577840" y="4070909"/>
            <a:ext cx="606247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Programme meaning: </a:t>
            </a:r>
            <a:r>
              <a:rPr lang="en-US" sz="1800" dirty="0">
                <a:solidFill>
                  <a:srgbClr val="1F3B57"/>
                </a:solidFill>
                <a:latin typeface="Arial" pitchFamily="34" charset="0"/>
                <a:ea typeface="Arial" pitchFamily="34" charset="-122"/>
                <a:cs typeface="Arial" pitchFamily="34" charset="-120"/>
              </a:rPr>
              <a:t>Taraba, Kogi, Adamawa, Borno, Gombe and Kano require continued attention.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0" name="Text 7"/>
          <p:cNvSpPr/>
          <p:nvPr/>
        </p:nvSpPr>
        <p:spPr>
          <a:xfrm>
            <a:off x="5577840" y="5040972"/>
            <a:ext cx="6062472" cy="952919"/>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Action: </a:t>
            </a:r>
            <a:r>
              <a:rPr lang="en-US" sz="1800" dirty="0">
                <a:solidFill>
                  <a:srgbClr val="1F3B57"/>
                </a:solidFill>
                <a:latin typeface="Arial" pitchFamily="34" charset="0"/>
                <a:ea typeface="Arial" pitchFamily="34" charset="-122"/>
                <a:cs typeface="Arial" pitchFamily="34" charset="-120"/>
              </a:rPr>
              <a:t>maintain strong campaign quality, AFP surveillance, environmental surveillance and timely investigation.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6 spatial scan on the national acute flaccid paralysis line list (about 103,000 records, 2015 to 2025); survival analysis against the WHO three-year certification rule.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7: outbreak risk and the link to child deaths</a:t>
            </a:r>
            <a:endParaRPr lang="en-US" sz="3200" dirty="0"/>
          </a:p>
        </p:txBody>
      </p:sp>
      <p:sp>
        <p:nvSpPr>
          <p:cNvPr id="3" name="Text 1"/>
          <p:cNvSpPr/>
          <p:nvPr/>
        </p:nvSpPr>
        <p:spPr>
          <a:xfrm>
            <a:off x="548640" y="68401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Places with lower vaccination coverage also show higher risk of child deaths from vaccine-preventable diseases.</a:t>
            </a:r>
          </a:p>
          <a:p>
            <a:pPr marL="0" indent="0">
              <a:buNone/>
            </a:pPr>
            <a:endParaRPr lang="en-US" sz="1800" dirty="0">
              <a:solidFill>
                <a:srgbClr val="45596B"/>
              </a:solidFill>
              <a:latin typeface="Arial" pitchFamily="34" charset="0"/>
              <a:ea typeface="Arial" pitchFamily="34" charset="-122"/>
              <a:cs typeface="Arial" pitchFamily="34" charset="-120"/>
            </a:endParaRPr>
          </a:p>
        </p:txBody>
      </p:sp>
      <p:pic>
        <p:nvPicPr>
          <p:cNvPr id="4" name="Image 0" descr="/home/claude/d1/ppt/media/image22.png"/>
          <p:cNvPicPr>
            <a:picLocks noChangeAspect="1"/>
          </p:cNvPicPr>
          <p:nvPr/>
        </p:nvPicPr>
        <p:blipFill>
          <a:blip r:embed="rId3"/>
          <a:stretch>
            <a:fillRect/>
          </a:stretch>
        </p:blipFill>
        <p:spPr>
          <a:xfrm>
            <a:off x="548640" y="1227582"/>
            <a:ext cx="6355080" cy="3310128"/>
          </a:xfrm>
          <a:prstGeom prst="rect">
            <a:avLst/>
          </a:prstGeom>
        </p:spPr>
      </p:pic>
      <p:sp>
        <p:nvSpPr>
          <p:cNvPr id="5" name="Shape 2"/>
          <p:cNvSpPr/>
          <p:nvPr/>
        </p:nvSpPr>
        <p:spPr>
          <a:xfrm>
            <a:off x="7498080" y="1227582"/>
            <a:ext cx="4142232" cy="1924812"/>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99248" y="1373886"/>
            <a:ext cx="3739896" cy="729234"/>
          </a:xfrm>
          <a:prstGeom prst="rect">
            <a:avLst/>
          </a:prstGeom>
          <a:noFill/>
          <a:ln/>
        </p:spPr>
        <p:txBody>
          <a:bodyPr wrap="square" lIns="0" tIns="0" rIns="0" bIns="0" rtlCol="0" anchor="t"/>
          <a:lstStyle/>
          <a:p>
            <a:pPr marL="0" indent="0">
              <a:buNone/>
            </a:pPr>
            <a:r>
              <a:rPr lang="en-US" sz="4600" b="1" dirty="0">
                <a:solidFill>
                  <a:srgbClr val="1C7A3D"/>
                </a:solidFill>
                <a:latin typeface="Arial" pitchFamily="34" charset="0"/>
                <a:ea typeface="Arial" pitchFamily="34" charset="-122"/>
                <a:cs typeface="Arial" pitchFamily="34" charset="-120"/>
              </a:rPr>
              <a:t>7 of 8</a:t>
            </a:r>
            <a:endParaRPr lang="en-US" sz="4600" dirty="0"/>
          </a:p>
        </p:txBody>
      </p:sp>
      <p:sp>
        <p:nvSpPr>
          <p:cNvPr id="7" name="Text 4"/>
          <p:cNvSpPr/>
          <p:nvPr/>
        </p:nvSpPr>
        <p:spPr>
          <a:xfrm>
            <a:off x="7699248" y="2139696"/>
            <a:ext cx="373989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pre-specified coverage-to-mortality links hold after correction for multiple testing</a:t>
            </a:r>
            <a:endParaRPr lang="en-US" sz="1800" dirty="0"/>
          </a:p>
        </p:txBody>
      </p:sp>
      <p:sp>
        <p:nvSpPr>
          <p:cNvPr id="8" name="Text 5"/>
          <p:cNvSpPr/>
          <p:nvPr/>
        </p:nvSpPr>
        <p:spPr>
          <a:xfrm>
            <a:off x="7498080" y="3280410"/>
            <a:ext cx="4142232" cy="201156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Strongest for measles. </a:t>
            </a:r>
            <a:r>
              <a:rPr lang="en-US" sz="1800" dirty="0">
                <a:solidFill>
                  <a:srgbClr val="22333F"/>
                </a:solidFill>
                <a:latin typeface="Arial" pitchFamily="34" charset="0"/>
                <a:ea typeface="Arial" pitchFamily="34" charset="-122"/>
                <a:cs typeface="Arial" pitchFamily="34" charset="-120"/>
              </a:rPr>
              <a:t>The strongest link was for measles. Improving measles coverage in high-risk areas can protect more children.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9" name="Shape 6"/>
          <p:cNvSpPr/>
          <p:nvPr/>
        </p:nvSpPr>
        <p:spPr>
          <a:xfrm>
            <a:off x="548640" y="4592574"/>
            <a:ext cx="6766560" cy="1443380"/>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4729734"/>
            <a:ext cx="636422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it matters: </a:t>
            </a:r>
            <a:r>
              <a:rPr lang="en-US" sz="1800" dirty="0">
                <a:solidFill>
                  <a:srgbClr val="1F3B57"/>
                </a:solidFill>
                <a:latin typeface="Arial" pitchFamily="34" charset="0"/>
                <a:ea typeface="Arial" pitchFamily="34" charset="-122"/>
                <a:cs typeface="Arial" pitchFamily="34" charset="-120"/>
              </a:rPr>
              <a:t>reaching missed children is not just about percentages; it is about preventing illness and death.</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7, eight pre-specified false-discovery-rate-corrected tests against IHME Global Burden of Disease 2023 cause fractions, a validated proxy while the national surveillance line-lists are pending.</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state level</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against out-of-sample data. The NmDHS 2025-26 survey was released after this work concluded.</a:t>
            </a:r>
            <a:endParaRPr lang="en-US" sz="1800" dirty="0"/>
          </a:p>
        </p:txBody>
      </p:sp>
      <p:pic>
        <p:nvPicPr>
          <p:cNvPr id="4" name="Image 0" descr="/home/claude/d3/ppt/media/image5.png"/>
          <p:cNvPicPr>
            <a:picLocks noChangeAspect="1"/>
          </p:cNvPicPr>
          <p:nvPr/>
        </p:nvPicPr>
        <p:blipFill>
          <a:blip r:embed="rId3"/>
          <a:stretch>
            <a:fillRect/>
          </a:stretch>
        </p:blipFill>
        <p:spPr>
          <a:xfrm>
            <a:off x="548640" y="1495044"/>
            <a:ext cx="5852160" cy="3291840"/>
          </a:xfrm>
          <a:prstGeom prst="rect">
            <a:avLst/>
          </a:prstGeom>
        </p:spPr>
      </p:pic>
      <p:sp>
        <p:nvSpPr>
          <p:cNvPr id="5" name="Shape 2"/>
          <p:cNvSpPr/>
          <p:nvPr/>
        </p:nvSpPr>
        <p:spPr>
          <a:xfrm>
            <a:off x="7406640" y="1495044"/>
            <a:ext cx="423367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07808" y="1641348"/>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0.88</a:t>
            </a:r>
            <a:endParaRPr lang="en-US" sz="4000" dirty="0"/>
          </a:p>
        </p:txBody>
      </p:sp>
      <p:sp>
        <p:nvSpPr>
          <p:cNvPr id="7" name="Text 4"/>
          <p:cNvSpPr/>
          <p:nvPr/>
        </p:nvSpPr>
        <p:spPr>
          <a:xfrm>
            <a:off x="7607808" y="2318004"/>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forecast and the new survey rank the 37 states in almost the same order.</a:t>
            </a:r>
            <a:endParaRPr lang="en-US" sz="1800" dirty="0"/>
          </a:p>
        </p:txBody>
      </p:sp>
      <p:sp>
        <p:nvSpPr>
          <p:cNvPr id="8" name="Shape 5"/>
          <p:cNvSpPr/>
          <p:nvPr/>
        </p:nvSpPr>
        <p:spPr>
          <a:xfrm>
            <a:off x="7406640" y="3458718"/>
            <a:ext cx="4233672" cy="1835658"/>
          </a:xfrm>
          <a:prstGeom prst="rect">
            <a:avLst/>
          </a:prstGeom>
          <a:solidFill>
            <a:srgbClr val="E7F1EB"/>
          </a:solidFill>
          <a:ln w="9525">
            <a:solidFill>
              <a:srgbClr val="C9D6E2"/>
            </a:solidFill>
            <a:prstDash val="solid"/>
          </a:ln>
        </p:spPr>
        <p:txBody>
          <a:bodyPr/>
          <a:lstStyle/>
          <a:p>
            <a:endParaRPr lang="LID4096"/>
          </a:p>
        </p:txBody>
      </p:sp>
      <p:sp>
        <p:nvSpPr>
          <p:cNvPr id="9" name="Text 6"/>
          <p:cNvSpPr/>
          <p:nvPr/>
        </p:nvSpPr>
        <p:spPr>
          <a:xfrm>
            <a:off x="7607808" y="3605022"/>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48% vs 49%</a:t>
            </a:r>
            <a:endParaRPr lang="en-US" sz="4000" dirty="0"/>
          </a:p>
        </p:txBody>
      </p:sp>
      <p:sp>
        <p:nvSpPr>
          <p:cNvPr id="10" name="Text 7"/>
          <p:cNvSpPr/>
          <p:nvPr/>
        </p:nvSpPr>
        <p:spPr>
          <a:xfrm>
            <a:off x="7607808" y="4281678"/>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North-West forecast against the new survey - within one point</a:t>
            </a:r>
            <a:endParaRPr lang="en-US" sz="1800" dirty="0"/>
          </a:p>
        </p:txBody>
      </p:sp>
      <p:sp>
        <p:nvSpPr>
          <p:cNvPr id="11" name="Text 8"/>
          <p:cNvSpPr/>
          <p:nvPr/>
        </p:nvSpPr>
        <p:spPr>
          <a:xfrm>
            <a:off x="7406640" y="5422392"/>
            <a:ext cx="4233672" cy="607390"/>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pattern also matched independent child-death data.</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
        <p:nvSpPr>
          <p:cNvPr id="12" name="Shape 9"/>
          <p:cNvSpPr/>
          <p:nvPr/>
        </p:nvSpPr>
        <p:spPr>
          <a:xfrm>
            <a:off x="548640" y="4878324"/>
            <a:ext cx="6309360" cy="1162545"/>
          </a:xfrm>
          <a:prstGeom prst="rect">
            <a:avLst/>
          </a:prstGeom>
          <a:solidFill>
            <a:srgbClr val="EEF2F6"/>
          </a:solidFill>
          <a:ln w="9525">
            <a:solidFill>
              <a:srgbClr val="C9D6E2"/>
            </a:solidFill>
            <a:prstDash val="solid"/>
          </a:ln>
        </p:spPr>
        <p:txBody>
          <a:bodyPr/>
          <a:lstStyle/>
          <a:p>
            <a:endParaRPr lang="LID4096"/>
          </a:p>
        </p:txBody>
      </p:sp>
      <p:sp>
        <p:nvSpPr>
          <p:cNvPr id="13" name="Text 10"/>
          <p:cNvSpPr/>
          <p:nvPr/>
        </p:nvSpPr>
        <p:spPr>
          <a:xfrm>
            <a:off x="749808" y="5015484"/>
            <a:ext cx="590702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this is the strongest evidence. </a:t>
            </a:r>
            <a:r>
              <a:rPr lang="en-US" sz="1800" dirty="0">
                <a:solidFill>
                  <a:srgbClr val="22333F"/>
                </a:solidFill>
                <a:latin typeface="Arial" pitchFamily="34" charset="0"/>
                <a:ea typeface="Arial" pitchFamily="34" charset="-122"/>
                <a:cs typeface="Arial" pitchFamily="34" charset="-120"/>
              </a:rPr>
              <a:t>The NmDHS 2025-26 did not exist when the model was built - a true out-of-sample test.</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rho = Spearman rank correlation, where 1.00 is a perfect match of the ordering. Sources: Nigeria mini Demographic and Health Survey (NmDHS) 2025-26; consortium forecast; IHME Global Burden of Disease 2023. Out-of-sample check.</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local-government level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Independent data, built another way, puts the same areas in the same order.</a:t>
            </a:r>
            <a:endParaRPr lang="en-US" sz="1800" dirty="0"/>
          </a:p>
        </p:txBody>
      </p:sp>
      <p:pic>
        <p:nvPicPr>
          <p:cNvPr id="4" name="Image 0" descr="/mnt/user-data/uploads/1784265186003_image.png"/>
          <p:cNvPicPr>
            <a:picLocks noChangeAspect="1"/>
          </p:cNvPicPr>
          <p:nvPr/>
        </p:nvPicPr>
        <p:blipFill>
          <a:blip r:embed="rId3"/>
          <a:stretch>
            <a:fillRect/>
          </a:stretch>
        </p:blipFill>
        <p:spPr>
          <a:xfrm>
            <a:off x="548640" y="1227582"/>
            <a:ext cx="6949440" cy="3904488"/>
          </a:xfrm>
          <a:prstGeom prst="rect">
            <a:avLst/>
          </a:prstGeom>
        </p:spPr>
      </p:pic>
      <p:sp>
        <p:nvSpPr>
          <p:cNvPr id="5" name="Shape 2"/>
          <p:cNvSpPr/>
          <p:nvPr/>
        </p:nvSpPr>
        <p:spPr>
          <a:xfrm>
            <a:off x="7680960" y="1227582"/>
            <a:ext cx="395935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882128" y="1373886"/>
            <a:ext cx="355701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0.60</a:t>
            </a:r>
            <a:endParaRPr lang="en-US" sz="4000" dirty="0"/>
          </a:p>
        </p:txBody>
      </p:sp>
      <p:sp>
        <p:nvSpPr>
          <p:cNvPr id="7" name="Text 4"/>
          <p:cNvSpPr/>
          <p:nvPr/>
        </p:nvSpPr>
        <p:spPr>
          <a:xfrm>
            <a:off x="7882128" y="2050542"/>
            <a:ext cx="355701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LGA ranking and the independent map show similar priority patterns.</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7680960" y="3191256"/>
            <a:ext cx="3959352"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Most LGAs were placed in the same or nearby priority group. Only 44 were far apart and should be reviewed.</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7680960" y="4741736"/>
            <a:ext cx="395935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the levels differ. </a:t>
            </a:r>
            <a:r>
              <a:rPr lang="en-US" sz="1800" dirty="0">
                <a:solidFill>
                  <a:srgbClr val="22333F"/>
                </a:solidFill>
                <a:latin typeface="Arial" pitchFamily="34" charset="0"/>
                <a:ea typeface="Arial" pitchFamily="34" charset="-122"/>
                <a:cs typeface="Arial" pitchFamily="34" charset="-120"/>
              </a:rPr>
              <a:t>The IHME surface ends in 2018 and ours is for 2026. Eight years shift the levels, but the geography still agrees.</a:t>
            </a:r>
            <a:endParaRPr lang="en-US" sz="1800" dirty="0"/>
          </a:p>
        </p:txBody>
      </p:sp>
      <p:sp>
        <p:nvSpPr>
          <p:cNvPr id="10" name="Text 7"/>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our Bayesian local-government estimate as DTP1 coverage (100 minus zero-dose), against the IHME Local Burden of Disease DTP1 admin-2 surface, 2000 to 2018. rho = Spearman rank correlation, 730 matched areas.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How the RI team uses this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output maps to a decision the programme already makes.</a:t>
            </a:r>
            <a:endParaRPr lang="en-US" sz="1800" dirty="0"/>
          </a:p>
        </p:txBody>
      </p:sp>
      <p:pic>
        <p:nvPicPr>
          <p:cNvPr id="4" name="Image 0" descr="/home/claude/d1/ppt/media/image16.png"/>
          <p:cNvPicPr>
            <a:picLocks noChangeAspect="1"/>
          </p:cNvPicPr>
          <p:nvPr/>
        </p:nvPicPr>
        <p:blipFill>
          <a:blip r:embed="rId3"/>
          <a:stretch>
            <a:fillRect/>
          </a:stretch>
        </p:blipFill>
        <p:spPr>
          <a:xfrm>
            <a:off x="6675120" y="1227582"/>
            <a:ext cx="4965192" cy="2194560"/>
          </a:xfrm>
          <a:prstGeom prst="rect">
            <a:avLst/>
          </a:prstGeom>
        </p:spPr>
      </p:pic>
      <p:sp>
        <p:nvSpPr>
          <p:cNvPr id="5" name="Text 2"/>
          <p:cNvSpPr/>
          <p:nvPr/>
        </p:nvSpPr>
        <p:spPr>
          <a:xfrm>
            <a:off x="6675120" y="3424374"/>
            <a:ext cx="4965192" cy="888225"/>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The tool ranks LGAs by estimated missed children and shows how much of the burden each group contains.</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6" name="Shape 3"/>
          <p:cNvSpPr/>
          <p:nvPr/>
        </p:nvSpPr>
        <p:spPr>
          <a:xfrm>
            <a:off x="548640" y="1245870"/>
            <a:ext cx="384048" cy="384048"/>
          </a:xfrm>
          <a:prstGeom prst="ellipse">
            <a:avLst/>
          </a:prstGeom>
          <a:solidFill>
            <a:srgbClr val="1F3B57"/>
          </a:solidFill>
          <a:ln/>
        </p:spPr>
        <p:txBody>
          <a:bodyPr/>
          <a:lstStyle/>
          <a:p>
            <a:endParaRPr lang="LID4096"/>
          </a:p>
        </p:txBody>
      </p:sp>
      <p:sp>
        <p:nvSpPr>
          <p:cNvPr id="7" name="Text 4"/>
          <p:cNvSpPr/>
          <p:nvPr/>
        </p:nvSpPr>
        <p:spPr>
          <a:xfrm>
            <a:off x="548640" y="124587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p:nvPr/>
        </p:nvSpPr>
        <p:spPr>
          <a:xfrm>
            <a:off x="1078992" y="1227582"/>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Microplanning</a:t>
            </a:r>
            <a:endParaRPr lang="en-US" sz="1800" dirty="0"/>
          </a:p>
        </p:txBody>
      </p:sp>
      <p:sp>
        <p:nvSpPr>
          <p:cNvPr id="9" name="Text 6"/>
          <p:cNvSpPr/>
          <p:nvPr/>
        </p:nvSpPr>
        <p:spPr>
          <a:xfrm>
            <a:off x="1078992" y="1538478"/>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priority list and vaccine-risk calendar in annual RI workplans.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7"/>
          <p:cNvSpPr/>
          <p:nvPr/>
        </p:nvSpPr>
        <p:spPr>
          <a:xfrm>
            <a:off x="548640" y="2338578"/>
            <a:ext cx="384048" cy="384048"/>
          </a:xfrm>
          <a:prstGeom prst="ellipse">
            <a:avLst/>
          </a:prstGeom>
          <a:solidFill>
            <a:srgbClr val="1F3B57"/>
          </a:solidFill>
          <a:ln/>
        </p:spPr>
        <p:txBody>
          <a:bodyPr/>
          <a:lstStyle/>
          <a:p>
            <a:endParaRPr lang="LID4096"/>
          </a:p>
        </p:txBody>
      </p:sp>
      <p:sp>
        <p:nvSpPr>
          <p:cNvPr id="11" name="Text 8"/>
          <p:cNvSpPr/>
          <p:nvPr/>
        </p:nvSpPr>
        <p:spPr>
          <a:xfrm>
            <a:off x="548640" y="233857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9"/>
          <p:cNvSpPr/>
          <p:nvPr/>
        </p:nvSpPr>
        <p:spPr>
          <a:xfrm>
            <a:off x="1078992" y="232029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Archetype-matched bundles</a:t>
            </a:r>
            <a:endParaRPr lang="en-US" sz="1800" dirty="0"/>
          </a:p>
        </p:txBody>
      </p:sp>
      <p:sp>
        <p:nvSpPr>
          <p:cNvPr id="13" name="Text 10"/>
          <p:cNvSpPr/>
          <p:nvPr/>
        </p:nvSpPr>
        <p:spPr>
          <a:xfrm>
            <a:off x="1078992" y="263118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right package for each community type.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1"/>
          <p:cNvSpPr/>
          <p:nvPr/>
        </p:nvSpPr>
        <p:spPr>
          <a:xfrm>
            <a:off x="548640" y="3698748"/>
            <a:ext cx="384048" cy="384048"/>
          </a:xfrm>
          <a:prstGeom prst="ellipse">
            <a:avLst/>
          </a:prstGeom>
          <a:solidFill>
            <a:srgbClr val="1F3B57"/>
          </a:solidFill>
          <a:ln/>
        </p:spPr>
        <p:txBody>
          <a:bodyPr/>
          <a:lstStyle/>
          <a:p>
            <a:endParaRPr lang="LID4096"/>
          </a:p>
        </p:txBody>
      </p:sp>
      <p:sp>
        <p:nvSpPr>
          <p:cNvPr id="15" name="Text 12"/>
          <p:cNvSpPr/>
          <p:nvPr/>
        </p:nvSpPr>
        <p:spPr>
          <a:xfrm>
            <a:off x="548640" y="369874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3"/>
          <p:cNvSpPr/>
          <p:nvPr/>
        </p:nvSpPr>
        <p:spPr>
          <a:xfrm>
            <a:off x="1078992" y="368046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Campaign and supervision routing</a:t>
            </a:r>
            <a:endParaRPr lang="en-US" sz="1800" dirty="0"/>
          </a:p>
        </p:txBody>
      </p:sp>
      <p:sp>
        <p:nvSpPr>
          <p:cNvPr id="17" name="Text 14"/>
          <p:cNvSpPr/>
          <p:nvPr/>
        </p:nvSpPr>
        <p:spPr>
          <a:xfrm>
            <a:off x="1078992" y="399135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hotspot and burden ranking to choose campaign areas and supervision routes.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5"/>
          <p:cNvSpPr/>
          <p:nvPr/>
        </p:nvSpPr>
        <p:spPr>
          <a:xfrm>
            <a:off x="548640" y="5058918"/>
            <a:ext cx="384048" cy="384048"/>
          </a:xfrm>
          <a:prstGeom prst="ellipse">
            <a:avLst/>
          </a:prstGeom>
          <a:solidFill>
            <a:srgbClr val="1F3B57"/>
          </a:solidFill>
          <a:ln/>
        </p:spPr>
        <p:txBody>
          <a:bodyPr/>
          <a:lstStyle/>
          <a:p>
            <a:endParaRPr lang="LID4096"/>
          </a:p>
        </p:txBody>
      </p:sp>
      <p:sp>
        <p:nvSpPr>
          <p:cNvPr id="19" name="Text 16"/>
          <p:cNvSpPr/>
          <p:nvPr/>
        </p:nvSpPr>
        <p:spPr>
          <a:xfrm>
            <a:off x="548640" y="505891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7"/>
          <p:cNvSpPr/>
          <p:nvPr/>
        </p:nvSpPr>
        <p:spPr>
          <a:xfrm>
            <a:off x="1078992" y="504063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Leverage beyond immunization</a:t>
            </a:r>
            <a:endParaRPr lang="en-US" sz="1800" dirty="0"/>
          </a:p>
        </p:txBody>
      </p:sp>
      <p:sp>
        <p:nvSpPr>
          <p:cNvPr id="21" name="Text 18"/>
          <p:cNvSpPr/>
          <p:nvPr/>
        </p:nvSpPr>
        <p:spPr>
          <a:xfrm>
            <a:off x="1078992" y="5351526"/>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Many high-risk places also need nutrition and antenatal-care support; one visit can deliver several services.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Shape 19"/>
          <p:cNvSpPr/>
          <p:nvPr/>
        </p:nvSpPr>
        <p:spPr>
          <a:xfrm>
            <a:off x="6675120" y="4336542"/>
            <a:ext cx="4965192" cy="1724216"/>
          </a:xfrm>
          <a:prstGeom prst="rect">
            <a:avLst/>
          </a:prstGeom>
          <a:solidFill>
            <a:srgbClr val="E7F1EB"/>
          </a:solidFill>
          <a:ln w="9525">
            <a:solidFill>
              <a:srgbClr val="C9D6E2"/>
            </a:solidFill>
            <a:prstDash val="solid"/>
          </a:ln>
        </p:spPr>
        <p:txBody>
          <a:bodyPr/>
          <a:lstStyle/>
          <a:p>
            <a:endParaRPr lang="LID4096"/>
          </a:p>
        </p:txBody>
      </p:sp>
      <p:sp>
        <p:nvSpPr>
          <p:cNvPr id="23" name="Text 20"/>
          <p:cNvSpPr/>
          <p:nvPr/>
        </p:nvSpPr>
        <p:spPr>
          <a:xfrm>
            <a:off x="6876288" y="4473702"/>
            <a:ext cx="456285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Sequencing the money. </a:t>
            </a:r>
            <a:r>
              <a:rPr lang="en-US" sz="1800" dirty="0">
                <a:solidFill>
                  <a:srgbClr val="22333F"/>
                </a:solidFill>
                <a:latin typeface="Arial" pitchFamily="34" charset="0"/>
                <a:ea typeface="Arial" pitchFamily="34" charset="-122"/>
                <a:cs typeface="Arial" pitchFamily="34" charset="-120"/>
              </a:rPr>
              <a:t>start with about 150 LGAs to reach roughly 62% of missed children, then expand toward 270 LGAs to reach about 80%.</a:t>
            </a:r>
            <a:endParaRPr lang="en-US" sz="1800" dirty="0"/>
          </a:p>
        </p:txBody>
      </p:sp>
      <p:sp>
        <p:nvSpPr>
          <p:cNvPr id="24" name="Text 2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local-government ranking and Pareto curve (730 reporting local government areas; national total 2.08 million).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platform: a live tool, not a static report</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no-code web application that re-runs every model on uploaded data.</a:t>
            </a:r>
            <a:endParaRPr lang="en-US" sz="1800" dirty="0"/>
          </a:p>
        </p:txBody>
      </p:sp>
      <p:sp>
        <p:nvSpPr>
          <p:cNvPr id="4" name="Shape 2"/>
          <p:cNvSpPr/>
          <p:nvPr/>
        </p:nvSpPr>
        <p:spPr>
          <a:xfrm>
            <a:off x="54864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49808" y="1392174"/>
            <a:ext cx="3191256" cy="342900"/>
          </a:xfrm>
          <a:prstGeom prst="rect">
            <a:avLst/>
          </a:prstGeom>
          <a:noFill/>
          <a:ln/>
        </p:spPr>
        <p:txBody>
          <a:bodyPr wrap="square" lIns="0" tIns="0" rIns="0" bIns="0" rtlCol="0" anchor="t"/>
          <a:lstStyle/>
          <a:p>
            <a:pPr marL="0" indent="0">
              <a:lnSpc>
                <a:spcPct val="100000"/>
              </a:lnSpc>
              <a:buNone/>
            </a:pPr>
            <a:r>
              <a:rPr lang="en-US" sz="2000" b="1" dirty="0">
                <a:solidFill>
                  <a:srgbClr val="1F3B57"/>
                </a:solidFill>
                <a:latin typeface="Arial" pitchFamily="34" charset="0"/>
                <a:ea typeface="Arial" pitchFamily="34" charset="-122"/>
                <a:cs typeface="Arial" pitchFamily="34" charset="-120"/>
              </a:rPr>
              <a:t>Live, no-code re-runs</a:t>
            </a:r>
            <a:endParaRPr lang="en-US" sz="2000" dirty="0"/>
          </a:p>
        </p:txBody>
      </p:sp>
      <p:sp>
        <p:nvSpPr>
          <p:cNvPr id="6" name="Text 4"/>
          <p:cNvSpPr/>
          <p:nvPr/>
        </p:nvSpPr>
        <p:spPr>
          <a:xfrm>
            <a:off x="749808" y="1826514"/>
            <a:ext cx="3191256" cy="1730731"/>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Upload new DHIS2 or survey files. The app checks the data and updates the results.</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Shape 5"/>
          <p:cNvSpPr/>
          <p:nvPr/>
        </p:nvSpPr>
        <p:spPr>
          <a:xfrm>
            <a:off x="429768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449884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2E6E8E"/>
                </a:solidFill>
                <a:latin typeface="Arial" pitchFamily="34" charset="0"/>
                <a:ea typeface="Arial" pitchFamily="34" charset="-122"/>
                <a:cs typeface="Arial" pitchFamily="34" charset="-120"/>
              </a:rPr>
              <a:t>The LGA Priority and Archetypes screen</a:t>
            </a:r>
            <a:endParaRPr lang="en-US" sz="2000" dirty="0"/>
          </a:p>
        </p:txBody>
      </p:sp>
      <p:sp>
        <p:nvSpPr>
          <p:cNvPr id="9" name="Text 7"/>
          <p:cNvSpPr/>
          <p:nvPr/>
        </p:nvSpPr>
        <p:spPr>
          <a:xfrm>
            <a:off x="449884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Filter by state or LGA to see vaccine risks, estimated missed children, rank and recommended response type. Results export to Excel.</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8"/>
          <p:cNvSpPr/>
          <p:nvPr/>
        </p:nvSpPr>
        <p:spPr>
          <a:xfrm>
            <a:off x="8046720" y="1227582"/>
            <a:ext cx="3593592" cy="3246120"/>
          </a:xfrm>
          <a:prstGeom prst="rect">
            <a:avLst/>
          </a:prstGeom>
          <a:solidFill>
            <a:srgbClr val="E7F1EB"/>
          </a:solidFill>
          <a:ln w="9525">
            <a:solidFill>
              <a:srgbClr val="C9D6E2"/>
            </a:solidFill>
            <a:prstDash val="solid"/>
          </a:ln>
        </p:spPr>
        <p:txBody>
          <a:bodyPr/>
          <a:lstStyle/>
          <a:p>
            <a:endParaRPr lang="LID4096"/>
          </a:p>
        </p:txBody>
      </p:sp>
      <p:sp>
        <p:nvSpPr>
          <p:cNvPr id="11" name="Text 9"/>
          <p:cNvSpPr/>
          <p:nvPr/>
        </p:nvSpPr>
        <p:spPr>
          <a:xfrm>
            <a:off x="824788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1C7A3D"/>
                </a:solidFill>
                <a:latin typeface="Arial" pitchFamily="34" charset="0"/>
                <a:ea typeface="Arial" pitchFamily="34" charset="-122"/>
                <a:cs typeface="Arial" pitchFamily="34" charset="-120"/>
              </a:rPr>
              <a:t>ZARA, the platform's analyst</a:t>
            </a:r>
            <a:endParaRPr lang="en-US" sz="2000" dirty="0"/>
          </a:p>
        </p:txBody>
      </p:sp>
      <p:sp>
        <p:nvSpPr>
          <p:cNvPr id="12" name="Text 10"/>
          <p:cNvSpPr/>
          <p:nvPr/>
        </p:nvSpPr>
        <p:spPr>
          <a:xfrm>
            <a:off x="824788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Zero-dose Analytics and Risk Assistant: ZARA answers simple questions in English, Hausa, Yoruba, Igbo, Pidgin and more, using only the results in the platform.</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13" name="Shape 11"/>
          <p:cNvSpPr/>
          <p:nvPr/>
        </p:nvSpPr>
        <p:spPr>
          <a:xfrm>
            <a:off x="548640" y="4601718"/>
            <a:ext cx="11091672" cy="1681124"/>
          </a:xfrm>
          <a:prstGeom prst="rect">
            <a:avLst/>
          </a:prstGeom>
          <a:solidFill>
            <a:srgbClr val="1F3B57"/>
          </a:solidFill>
          <a:ln/>
        </p:spPr>
        <p:txBody>
          <a:bodyPr/>
          <a:lstStyle/>
          <a:p>
            <a:endParaRPr lang="LID4096"/>
          </a:p>
        </p:txBody>
      </p:sp>
      <p:sp>
        <p:nvSpPr>
          <p:cNvPr id="14" name="Text 12"/>
          <p:cNvSpPr/>
          <p:nvPr/>
        </p:nvSpPr>
        <p:spPr>
          <a:xfrm>
            <a:off x="804672" y="4711446"/>
            <a:ext cx="5120640" cy="256032"/>
          </a:xfrm>
          <a:prstGeom prst="rect">
            <a:avLst/>
          </a:prstGeom>
          <a:noFill/>
          <a:ln/>
        </p:spPr>
        <p:txBody>
          <a:bodyPr wrap="square" lIns="0" tIns="0" rIns="0" bIns="0" rtlCol="0" anchor="t"/>
          <a:lstStyle/>
          <a:p>
            <a:pPr marL="0" indent="0">
              <a:buNone/>
            </a:pPr>
            <a:r>
              <a:rPr lang="en-US" sz="1800" b="1" dirty="0">
                <a:solidFill>
                  <a:srgbClr val="9BB8D6"/>
                </a:solidFill>
                <a:latin typeface="Arial" pitchFamily="34" charset="0"/>
                <a:ea typeface="Arial" pitchFamily="34" charset="-122"/>
                <a:cs typeface="Arial" pitchFamily="34" charset="-120"/>
              </a:rPr>
              <a:t>Guardrails, on every view</a:t>
            </a:r>
            <a:endParaRPr lang="en-US" sz="1800" dirty="0"/>
          </a:p>
        </p:txBody>
      </p:sp>
      <p:sp>
        <p:nvSpPr>
          <p:cNvPr id="15" name="Text 13"/>
          <p:cNvSpPr/>
          <p:nvPr/>
        </p:nvSpPr>
        <p:spPr>
          <a:xfrm>
            <a:off x="804672" y="5004054"/>
            <a:ext cx="10579608" cy="1169060"/>
          </a:xfrm>
          <a:prstGeom prst="rect">
            <a:avLst/>
          </a:prstGeom>
          <a:noFill/>
          <a:ln/>
        </p:spPr>
        <p:txBody>
          <a:bodyPr wrap="square" lIns="0" tIns="0" rIns="0" bIns="0" rtlCol="0" anchor="t"/>
          <a:lstStyle/>
          <a:p>
            <a:pPr marL="0" indent="0">
              <a:lnSpc>
                <a:spcPct val="105000"/>
              </a:lnSpc>
              <a:buNone/>
            </a:pPr>
            <a:r>
              <a:rPr lang="en-US" sz="1800" dirty="0">
                <a:solidFill>
                  <a:srgbClr val="FFFFFF"/>
                </a:solidFill>
                <a:latin typeface="Arial" pitchFamily="34" charset="0"/>
                <a:ea typeface="Arial" pitchFamily="34" charset="-122"/>
                <a:cs typeface="Arial" pitchFamily="34" charset="-120"/>
              </a:rPr>
              <a:t>Each result shows the data date, reporting completeness and whether it is an estimate. This helps users avoid misreading the figures.</a:t>
            </a:r>
          </a:p>
          <a:p>
            <a:pPr marL="0" indent="0">
              <a:lnSpc>
                <a:spcPct val="105000"/>
              </a:lnSpc>
              <a:buNone/>
            </a:pPr>
            <a:endParaRPr lang="en-US" sz="1800" dirty="0">
              <a:solidFill>
                <a:srgbClr val="FFFFFF"/>
              </a:solidFill>
              <a:latin typeface="Arial" pitchFamily="34" charset="0"/>
              <a:ea typeface="Arial" pitchFamily="34" charset="-122"/>
              <a:cs typeface="Arial" pitchFamily="34" charset="-120"/>
            </a:endParaRPr>
          </a:p>
        </p:txBody>
      </p:sp>
      <p:sp>
        <p:nvSpPr>
          <p:cNvPr id="16" name="Text 1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Live demonstration: huggingface.co/spaces/amobionovo/nphcda-zerodose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65760"/>
            <a:ext cx="11155680" cy="274320"/>
          </a:xfrm>
          <a:prstGeom prst="rect">
            <a:avLst/>
          </a:prstGeom>
          <a:noFill/>
        </p:spPr>
        <p:txBody>
          <a:bodyPr wrap="square" lIns="0" tIns="0" rIns="0" bIns="0" anchor="t">
            <a:spAutoFit/>
          </a:bodyPr>
          <a:lstStyle/>
          <a:p>
            <a:pPr algn="l">
              <a:spcBef>
                <a:spcPts val="0"/>
              </a:spcBef>
              <a:spcAft>
                <a:spcPts val="200"/>
              </a:spcAft>
            </a:pPr>
            <a:r>
              <a:rPr sz="1200" b="1">
                <a:solidFill>
                  <a:srgbClr val="C0392B"/>
                </a:solidFill>
                <a:latin typeface="Calibri"/>
              </a:rPr>
              <a:t>WHAT THE WEB PLATFORM ADDS</a:t>
            </a:r>
          </a:p>
        </p:txBody>
      </p:sp>
      <p:sp>
        <p:nvSpPr>
          <p:cNvPr id="3" name="TextBox 2"/>
          <p:cNvSpPr txBox="1"/>
          <p:nvPr/>
        </p:nvSpPr>
        <p:spPr>
          <a:xfrm>
            <a:off x="502920" y="640080"/>
            <a:ext cx="11155680" cy="868680"/>
          </a:xfrm>
          <a:prstGeom prst="rect">
            <a:avLst/>
          </a:prstGeom>
          <a:noFill/>
        </p:spPr>
        <p:txBody>
          <a:bodyPr wrap="square" lIns="0" tIns="0" rIns="0" bIns="0" anchor="t">
            <a:spAutoFit/>
          </a:bodyPr>
          <a:lstStyle/>
          <a:p>
            <a:pPr algn="l">
              <a:spcBef>
                <a:spcPts val="0"/>
              </a:spcBef>
              <a:spcAft>
                <a:spcPts val="200"/>
              </a:spcAft>
            </a:pPr>
            <a:r>
              <a:rPr sz="2300" b="1">
                <a:solidFill>
                  <a:srgbClr val="1F3B57"/>
                </a:solidFill>
                <a:latin typeface="Georgia"/>
              </a:rPr>
              <a:t>From notebooks to a live decision platform the DIH team can operate</a:t>
            </a:r>
          </a:p>
        </p:txBody>
      </p:sp>
      <p:sp>
        <p:nvSpPr>
          <p:cNvPr id="4" name="TextBox 3"/>
          <p:cNvSpPr txBox="1"/>
          <p:nvPr/>
        </p:nvSpPr>
        <p:spPr>
          <a:xfrm>
            <a:off x="502920" y="6455664"/>
            <a:ext cx="10424160" cy="274320"/>
          </a:xfrm>
          <a:prstGeom prst="rect">
            <a:avLst/>
          </a:prstGeom>
          <a:noFill/>
        </p:spPr>
        <p:txBody>
          <a:bodyPr wrap="square" lIns="0" tIns="0" rIns="0" bIns="0" anchor="t">
            <a:spAutoFit/>
          </a:bodyPr>
          <a:lstStyle/>
          <a:p>
            <a:pPr algn="l">
              <a:spcBef>
                <a:spcPts val="0"/>
              </a:spcBef>
              <a:spcAft>
                <a:spcPts val="200"/>
              </a:spcAft>
            </a:pPr>
            <a:r>
              <a:rPr sz="900" b="0">
                <a:solidFill>
                  <a:srgbClr val="6B7A88"/>
                </a:solidFill>
                <a:latin typeface="Calibri"/>
              </a:rPr>
              <a:t>CIDRE and Quantium Insights LLC  ·  In technical support of NPHCDA  ·  Confidential draft for GAVI and UNICEF review</a:t>
            </a:r>
          </a:p>
        </p:txBody>
      </p:sp>
      <p:sp>
        <p:nvSpPr>
          <p:cNvPr id="5" name="TextBox 4"/>
          <p:cNvSpPr txBox="1"/>
          <p:nvPr/>
        </p:nvSpPr>
        <p:spPr>
          <a:xfrm>
            <a:off x="11430000" y="6455664"/>
            <a:ext cx="502920" cy="274320"/>
          </a:xfrm>
          <a:prstGeom prst="rect">
            <a:avLst/>
          </a:prstGeom>
          <a:noFill/>
        </p:spPr>
        <p:txBody>
          <a:bodyPr wrap="square" lIns="0" tIns="0" rIns="0" bIns="0" anchor="t">
            <a:spAutoFit/>
          </a:bodyPr>
          <a:lstStyle/>
          <a:p>
            <a:pPr algn="r">
              <a:spcBef>
                <a:spcPts val="0"/>
              </a:spcBef>
              <a:spcAft>
                <a:spcPts val="200"/>
              </a:spcAft>
            </a:pPr>
            <a:r>
              <a:rPr sz="1000" b="0">
                <a:solidFill>
                  <a:srgbClr val="6B7A88"/>
                </a:solidFill>
                <a:latin typeface="Calibri"/>
              </a:rPr>
              <a:t>8</a:t>
            </a:r>
          </a:p>
        </p:txBody>
      </p:sp>
      <p:pic>
        <p:nvPicPr>
          <p:cNvPr id="6" name="Picture 5" descr="login_framed.png"/>
          <p:cNvPicPr>
            <a:picLocks noChangeAspect="1"/>
          </p:cNvPicPr>
          <p:nvPr/>
        </p:nvPicPr>
        <p:blipFill>
          <a:blip r:embed="rId2"/>
          <a:stretch>
            <a:fillRect/>
          </a:stretch>
        </p:blipFill>
        <p:spPr>
          <a:xfrm>
            <a:off x="274320" y="1874519"/>
            <a:ext cx="6446520" cy="3747287"/>
          </a:xfrm>
          <a:prstGeom prst="rect">
            <a:avLst/>
          </a:prstGeom>
        </p:spPr>
      </p:pic>
      <p:sp>
        <p:nvSpPr>
          <p:cNvPr id="7" name="TextBox 6"/>
          <p:cNvSpPr txBox="1"/>
          <p:nvPr/>
        </p:nvSpPr>
        <p:spPr>
          <a:xfrm>
            <a:off x="713232" y="5742432"/>
            <a:ext cx="5669280" cy="274320"/>
          </a:xfrm>
          <a:prstGeom prst="rect">
            <a:avLst/>
          </a:prstGeom>
          <a:noFill/>
        </p:spPr>
        <p:txBody>
          <a:bodyPr wrap="square" lIns="0" tIns="0" rIns="0" bIns="0" anchor="t">
            <a:spAutoFit/>
          </a:bodyPr>
          <a:lstStyle/>
          <a:p>
            <a:pPr algn="l">
              <a:spcBef>
                <a:spcPts val="0"/>
              </a:spcBef>
              <a:spcAft>
                <a:spcPts val="200"/>
              </a:spcAft>
            </a:pPr>
            <a:r>
              <a:rPr sz="950" b="0">
                <a:solidFill>
                  <a:srgbClr val="6B7A88"/>
                </a:solidFill>
                <a:latin typeface="Calibri"/>
              </a:rPr>
              <a:t>The live platform on Hugging Face; secure login with usage tracking.</a:t>
            </a:r>
          </a:p>
        </p:txBody>
      </p:sp>
      <p:sp>
        <p:nvSpPr>
          <p:cNvPr id="8" name="Oval 7"/>
          <p:cNvSpPr/>
          <p:nvPr/>
        </p:nvSpPr>
        <p:spPr>
          <a:xfrm>
            <a:off x="7040880" y="1865376"/>
            <a:ext cx="310896" cy="310896"/>
          </a:xfrm>
          <a:prstGeom prst="ellipse">
            <a:avLst/>
          </a:prstGeom>
          <a:solidFill>
            <a:srgbClr val="147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182880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Live, real-time modelling</a:t>
            </a:r>
          </a:p>
        </p:txBody>
      </p:sp>
      <p:sp>
        <p:nvSpPr>
          <p:cNvPr id="10" name="TextBox 9"/>
          <p:cNvSpPr txBox="1"/>
          <p:nvPr/>
        </p:nvSpPr>
        <p:spPr>
          <a:xfrm>
            <a:off x="7498079" y="208483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Runs on uploaded data, deployed on Hugging Face Docker.</a:t>
            </a:r>
          </a:p>
        </p:txBody>
      </p:sp>
      <p:sp>
        <p:nvSpPr>
          <p:cNvPr id="11" name="Oval 10"/>
          <p:cNvSpPr/>
          <p:nvPr/>
        </p:nvSpPr>
        <p:spPr>
          <a:xfrm>
            <a:off x="7040880" y="2578608"/>
            <a:ext cx="310896" cy="310896"/>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542032"/>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Reproduces the report</a:t>
            </a:r>
          </a:p>
        </p:txBody>
      </p:sp>
      <p:sp>
        <p:nvSpPr>
          <p:cNvPr id="13" name="TextBox 12"/>
          <p:cNvSpPr txBox="1"/>
          <p:nvPr/>
        </p:nvSpPr>
        <p:spPr>
          <a:xfrm>
            <a:off x="7498079" y="2798063"/>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National total within 0.01%; back-tested and wave-validated.</a:t>
            </a:r>
          </a:p>
        </p:txBody>
      </p:sp>
      <p:sp>
        <p:nvSpPr>
          <p:cNvPr id="14" name="Oval 13"/>
          <p:cNvSpPr/>
          <p:nvPr/>
        </p:nvSpPr>
        <p:spPr>
          <a:xfrm>
            <a:off x="7040880" y="3291840"/>
            <a:ext cx="310896" cy="310896"/>
          </a:xfrm>
          <a:prstGeom prst="ellipse">
            <a:avLst/>
          </a:prstGeom>
          <a:solidFill>
            <a:srgbClr val="C8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3255264"/>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Grounded AI layer</a:t>
            </a:r>
          </a:p>
        </p:txBody>
      </p:sp>
      <p:sp>
        <p:nvSpPr>
          <p:cNvPr id="16" name="TextBox 15"/>
          <p:cNvSpPr txBox="1"/>
          <p:nvPr/>
        </p:nvSpPr>
        <p:spPr>
          <a:xfrm>
            <a:off x="7498079" y="3511296"/>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Interpreter on every output, ZARA analyst, page-cited Q&amp;A.</a:t>
            </a:r>
          </a:p>
        </p:txBody>
      </p:sp>
      <p:sp>
        <p:nvSpPr>
          <p:cNvPr id="17" name="Oval 16"/>
          <p:cNvSpPr/>
          <p:nvPr/>
        </p:nvSpPr>
        <p:spPr>
          <a:xfrm>
            <a:off x="7040880" y="4005071"/>
            <a:ext cx="310896" cy="310896"/>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3968496"/>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Two coverage lenses</a:t>
            </a:r>
          </a:p>
        </p:txBody>
      </p:sp>
      <p:sp>
        <p:nvSpPr>
          <p:cNvPr id="19" name="TextBox 18"/>
          <p:cNvSpPr txBox="1"/>
          <p:nvPr/>
        </p:nvSpPr>
        <p:spPr>
          <a:xfrm>
            <a:off x="7498079" y="4224527"/>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Estimated coverage and the 2024 index, triangulated with NDHS.</a:t>
            </a:r>
          </a:p>
        </p:txBody>
      </p:sp>
      <p:sp>
        <p:nvSpPr>
          <p:cNvPr id="20" name="Oval 19"/>
          <p:cNvSpPr/>
          <p:nvPr/>
        </p:nvSpPr>
        <p:spPr>
          <a:xfrm>
            <a:off x="7040880" y="4718304"/>
            <a:ext cx="310896" cy="310896"/>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4681728"/>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Decision-ready outputs</a:t>
            </a:r>
          </a:p>
        </p:txBody>
      </p:sp>
      <p:sp>
        <p:nvSpPr>
          <p:cNvPr id="22" name="TextBox 21"/>
          <p:cNvSpPr txBox="1"/>
          <p:nvPr/>
        </p:nvSpPr>
        <p:spPr>
          <a:xfrm>
            <a:off x="7498079" y="4937760"/>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Scorecards, maps, GAVI factsheet, policy brief, this deck.</a:t>
            </a:r>
          </a:p>
        </p:txBody>
      </p:sp>
      <p:sp>
        <p:nvSpPr>
          <p:cNvPr id="23" name="Oval 22"/>
          <p:cNvSpPr/>
          <p:nvPr/>
        </p:nvSpPr>
        <p:spPr>
          <a:xfrm>
            <a:off x="7040880" y="5431536"/>
            <a:ext cx="310896" cy="31089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539496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Governance built in</a:t>
            </a:r>
          </a:p>
        </p:txBody>
      </p:sp>
      <p:sp>
        <p:nvSpPr>
          <p:cNvPr id="25" name="TextBox 24"/>
          <p:cNvSpPr txBox="1"/>
          <p:nvPr/>
        </p:nvSpPr>
        <p:spPr>
          <a:xfrm>
            <a:off x="7498079" y="565099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Secure login and usage tracking; data stays in-session.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92608"/>
            <a:ext cx="11055096" cy="310896"/>
          </a:xfrm>
          <a:prstGeom prst="rect">
            <a:avLst/>
          </a:prstGeom>
          <a:noFill/>
          <a:ln/>
        </p:spPr>
        <p:txBody>
          <a:bodyPr wrap="square" lIns="0" tIns="0" rIns="0" bIns="0" rtlCol="0" anchor="ctr"/>
          <a:lstStyle/>
          <a:p>
            <a:pPr marL="0" indent="0">
              <a:buNone/>
            </a:pPr>
            <a:r>
              <a:rPr lang="en-US" sz="1400" b="1" kern="0" spc="150" dirty="0">
                <a:solidFill>
                  <a:srgbClr val="1C7A3D"/>
                </a:solidFill>
                <a:latin typeface="Calibri" pitchFamily="34" charset="0"/>
                <a:ea typeface="Calibri" pitchFamily="34" charset="-122"/>
                <a:cs typeface="Calibri" pitchFamily="34" charset="-120"/>
              </a:rPr>
              <a:t>THE HUGGING FACE APPLICATION</a:t>
            </a:r>
            <a:endParaRPr lang="en-US" sz="1400" dirty="0"/>
          </a:p>
        </p:txBody>
      </p:sp>
      <p:sp>
        <p:nvSpPr>
          <p:cNvPr id="3" name="Text 1"/>
          <p:cNvSpPr/>
          <p:nvPr/>
        </p:nvSpPr>
        <p:spPr>
          <a:xfrm>
            <a:off x="566928" y="640080"/>
            <a:ext cx="11055096" cy="566928"/>
          </a:xfrm>
          <a:prstGeom prst="rect">
            <a:avLst/>
          </a:prstGeom>
          <a:noFill/>
          <a:ln/>
        </p:spPr>
        <p:txBody>
          <a:bodyPr wrap="square" lIns="0" tIns="0" rIns="0" bIns="0" rtlCol="0" anchor="t"/>
          <a:lstStyle/>
          <a:p>
            <a:pPr marL="0" indent="0">
              <a:buNone/>
            </a:pPr>
            <a:r>
              <a:rPr lang="en-US" sz="2500" b="1" dirty="0">
                <a:solidFill>
                  <a:srgbClr val="1F3B57"/>
                </a:solidFill>
                <a:latin typeface="Calibri" pitchFamily="34" charset="0"/>
                <a:ea typeface="Calibri" pitchFamily="34" charset="-122"/>
                <a:cs typeface="Calibri" pitchFamily="34" charset="-120"/>
              </a:rPr>
              <a:t>How the tool supports programme discussions</a:t>
            </a:r>
            <a:endParaRPr lang="en-US" sz="2500" dirty="0"/>
          </a:p>
        </p:txBody>
      </p:sp>
      <p:sp>
        <p:nvSpPr>
          <p:cNvPr id="4" name="Text 2"/>
          <p:cNvSpPr/>
          <p:nvPr/>
        </p:nvSpPr>
        <p:spPr>
          <a:xfrm>
            <a:off x="566928" y="1280160"/>
            <a:ext cx="11055096" cy="457200"/>
          </a:xfrm>
          <a:prstGeom prst="rect">
            <a:avLst/>
          </a:prstGeom>
          <a:noFill/>
          <a:ln/>
        </p:spPr>
        <p:txBody>
          <a:bodyPr wrap="square" lIns="0" tIns="0" rIns="0" bIns="0" rtlCol="0" anchor="t"/>
          <a:lstStyle/>
          <a:p>
            <a:pPr marL="0" indent="0">
              <a:lnSpc>
                <a:spcPct val="102000"/>
              </a:lnSpc>
              <a:buNone/>
            </a:pPr>
            <a:r>
              <a:rPr lang="en-US" sz="1500" i="1" dirty="0">
                <a:solidFill>
                  <a:srgbClr val="155E2F"/>
                </a:solidFill>
                <a:latin typeface="Calibri" pitchFamily="34" charset="0"/>
                <a:ea typeface="Calibri" pitchFamily="34" charset="-122"/>
                <a:cs typeface="Calibri" pitchFamily="34" charset="-120"/>
              </a:rPr>
              <a:t>It re-runs live, explains itself in plain language, and produces the documents a meeting needs.</a:t>
            </a:r>
            <a:endParaRPr lang="en-US" sz="1500" dirty="0"/>
          </a:p>
        </p:txBody>
      </p:sp>
      <p:sp>
        <p:nvSpPr>
          <p:cNvPr id="5" name="Shape 3"/>
          <p:cNvSpPr/>
          <p:nvPr/>
        </p:nvSpPr>
        <p:spPr>
          <a:xfrm>
            <a:off x="566928" y="1874520"/>
            <a:ext cx="11055096" cy="960120"/>
          </a:xfrm>
          <a:prstGeom prst="roundRect">
            <a:avLst>
              <a:gd name="adj" fmla="val 7619"/>
            </a:avLst>
          </a:prstGeom>
          <a:solidFill>
            <a:srgbClr val="E8F1EA"/>
          </a:solidFill>
          <a:ln/>
        </p:spPr>
        <p:txBody>
          <a:bodyPr/>
          <a:lstStyle/>
          <a:p>
            <a:endParaRPr lang="LID4096"/>
          </a:p>
        </p:txBody>
      </p:sp>
      <p:sp>
        <p:nvSpPr>
          <p:cNvPr id="6" name="Shape 4"/>
          <p:cNvSpPr/>
          <p:nvPr/>
        </p:nvSpPr>
        <p:spPr>
          <a:xfrm>
            <a:off x="786384" y="2098548"/>
            <a:ext cx="512064" cy="512064"/>
          </a:xfrm>
          <a:prstGeom prst="ellipse">
            <a:avLst/>
          </a:prstGeom>
          <a:solidFill>
            <a:srgbClr val="1C7A3D"/>
          </a:solidFill>
          <a:ln/>
        </p:spPr>
        <p:txBody>
          <a:bodyPr/>
          <a:lstStyle/>
          <a:p>
            <a:endParaRPr lang="LID4096"/>
          </a:p>
        </p:txBody>
      </p:sp>
      <p:sp>
        <p:nvSpPr>
          <p:cNvPr id="7" name="Text 5"/>
          <p:cNvSpPr/>
          <p:nvPr/>
        </p:nvSpPr>
        <p:spPr>
          <a:xfrm>
            <a:off x="786384" y="20985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27048" y="194767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Live re-runs on new data.   </a:t>
            </a:r>
            <a:r>
              <a:rPr lang="en-US" sz="1200" dirty="0">
                <a:solidFill>
                  <a:srgbClr val="2B2B2B"/>
                </a:solidFill>
                <a:latin typeface="Calibri" pitchFamily="34" charset="0"/>
                <a:ea typeface="Calibri" pitchFamily="34" charset="-122"/>
                <a:cs typeface="Calibri" pitchFamily="34" charset="-120"/>
              </a:rPr>
              <a:t>Upload refreshed files; the app validates the structure and recomputes only what changed. No code change is needed.</a:t>
            </a:r>
            <a:endParaRPr lang="en-US" sz="1400" dirty="0"/>
          </a:p>
        </p:txBody>
      </p:sp>
      <p:sp>
        <p:nvSpPr>
          <p:cNvPr id="9" name="Shape 7"/>
          <p:cNvSpPr/>
          <p:nvPr/>
        </p:nvSpPr>
        <p:spPr>
          <a:xfrm>
            <a:off x="566928" y="2926080"/>
            <a:ext cx="11055096" cy="960120"/>
          </a:xfrm>
          <a:prstGeom prst="roundRect">
            <a:avLst>
              <a:gd name="adj" fmla="val 7619"/>
            </a:avLst>
          </a:prstGeom>
          <a:solidFill>
            <a:srgbClr val="F2F5F7"/>
          </a:solidFill>
          <a:ln/>
        </p:spPr>
        <p:txBody>
          <a:bodyPr/>
          <a:lstStyle/>
          <a:p>
            <a:endParaRPr lang="LID4096"/>
          </a:p>
        </p:txBody>
      </p:sp>
      <p:sp>
        <p:nvSpPr>
          <p:cNvPr id="10" name="Shape 8"/>
          <p:cNvSpPr/>
          <p:nvPr/>
        </p:nvSpPr>
        <p:spPr>
          <a:xfrm>
            <a:off x="786384" y="3150108"/>
            <a:ext cx="512064" cy="512064"/>
          </a:xfrm>
          <a:prstGeom prst="ellipse">
            <a:avLst/>
          </a:prstGeom>
          <a:solidFill>
            <a:srgbClr val="1F3B57"/>
          </a:solidFill>
          <a:ln/>
        </p:spPr>
        <p:txBody>
          <a:bodyPr/>
          <a:lstStyle/>
          <a:p>
            <a:endParaRPr lang="LID4096"/>
          </a:p>
        </p:txBody>
      </p:sp>
      <p:sp>
        <p:nvSpPr>
          <p:cNvPr id="11" name="Text 9"/>
          <p:cNvSpPr/>
          <p:nvPr/>
        </p:nvSpPr>
        <p:spPr>
          <a:xfrm>
            <a:off x="786384" y="31501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27048" y="299923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ZARA, a grounded analyst.   </a:t>
            </a:r>
            <a:r>
              <a:rPr lang="en-US" sz="1200" dirty="0">
                <a:solidFill>
                  <a:srgbClr val="2B2B2B"/>
                </a:solidFill>
                <a:latin typeface="Calibri" pitchFamily="34" charset="0"/>
                <a:ea typeface="Calibri" pitchFamily="34" charset="-122"/>
                <a:cs typeface="Calibri" pitchFamily="34" charset="-120"/>
              </a:rPr>
              <a:t>Plain-language and multilingual Q&amp;A (English, French, Hausa, Yoruba, Igbo, Pidgin, Swahili and more). It reads the live outputs and is instructed never to invent numbers.</a:t>
            </a:r>
            <a:endParaRPr lang="en-US" sz="1400" dirty="0"/>
          </a:p>
        </p:txBody>
      </p:sp>
      <p:sp>
        <p:nvSpPr>
          <p:cNvPr id="13" name="Shape 11"/>
          <p:cNvSpPr/>
          <p:nvPr/>
        </p:nvSpPr>
        <p:spPr>
          <a:xfrm>
            <a:off x="566928" y="3977640"/>
            <a:ext cx="11055096" cy="960120"/>
          </a:xfrm>
          <a:prstGeom prst="roundRect">
            <a:avLst>
              <a:gd name="adj" fmla="val 7619"/>
            </a:avLst>
          </a:prstGeom>
          <a:solidFill>
            <a:srgbClr val="E8F1EA"/>
          </a:solidFill>
          <a:ln/>
        </p:spPr>
        <p:txBody>
          <a:bodyPr/>
          <a:lstStyle/>
          <a:p>
            <a:endParaRPr lang="LID4096"/>
          </a:p>
        </p:txBody>
      </p:sp>
      <p:sp>
        <p:nvSpPr>
          <p:cNvPr id="14" name="Shape 12"/>
          <p:cNvSpPr/>
          <p:nvPr/>
        </p:nvSpPr>
        <p:spPr>
          <a:xfrm>
            <a:off x="786384" y="4201668"/>
            <a:ext cx="512064" cy="512064"/>
          </a:xfrm>
          <a:prstGeom prst="ellipse">
            <a:avLst/>
          </a:prstGeom>
          <a:solidFill>
            <a:srgbClr val="1C7A3D"/>
          </a:solidFill>
          <a:ln/>
        </p:spPr>
        <p:txBody>
          <a:bodyPr/>
          <a:lstStyle/>
          <a:p>
            <a:endParaRPr lang="LID4096"/>
          </a:p>
        </p:txBody>
      </p:sp>
      <p:sp>
        <p:nvSpPr>
          <p:cNvPr id="15" name="Text 13"/>
          <p:cNvSpPr/>
          <p:nvPr/>
        </p:nvSpPr>
        <p:spPr>
          <a:xfrm>
            <a:off x="786384" y="42016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527048" y="405079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One-click factsheet and policy brief.   </a:t>
            </a:r>
            <a:r>
              <a:rPr lang="en-US" sz="1200" dirty="0">
                <a:solidFill>
                  <a:srgbClr val="2B2B2B"/>
                </a:solidFill>
                <a:latin typeface="Calibri" pitchFamily="34" charset="0"/>
                <a:ea typeface="Calibri" pitchFamily="34" charset="-122"/>
                <a:cs typeface="Calibri" pitchFamily="34" charset="-120"/>
              </a:rPr>
              <a:t>A GAVI-style factsheet and a Word policy brief regenerate from the same live outputs, so the documents never drift apart.</a:t>
            </a:r>
            <a:endParaRPr lang="en-US" sz="1400" dirty="0"/>
          </a:p>
        </p:txBody>
      </p:sp>
      <p:sp>
        <p:nvSpPr>
          <p:cNvPr id="17" name="Shape 15"/>
          <p:cNvSpPr/>
          <p:nvPr/>
        </p:nvSpPr>
        <p:spPr>
          <a:xfrm>
            <a:off x="566928" y="5029200"/>
            <a:ext cx="11055096" cy="960120"/>
          </a:xfrm>
          <a:prstGeom prst="roundRect">
            <a:avLst>
              <a:gd name="adj" fmla="val 7619"/>
            </a:avLst>
          </a:prstGeom>
          <a:solidFill>
            <a:srgbClr val="F2F5F7"/>
          </a:solidFill>
          <a:ln/>
        </p:spPr>
        <p:txBody>
          <a:bodyPr/>
          <a:lstStyle/>
          <a:p>
            <a:endParaRPr lang="LID4096"/>
          </a:p>
        </p:txBody>
      </p:sp>
      <p:sp>
        <p:nvSpPr>
          <p:cNvPr id="18" name="Shape 16"/>
          <p:cNvSpPr/>
          <p:nvPr/>
        </p:nvSpPr>
        <p:spPr>
          <a:xfrm>
            <a:off x="786384" y="5253228"/>
            <a:ext cx="512064" cy="512064"/>
          </a:xfrm>
          <a:prstGeom prst="ellipse">
            <a:avLst/>
          </a:prstGeom>
          <a:solidFill>
            <a:srgbClr val="1F3B57"/>
          </a:solidFill>
          <a:ln/>
        </p:spPr>
        <p:txBody>
          <a:bodyPr/>
          <a:lstStyle/>
          <a:p>
            <a:endParaRPr lang="LID4096"/>
          </a:p>
        </p:txBody>
      </p:sp>
      <p:sp>
        <p:nvSpPr>
          <p:cNvPr id="19" name="Text 17"/>
          <p:cNvSpPr/>
          <p:nvPr/>
        </p:nvSpPr>
        <p:spPr>
          <a:xfrm>
            <a:off x="786384" y="52532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527048" y="510235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Governance built in.   </a:t>
            </a:r>
            <a:r>
              <a:rPr lang="en-US" sz="1200" dirty="0">
                <a:solidFill>
                  <a:srgbClr val="2B2B2B"/>
                </a:solidFill>
                <a:latin typeface="Calibri" pitchFamily="34" charset="0"/>
                <a:ea typeface="Calibri" pitchFamily="34" charset="-122"/>
                <a:cs typeface="Calibri" pitchFamily="34" charset="-120"/>
              </a:rPr>
              <a:t>Secure login, data stays in-session, and the load-validate-run-review-approve-release sign-off cycle for the DIH.</a:t>
            </a:r>
            <a:endParaRPr lang="en-US" sz="1400" dirty="0"/>
          </a:p>
        </p:txBody>
      </p:sp>
      <p:sp>
        <p:nvSpPr>
          <p:cNvPr id="21" name="Text 19"/>
          <p:cNvSpPr/>
          <p:nvPr/>
        </p:nvSpPr>
        <p:spPr>
          <a:xfrm>
            <a:off x="566928" y="5943600"/>
            <a:ext cx="11055096" cy="384048"/>
          </a:xfrm>
          <a:prstGeom prst="rect">
            <a:avLst/>
          </a:prstGeom>
          <a:noFill/>
          <a:ln/>
        </p:spPr>
        <p:txBody>
          <a:bodyPr wrap="square" lIns="0" tIns="0" rIns="0" bIns="0" rtlCol="0" anchor="t"/>
          <a:lstStyle/>
          <a:p>
            <a:pPr marL="0" indent="0">
              <a:lnSpc>
                <a:spcPct val="100000"/>
              </a:lnSpc>
              <a:buNone/>
            </a:pPr>
            <a:r>
              <a:rPr lang="en-US" sz="1000" i="1" dirty="0">
                <a:solidFill>
                  <a:srgbClr val="5A6470"/>
                </a:solidFill>
                <a:latin typeface="Calibri" pitchFamily="34" charset="0"/>
                <a:ea typeface="Calibri" pitchFamily="34" charset="-122"/>
                <a:cs typeface="Calibri" pitchFamily="34" charset="-120"/>
              </a:rPr>
              <a:t>ZARA is grounded on the live results and uploaded documents (with page citations). One source of truth feeds the report, factsheet, brief and deck.</a:t>
            </a:r>
            <a:endParaRPr lang="en-US" sz="1000" dirty="0"/>
          </a:p>
        </p:txBody>
      </p:sp>
      <p:sp>
        <p:nvSpPr>
          <p:cNvPr id="22" name="Text 20"/>
          <p:cNvSpPr/>
          <p:nvPr/>
        </p:nvSpPr>
        <p:spPr>
          <a:xfrm>
            <a:off x="566928" y="6473952"/>
            <a:ext cx="10597896" cy="274320"/>
          </a:xfrm>
          <a:prstGeom prst="rect">
            <a:avLst/>
          </a:prstGeom>
          <a:noFill/>
          <a:ln/>
        </p:spPr>
        <p:txBody>
          <a:bodyPr wrap="square" lIns="0" tIns="0" rIns="0" bIns="0" rtlCol="0" anchor="ctr"/>
          <a:lstStyle/>
          <a:p>
            <a:pPr marL="0" indent="0" algn="l">
              <a:buNone/>
            </a:pPr>
            <a:r>
              <a:rPr lang="en-US" sz="850" dirty="0">
                <a:solidFill>
                  <a:srgbClr val="5A6470"/>
                </a:solidFill>
                <a:latin typeface="Calibri" pitchFamily="34" charset="0"/>
                <a:ea typeface="Calibri" pitchFamily="34" charset="-122"/>
                <a:cs typeface="Calibri" pitchFamily="34" charset="-120"/>
              </a:rPr>
              <a:t>CIDRE and Quantium Insights LLC   |   In technical support of NPHCDA   |   For GAVI and UNICEF review</a:t>
            </a:r>
            <a:endParaRPr lang="en-US" sz="850" dirty="0"/>
          </a:p>
        </p:txBody>
      </p:sp>
      <p:sp>
        <p:nvSpPr>
          <p:cNvPr id="23" name="Text 21"/>
          <p:cNvSpPr/>
          <p:nvPr/>
        </p:nvSpPr>
        <p:spPr>
          <a:xfrm>
            <a:off x="11164824" y="6473952"/>
            <a:ext cx="457200" cy="274320"/>
          </a:xfrm>
          <a:prstGeom prst="rect">
            <a:avLst/>
          </a:prstGeom>
          <a:noFill/>
          <a:ln/>
        </p:spPr>
        <p:txBody>
          <a:bodyPr wrap="square" lIns="0" tIns="0" rIns="0" bIns="0"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Recommendations from the modelling team</a:t>
            </a:r>
            <a:endParaRPr lang="en-US" sz="3200" dirty="0"/>
          </a:p>
        </p:txBody>
      </p:sp>
      <p:sp>
        <p:nvSpPr>
          <p:cNvPr id="3" name="Shape 1"/>
          <p:cNvSpPr/>
          <p:nvPr/>
        </p:nvSpPr>
        <p:spPr>
          <a:xfrm>
            <a:off x="548640" y="88696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4" name="Shape 2"/>
          <p:cNvSpPr/>
          <p:nvPr/>
        </p:nvSpPr>
        <p:spPr>
          <a:xfrm>
            <a:off x="768096" y="1241298"/>
            <a:ext cx="457200" cy="457200"/>
          </a:xfrm>
          <a:prstGeom prst="ellipse">
            <a:avLst/>
          </a:prstGeom>
          <a:solidFill>
            <a:srgbClr val="1F3B57"/>
          </a:solidFill>
          <a:ln/>
        </p:spPr>
        <p:txBody>
          <a:bodyPr/>
          <a:lstStyle/>
          <a:p>
            <a:endParaRPr lang="LID4096"/>
          </a:p>
        </p:txBody>
      </p:sp>
      <p:sp>
        <p:nvSpPr>
          <p:cNvPr id="5" name="Text 3"/>
          <p:cNvSpPr/>
          <p:nvPr/>
        </p:nvSpPr>
        <p:spPr>
          <a:xfrm>
            <a:off x="768096" y="124129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408176" y="101498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Act first where burden and deprivation meet</a:t>
            </a:r>
            <a:endParaRPr lang="en-US" sz="1800" dirty="0"/>
          </a:p>
        </p:txBody>
      </p:sp>
      <p:sp>
        <p:nvSpPr>
          <p:cNvPr id="7" name="Text 5"/>
          <p:cNvSpPr/>
          <p:nvPr/>
        </p:nvSpPr>
        <p:spPr>
          <a:xfrm>
            <a:off x="1408176" y="132588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Begin with Sokoto, Kebbi, Zamfara and the highest-burden LGAs. About 150 LGAs reach roughly 62% of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8" name="Shape 6"/>
          <p:cNvSpPr/>
          <p:nvPr/>
        </p:nvSpPr>
        <p:spPr>
          <a:xfrm>
            <a:off x="548640" y="209854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9" name="Shape 7"/>
          <p:cNvSpPr/>
          <p:nvPr/>
        </p:nvSpPr>
        <p:spPr>
          <a:xfrm>
            <a:off x="768096" y="2452878"/>
            <a:ext cx="457200" cy="457200"/>
          </a:xfrm>
          <a:prstGeom prst="ellipse">
            <a:avLst/>
          </a:prstGeom>
          <a:solidFill>
            <a:srgbClr val="1F3B57"/>
          </a:solidFill>
          <a:ln/>
        </p:spPr>
        <p:txBody>
          <a:bodyPr/>
          <a:lstStyle/>
          <a:p>
            <a:endParaRPr lang="LID4096"/>
          </a:p>
        </p:txBody>
      </p:sp>
      <p:sp>
        <p:nvSpPr>
          <p:cNvPr id="10" name="Text 8"/>
          <p:cNvSpPr/>
          <p:nvPr/>
        </p:nvSpPr>
        <p:spPr>
          <a:xfrm>
            <a:off x="768096" y="245287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408176" y="222656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Deploy the archetype-matched bundles</a:t>
            </a:r>
            <a:endParaRPr lang="en-US" sz="1800" dirty="0"/>
          </a:p>
        </p:txBody>
      </p:sp>
      <p:sp>
        <p:nvSpPr>
          <p:cNvPr id="12" name="Text 10"/>
          <p:cNvSpPr/>
          <p:nvPr/>
        </p:nvSpPr>
        <p:spPr>
          <a:xfrm>
            <a:off x="1408176" y="253746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Different places need different responses: outreach, mobile teams, trusted messengers, reminders or maintenance.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3" name="Shape 11"/>
          <p:cNvSpPr/>
          <p:nvPr/>
        </p:nvSpPr>
        <p:spPr>
          <a:xfrm>
            <a:off x="548640" y="331012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14" name="Shape 12"/>
          <p:cNvSpPr/>
          <p:nvPr/>
        </p:nvSpPr>
        <p:spPr>
          <a:xfrm>
            <a:off x="768096" y="3664458"/>
            <a:ext cx="457200" cy="457200"/>
          </a:xfrm>
          <a:prstGeom prst="ellipse">
            <a:avLst/>
          </a:prstGeom>
          <a:solidFill>
            <a:srgbClr val="1F3B57"/>
          </a:solidFill>
          <a:ln/>
        </p:spPr>
        <p:txBody>
          <a:bodyPr/>
          <a:lstStyle/>
          <a:p>
            <a:endParaRPr lang="LID4096"/>
          </a:p>
        </p:txBody>
      </p:sp>
      <p:sp>
        <p:nvSpPr>
          <p:cNvPr id="15" name="Text 13"/>
          <p:cNvSpPr/>
          <p:nvPr/>
        </p:nvSpPr>
        <p:spPr>
          <a:xfrm>
            <a:off x="768096" y="366445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408176" y="343814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Adopt the platform for routine microplanning</a:t>
            </a:r>
            <a:endParaRPr lang="en-US" sz="1800" dirty="0"/>
          </a:p>
        </p:txBody>
      </p:sp>
      <p:sp>
        <p:nvSpPr>
          <p:cNvPr id="17" name="Text 15"/>
          <p:cNvSpPr/>
          <p:nvPr/>
        </p:nvSpPr>
        <p:spPr>
          <a:xfrm>
            <a:off x="1408176" y="374904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monthly DHIS2 data to update the priority list, flag data problems and support Gavi 6.0 targeting.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6"/>
          <p:cNvSpPr/>
          <p:nvPr/>
        </p:nvSpPr>
        <p:spPr>
          <a:xfrm>
            <a:off x="548640" y="452170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19" name="Shape 17"/>
          <p:cNvSpPr/>
          <p:nvPr/>
        </p:nvSpPr>
        <p:spPr>
          <a:xfrm>
            <a:off x="768096" y="4876038"/>
            <a:ext cx="457200" cy="457200"/>
          </a:xfrm>
          <a:prstGeom prst="ellipse">
            <a:avLst/>
          </a:prstGeom>
          <a:solidFill>
            <a:srgbClr val="1F3B57"/>
          </a:solidFill>
          <a:ln/>
        </p:spPr>
        <p:txBody>
          <a:bodyPr/>
          <a:lstStyle/>
          <a:p>
            <a:endParaRPr lang="LID4096"/>
          </a:p>
        </p:txBody>
      </p:sp>
      <p:sp>
        <p:nvSpPr>
          <p:cNvPr id="20" name="Text 18"/>
          <p:cNvSpPr/>
          <p:nvPr/>
        </p:nvSpPr>
        <p:spPr>
          <a:xfrm>
            <a:off x="768096" y="487603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1408176" y="464972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Digital Innovation Hub leads from here</a:t>
            </a:r>
            <a:endParaRPr lang="en-US" sz="1800" dirty="0"/>
          </a:p>
        </p:txBody>
      </p:sp>
      <p:sp>
        <p:nvSpPr>
          <p:cNvPr id="22" name="Text 20"/>
          <p:cNvSpPr/>
          <p:nvPr/>
        </p:nvSpPr>
        <p:spPr>
          <a:xfrm>
            <a:off x="1408176" y="496062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DIH should lead routine use of the platform, with continued collaboration for upgrades and expansion to nutrition and child health.</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3" name="Text 21"/>
          <p:cNvSpPr/>
          <p:nvPr/>
        </p:nvSpPr>
        <p:spPr>
          <a:xfrm>
            <a:off x="548640" y="575157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results have been checked against the newest national survey and can support Gavi 6.0 targeting.</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(1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ACLED</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Armed Conflict Location and Event Data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ACSM</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Advocacy, Communication and Social Mobilization</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AFP</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Acute flaccid paralysis</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ANC</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Antenatal care</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BCG</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Bacille Calmette-Guerin (tuberculosis vaccine)</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CHI</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Composite Hesitancy Index</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cVDPV</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Circulating vaccine-derived poliovirus</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DHIS2</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District Health Information System, version 2</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DHS</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Demographic and Health Survey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DIH</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Digital Innovation Hub (NPHCDA)</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DTP1 / Penta1</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FDR</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False discovery rate</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GBD</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Global Burden of Disease study (IHME)</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Getis-Ord Gi*</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spatial hotspot statistic</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GRID3</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Geo-Referenced Infrastructure and Demographic Data for Development</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HTR</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Hard-to-reach</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IDSR</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Integrated Disease Surveillance and Response</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IHME</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Institute for Health Metrics and Evaluation</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ITN</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Insecticide-treated net</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LASSO</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Least absolute shrinkage and selection operator</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(2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LGA</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government area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MCV1 / Measles1</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measles-containing vaccine</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Measles2</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Second dose of measles-containing vaccine</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MGWR</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Multiscale geographically weighted regression</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NCDC</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Centre for Disease Control</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NDHS</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Demographic and Health Survey</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NmDHS</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mini Demographic and Health Survey</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NPC</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Population Commission</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NPHCDA</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Primary Health Care Development Agency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OLS</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Ordinary least squares regression</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Penta3</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Third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R-hat</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Gelman-Rubin convergence diagnostic</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RI</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Routine immunization</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RMNCH</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Reproductive, maternal, newborn and child health</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RR</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risk</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RWI</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Wealth Index (Meta)</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SIA</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Supplementary immunization activity</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UNICEF</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United Nations Children's Fund</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VPD</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Vaccine-preventable disease</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ZARA</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Zero-dose Analytics and Risk Assistant</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2332</TotalTime>
  <Words>5651</Words>
  <Application>Microsoft Office PowerPoint</Application>
  <PresentationFormat>Widescreen</PresentationFormat>
  <Paragraphs>723</Paragraphs>
  <Slides>32</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
  <cp:lastModifiedBy>Amobi Onovo</cp:lastModifiedBy>
  <cp:revision>20</cp:revision>
  <dcterms:created xsi:type="dcterms:W3CDTF">2026-07-17T06:33:09Z</dcterms:created>
  <dcterms:modified xsi:type="dcterms:W3CDTF">2026-08-20T07:57:28Z</dcterms:modified>
  <cp:category/>
</cp:coreProperties>
</file>