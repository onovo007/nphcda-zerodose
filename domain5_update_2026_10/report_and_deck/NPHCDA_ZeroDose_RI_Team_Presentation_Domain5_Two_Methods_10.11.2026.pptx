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95" r:id="rId3"/>
    <p:sldId id="283" r:id="rId4"/>
    <p:sldId id="257" r:id="rId5"/>
    <p:sldId id="258" r:id="rId6"/>
    <p:sldId id="259" r:id="rId7"/>
    <p:sldId id="260" r:id="rId8"/>
    <p:sldId id="261" r:id="rId9"/>
    <p:sldId id="262" r:id="rId10"/>
    <p:sldId id="263" r:id="rId11"/>
    <p:sldId id="282" r:id="rId12"/>
    <p:sldId id="284" r:id="rId13"/>
    <p:sldId id="264" r:id="rId14"/>
    <p:sldId id="317" r:id="rId63"/>
    <p:sldId id="265" r:id="rId15"/>
    <p:sldId id="266" r:id="rId16"/>
    <p:sldId id="267" r:id="rId17"/>
    <p:sldId id="268" r:id="rId18"/>
    <p:sldId id="269" r:id="rId19"/>
    <p:sldId id="270" r:id="rId20"/>
    <p:sldId id="271" r:id="rId21"/>
    <p:sldId id="286" r:id="rId22"/>
    <p:sldId id="288" r:id="rId23"/>
    <p:sldId id="309" r:id="rId55"/>
    <p:sldId id="310" r:id="rId56"/>
    <p:sldId id="311" r:id="rId57"/>
    <p:sldId id="312" r:id="rId58"/>
    <p:sldId id="313" r:id="rId59"/>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14" r:id="rId60"/>
    <p:sldId id="315" r:id="rId61"/>
    <p:sldId id="316" r:id="rId62"/>
    <p:sldId id="272" r:id="rId24"/>
    <p:sldId id="273" r:id="rId25"/>
    <p:sldId id="274" r:id="rId26"/>
    <p:sldId id="275" r:id="rId27"/>
    <p:sldId id="276" r:id="rId28"/>
    <p:sldId id="277" r:id="rId29"/>
    <p:sldId id="293" r:id="rId30"/>
    <p:sldId id="294" r:id="rId31"/>
    <p:sldId id="278" r:id="rId32"/>
    <p:sldId id="279" r:id="rId33"/>
    <p:sldId id="280"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2A17D4-42A3-40D7-B3BB-5090A02CE15A}" v="2" dt="2026-10-06T13:18:32.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15"/>
    <p:restoredTop sz="94610"/>
  </p:normalViewPr>
  <p:slideViewPr>
    <p:cSldViewPr snapToGrid="0" snapToObjects="1">
      <p:cViewPr varScale="1">
        <p:scale>
          <a:sx n="111" d="100"/>
          <a:sy n="111"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44.xml"/><Relationship Id="rId25" Type="http://schemas.openxmlformats.org/officeDocument/2006/relationships/slide" Target="slides/slide45.xml"/><Relationship Id="rId26" Type="http://schemas.openxmlformats.org/officeDocument/2006/relationships/slide" Target="slides/slide46.xml"/><Relationship Id="rId27" Type="http://schemas.openxmlformats.org/officeDocument/2006/relationships/slide" Target="slides/slide47.xml"/><Relationship Id="rId28" Type="http://schemas.openxmlformats.org/officeDocument/2006/relationships/slide" Target="slides/slide48.xml"/><Relationship Id="rId29" Type="http://schemas.openxmlformats.org/officeDocument/2006/relationships/slide" Target="slides/slide49.xml"/><Relationship Id="rId30" Type="http://schemas.openxmlformats.org/officeDocument/2006/relationships/slide" Target="slides/slide50.xml"/><Relationship Id="rId31" Type="http://schemas.openxmlformats.org/officeDocument/2006/relationships/slide" Target="slides/slide51.xml"/><Relationship Id="rId32" Type="http://schemas.openxmlformats.org/officeDocument/2006/relationships/slide" Target="slides/slide52.xml"/><Relationship Id="rId33" Type="http://schemas.openxmlformats.org/officeDocument/2006/relationships/slide" Target="slides/slide53.xml"/><Relationship Id="rId34" Type="http://schemas.openxmlformats.org/officeDocument/2006/relationships/slide" Target="slides/slide54.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6/11/relationships/changesInfo" Target="changesInfos/changesInfo1.xml"/><Relationship Id="rId41" Type="http://schemas.microsoft.com/office/2015/10/relationships/revisionInfo" Target="revisionInfo.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23.xml"/><Relationship Id="rId56" Type="http://schemas.openxmlformats.org/officeDocument/2006/relationships/slide" Target="slides/slide24.xml"/><Relationship Id="rId57" Type="http://schemas.openxmlformats.org/officeDocument/2006/relationships/slide" Target="slides/slide25.xml"/><Relationship Id="rId58" Type="http://schemas.openxmlformats.org/officeDocument/2006/relationships/slide" Target="slides/slide26.xml"/><Relationship Id="rId59" Type="http://schemas.openxmlformats.org/officeDocument/2006/relationships/slide" Target="slides/slide27.xml"/><Relationship Id="rId60" Type="http://schemas.openxmlformats.org/officeDocument/2006/relationships/slide" Target="slides/slide41.xml"/><Relationship Id="rId61" Type="http://schemas.openxmlformats.org/officeDocument/2006/relationships/slide" Target="slides/slide42.xml"/><Relationship Id="rId62" Type="http://schemas.openxmlformats.org/officeDocument/2006/relationships/slide" Target="slides/slide43.xml"/><Relationship Id="rId63"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bi Onovo" userId="f5d163b4486c922d" providerId="LiveId" clId="{5C11370D-CF95-43A9-A887-691A76A8B4F0}"/>
    <pc:docChg chg="undo custSel modSld sldOrd">
      <pc:chgData name="Amobi Onovo" userId="f5d163b4486c922d" providerId="LiveId" clId="{5C11370D-CF95-43A9-A887-691A76A8B4F0}" dt="2026-10-06T14:58:15.327" v="178" actId="20577"/>
      <pc:docMkLst>
        <pc:docMk/>
      </pc:docMkLst>
      <pc:sldChg chg="modSp mod">
        <pc:chgData name="Amobi Onovo" userId="f5d163b4486c922d" providerId="LiveId" clId="{5C11370D-CF95-43A9-A887-691A76A8B4F0}" dt="2026-10-06T13:18:39.245" v="147" actId="2711"/>
        <pc:sldMkLst>
          <pc:docMk/>
          <pc:sldMk cId="0" sldId="258"/>
        </pc:sldMkLst>
        <pc:spChg chg="mod">
          <ac:chgData name="Amobi Onovo" userId="f5d163b4486c922d" providerId="LiveId" clId="{5C11370D-CF95-43A9-A887-691A76A8B4F0}" dt="2026-10-06T13:18:39.245" v="147" actId="2711"/>
          <ac:spMkLst>
            <pc:docMk/>
            <pc:sldMk cId="0" sldId="258"/>
            <ac:spMk id="26" creationId="{00000000-0000-0000-0000-000000000000}"/>
          </ac:spMkLst>
        </pc:spChg>
      </pc:sldChg>
      <pc:sldChg chg="modSp mod">
        <pc:chgData name="Amobi Onovo" userId="f5d163b4486c922d" providerId="LiveId" clId="{5C11370D-CF95-43A9-A887-691A76A8B4F0}" dt="2026-10-06T13:22:12.803" v="148" actId="20577"/>
        <pc:sldMkLst>
          <pc:docMk/>
          <pc:sldMk cId="0" sldId="261"/>
        </pc:sldMkLst>
        <pc:spChg chg="mod">
          <ac:chgData name="Amobi Onovo" userId="f5d163b4486c922d" providerId="LiveId" clId="{5C11370D-CF95-43A9-A887-691A76A8B4F0}" dt="2026-10-06T13:22:12.803" v="148" actId="20577"/>
          <ac:spMkLst>
            <pc:docMk/>
            <pc:sldMk cId="0" sldId="261"/>
            <ac:spMk id="46" creationId="{00000000-0000-0000-0000-000000000000}"/>
          </ac:spMkLst>
        </pc:spChg>
      </pc:sldChg>
      <pc:sldChg chg="ord">
        <pc:chgData name="Amobi Onovo" userId="f5d163b4486c922d" providerId="LiveId" clId="{5C11370D-CF95-43A9-A887-691A76A8B4F0}" dt="2026-10-06T07:23:50.688" v="126" actId="20578"/>
        <pc:sldMkLst>
          <pc:docMk/>
          <pc:sldMk cId="0" sldId="264"/>
        </pc:sldMkLst>
      </pc:sldChg>
      <pc:sldChg chg="addSp delSp mod">
        <pc:chgData name="Amobi Onovo" userId="f5d163b4486c922d" providerId="LiveId" clId="{5C11370D-CF95-43A9-A887-691A76A8B4F0}" dt="2026-10-06T07:24:23.192" v="129" actId="478"/>
        <pc:sldMkLst>
          <pc:docMk/>
          <pc:sldMk cId="0" sldId="265"/>
        </pc:sldMkLst>
        <pc:spChg chg="add del">
          <ac:chgData name="Amobi Onovo" userId="f5d163b4486c922d" providerId="LiveId" clId="{5C11370D-CF95-43A9-A887-691A76A8B4F0}" dt="2026-10-06T07:24:23.192" v="129" actId="478"/>
          <ac:spMkLst>
            <pc:docMk/>
            <pc:sldMk cId="0" sldId="265"/>
            <ac:spMk id="18" creationId="{00000000-0000-0000-0000-000000000000}"/>
          </ac:spMkLst>
        </pc:spChg>
      </pc:sldChg>
      <pc:sldChg chg="addSp delSp mod">
        <pc:chgData name="Amobi Onovo" userId="f5d163b4486c922d" providerId="LiveId" clId="{5C11370D-CF95-43A9-A887-691A76A8B4F0}" dt="2026-10-06T07:24:28.496" v="130" actId="478"/>
        <pc:sldMkLst>
          <pc:docMk/>
          <pc:sldMk cId="0" sldId="266"/>
        </pc:sldMkLst>
        <pc:spChg chg="add del">
          <ac:chgData name="Amobi Onovo" userId="f5d163b4486c922d" providerId="LiveId" clId="{5C11370D-CF95-43A9-A887-691A76A8B4F0}" dt="2026-10-06T07:24:28.496" v="130" actId="478"/>
          <ac:spMkLst>
            <pc:docMk/>
            <pc:sldMk cId="0" sldId="266"/>
            <ac:spMk id="11" creationId="{00000000-0000-0000-0000-000000000000}"/>
          </ac:spMkLst>
        </pc:spChg>
      </pc:sldChg>
      <pc:sldChg chg="modSp mod">
        <pc:chgData name="Amobi Onovo" userId="f5d163b4486c922d" providerId="LiveId" clId="{5C11370D-CF95-43A9-A887-691A76A8B4F0}" dt="2026-10-06T13:45:59.808" v="150" actId="20577"/>
        <pc:sldMkLst>
          <pc:docMk/>
          <pc:sldMk cId="0" sldId="268"/>
        </pc:sldMkLst>
        <pc:spChg chg="mod">
          <ac:chgData name="Amobi Onovo" userId="f5d163b4486c922d" providerId="LiveId" clId="{5C11370D-CF95-43A9-A887-691A76A8B4F0}" dt="2026-10-06T13:45:59.808" v="150" actId="20577"/>
          <ac:spMkLst>
            <pc:docMk/>
            <pc:sldMk cId="0" sldId="268"/>
            <ac:spMk id="8" creationId="{00000000-0000-0000-0000-000000000000}"/>
          </ac:spMkLst>
        </pc:spChg>
      </pc:sldChg>
      <pc:sldChg chg="modSp mod">
        <pc:chgData name="Amobi Onovo" userId="f5d163b4486c922d" providerId="LiveId" clId="{5C11370D-CF95-43A9-A887-691A76A8B4F0}" dt="2026-10-06T14:58:15.327" v="178" actId="20577"/>
        <pc:sldMkLst>
          <pc:docMk/>
          <pc:sldMk cId="0" sldId="270"/>
        </pc:sldMkLst>
        <pc:spChg chg="mod">
          <ac:chgData name="Amobi Onovo" userId="f5d163b4486c922d" providerId="LiveId" clId="{5C11370D-CF95-43A9-A887-691A76A8B4F0}" dt="2026-10-06T14:58:15.327" v="178" actId="20577"/>
          <ac:spMkLst>
            <pc:docMk/>
            <pc:sldMk cId="0" sldId="270"/>
            <ac:spMk id="4" creationId="{00000000-0000-0000-0000-000000000000}"/>
          </ac:spMkLst>
        </pc:spChg>
      </pc:sldChg>
      <pc:sldChg chg="modSp mod">
        <pc:chgData name="Amobi Onovo" userId="f5d163b4486c922d" providerId="LiveId" clId="{5C11370D-CF95-43A9-A887-691A76A8B4F0}" dt="2026-10-06T13:17:37.834" v="145" actId="2711"/>
        <pc:sldMkLst>
          <pc:docMk/>
          <pc:sldMk cId="0" sldId="295"/>
        </pc:sldMkLst>
        <pc:spChg chg="mod">
          <ac:chgData name="Amobi Onovo" userId="f5d163b4486c922d" providerId="LiveId" clId="{5C11370D-CF95-43A9-A887-691A76A8B4F0}" dt="2026-10-06T06:56:12.113" v="121" actId="20577"/>
          <ac:spMkLst>
            <pc:docMk/>
            <pc:sldMk cId="0" sldId="295"/>
            <ac:spMk id="11" creationId="{00000000-0000-0000-0000-000000000000}"/>
          </ac:spMkLst>
        </pc:spChg>
        <pc:spChg chg="mod">
          <ac:chgData name="Amobi Onovo" userId="f5d163b4486c922d" providerId="LiveId" clId="{5C11370D-CF95-43A9-A887-691A76A8B4F0}" dt="2026-10-06T13:17:15.769" v="143" actId="1076"/>
          <ac:spMkLst>
            <pc:docMk/>
            <pc:sldMk cId="0" sldId="295"/>
            <ac:spMk id="13" creationId="{00000000-0000-0000-0000-000000000000}"/>
          </ac:spMkLst>
        </pc:spChg>
        <pc:spChg chg="mod">
          <ac:chgData name="Amobi Onovo" userId="f5d163b4486c922d" providerId="LiveId" clId="{5C11370D-CF95-43A9-A887-691A76A8B4F0}" dt="2026-10-06T13:17:37.834" v="145" actId="2711"/>
          <ac:spMkLst>
            <pc:docMk/>
            <pc:sldMk cId="0" sldId="295"/>
            <ac:spMk id="20" creationId="{00000000-0000-0000-0000-000000000000}"/>
          </ac:spMkLst>
        </pc:spChg>
        <pc:spChg chg="mod">
          <ac:chgData name="Amobi Onovo" userId="f5d163b4486c922d" providerId="LiveId" clId="{5C11370D-CF95-43A9-A887-691A76A8B4F0}" dt="2026-10-06T07:26:01.183" v="141" actId="20577"/>
          <ac:spMkLst>
            <pc:docMk/>
            <pc:sldMk cId="0" sldId="295"/>
            <ac:spMk id="3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148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of the modelling check-in (your portion, after the three project-summary slides). Page references match the numbers printed on each slide. Five main-deck areas plus the Hugging Face application. If you prefer the printed page numbers to match each slide's physical position, the whole deck can be renumbered so this outline becomes slide 4 with content running 5 to 26.</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added on the Executive Director's request. Nine antigens beyond the original four tracer vaccines: OPV3, IPV1, PCV3, Yellow Fever and Meningitis A are screened for decline; IPV2 and Rotavirus 1 to 3 are tracked for uptake. None flagged.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REBUILT at local government level on the Executive Director's request. The equity deprivation index was previously state level; it now resolves to all 774 LGAs and ships as a column in the priority workbook.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at local government level. Shows which barrier is strongest in each LGA, so the priority list carries a reason as well as a rank.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priority list the Executive Director asked for. All 730 reporting LGAs ranked by modelled zero-dose burden. The full list ships as the NPHCDA LGA Priority Lists workbook, carrying rate, cumulative share, priority band, equity tier and archetype.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archetyping rebuilt at local government level on the Executive Director's request. The earlier unsupervised model was state level. All 774 LGAs are clustered on 15 social and structural measures, using no vaccination data.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five LGA archetypes, each with the response package matched to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maternal and immunization convergence at LGA level, derived from the archetypes.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NEW - the archetype to action operational list, ready for microplanning.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state-level check was the headline. This is the harder test, because agreement always gets noisier the further down you go.
Against the IHME DTP1 surface - an independent product, different team, different method - our local-government ranking agrees at rho of 0.60 across all 730 matched areas. On the tercile grid, 394 areas fall in the same third on both, 292 are one third apart, and only 44 land in opposite thirds; those 44 are flagged for review rather than buried.
Be precise about the claim. IHME's latest year is 2018 and ours is 2026, so the eight-year gap moves the levels but not the broad geography. We are validating the ordering, not asserting an exact district coverage percentage.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tour on what makes it useful in a room. It re-runs live on new uploads, so a review meeting can work with the latest data. ZARA answers questions in plain language and local languages, locked to the live numbers. And it produces the factsheet and brief in one click, all from the same source of truth, with governance for the DIH.</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1.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5.png"/><Relationship Id="rId3"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B57"/>
        </a:solidFill>
        <a:effectLst/>
      </p:bgPr>
    </p:bg>
    <p:spTree>
      <p:nvGrpSpPr>
        <p:cNvPr id="1" name=""/>
        <p:cNvGrpSpPr/>
        <p:nvPr/>
      </p:nvGrpSpPr>
      <p:grpSpPr>
        <a:xfrm>
          <a:off x="0" y="0"/>
          <a:ext cx="0" cy="0"/>
          <a:chOff x="0" y="0"/>
          <a:chExt cx="0" cy="0"/>
        </a:xfrm>
      </p:grpSpPr>
      <p:sp>
        <p:nvSpPr>
          <p:cNvPr id="2" name="Text 0"/>
          <p:cNvSpPr/>
          <p:nvPr/>
        </p:nvSpPr>
        <p:spPr>
          <a:xfrm>
            <a:off x="548640" y="822960"/>
            <a:ext cx="11091672" cy="274320"/>
          </a:xfrm>
          <a:prstGeom prst="rect">
            <a:avLst/>
          </a:prstGeom>
          <a:noFill/>
          <a:ln/>
        </p:spPr>
        <p:txBody>
          <a:bodyPr wrap="square" lIns="0" tIns="0" rIns="0" bIns="0" rtlCol="0" anchor="ctr"/>
          <a:lstStyle/>
          <a:p>
            <a:pPr marL="0" indent="0">
              <a:buNone/>
            </a:pPr>
            <a:r>
              <a:rPr lang="en-US" sz="1400" b="1" kern="0" spc="200" dirty="0">
                <a:solidFill>
                  <a:srgbClr val="9BB8D6"/>
                </a:solidFill>
                <a:latin typeface="Arial" pitchFamily="34" charset="0"/>
                <a:ea typeface="Arial" pitchFamily="34" charset="-122"/>
                <a:cs typeface="Arial" pitchFamily="34" charset="-120"/>
              </a:rPr>
              <a:t>NPHCDA  ·  UNICEF  ·  GAVI</a:t>
            </a:r>
            <a:endParaRPr lang="en-US" sz="1400" dirty="0"/>
          </a:p>
        </p:txBody>
      </p:sp>
      <p:sp>
        <p:nvSpPr>
          <p:cNvPr id="3" name="Text 1"/>
          <p:cNvSpPr/>
          <p:nvPr/>
        </p:nvSpPr>
        <p:spPr>
          <a:xfrm>
            <a:off x="548640" y="1417320"/>
            <a:ext cx="10424160" cy="1737360"/>
          </a:xfrm>
          <a:prstGeom prst="rect">
            <a:avLst/>
          </a:prstGeom>
          <a:noFill/>
          <a:ln/>
        </p:spPr>
        <p:txBody>
          <a:bodyPr wrap="square" lIns="0" tIns="0" rIns="0" bIns="0" rtlCol="0" anchor="t"/>
          <a:lstStyle/>
          <a:p>
            <a:pPr marL="0" indent="0">
              <a:lnSpc>
                <a:spcPct val="115000"/>
              </a:lnSpc>
              <a:buNone/>
            </a:pPr>
            <a:r>
              <a:rPr lang="en-US" sz="4000" b="1" dirty="0">
                <a:solidFill>
                  <a:srgbClr val="FFFFFF"/>
                </a:solidFill>
                <a:latin typeface="Arial" pitchFamily="34" charset="0"/>
                <a:ea typeface="Arial" pitchFamily="34" charset="-122"/>
                <a:cs typeface="Arial" pitchFamily="34" charset="-120"/>
              </a:rPr>
              <a:t>Predictive Modelling of Zero-Dose and</a:t>
            </a:r>
            <a:endParaRPr lang="en-US" sz="4000" dirty="0"/>
          </a:p>
          <a:p>
            <a:r>
              <a:rPr lang="en-US" sz="4000" b="1" dirty="0">
                <a:solidFill>
                  <a:srgbClr val="FFFFFF"/>
                </a:solidFill>
                <a:latin typeface="Arial" pitchFamily="34" charset="0"/>
                <a:ea typeface="Arial" pitchFamily="34" charset="-122"/>
                <a:cs typeface="Arial" pitchFamily="34" charset="-120"/>
              </a:rPr>
              <a:t>Under-Immunized Children for Improved Immunization Decision Making in Nigeria</a:t>
            </a:r>
            <a:endParaRPr lang="en-US" sz="4000" dirty="0"/>
          </a:p>
        </p:txBody>
      </p:sp>
      <p:sp>
        <p:nvSpPr>
          <p:cNvPr id="4" name="Text 2"/>
          <p:cNvSpPr/>
          <p:nvPr/>
        </p:nvSpPr>
        <p:spPr>
          <a:xfrm>
            <a:off x="548640" y="3438331"/>
            <a:ext cx="10424160" cy="365760"/>
          </a:xfrm>
          <a:prstGeom prst="rect">
            <a:avLst/>
          </a:prstGeom>
          <a:noFill/>
          <a:ln/>
        </p:spPr>
        <p:txBody>
          <a:bodyPr wrap="square" lIns="0" tIns="0" rIns="0" bIns="0" rtlCol="0" anchor="t"/>
          <a:lstStyle/>
          <a:p>
            <a:pPr marL="0" indent="0">
              <a:buNone/>
            </a:pPr>
            <a:r>
              <a:rPr lang="en-US" sz="2000" dirty="0">
                <a:solidFill>
                  <a:srgbClr val="CFE0F0"/>
                </a:solidFill>
                <a:latin typeface="Arial" pitchFamily="34" charset="0"/>
                <a:ea typeface="Arial" pitchFamily="34" charset="-122"/>
                <a:cs typeface="Arial" pitchFamily="34" charset="-120"/>
              </a:rPr>
              <a:t>Findings and programme use for the National Routine Immunization (RI) team</a:t>
            </a:r>
            <a:endParaRPr lang="en-US" sz="2000" dirty="0"/>
          </a:p>
        </p:txBody>
      </p:sp>
      <p:sp>
        <p:nvSpPr>
          <p:cNvPr id="5" name="Shape 3"/>
          <p:cNvSpPr/>
          <p:nvPr/>
        </p:nvSpPr>
        <p:spPr>
          <a:xfrm>
            <a:off x="548640" y="3840480"/>
            <a:ext cx="2011680" cy="45720"/>
          </a:xfrm>
          <a:prstGeom prst="rect">
            <a:avLst/>
          </a:prstGeom>
          <a:solidFill>
            <a:srgbClr val="1C7A3D"/>
          </a:solidFill>
          <a:ln/>
        </p:spPr>
        <p:txBody>
          <a:bodyPr/>
          <a:lstStyle/>
          <a:p>
            <a:endParaRPr lang="LID4096"/>
          </a:p>
        </p:txBody>
      </p:sp>
      <p:sp>
        <p:nvSpPr>
          <p:cNvPr id="7" name="Text 5"/>
          <p:cNvSpPr/>
          <p:nvPr/>
        </p:nvSpPr>
        <p:spPr>
          <a:xfrm>
            <a:off x="548640" y="5577840"/>
            <a:ext cx="10424160" cy="777240"/>
          </a:xfrm>
          <a:prstGeom prst="rect">
            <a:avLst/>
          </a:prstGeom>
          <a:noFill/>
          <a:ln/>
        </p:spPr>
        <p:txBody>
          <a:bodyPr wrap="square" lIns="0" tIns="0" rIns="0" bIns="0" rtlCol="0" anchor="t"/>
          <a:lstStyle/>
          <a:p>
            <a:pPr marL="0" indent="0">
              <a:lnSpc>
                <a:spcPct val="125000"/>
              </a:lnSpc>
              <a:buNone/>
            </a:pPr>
            <a:r>
              <a:rPr lang="en-US" sz="1400" dirty="0">
                <a:solidFill>
                  <a:srgbClr val="9BB8D6"/>
                </a:solidFill>
                <a:latin typeface="Arial" pitchFamily="34" charset="0"/>
                <a:ea typeface="Arial" pitchFamily="34" charset="-122"/>
                <a:cs typeface="Arial" pitchFamily="34" charset="-120"/>
              </a:rPr>
              <a:t>Prepared by the CIDRE and Quantium Insights LLC consortium, in technical support of NPHCDA, with UNICEF and Gavi (the global vaccine partnership).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84048"/>
            <a:ext cx="11064240" cy="548640"/>
          </a:xfrm>
          <a:prstGeom prst="rect">
            <a:avLst/>
          </a:prstGeom>
          <a:noFill/>
        </p:spPr>
        <p:txBody>
          <a:bodyPr wrap="square" lIns="0" tIns="0" rIns="0" bIns="0" anchor="t">
            <a:spAutoFit/>
          </a:bodyPr>
          <a:lstStyle/>
          <a:p>
            <a:pPr algn="l"/>
            <a:r>
              <a:rPr sz="2800" b="1">
                <a:solidFill>
                  <a:srgbClr val="1F3B57"/>
                </a:solidFill>
                <a:latin typeface="Arial"/>
              </a:rPr>
              <a:t>Closing the loop on the Executive Director's three requests</a:t>
            </a:r>
          </a:p>
        </p:txBody>
      </p:sp>
      <p:sp>
        <p:nvSpPr>
          <p:cNvPr id="3" name="TextBox 2"/>
          <p:cNvSpPr txBox="1"/>
          <p:nvPr/>
        </p:nvSpPr>
        <p:spPr>
          <a:xfrm>
            <a:off x="548640" y="1042415"/>
            <a:ext cx="10607040" cy="457200"/>
          </a:xfrm>
          <a:prstGeom prst="rect">
            <a:avLst/>
          </a:prstGeom>
          <a:noFill/>
        </p:spPr>
        <p:txBody>
          <a:bodyPr wrap="square" lIns="0" tIns="0" rIns="0" bIns="0" anchor="t">
            <a:spAutoFit/>
          </a:bodyPr>
          <a:lstStyle/>
          <a:p>
            <a:pPr algn="l">
              <a:lnSpc>
                <a:spcPct val="125000"/>
              </a:lnSpc>
            </a:pPr>
            <a:r>
              <a:rPr sz="1300" b="0">
                <a:solidFill>
                  <a:srgbClr val="5C6B78"/>
                </a:solidFill>
                <a:latin typeface="Arial"/>
              </a:rPr>
              <a:t>All three are complete. Each is answered by slides added or rebuilt since the last review, tagged so they can be checked off one by one.</a:t>
            </a:r>
          </a:p>
        </p:txBody>
      </p:sp>
      <p:sp>
        <p:nvSpPr>
          <p:cNvPr id="4" name="Rounded Rectangle 3"/>
          <p:cNvSpPr/>
          <p:nvPr/>
        </p:nvSpPr>
        <p:spPr>
          <a:xfrm>
            <a:off x="548640"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822959"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1</a:t>
            </a:r>
          </a:p>
        </p:txBody>
      </p:sp>
      <p:sp>
        <p:nvSpPr>
          <p:cNvPr id="6" name="Rounded Rectangle 5"/>
          <p:cNvSpPr/>
          <p:nvPr/>
        </p:nvSpPr>
        <p:spPr>
          <a:xfrm>
            <a:off x="2660904"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7" name="TextBox 6"/>
          <p:cNvSpPr txBox="1"/>
          <p:nvPr/>
        </p:nvSpPr>
        <p:spPr>
          <a:xfrm>
            <a:off x="822959"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Nine more antigens,
beyond the original four</a:t>
            </a:r>
          </a:p>
        </p:txBody>
      </p:sp>
      <p:sp>
        <p:nvSpPr>
          <p:cNvPr id="8" name="TextBox 7"/>
          <p:cNvSpPr txBox="1"/>
          <p:nvPr/>
        </p:nvSpPr>
        <p:spPr>
          <a:xfrm>
            <a:off x="822959"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9" name="TextBox 8"/>
          <p:cNvSpPr txBox="1"/>
          <p:nvPr/>
        </p:nvSpPr>
        <p:spPr>
          <a:xfrm>
            <a:off x="822959"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Add indicators beyond BCG, Penta1, Penta3 and Measles1.</a:t>
            </a:r>
          </a:p>
        </p:txBody>
      </p:sp>
      <p:sp>
        <p:nvSpPr>
          <p:cNvPr id="10" name="TextBox 9"/>
          <p:cNvSpPr txBox="1"/>
          <p:nvPr/>
        </p:nvSpPr>
        <p:spPr>
          <a:xfrm>
            <a:off x="822959"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11" name="TextBox 10"/>
          <p:cNvSpPr txBox="1"/>
          <p:nvPr/>
        </p:nvSpPr>
        <p:spPr>
          <a:xfrm>
            <a:off x="822959" y="4306824"/>
            <a:ext cx="3026664" cy="352341"/>
          </a:xfrm>
          <a:prstGeom prst="rect">
            <a:avLst/>
          </a:prstGeom>
          <a:noFill/>
        </p:spPr>
        <p:txBody>
          <a:bodyPr wrap="square" lIns="0" tIns="0" rIns="0" bIns="0" anchor="t">
            <a:spAutoFit/>
          </a:bodyPr>
          <a:lstStyle/>
          <a:p>
            <a:pPr algn="l">
              <a:lnSpc>
                <a:spcPct val="120000"/>
              </a:lnSpc>
            </a:pPr>
            <a:r>
              <a:rPr sz="1000" b="0" dirty="0">
                <a:solidFill>
                  <a:srgbClr val="22333F"/>
                </a:solidFill>
                <a:latin typeface="Arial"/>
              </a:rPr>
              <a:t>Nine antigens added: OPV3, IPV1, PCV3, Yellow Fever, Meningitis A</a:t>
            </a:r>
            <a:r>
              <a:rPr lang="en-US" sz="1000" dirty="0">
                <a:solidFill>
                  <a:srgbClr val="22333F"/>
                </a:solidFill>
                <a:latin typeface="Arial"/>
              </a:rPr>
              <a:t>, </a:t>
            </a:r>
            <a:r>
              <a:rPr sz="1000" b="0" dirty="0">
                <a:solidFill>
                  <a:srgbClr val="22333F"/>
                </a:solidFill>
                <a:latin typeface="Arial"/>
              </a:rPr>
              <a:t>IPV2, </a:t>
            </a:r>
            <a:r>
              <a:rPr lang="en-US" sz="1000" b="0" dirty="0">
                <a:solidFill>
                  <a:srgbClr val="22333F"/>
                </a:solidFill>
                <a:latin typeface="Arial"/>
              </a:rPr>
              <a:t>and </a:t>
            </a:r>
            <a:r>
              <a:rPr sz="1000" b="0" dirty="0">
                <a:solidFill>
                  <a:srgbClr val="22333F"/>
                </a:solidFill>
                <a:latin typeface="Arial"/>
              </a:rPr>
              <a:t>Rotavirus 1 to 3.</a:t>
            </a:r>
          </a:p>
        </p:txBody>
      </p:sp>
      <p:sp>
        <p:nvSpPr>
          <p:cNvPr id="12" name="Rounded Rectangle 11"/>
          <p:cNvSpPr/>
          <p:nvPr/>
        </p:nvSpPr>
        <p:spPr>
          <a:xfrm>
            <a:off x="822959"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 11</a:t>
            </a:r>
          </a:p>
        </p:txBody>
      </p:sp>
      <p:sp>
        <p:nvSpPr>
          <p:cNvPr id="13" name="Rounded Rectangle 12"/>
          <p:cNvSpPr/>
          <p:nvPr/>
        </p:nvSpPr>
        <p:spPr>
          <a:xfrm>
            <a:off x="4306824"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81144"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2</a:t>
            </a:r>
          </a:p>
        </p:txBody>
      </p:sp>
      <p:sp>
        <p:nvSpPr>
          <p:cNvPr id="15" name="Rounded Rectangle 14"/>
          <p:cNvSpPr/>
          <p:nvPr/>
        </p:nvSpPr>
        <p:spPr>
          <a:xfrm>
            <a:off x="6419088"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16" name="TextBox 15"/>
          <p:cNvSpPr txBox="1"/>
          <p:nvPr/>
        </p:nvSpPr>
        <p:spPr>
          <a:xfrm>
            <a:off x="4581144"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Archetyping rebuilt
at local government level</a:t>
            </a:r>
          </a:p>
        </p:txBody>
      </p:sp>
      <p:sp>
        <p:nvSpPr>
          <p:cNvPr id="17" name="TextBox 16"/>
          <p:cNvSpPr txBox="1"/>
          <p:nvPr/>
        </p:nvSpPr>
        <p:spPr>
          <a:xfrm>
            <a:off x="4581144"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18" name="TextBox 17"/>
          <p:cNvSpPr txBox="1"/>
          <p:nvPr/>
        </p:nvSpPr>
        <p:spPr>
          <a:xfrm>
            <a:off x="4581144"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The unsupervised model was at state level. Take archetyping down to LGA.</a:t>
            </a:r>
          </a:p>
        </p:txBody>
      </p:sp>
      <p:sp>
        <p:nvSpPr>
          <p:cNvPr id="19" name="TextBox 18"/>
          <p:cNvSpPr txBox="1"/>
          <p:nvPr/>
        </p:nvSpPr>
        <p:spPr>
          <a:xfrm>
            <a:off x="4581144"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0" name="TextBox 19"/>
          <p:cNvSpPr txBox="1"/>
          <p:nvPr/>
        </p:nvSpPr>
        <p:spPr>
          <a:xfrm>
            <a:off x="4581144" y="4306824"/>
            <a:ext cx="3026664" cy="615553"/>
          </a:xfrm>
          <a:prstGeom prst="rect">
            <a:avLst/>
          </a:prstGeom>
          <a:noFill/>
        </p:spPr>
        <p:txBody>
          <a:bodyPr wrap="square" lIns="0" tIns="0" rIns="0" bIns="0" anchor="t">
            <a:spAutoFit/>
          </a:bodyPr>
          <a:lstStyle/>
          <a:p>
            <a:r>
              <a:rPr sz="1000" b="0" dirty="0">
                <a:solidFill>
                  <a:srgbClr val="22333F"/>
                </a:solidFill>
                <a:latin typeface="Arial"/>
              </a:rPr>
              <a:t>All 774 LGAs grouped into five contextual profiles from 15 local indicators, using no zero-dose or coverage estimate, with candidate packages from each LGA's measured barriers. Two profiles hold 1.52 million missed children.</a:t>
            </a:r>
          </a:p>
        </p:txBody>
      </p:sp>
      <p:sp>
        <p:nvSpPr>
          <p:cNvPr id="21" name="Rounded Rectangle 20"/>
          <p:cNvSpPr/>
          <p:nvPr/>
        </p:nvSpPr>
        <p:spPr>
          <a:xfrm>
            <a:off x="4581144"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1C7A3D"/>
                </a:solidFill>
                <a:latin typeface="Arial"/>
              </a:rPr>
              <a:t>New slides 20 to 23</a:t>
            </a:r>
          </a:p>
        </p:txBody>
      </p:sp>
      <p:sp>
        <p:nvSpPr>
          <p:cNvPr id="22" name="Rounded Rectangle 21"/>
          <p:cNvSpPr/>
          <p:nvPr/>
        </p:nvSpPr>
        <p:spPr>
          <a:xfrm>
            <a:off x="8065008" y="1783080"/>
            <a:ext cx="3575304" cy="3950208"/>
          </a:xfrm>
          <a:prstGeom prst="roundRect">
            <a:avLst>
              <a:gd name="adj" fmla="val 3500"/>
            </a:avLst>
          </a:prstGeom>
          <a:solidFill>
            <a:srgbClr val="EEF2F6"/>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339328" y="2039112"/>
            <a:ext cx="475488" cy="475488"/>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FFFFFF"/>
                </a:solidFill>
                <a:latin typeface="Arial"/>
              </a:rPr>
              <a:t>3</a:t>
            </a:r>
          </a:p>
        </p:txBody>
      </p:sp>
      <p:sp>
        <p:nvSpPr>
          <p:cNvPr id="24" name="Rounded Rectangle 23"/>
          <p:cNvSpPr/>
          <p:nvPr/>
        </p:nvSpPr>
        <p:spPr>
          <a:xfrm>
            <a:off x="10177272" y="2148840"/>
            <a:ext cx="1188720" cy="256032"/>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COMPLETE</a:t>
            </a:r>
          </a:p>
        </p:txBody>
      </p:sp>
      <p:sp>
        <p:nvSpPr>
          <p:cNvPr id="25" name="TextBox 24"/>
          <p:cNvSpPr txBox="1"/>
          <p:nvPr/>
        </p:nvSpPr>
        <p:spPr>
          <a:xfrm>
            <a:off x="8339328" y="2670048"/>
            <a:ext cx="3026664" cy="713232"/>
          </a:xfrm>
          <a:prstGeom prst="rect">
            <a:avLst/>
          </a:prstGeom>
          <a:noFill/>
        </p:spPr>
        <p:txBody>
          <a:bodyPr wrap="square" lIns="0" tIns="0" rIns="0" bIns="0" anchor="t">
            <a:spAutoFit/>
          </a:bodyPr>
          <a:lstStyle/>
          <a:p>
            <a:pPr algn="l">
              <a:lnSpc>
                <a:spcPct val="112000"/>
              </a:lnSpc>
            </a:pPr>
            <a:r>
              <a:rPr sz="1550" b="1">
                <a:solidFill>
                  <a:srgbClr val="1F3B57"/>
                </a:solidFill>
                <a:latin typeface="Arial"/>
              </a:rPr>
              <a:t>The priority states and
LGAs, named and ranked</a:t>
            </a:r>
          </a:p>
        </p:txBody>
      </p:sp>
      <p:sp>
        <p:nvSpPr>
          <p:cNvPr id="26" name="TextBox 25"/>
          <p:cNvSpPr txBox="1"/>
          <p:nvPr/>
        </p:nvSpPr>
        <p:spPr>
          <a:xfrm>
            <a:off x="8339328" y="3447288"/>
            <a:ext cx="3026664" cy="164592"/>
          </a:xfrm>
          <a:prstGeom prst="rect">
            <a:avLst/>
          </a:prstGeom>
          <a:noFill/>
        </p:spPr>
        <p:txBody>
          <a:bodyPr wrap="square" lIns="0" tIns="0" rIns="0" bIns="0" anchor="t">
            <a:spAutoFit/>
          </a:bodyPr>
          <a:lstStyle/>
          <a:p>
            <a:pPr algn="l"/>
            <a:r>
              <a:rPr sz="850" b="1">
                <a:solidFill>
                  <a:srgbClr val="1C7A3D"/>
                </a:solidFill>
                <a:latin typeface="Arial"/>
              </a:rPr>
              <a:t>WHAT YOU ASKED</a:t>
            </a:r>
          </a:p>
        </p:txBody>
      </p:sp>
      <p:sp>
        <p:nvSpPr>
          <p:cNvPr id="27" name="TextBox 26"/>
          <p:cNvSpPr txBox="1"/>
          <p:nvPr/>
        </p:nvSpPr>
        <p:spPr>
          <a:xfrm>
            <a:off x="8339328" y="3648456"/>
            <a:ext cx="3026664" cy="457200"/>
          </a:xfrm>
          <a:prstGeom prst="rect">
            <a:avLst/>
          </a:prstGeom>
          <a:noFill/>
        </p:spPr>
        <p:txBody>
          <a:bodyPr wrap="square" lIns="0" tIns="0" rIns="0" bIns="0" anchor="t">
            <a:spAutoFit/>
          </a:bodyPr>
          <a:lstStyle/>
          <a:p>
            <a:pPr algn="l">
              <a:lnSpc>
                <a:spcPct val="122000"/>
              </a:lnSpc>
            </a:pPr>
            <a:r>
              <a:rPr sz="1050" b="0">
                <a:solidFill>
                  <a:srgbClr val="22333F"/>
                </a:solidFill>
                <a:latin typeface="Arial"/>
              </a:rPr>
              <a:t>Give the priority states and LGAs for zero-dose focus.</a:t>
            </a:r>
          </a:p>
        </p:txBody>
      </p:sp>
      <p:sp>
        <p:nvSpPr>
          <p:cNvPr id="28" name="TextBox 27"/>
          <p:cNvSpPr txBox="1"/>
          <p:nvPr/>
        </p:nvSpPr>
        <p:spPr>
          <a:xfrm>
            <a:off x="8339328" y="4123944"/>
            <a:ext cx="3026664" cy="164592"/>
          </a:xfrm>
          <a:prstGeom prst="rect">
            <a:avLst/>
          </a:prstGeom>
          <a:noFill/>
        </p:spPr>
        <p:txBody>
          <a:bodyPr wrap="square" lIns="0" tIns="0" rIns="0" bIns="0" anchor="t">
            <a:spAutoFit/>
          </a:bodyPr>
          <a:lstStyle/>
          <a:p>
            <a:pPr algn="l"/>
            <a:r>
              <a:rPr sz="850" b="1">
                <a:solidFill>
                  <a:srgbClr val="1C7A3D"/>
                </a:solidFill>
                <a:latin typeface="Arial"/>
              </a:rPr>
              <a:t>WHAT WAS DELIVERED</a:t>
            </a:r>
          </a:p>
        </p:txBody>
      </p:sp>
      <p:sp>
        <p:nvSpPr>
          <p:cNvPr id="29" name="TextBox 28"/>
          <p:cNvSpPr txBox="1"/>
          <p:nvPr/>
        </p:nvSpPr>
        <p:spPr>
          <a:xfrm>
            <a:off x="8339328" y="4306824"/>
            <a:ext cx="3026664" cy="868680"/>
          </a:xfrm>
          <a:prstGeom prst="rect">
            <a:avLst/>
          </a:prstGeom>
          <a:noFill/>
        </p:spPr>
        <p:txBody>
          <a:bodyPr wrap="square" lIns="0" tIns="0" rIns="0" bIns="0" anchor="t">
            <a:spAutoFit/>
          </a:bodyPr>
          <a:lstStyle/>
          <a:p>
            <a:pPr algn="l">
              <a:lnSpc>
                <a:spcPct val="120000"/>
              </a:lnSpc>
            </a:pPr>
            <a:r>
              <a:rPr sz="1000" b="0">
                <a:solidFill>
                  <a:srgbClr val="22333F"/>
                </a:solidFill>
                <a:latin typeface="Arial"/>
              </a:rPr>
              <a:t>All 773 modelled LGAs ranked by burden, each carrying its rate, cumulative share, priority band, equity tier and archetype. 151 LGAs cover half of the burden; 342 cover 80 percent.</a:t>
            </a:r>
          </a:p>
        </p:txBody>
      </p:sp>
      <p:sp>
        <p:nvSpPr>
          <p:cNvPr id="30" name="Rounded Rectangle 29"/>
          <p:cNvSpPr/>
          <p:nvPr/>
        </p:nvSpPr>
        <p:spPr>
          <a:xfrm>
            <a:off x="8339328" y="5202936"/>
            <a:ext cx="3026664" cy="310896"/>
          </a:xfrm>
          <a:prstGeom prst="roundRect">
            <a:avLst>
              <a:gd name="adj" fmla="val 22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100" b="1" dirty="0">
                <a:solidFill>
                  <a:srgbClr val="1C7A3D"/>
                </a:solidFill>
                <a:latin typeface="Arial"/>
              </a:rPr>
              <a:t>New slide 19</a:t>
            </a:r>
          </a:p>
        </p:txBody>
      </p:sp>
      <p:sp>
        <p:nvSpPr>
          <p:cNvPr id="31" name="Rounded Rectangle 30"/>
          <p:cNvSpPr/>
          <p:nvPr/>
        </p:nvSpPr>
        <p:spPr>
          <a:xfrm>
            <a:off x="548640" y="5961888"/>
            <a:ext cx="11091672" cy="420624"/>
          </a:xfrm>
          <a:prstGeom prst="roundRect">
            <a:avLst>
              <a:gd name="adj" fmla="val 16000"/>
            </a:avLst>
          </a:prstGeom>
          <a:solidFill>
            <a:srgbClr val="E7F1EB"/>
          </a:solidFill>
          <a:ln>
            <a:noFill/>
          </a:ln>
          <a:effectLst/>
        </p:spPr>
        <p:style>
          <a:lnRef idx="1">
            <a:schemeClr val="accent1"/>
          </a:lnRef>
          <a:fillRef idx="3">
            <a:schemeClr val="accent1"/>
          </a:fillRef>
          <a:effectRef idx="2">
            <a:schemeClr val="accent1"/>
          </a:effectRef>
          <a:fontRef idx="minor">
            <a:schemeClr val="lt1"/>
          </a:fontRef>
        </p:style>
        <p:txBody>
          <a:bodyPr lIns="164592" tIns="0" rIns="164592" bIns="0" rtlCol="0" anchor="ctr"/>
          <a:lstStyle/>
          <a:p>
            <a:pPr algn="l"/>
            <a:r>
              <a:rPr sz="1050" b="1">
                <a:solidFill>
                  <a:srgbClr val="1C7A3D"/>
                </a:solidFill>
                <a:latin typeface="Arial"/>
              </a:rPr>
              <a:t>How to verify.  </a:t>
            </a:r>
            <a:r>
              <a:rPr sz="1050" b="0">
                <a:solidFill>
                  <a:srgbClr val="22333F"/>
                </a:solidFill>
                <a:latin typeface="Arial"/>
              </a:rPr>
              <a:t>The six slides answering these requests carry a green tag in the top-right corner: 11, 19, 20, 21, 22 and 23.</a:t>
            </a:r>
          </a:p>
        </p:txBody>
      </p:sp>
      <p:sp>
        <p:nvSpPr>
          <p:cNvPr id="32" name="TextBox 31"/>
          <p:cNvSpPr txBox="1"/>
          <p:nvPr/>
        </p:nvSpPr>
        <p:spPr>
          <a:xfrm>
            <a:off x="548640" y="6510528"/>
            <a:ext cx="11091672" cy="219456"/>
          </a:xfrm>
          <a:prstGeom prst="rect">
            <a:avLst/>
          </a:prstGeom>
          <a:noFill/>
        </p:spPr>
        <p:txBody>
          <a:bodyPr wrap="square" lIns="0" tIns="0" rIns="0" bIns="0" anchor="t">
            <a:spAutoFit/>
          </a:bodyPr>
          <a:lstStyle/>
          <a:p>
            <a:pPr algn="l"/>
            <a:r>
              <a:rPr sz="800" b="0">
                <a:solidFill>
                  <a:srgbClr val="5C6B78"/>
                </a:solidFill>
                <a:latin typeface="Arial"/>
              </a:rPr>
              <a:t>Requests recorded at the Executive Director's review of the first presentation. Prepared by the CIDRE and Quantium Insights LLC consortium, in technical support of NPHCDA.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66928" y="530352"/>
            <a:ext cx="11055096"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noProof="0" dirty="0">
                <a:ln>
                  <a:noFill/>
                </a:ln>
                <a:effectLst/>
                <a:uLnTx/>
                <a:uFillTx/>
                <a:latin typeface="Calibri" pitchFamily="34" charset="0"/>
                <a:ea typeface="Calibri" pitchFamily="34" charset="-122"/>
                <a:cs typeface="Calibri" pitchFamily="34" charset="-120"/>
              </a:rPr>
              <a:t>Outline</a:t>
            </a:r>
            <a:endParaRPr kumimoji="0" lang="en-US" sz="3200" b="0" i="0" u="none" strike="noStrike" kern="1200" cap="none" spc="0" normalizeH="0" noProof="0" dirty="0">
              <a:ln>
                <a:noFill/>
              </a:ln>
              <a:effectLst/>
              <a:uLnTx/>
              <a:uFillTx/>
              <a:latin typeface="Calibri" panose="020F0502020204030204"/>
              <a:ea typeface="+mn-ea"/>
              <a:cs typeface="+mn-cs"/>
            </a:endParaRPr>
          </a:p>
        </p:txBody>
      </p:sp>
      <p:sp>
        <p:nvSpPr>
          <p:cNvPr id="5" name="Shape 3"/>
          <p:cNvSpPr/>
          <p:nvPr/>
        </p:nvSpPr>
        <p:spPr>
          <a:xfrm>
            <a:off x="566928" y="173736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768096" y="179222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768096" y="179222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435608" y="173736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Project summary: project journey, outputs and handover</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701784" y="173736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566928" y="235915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768096" y="241401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768096" y="241401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1435608" y="235915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Key results and programme messages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9701784" y="235915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66928" y="2980944"/>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768096" y="3035808"/>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68096" y="3035808"/>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435608" y="2980944"/>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Modelling approach: two Bayesian methods, from state estimates to every LGA</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701784" y="2980944"/>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566928" y="3602736"/>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768096" y="3657600"/>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768096" y="3657600"/>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1435608" y="3602736"/>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External benchmarks and an independent Concordant check</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9701784" y="3602736"/>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66928" y="4224528"/>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768096" y="4279392"/>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68096" y="4279392"/>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1435608" y="4224528"/>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Practical use and use cases for decision-making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9701784" y="4224528"/>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566928" y="4846320"/>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768096" y="4901184"/>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768096" y="4901184"/>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6</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435608" y="4846320"/>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Methodological considerations: data quality, model transparency, archetype robustness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9701784" y="4846320"/>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566928" y="5468112"/>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768096" y="552297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LID4096"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768096" y="5522976"/>
            <a:ext cx="420624"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1435608" y="5468112"/>
            <a:ext cx="8311896" cy="5303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Hugging Face application: filtering, outputs, programme support and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9701784" y="5468112"/>
            <a:ext cx="1691640" cy="53035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11164824" y="6382512"/>
            <a:ext cx="45720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C7185"/>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3">
            <a:extLst>
              <a:ext uri="{FF2B5EF4-FFF2-40B4-BE49-F238E27FC236}">
                <a16:creationId xmlns:a16="http://schemas.microsoft.com/office/drawing/2014/main" id="{5CC6D308-C2E8-CF34-7DF0-AE0157CC9CF6}"/>
              </a:ext>
            </a:extLst>
          </p:cNvPr>
          <p:cNvSpPr/>
          <p:nvPr/>
        </p:nvSpPr>
        <p:spPr>
          <a:xfrm>
            <a:off x="566928" y="6066361"/>
            <a:ext cx="11055096" cy="530352"/>
          </a:xfrm>
          <a:prstGeom prst="roundRect">
            <a:avLst>
              <a:gd name="adj" fmla="val 10345"/>
            </a:avLst>
          </a:prstGeom>
          <a:solidFill>
            <a:srgbClr val="1E3A5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               </a:t>
            </a:r>
            <a:r>
              <a:rPr kumimoji="0" lang="en-US" sz="1350" b="1" i="0" u="none" strike="noStrike" kern="1200" cap="none" spc="0" normalizeH="0" noProof="0" dirty="0">
                <a:ln>
                  <a:noFill/>
                </a:ln>
                <a:solidFill>
                  <a:schemeClr val="bg1"/>
                </a:solidFill>
                <a:effectLst/>
                <a:uLnTx/>
                <a:uFillTx/>
                <a:latin typeface="Calibri" panose="020F0502020204030204"/>
                <a:ea typeface="+mn-ea"/>
                <a:cs typeface="+mn-cs"/>
              </a:rPr>
              <a:t>Recommendations</a:t>
            </a:r>
            <a:endParaRPr kumimoji="0" lang="LID4096" sz="135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34">
            <a:extLst>
              <a:ext uri="{FF2B5EF4-FFF2-40B4-BE49-F238E27FC236}">
                <a16:creationId xmlns:a16="http://schemas.microsoft.com/office/drawing/2014/main" id="{F76A3AD6-D31E-E1F6-2E19-CF368441A0A2}"/>
              </a:ext>
            </a:extLst>
          </p:cNvPr>
          <p:cNvSpPr/>
          <p:nvPr/>
        </p:nvSpPr>
        <p:spPr>
          <a:xfrm>
            <a:off x="710184" y="6117336"/>
            <a:ext cx="420624" cy="420624"/>
          </a:xfrm>
          <a:prstGeom prst="ellipse">
            <a:avLst/>
          </a:prstGeom>
          <a:solidFill>
            <a:srgbClr val="1C7A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bg1"/>
                </a:solidFill>
                <a:effectLst/>
                <a:uLnTx/>
                <a:uFillTx/>
                <a:latin typeface="Calibri" panose="020F0502020204030204"/>
                <a:ea typeface="+mn-ea"/>
                <a:cs typeface="+mn-cs"/>
              </a:rPr>
              <a:t>8</a:t>
            </a:r>
            <a:endParaRPr kumimoji="0" lang="LID4096" sz="1800" b="0" i="0" u="none" strike="noStrike" kern="1200" cap="none" spc="0" normalizeH="0" noProof="0" dirty="0">
              <a:ln>
                <a:noFill/>
              </a:ln>
              <a:solidFill>
                <a:schemeClr val="bg1"/>
              </a:solidFill>
              <a:effectLst/>
              <a:uLnTx/>
              <a:uFillTx/>
              <a:latin typeface="Calibri" panose="020F0502020204030204"/>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Project journey: inception to handover</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integrated cycle over six months, from assessment to handover.</a:t>
            </a:r>
            <a:endParaRPr lang="en-US" sz="1800" dirty="0"/>
          </a:p>
        </p:txBody>
      </p:sp>
      <p:sp>
        <p:nvSpPr>
          <p:cNvPr id="4" name="Shape 2"/>
          <p:cNvSpPr/>
          <p:nvPr/>
        </p:nvSpPr>
        <p:spPr>
          <a:xfrm>
            <a:off x="1613916" y="1620774"/>
            <a:ext cx="8961120" cy="0"/>
          </a:xfrm>
          <a:prstGeom prst="line">
            <a:avLst/>
          </a:prstGeom>
          <a:noFill/>
          <a:ln w="25400">
            <a:solidFill>
              <a:srgbClr val="C9D6E2"/>
            </a:solidFill>
            <a:prstDash val="solid"/>
          </a:ln>
        </p:spPr>
        <p:txBody>
          <a:bodyPr/>
          <a:lstStyle/>
          <a:p>
            <a:endParaRPr lang="LID4096"/>
          </a:p>
        </p:txBody>
      </p:sp>
      <p:sp>
        <p:nvSpPr>
          <p:cNvPr id="5" name="Text 3"/>
          <p:cNvSpPr/>
          <p:nvPr/>
        </p:nvSpPr>
        <p:spPr>
          <a:xfrm>
            <a:off x="106527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a:t>
            </a:r>
            <a:endParaRPr lang="en-US" sz="1400" dirty="0"/>
          </a:p>
        </p:txBody>
      </p:sp>
      <p:sp>
        <p:nvSpPr>
          <p:cNvPr id="6" name="Shape 4"/>
          <p:cNvSpPr/>
          <p:nvPr/>
        </p:nvSpPr>
        <p:spPr>
          <a:xfrm>
            <a:off x="149504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7" name="Shape 5"/>
          <p:cNvSpPr/>
          <p:nvPr/>
        </p:nvSpPr>
        <p:spPr>
          <a:xfrm>
            <a:off x="54864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65836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Inception and governance</a:t>
            </a:r>
            <a:endParaRPr lang="en-US" sz="1500" dirty="0"/>
          </a:p>
        </p:txBody>
      </p:sp>
      <p:sp>
        <p:nvSpPr>
          <p:cNvPr id="9" name="Text 7"/>
          <p:cNvSpPr/>
          <p:nvPr/>
        </p:nvSpPr>
        <p:spPr>
          <a:xfrm>
            <a:off x="65836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Kickoff, workplan, data inventory, stakeholder alignment</a:t>
            </a:r>
            <a:endParaRPr lang="en-US" sz="1400" dirty="0"/>
          </a:p>
        </p:txBody>
      </p:sp>
      <p:sp>
        <p:nvSpPr>
          <p:cNvPr id="10" name="Text 8"/>
          <p:cNvSpPr/>
          <p:nvPr/>
        </p:nvSpPr>
        <p:spPr>
          <a:xfrm>
            <a:off x="330555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M1-M2</a:t>
            </a:r>
            <a:endParaRPr lang="en-US" sz="1400" dirty="0"/>
          </a:p>
        </p:txBody>
      </p:sp>
      <p:sp>
        <p:nvSpPr>
          <p:cNvPr id="11" name="Shape 9"/>
          <p:cNvSpPr/>
          <p:nvPr/>
        </p:nvSpPr>
        <p:spPr>
          <a:xfrm>
            <a:off x="373532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2" name="Shape 10"/>
          <p:cNvSpPr/>
          <p:nvPr/>
        </p:nvSpPr>
        <p:spPr>
          <a:xfrm>
            <a:off x="278892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3" name="Text 11"/>
          <p:cNvSpPr/>
          <p:nvPr/>
        </p:nvSpPr>
        <p:spPr>
          <a:xfrm>
            <a:off x="289864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Baseline and modelling questions</a:t>
            </a:r>
            <a:endParaRPr lang="en-US" sz="1500" dirty="0"/>
          </a:p>
        </p:txBody>
      </p:sp>
      <p:sp>
        <p:nvSpPr>
          <p:cNvPr id="14" name="Text 12"/>
          <p:cNvSpPr/>
          <p:nvPr/>
        </p:nvSpPr>
        <p:spPr>
          <a:xfrm>
            <a:off x="289864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Readiness review, decision-use questions, use-case matrix</a:t>
            </a:r>
            <a:endParaRPr lang="en-US" sz="1400" dirty="0"/>
          </a:p>
        </p:txBody>
      </p:sp>
      <p:sp>
        <p:nvSpPr>
          <p:cNvPr id="15" name="Text 13"/>
          <p:cNvSpPr/>
          <p:nvPr/>
        </p:nvSpPr>
        <p:spPr>
          <a:xfrm>
            <a:off x="554583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M3</a:t>
            </a:r>
            <a:endParaRPr lang="en-US" sz="1400" dirty="0"/>
          </a:p>
        </p:txBody>
      </p:sp>
      <p:sp>
        <p:nvSpPr>
          <p:cNvPr id="16" name="Shape 14"/>
          <p:cNvSpPr/>
          <p:nvPr/>
        </p:nvSpPr>
        <p:spPr>
          <a:xfrm>
            <a:off x="597560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17" name="Shape 15"/>
          <p:cNvSpPr/>
          <p:nvPr/>
        </p:nvSpPr>
        <p:spPr>
          <a:xfrm>
            <a:off x="502920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18" name="Text 16"/>
          <p:cNvSpPr/>
          <p:nvPr/>
        </p:nvSpPr>
        <p:spPr>
          <a:xfrm>
            <a:off x="513892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Capacity building</a:t>
            </a:r>
            <a:endParaRPr lang="en-US" sz="1500" dirty="0"/>
          </a:p>
        </p:txBody>
      </p:sp>
      <p:sp>
        <p:nvSpPr>
          <p:cNvPr id="19" name="Text 17"/>
          <p:cNvSpPr/>
          <p:nvPr/>
        </p:nvSpPr>
        <p:spPr>
          <a:xfrm>
            <a:off x="513892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Self-learning, virtual class, in-person fellowship, tests</a:t>
            </a:r>
            <a:endParaRPr lang="en-US" sz="1400" dirty="0"/>
          </a:p>
        </p:txBody>
      </p:sp>
      <p:sp>
        <p:nvSpPr>
          <p:cNvPr id="20" name="Text 18"/>
          <p:cNvSpPr/>
          <p:nvPr/>
        </p:nvSpPr>
        <p:spPr>
          <a:xfrm>
            <a:off x="7786116" y="1227582"/>
            <a:ext cx="1097280" cy="237744"/>
          </a:xfrm>
          <a:prstGeom prst="rect">
            <a:avLst/>
          </a:prstGeom>
          <a:noFill/>
          <a:ln/>
        </p:spPr>
        <p:txBody>
          <a:bodyPr wrap="square" lIns="0" tIns="0" rIns="0" bIns="0" rtlCol="0" anchor="t"/>
          <a:lstStyle/>
          <a:p>
            <a:pPr marL="0" indent="0" algn="ctr">
              <a:buNone/>
            </a:pPr>
            <a:r>
              <a:rPr lang="en-US" sz="1400" b="1" dirty="0">
                <a:solidFill>
                  <a:srgbClr val="2E6E8E"/>
                </a:solidFill>
                <a:latin typeface="Arial" pitchFamily="34" charset="0"/>
                <a:ea typeface="Arial" pitchFamily="34" charset="-122"/>
                <a:cs typeface="Arial" pitchFamily="34" charset="-120"/>
              </a:rPr>
              <a:t>M4-M5</a:t>
            </a:r>
            <a:endParaRPr lang="en-US" sz="1400" dirty="0"/>
          </a:p>
        </p:txBody>
      </p:sp>
      <p:sp>
        <p:nvSpPr>
          <p:cNvPr id="21" name="Shape 19"/>
          <p:cNvSpPr/>
          <p:nvPr/>
        </p:nvSpPr>
        <p:spPr>
          <a:xfrm>
            <a:off x="8215884" y="1501902"/>
            <a:ext cx="237744" cy="237744"/>
          </a:xfrm>
          <a:prstGeom prst="ellipse">
            <a:avLst/>
          </a:prstGeom>
          <a:solidFill>
            <a:srgbClr val="2E6E8E"/>
          </a:solidFill>
          <a:ln w="19050">
            <a:solidFill>
              <a:srgbClr val="FFFFFF"/>
            </a:solidFill>
            <a:prstDash val="solid"/>
          </a:ln>
        </p:spPr>
        <p:txBody>
          <a:bodyPr/>
          <a:lstStyle/>
          <a:p>
            <a:endParaRPr lang="LID4096"/>
          </a:p>
        </p:txBody>
      </p:sp>
      <p:sp>
        <p:nvSpPr>
          <p:cNvPr id="22" name="Shape 20"/>
          <p:cNvSpPr/>
          <p:nvPr/>
        </p:nvSpPr>
        <p:spPr>
          <a:xfrm>
            <a:off x="7269480" y="1885950"/>
            <a:ext cx="2130552" cy="1363828"/>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7379208" y="1995678"/>
            <a:ext cx="1911096" cy="25746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Applied modelling</a:t>
            </a:r>
            <a:endParaRPr lang="en-US" sz="1500" dirty="0"/>
          </a:p>
        </p:txBody>
      </p:sp>
      <p:sp>
        <p:nvSpPr>
          <p:cNvPr id="24" name="Text 22"/>
          <p:cNvSpPr/>
          <p:nvPr/>
        </p:nvSpPr>
        <p:spPr>
          <a:xfrm>
            <a:off x="7379208" y="2289715"/>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Group mentorship, abstracts, model validation, domain outputs</a:t>
            </a:r>
            <a:endParaRPr lang="en-US" sz="1400" dirty="0"/>
          </a:p>
        </p:txBody>
      </p:sp>
      <p:sp>
        <p:nvSpPr>
          <p:cNvPr id="25" name="Text 23"/>
          <p:cNvSpPr/>
          <p:nvPr/>
        </p:nvSpPr>
        <p:spPr>
          <a:xfrm>
            <a:off x="10026396" y="1227582"/>
            <a:ext cx="1097280" cy="237744"/>
          </a:xfrm>
          <a:prstGeom prst="rect">
            <a:avLst/>
          </a:prstGeom>
          <a:noFill/>
          <a:ln/>
        </p:spPr>
        <p:txBody>
          <a:bodyPr wrap="square" lIns="0" tIns="0" rIns="0" bIns="0" rtlCol="0" anchor="t"/>
          <a:lstStyle/>
          <a:p>
            <a:pPr marL="0" indent="0" algn="ctr">
              <a:buNone/>
            </a:pPr>
            <a:r>
              <a:rPr lang="en-US" sz="1400" b="1" dirty="0">
                <a:solidFill>
                  <a:srgbClr val="1C7A3D"/>
                </a:solidFill>
                <a:latin typeface="Arial" pitchFamily="34" charset="0"/>
                <a:ea typeface="Arial" pitchFamily="34" charset="-122"/>
                <a:cs typeface="Arial" pitchFamily="34" charset="-120"/>
              </a:rPr>
              <a:t>M6</a:t>
            </a:r>
            <a:endParaRPr lang="en-US" sz="1400" dirty="0"/>
          </a:p>
        </p:txBody>
      </p:sp>
      <p:sp>
        <p:nvSpPr>
          <p:cNvPr id="26" name="Shape 24"/>
          <p:cNvSpPr/>
          <p:nvPr/>
        </p:nvSpPr>
        <p:spPr>
          <a:xfrm>
            <a:off x="10456164" y="1501902"/>
            <a:ext cx="237744" cy="237744"/>
          </a:xfrm>
          <a:prstGeom prst="ellipse">
            <a:avLst/>
          </a:prstGeom>
          <a:solidFill>
            <a:srgbClr val="1C7A3D"/>
          </a:solidFill>
          <a:ln w="19050">
            <a:solidFill>
              <a:srgbClr val="FFFFFF"/>
            </a:solidFill>
            <a:prstDash val="solid"/>
          </a:ln>
        </p:spPr>
        <p:txBody>
          <a:bodyPr/>
          <a:lstStyle/>
          <a:p>
            <a:endParaRPr lang="LID4096"/>
          </a:p>
        </p:txBody>
      </p:sp>
      <p:sp>
        <p:nvSpPr>
          <p:cNvPr id="27" name="Shape 25"/>
          <p:cNvSpPr/>
          <p:nvPr/>
        </p:nvSpPr>
        <p:spPr>
          <a:xfrm>
            <a:off x="9509760" y="1885950"/>
            <a:ext cx="2130552" cy="1363828"/>
          </a:xfrm>
          <a:prstGeom prst="rect">
            <a:avLst/>
          </a:prstGeom>
          <a:solidFill>
            <a:srgbClr val="E7F1EB"/>
          </a:solidFill>
          <a:ln w="9525">
            <a:solidFill>
              <a:srgbClr val="C9D6E2"/>
            </a:solidFill>
            <a:prstDash val="solid"/>
          </a:ln>
        </p:spPr>
        <p:txBody>
          <a:bodyPr/>
          <a:lstStyle/>
          <a:p>
            <a:endParaRPr lang="LID4096"/>
          </a:p>
        </p:txBody>
      </p:sp>
      <p:sp>
        <p:nvSpPr>
          <p:cNvPr id="28" name="Text 26"/>
          <p:cNvSpPr/>
          <p:nvPr/>
        </p:nvSpPr>
        <p:spPr>
          <a:xfrm>
            <a:off x="9619488" y="1995678"/>
            <a:ext cx="1911096" cy="469201"/>
          </a:xfrm>
          <a:prstGeom prst="rect">
            <a:avLst/>
          </a:prstGeom>
          <a:noFill/>
          <a:ln/>
        </p:spPr>
        <p:txBody>
          <a:bodyPr wrap="square" lIns="0" tIns="0" rIns="0" bIns="0" rtlCol="0" anchor="t"/>
          <a:lstStyle/>
          <a:p>
            <a:pPr marL="0" indent="0" algn="ctr">
              <a:lnSpc>
                <a:spcPct val="95000"/>
              </a:lnSpc>
              <a:buNone/>
            </a:pPr>
            <a:r>
              <a:rPr lang="en-US" sz="1500" b="1" dirty="0">
                <a:solidFill>
                  <a:srgbClr val="1F3B57"/>
                </a:solidFill>
                <a:latin typeface="Arial" pitchFamily="34" charset="0"/>
                <a:ea typeface="Arial" pitchFamily="34" charset="-122"/>
                <a:cs typeface="Arial" pitchFamily="34" charset="-120"/>
              </a:rPr>
              <a:t>Endline, Integration and handover</a:t>
            </a:r>
            <a:endParaRPr lang="en-US" sz="1500" dirty="0"/>
          </a:p>
        </p:txBody>
      </p:sp>
      <p:sp>
        <p:nvSpPr>
          <p:cNvPr id="29" name="Text 27"/>
          <p:cNvSpPr/>
          <p:nvPr/>
        </p:nvSpPr>
        <p:spPr>
          <a:xfrm>
            <a:off x="9619488" y="2501456"/>
            <a:ext cx="1911096" cy="638594"/>
          </a:xfrm>
          <a:prstGeom prst="rect">
            <a:avLst/>
          </a:prstGeom>
          <a:noFill/>
          <a:ln/>
        </p:spPr>
        <p:txBody>
          <a:bodyPr wrap="square" lIns="0" tIns="0" rIns="0" bIns="0" rtlCol="0" anchor="t"/>
          <a:lstStyle/>
          <a:p>
            <a:pPr marL="0" indent="0" algn="ctr">
              <a:lnSpc>
                <a:spcPct val="95000"/>
              </a:lnSpc>
              <a:buNone/>
            </a:pPr>
            <a:r>
              <a:rPr lang="en-US" sz="1400" dirty="0">
                <a:solidFill>
                  <a:srgbClr val="22333F"/>
                </a:solidFill>
                <a:latin typeface="Arial" pitchFamily="34" charset="0"/>
                <a:ea typeface="Arial" pitchFamily="34" charset="-122"/>
                <a:cs typeface="Arial" pitchFamily="34" charset="-120"/>
              </a:rPr>
              <a:t>No-code app, ZARA, procedures, user guides, endline, closeout</a:t>
            </a:r>
            <a:endParaRPr lang="en-US" sz="1400" dirty="0"/>
          </a:p>
        </p:txBody>
      </p:sp>
      <p:sp>
        <p:nvSpPr>
          <p:cNvPr id="30" name="Text 28"/>
          <p:cNvSpPr/>
          <p:nvPr/>
        </p:nvSpPr>
        <p:spPr>
          <a:xfrm>
            <a:off x="548640"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Delivery stream</a:t>
            </a:r>
            <a:endParaRPr lang="en-US" sz="1800" dirty="0"/>
          </a:p>
        </p:txBody>
      </p:sp>
      <p:sp>
        <p:nvSpPr>
          <p:cNvPr id="31" name="Text 29"/>
          <p:cNvSpPr/>
          <p:nvPr/>
        </p:nvSpPr>
        <p:spPr>
          <a:xfrm>
            <a:off x="786384"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Baseline assessment - documented status, infrastructure, staff capacity and governance.</a:t>
            </a:r>
            <a:endParaRPr lang="en-US" sz="1800" dirty="0"/>
          </a:p>
        </p:txBody>
      </p:sp>
      <p:sp>
        <p:nvSpPr>
          <p:cNvPr id="32" name="Shape 30"/>
          <p:cNvSpPr/>
          <p:nvPr/>
        </p:nvSpPr>
        <p:spPr>
          <a:xfrm>
            <a:off x="603504"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33" name="Text 31"/>
          <p:cNvSpPr/>
          <p:nvPr/>
        </p:nvSpPr>
        <p:spPr>
          <a:xfrm>
            <a:off x="786384"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Modelling questions refined into eight domains aligned to NPHCDA decision needs.</a:t>
            </a:r>
            <a:endParaRPr lang="en-US" sz="1800" dirty="0"/>
          </a:p>
        </p:txBody>
      </p:sp>
      <p:sp>
        <p:nvSpPr>
          <p:cNvPr id="34" name="Shape 32"/>
          <p:cNvSpPr/>
          <p:nvPr/>
        </p:nvSpPr>
        <p:spPr>
          <a:xfrm>
            <a:off x="603504"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86384"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fellowship combined virtual learning, in-person modelling, and supervised group work.</a:t>
            </a:r>
            <a:endParaRPr lang="en-US" sz="1800" dirty="0"/>
          </a:p>
        </p:txBody>
      </p:sp>
      <p:sp>
        <p:nvSpPr>
          <p:cNvPr id="36" name="Shape 34"/>
          <p:cNvSpPr/>
          <p:nvPr/>
        </p:nvSpPr>
        <p:spPr>
          <a:xfrm>
            <a:off x="603504"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37" name="Text 35"/>
          <p:cNvSpPr/>
          <p:nvPr/>
        </p:nvSpPr>
        <p:spPr>
          <a:xfrm>
            <a:off x="6291072" y="3396082"/>
            <a:ext cx="53492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Evidence of implementation</a:t>
            </a:r>
            <a:endParaRPr lang="en-US" sz="1800" dirty="0"/>
          </a:p>
        </p:txBody>
      </p:sp>
      <p:sp>
        <p:nvSpPr>
          <p:cNvPr id="38" name="Text 36"/>
          <p:cNvSpPr/>
          <p:nvPr/>
        </p:nvSpPr>
        <p:spPr>
          <a:xfrm>
            <a:off x="6528816" y="3706978"/>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Abstract presentations turned model outputs into policy-facing products.</a:t>
            </a:r>
            <a:endParaRPr lang="en-US" sz="1800" dirty="0"/>
          </a:p>
        </p:txBody>
      </p:sp>
      <p:sp>
        <p:nvSpPr>
          <p:cNvPr id="39" name="Shape 37"/>
          <p:cNvSpPr/>
          <p:nvPr/>
        </p:nvSpPr>
        <p:spPr>
          <a:xfrm>
            <a:off x="6345936" y="3798418"/>
            <a:ext cx="73152" cy="73152"/>
          </a:xfrm>
          <a:prstGeom prst="ellipse">
            <a:avLst/>
          </a:prstGeom>
          <a:solidFill>
            <a:srgbClr val="2E6E8E"/>
          </a:solidFill>
          <a:ln w="12700">
            <a:solidFill>
              <a:srgbClr val="2E6E8E"/>
            </a:solidFill>
            <a:prstDash val="solid"/>
          </a:ln>
        </p:spPr>
        <p:txBody>
          <a:bodyPr/>
          <a:lstStyle/>
          <a:p>
            <a:endParaRPr lang="LID4096"/>
          </a:p>
        </p:txBody>
      </p:sp>
      <p:sp>
        <p:nvSpPr>
          <p:cNvPr id="40" name="Text 38"/>
          <p:cNvSpPr/>
          <p:nvPr/>
        </p:nvSpPr>
        <p:spPr>
          <a:xfrm>
            <a:off x="6528816" y="4351630"/>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Endline assessment - measured uptake, readiness gains and remaining barriers.</a:t>
            </a:r>
            <a:endParaRPr lang="en-US" sz="1800" dirty="0"/>
          </a:p>
        </p:txBody>
      </p:sp>
      <p:sp>
        <p:nvSpPr>
          <p:cNvPr id="41" name="Shape 39"/>
          <p:cNvSpPr/>
          <p:nvPr/>
        </p:nvSpPr>
        <p:spPr>
          <a:xfrm>
            <a:off x="6345936" y="4443070"/>
            <a:ext cx="73152" cy="73152"/>
          </a:xfrm>
          <a:prstGeom prst="ellipse">
            <a:avLst/>
          </a:prstGeom>
          <a:solidFill>
            <a:srgbClr val="2E6E8E"/>
          </a:solidFill>
          <a:ln w="12700">
            <a:solidFill>
              <a:srgbClr val="2E6E8E"/>
            </a:solidFill>
            <a:prstDash val="solid"/>
          </a:ln>
        </p:spPr>
        <p:txBody>
          <a:bodyPr/>
          <a:lstStyle/>
          <a:p>
            <a:endParaRPr lang="LID4096"/>
          </a:p>
        </p:txBody>
      </p:sp>
      <p:sp>
        <p:nvSpPr>
          <p:cNvPr id="42" name="Text 40"/>
          <p:cNvSpPr/>
          <p:nvPr/>
        </p:nvSpPr>
        <p:spPr>
          <a:xfrm>
            <a:off x="6528816" y="4996282"/>
            <a:ext cx="5111496"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Handover packaged models, documentation, dashboards and recommendations.</a:t>
            </a:r>
            <a:endParaRPr lang="en-US" sz="1800" dirty="0"/>
          </a:p>
        </p:txBody>
      </p:sp>
      <p:sp>
        <p:nvSpPr>
          <p:cNvPr id="43" name="Shape 41"/>
          <p:cNvSpPr/>
          <p:nvPr/>
        </p:nvSpPr>
        <p:spPr>
          <a:xfrm>
            <a:off x="6345936" y="5087722"/>
            <a:ext cx="73152" cy="73152"/>
          </a:xfrm>
          <a:prstGeom prst="ellipse">
            <a:avLst/>
          </a:prstGeom>
          <a:solidFill>
            <a:srgbClr val="2E6E8E"/>
          </a:solidFill>
          <a:ln w="12700">
            <a:solidFill>
              <a:srgbClr val="2E6E8E"/>
            </a:solidFill>
            <a:prstDash val="solid"/>
          </a:ln>
        </p:spPr>
        <p:txBody>
          <a:bodyPr/>
          <a:lstStyle/>
          <a:p>
            <a:endParaRPr lang="LID4096"/>
          </a:p>
        </p:txBody>
      </p:sp>
      <p:sp>
        <p:nvSpPr>
          <p:cNvPr id="44" name="Text 42"/>
          <p:cNvSpPr/>
          <p:nvPr/>
        </p:nvSpPr>
        <p:spPr>
          <a:xfrm>
            <a:off x="548640" y="571408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Key achievement: from one-off training to a modelling workflow NPHCDA now runs in-house.</a:t>
            </a:r>
            <a:endParaRPr lang="en-US" sz="1800" dirty="0"/>
          </a:p>
        </p:txBody>
      </p:sp>
      <p:sp>
        <p:nvSpPr>
          <p:cNvPr id="45" name="Text 4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project record, January to June 2026. DIH = Digital Innovation Hub, the agency's in-house data team; ZARA = Zero-dose Analytics and Risk Assistant.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seven research questions</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Agreed with NPHCDA as the scope of work. Seven domains, one shared question: who is missed, where, and why.</a:t>
            </a:r>
            <a:endParaRPr lang="en-US" sz="1800" dirty="0"/>
          </a:p>
        </p:txBody>
      </p:sp>
      <p:sp>
        <p:nvSpPr>
          <p:cNvPr id="4" name="Shape 2"/>
          <p:cNvSpPr/>
          <p:nvPr/>
        </p:nvSpPr>
        <p:spPr>
          <a:xfrm>
            <a:off x="548640"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31520"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1</a:t>
            </a:r>
            <a:endParaRPr lang="en-US" sz="1400" dirty="0"/>
          </a:p>
        </p:txBody>
      </p:sp>
      <p:sp>
        <p:nvSpPr>
          <p:cNvPr id="6" name="Text 4"/>
          <p:cNvSpPr/>
          <p:nvPr/>
        </p:nvSpPr>
        <p:spPr>
          <a:xfrm>
            <a:off x="731520" y="1842516"/>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Which antigens are at risk of falling below the 80 percent coverage target in the next 6 to 12 months?</a:t>
            </a:r>
            <a:endParaRPr lang="en-US" sz="1800" dirty="0"/>
          </a:p>
        </p:txBody>
      </p:sp>
      <p:sp>
        <p:nvSpPr>
          <p:cNvPr id="7" name="Shape 5"/>
          <p:cNvSpPr/>
          <p:nvPr/>
        </p:nvSpPr>
        <p:spPr>
          <a:xfrm>
            <a:off x="548640"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731520"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2</a:t>
            </a:r>
            <a:endParaRPr lang="en-US" sz="1400" dirty="0"/>
          </a:p>
        </p:txBody>
      </p:sp>
      <p:sp>
        <p:nvSpPr>
          <p:cNvPr id="9" name="Text 7"/>
          <p:cNvSpPr/>
          <p:nvPr/>
        </p:nvSpPr>
        <p:spPr>
          <a:xfrm>
            <a:off x="731520" y="3012948"/>
            <a:ext cx="498348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What are the dropout rates across antigen pairs, and what drives incomplete vaccination?</a:t>
            </a:r>
            <a:endParaRPr lang="en-US" sz="1800" dirty="0"/>
          </a:p>
        </p:txBody>
      </p:sp>
      <p:sp>
        <p:nvSpPr>
          <p:cNvPr id="10" name="Shape 8"/>
          <p:cNvSpPr/>
          <p:nvPr/>
        </p:nvSpPr>
        <p:spPr>
          <a:xfrm>
            <a:off x="548640"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11" name="Text 9"/>
          <p:cNvSpPr/>
          <p:nvPr/>
        </p:nvSpPr>
        <p:spPr>
          <a:xfrm>
            <a:off x="731520"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3</a:t>
            </a:r>
            <a:endParaRPr lang="en-US" sz="1400" dirty="0"/>
          </a:p>
        </p:txBody>
      </p:sp>
      <p:sp>
        <p:nvSpPr>
          <p:cNvPr id="12" name="Text 10"/>
          <p:cNvSpPr/>
          <p:nvPr/>
        </p:nvSpPr>
        <p:spPr>
          <a:xfrm>
            <a:off x="731520"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does zero-dose risk vary by place, wealth, education and access?</a:t>
            </a:r>
            <a:endParaRPr lang="en-US" sz="1800" dirty="0"/>
          </a:p>
        </p:txBody>
      </p:sp>
      <p:sp>
        <p:nvSpPr>
          <p:cNvPr id="13" name="Shape 11"/>
          <p:cNvSpPr/>
          <p:nvPr/>
        </p:nvSpPr>
        <p:spPr>
          <a:xfrm>
            <a:off x="548640" y="5006340"/>
            <a:ext cx="5349240" cy="1042416"/>
          </a:xfrm>
          <a:prstGeom prst="rect">
            <a:avLst/>
          </a:prstGeom>
          <a:solidFill>
            <a:srgbClr val="EEF2F6"/>
          </a:solidFill>
          <a:ln w="9525">
            <a:solidFill>
              <a:srgbClr val="C9D6E2"/>
            </a:solidFill>
            <a:prstDash val="solid"/>
          </a:ln>
        </p:spPr>
        <p:txBody>
          <a:bodyPr/>
          <a:lstStyle/>
          <a:p>
            <a:endParaRPr lang="LID4096"/>
          </a:p>
        </p:txBody>
      </p:sp>
      <p:sp>
        <p:nvSpPr>
          <p:cNvPr id="14" name="Text 12"/>
          <p:cNvSpPr/>
          <p:nvPr/>
        </p:nvSpPr>
        <p:spPr>
          <a:xfrm>
            <a:off x="731520" y="5088636"/>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4</a:t>
            </a:r>
            <a:endParaRPr lang="en-US" sz="1400" dirty="0"/>
          </a:p>
        </p:txBody>
      </p:sp>
      <p:sp>
        <p:nvSpPr>
          <p:cNvPr id="15" name="Text 13"/>
          <p:cNvSpPr/>
          <p:nvPr/>
        </p:nvSpPr>
        <p:spPr>
          <a:xfrm>
            <a:off x="731520" y="5353812"/>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How far does vaccine hesitancy explain coverage shortfalls?</a:t>
            </a:r>
            <a:endParaRPr lang="en-US" sz="1800" dirty="0"/>
          </a:p>
        </p:txBody>
      </p:sp>
      <p:sp>
        <p:nvSpPr>
          <p:cNvPr id="16" name="Shape 14"/>
          <p:cNvSpPr/>
          <p:nvPr/>
        </p:nvSpPr>
        <p:spPr>
          <a:xfrm>
            <a:off x="6291072" y="1495044"/>
            <a:ext cx="5349240" cy="1042416"/>
          </a:xfrm>
          <a:prstGeom prst="rect">
            <a:avLst/>
          </a:prstGeom>
          <a:solidFill>
            <a:srgbClr val="EEF2F6"/>
          </a:solidFill>
          <a:ln w="9525">
            <a:solidFill>
              <a:srgbClr val="C9D6E2"/>
            </a:solidFill>
            <a:prstDash val="solid"/>
          </a:ln>
        </p:spPr>
        <p:txBody>
          <a:bodyPr/>
          <a:lstStyle/>
          <a:p>
            <a:endParaRPr lang="LID4096"/>
          </a:p>
        </p:txBody>
      </p:sp>
      <p:sp>
        <p:nvSpPr>
          <p:cNvPr id="17" name="Text 15"/>
          <p:cNvSpPr/>
          <p:nvPr/>
        </p:nvSpPr>
        <p:spPr>
          <a:xfrm>
            <a:off x="6473952" y="1577340"/>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5</a:t>
            </a:r>
            <a:endParaRPr lang="en-US" sz="1400" dirty="0"/>
          </a:p>
        </p:txBody>
      </p:sp>
      <p:sp>
        <p:nvSpPr>
          <p:cNvPr id="18" name="Text 16"/>
          <p:cNvSpPr/>
          <p:nvPr/>
        </p:nvSpPr>
        <p:spPr>
          <a:xfrm>
            <a:off x="6473952" y="1842516"/>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do zero-dose children concentrate, who are they, and where do we act first?</a:t>
            </a:r>
            <a:endParaRPr lang="en-US" sz="1800" dirty="0"/>
          </a:p>
        </p:txBody>
      </p:sp>
      <p:sp>
        <p:nvSpPr>
          <p:cNvPr id="19" name="Shape 17"/>
          <p:cNvSpPr/>
          <p:nvPr/>
        </p:nvSpPr>
        <p:spPr>
          <a:xfrm>
            <a:off x="6291072" y="2665476"/>
            <a:ext cx="5349240" cy="1042416"/>
          </a:xfrm>
          <a:prstGeom prst="rect">
            <a:avLst/>
          </a:prstGeom>
          <a:solidFill>
            <a:srgbClr val="EEF2F6"/>
          </a:solidFill>
          <a:ln w="9525">
            <a:solidFill>
              <a:srgbClr val="C9D6E2"/>
            </a:solidFill>
            <a:prstDash val="solid"/>
          </a:ln>
        </p:spPr>
        <p:txBody>
          <a:bodyPr/>
          <a:lstStyle/>
          <a:p>
            <a:endParaRPr lang="LID4096"/>
          </a:p>
        </p:txBody>
      </p:sp>
      <p:sp>
        <p:nvSpPr>
          <p:cNvPr id="20" name="Text 18"/>
          <p:cNvSpPr/>
          <p:nvPr/>
        </p:nvSpPr>
        <p:spPr>
          <a:xfrm>
            <a:off x="6473952" y="2747772"/>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6</a:t>
            </a:r>
            <a:endParaRPr lang="en-US" sz="1400" dirty="0"/>
          </a:p>
        </p:txBody>
      </p:sp>
      <p:sp>
        <p:nvSpPr>
          <p:cNvPr id="21" name="Text 19"/>
          <p:cNvSpPr/>
          <p:nvPr/>
        </p:nvSpPr>
        <p:spPr>
          <a:xfrm>
            <a:off x="6473952" y="3012948"/>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polio-detection and transmission risk highest on the path to certification?</a:t>
            </a:r>
            <a:endParaRPr lang="en-US" sz="1800" dirty="0"/>
          </a:p>
        </p:txBody>
      </p:sp>
      <p:sp>
        <p:nvSpPr>
          <p:cNvPr id="22" name="Shape 20"/>
          <p:cNvSpPr/>
          <p:nvPr/>
        </p:nvSpPr>
        <p:spPr>
          <a:xfrm>
            <a:off x="6291072" y="3835908"/>
            <a:ext cx="5349240" cy="1042416"/>
          </a:xfrm>
          <a:prstGeom prst="rect">
            <a:avLst/>
          </a:prstGeom>
          <a:solidFill>
            <a:srgbClr val="EEF2F6"/>
          </a:solidFill>
          <a:ln w="9525">
            <a:solidFill>
              <a:srgbClr val="C9D6E2"/>
            </a:solidFill>
            <a:prstDash val="solid"/>
          </a:ln>
        </p:spPr>
        <p:txBody>
          <a:bodyPr/>
          <a:lstStyle/>
          <a:p>
            <a:endParaRPr lang="LID4096"/>
          </a:p>
        </p:txBody>
      </p:sp>
      <p:sp>
        <p:nvSpPr>
          <p:cNvPr id="23" name="Text 21"/>
          <p:cNvSpPr/>
          <p:nvPr/>
        </p:nvSpPr>
        <p:spPr>
          <a:xfrm>
            <a:off x="6473952" y="3918204"/>
            <a:ext cx="4983480" cy="237744"/>
          </a:xfrm>
          <a:prstGeom prst="rect">
            <a:avLst/>
          </a:prstGeom>
          <a:noFill/>
          <a:ln/>
        </p:spPr>
        <p:txBody>
          <a:bodyPr wrap="square" lIns="0" tIns="0" rIns="0" bIns="0" rtlCol="0" anchor="t"/>
          <a:lstStyle/>
          <a:p>
            <a:pPr marL="0" indent="0">
              <a:buNone/>
            </a:pPr>
            <a:r>
              <a:rPr lang="en-US" sz="1400" b="1" kern="0" spc="100" dirty="0">
                <a:solidFill>
                  <a:srgbClr val="2E6E8E"/>
                </a:solidFill>
                <a:latin typeface="Arial" pitchFamily="34" charset="0"/>
                <a:ea typeface="Arial" pitchFamily="34" charset="-122"/>
                <a:cs typeface="Arial" pitchFamily="34" charset="-120"/>
              </a:rPr>
              <a:t>Domain 7</a:t>
            </a:r>
            <a:endParaRPr lang="en-US" sz="1400" dirty="0"/>
          </a:p>
        </p:txBody>
      </p:sp>
      <p:sp>
        <p:nvSpPr>
          <p:cNvPr id="24" name="Text 22"/>
          <p:cNvSpPr/>
          <p:nvPr/>
        </p:nvSpPr>
        <p:spPr>
          <a:xfrm>
            <a:off x="6473952" y="4183380"/>
            <a:ext cx="498348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Where is outbreak risk highest, and how does it link to child deaths?</a:t>
            </a:r>
            <a:endParaRPr lang="en-US" sz="1800" dirty="0"/>
          </a:p>
        </p:txBody>
      </p:sp>
      <p:sp>
        <p:nvSpPr>
          <p:cNvPr id="25" name="Shape 23"/>
          <p:cNvSpPr/>
          <p:nvPr/>
        </p:nvSpPr>
        <p:spPr>
          <a:xfrm>
            <a:off x="6291072" y="5006340"/>
            <a:ext cx="5349240" cy="1042416"/>
          </a:xfrm>
          <a:prstGeom prst="rect">
            <a:avLst/>
          </a:prstGeom>
          <a:solidFill>
            <a:srgbClr val="E7F1EB"/>
          </a:solidFill>
          <a:ln w="9525">
            <a:solidFill>
              <a:srgbClr val="C9D6E2"/>
            </a:solidFill>
            <a:prstDash val="solid"/>
          </a:ln>
        </p:spPr>
        <p:txBody>
          <a:bodyPr/>
          <a:lstStyle/>
          <a:p>
            <a:endParaRPr lang="LID4096"/>
          </a:p>
        </p:txBody>
      </p:sp>
      <p:sp>
        <p:nvSpPr>
          <p:cNvPr id="26" name="Text 24"/>
          <p:cNvSpPr/>
          <p:nvPr/>
        </p:nvSpPr>
        <p:spPr>
          <a:xfrm>
            <a:off x="6473952" y="5170932"/>
            <a:ext cx="4983480" cy="777240"/>
          </a:xfrm>
          <a:prstGeom prst="rect">
            <a:avLst/>
          </a:prstGeom>
          <a:noFill/>
          <a:ln/>
        </p:spPr>
        <p:txBody>
          <a:bodyPr wrap="square" lIns="0" tIns="0" rIns="0" bIns="0" rtlCol="0" anchor="t"/>
          <a:lstStyle/>
          <a:p>
            <a:r>
              <a:rPr lang="en-US" dirty="0">
                <a:latin typeface="Arial" panose="020B0604020202020204" pitchFamily="34" charset="0"/>
                <a:cs typeface="Arial" panose="020B0604020202020204" pitchFamily="34" charset="0"/>
              </a:rPr>
              <a:t>All seven domains are complete, validated and handed over</a:t>
            </a:r>
            <a:r>
              <a:rPr lang="en-US" sz="1800" dirty="0">
                <a:solidFill>
                  <a:srgbClr val="22333F"/>
                </a:solidFill>
                <a:latin typeface="Arial" panose="020B0604020202020204" pitchFamily="34" charset="0"/>
                <a:ea typeface="Arial" pitchFamily="34" charset="-122"/>
                <a:cs typeface="Arial" panose="020B0604020202020204" pitchFamily="34" charset="0"/>
              </a:rPr>
              <a:t>.</a:t>
            </a:r>
            <a:endParaRPr lang="en-US" sz="1800" dirty="0">
              <a:latin typeface="Arial" panose="020B0604020202020204" pitchFamily="34" charset="0"/>
              <a:cs typeface="Arial" panose="020B0604020202020204" pitchFamily="34" charset="0"/>
            </a:endParaRPr>
          </a:p>
        </p:txBody>
      </p:sp>
      <p:sp>
        <p:nvSpPr>
          <p:cNvPr id="27" name="Text 2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scope of work agreed with NPHCDA, 2026. LGA = local government area; RI = routine immunization.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modelling journey, end to end</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We brought many data sources together, checked them, and turned the results into a priority list and simple web tool.</a:t>
            </a:r>
          </a:p>
          <a:p>
            <a:pPr marL="0" indent="0">
              <a:buNone/>
            </a:pPr>
            <a:endParaRPr lang="en-US" sz="1800" dirty="0">
              <a:solidFill>
                <a:srgbClr val="45596B"/>
              </a:solidFill>
              <a:latin typeface="Arial" pitchFamily="34" charset="0"/>
              <a:ea typeface="Arial" pitchFamily="34" charset="-122"/>
              <a:cs typeface="Arial" pitchFamily="34" charset="-120"/>
            </a:endParaRPr>
          </a:p>
        </p:txBody>
      </p:sp>
      <p:sp>
        <p:nvSpPr>
          <p:cNvPr id="4" name="Text 2"/>
          <p:cNvSpPr/>
          <p:nvPr/>
        </p:nvSpPr>
        <p:spPr>
          <a:xfrm>
            <a:off x="548640" y="138988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1 · PREPARE</a:t>
            </a:r>
            <a:endParaRPr lang="en-US" sz="1200" dirty="0"/>
          </a:p>
        </p:txBody>
      </p:sp>
      <p:sp>
        <p:nvSpPr>
          <p:cNvPr id="5" name="Shape 3"/>
          <p:cNvSpPr/>
          <p:nvPr/>
        </p:nvSpPr>
        <p:spPr>
          <a:xfrm>
            <a:off x="1600200"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6" name="Text 4"/>
          <p:cNvSpPr/>
          <p:nvPr/>
        </p:nvSpPr>
        <p:spPr>
          <a:xfrm>
            <a:off x="1673352"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Data retrieval</a:t>
            </a:r>
            <a:endParaRPr lang="en-US" sz="1200" dirty="0"/>
          </a:p>
        </p:txBody>
      </p:sp>
      <p:sp>
        <p:nvSpPr>
          <p:cNvPr id="7" name="Text 5"/>
          <p:cNvSpPr/>
          <p:nvPr/>
        </p:nvSpPr>
        <p:spPr>
          <a:xfrm>
            <a:off x="1673352" y="1733017"/>
            <a:ext cx="2151126" cy="807987"/>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Routine immunization records, household surveys, population data, maps, travel-time data and surveillance records</a:t>
            </a:r>
          </a:p>
        </p:txBody>
      </p:sp>
      <p:sp>
        <p:nvSpPr>
          <p:cNvPr id="8" name="Shape 6"/>
          <p:cNvSpPr/>
          <p:nvPr/>
        </p:nvSpPr>
        <p:spPr>
          <a:xfrm>
            <a:off x="3920490"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9" name="Shape 7"/>
          <p:cNvSpPr/>
          <p:nvPr/>
        </p:nvSpPr>
        <p:spPr>
          <a:xfrm>
            <a:off x="4181094"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0" name="Text 8"/>
          <p:cNvSpPr/>
          <p:nvPr/>
        </p:nvSpPr>
        <p:spPr>
          <a:xfrm>
            <a:off x="4254246" y="1463040"/>
            <a:ext cx="2151126" cy="384505"/>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Harmonization and triangulation</a:t>
            </a:r>
            <a:endParaRPr lang="en-US" sz="1200" dirty="0"/>
          </a:p>
        </p:txBody>
      </p:sp>
      <p:sp>
        <p:nvSpPr>
          <p:cNvPr id="11" name="Text 9"/>
          <p:cNvSpPr/>
          <p:nvPr/>
        </p:nvSpPr>
        <p:spPr>
          <a:xfrm>
            <a:off x="4254246" y="1902409"/>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Make sure state and local government names match across files</a:t>
            </a:r>
          </a:p>
        </p:txBody>
      </p:sp>
      <p:sp>
        <p:nvSpPr>
          <p:cNvPr id="12" name="Shape 10"/>
          <p:cNvSpPr/>
          <p:nvPr/>
        </p:nvSpPr>
        <p:spPr>
          <a:xfrm>
            <a:off x="6501384"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3" name="Shape 11"/>
          <p:cNvSpPr/>
          <p:nvPr/>
        </p:nvSpPr>
        <p:spPr>
          <a:xfrm>
            <a:off x="6761988"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4" name="Text 12"/>
          <p:cNvSpPr/>
          <p:nvPr/>
        </p:nvSpPr>
        <p:spPr>
          <a:xfrm>
            <a:off x="6835140"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Pre-processing</a:t>
            </a:r>
            <a:endParaRPr lang="en-US" sz="1200" dirty="0"/>
          </a:p>
        </p:txBody>
      </p:sp>
      <p:sp>
        <p:nvSpPr>
          <p:cNvPr id="15" name="Text 13"/>
          <p:cNvSpPr/>
          <p:nvPr/>
        </p:nvSpPr>
        <p:spPr>
          <a:xfrm>
            <a:off x="6835140"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Check missing records, reporting gaps and population figures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16" name="Shape 14"/>
          <p:cNvSpPr/>
          <p:nvPr/>
        </p:nvSpPr>
        <p:spPr>
          <a:xfrm>
            <a:off x="9082278" y="1975104"/>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17" name="Shape 15"/>
          <p:cNvSpPr/>
          <p:nvPr/>
        </p:nvSpPr>
        <p:spPr>
          <a:xfrm>
            <a:off x="9342882" y="1389888"/>
            <a:ext cx="2297430" cy="1371600"/>
          </a:xfrm>
          <a:prstGeom prst="roundRect">
            <a:avLst>
              <a:gd name="adj" fmla="val 4000"/>
            </a:avLst>
          </a:prstGeom>
          <a:solidFill>
            <a:srgbClr val="EEF2F6"/>
          </a:solidFill>
          <a:ln w="12700">
            <a:solidFill>
              <a:srgbClr val="EEF2F6"/>
            </a:solidFill>
            <a:prstDash val="solid"/>
          </a:ln>
        </p:spPr>
        <p:txBody>
          <a:bodyPr/>
          <a:lstStyle/>
          <a:p>
            <a:endParaRPr lang="LID4096"/>
          </a:p>
        </p:txBody>
      </p:sp>
      <p:sp>
        <p:nvSpPr>
          <p:cNvPr id="18" name="Text 16"/>
          <p:cNvSpPr/>
          <p:nvPr/>
        </p:nvSpPr>
        <p:spPr>
          <a:xfrm>
            <a:off x="9416034" y="1463040"/>
            <a:ext cx="2151126"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Feature engineering</a:t>
            </a:r>
            <a:endParaRPr lang="en-US" sz="1200" dirty="0"/>
          </a:p>
        </p:txBody>
      </p:sp>
      <p:sp>
        <p:nvSpPr>
          <p:cNvPr id="19" name="Text 17"/>
          <p:cNvSpPr/>
          <p:nvPr/>
        </p:nvSpPr>
        <p:spPr>
          <a:xfrm>
            <a:off x="9416034" y="1733017"/>
            <a:ext cx="2151126" cy="426853"/>
          </a:xfrm>
          <a:prstGeom prst="rect">
            <a:avLst/>
          </a:prstGeom>
          <a:noFill/>
          <a:ln/>
        </p:spPr>
        <p:txBody>
          <a:bodyPr wrap="square" lIns="0" tIns="0" rIns="0" bIns="0" rtlCol="0" anchor="t"/>
          <a:lstStyle/>
          <a:p>
            <a:pPr marL="0" indent="0" algn="ctr">
              <a:lnSpc>
                <a:spcPct val="95000"/>
              </a:lnSpc>
              <a:buNone/>
            </a:pPr>
            <a:r>
              <a:rPr lang="en-US" sz="900" dirty="0">
                <a:solidFill>
                  <a:srgbClr val="22333F"/>
                </a:solidFill>
                <a:latin typeface="Arial" pitchFamily="34" charset="0"/>
                <a:ea typeface="Arial" pitchFamily="34" charset="-122"/>
                <a:cs typeface="Arial" pitchFamily="34" charset="-120"/>
              </a:rPr>
              <a:t>Missed children, dropout, child population and local barriers</a:t>
            </a:r>
          </a:p>
          <a:p>
            <a:pPr marL="0" indent="0" algn="ctr">
              <a:lnSpc>
                <a:spcPct val="95000"/>
              </a:lnSpc>
              <a:buNone/>
            </a:pPr>
            <a:endParaRPr lang="en-US" sz="900" dirty="0">
              <a:solidFill>
                <a:srgbClr val="22333F"/>
              </a:solidFill>
              <a:latin typeface="Arial" pitchFamily="34" charset="0"/>
              <a:ea typeface="Arial" pitchFamily="34" charset="-122"/>
              <a:cs typeface="Arial" pitchFamily="34" charset="-120"/>
            </a:endParaRPr>
          </a:p>
        </p:txBody>
      </p:sp>
      <p:sp>
        <p:nvSpPr>
          <p:cNvPr id="20" name="Shape 18"/>
          <p:cNvSpPr/>
          <p:nvPr/>
        </p:nvSpPr>
        <p:spPr>
          <a:xfrm>
            <a:off x="6519672" y="2834640"/>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21" name="Text 19"/>
          <p:cNvSpPr/>
          <p:nvPr/>
        </p:nvSpPr>
        <p:spPr>
          <a:xfrm>
            <a:off x="548640" y="3127248"/>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2 · ANALYSE</a:t>
            </a:r>
            <a:endParaRPr lang="en-US" sz="1200" dirty="0"/>
          </a:p>
        </p:txBody>
      </p:sp>
      <p:sp>
        <p:nvSpPr>
          <p:cNvPr id="22" name="Shape 20"/>
          <p:cNvSpPr/>
          <p:nvPr/>
        </p:nvSpPr>
        <p:spPr>
          <a:xfrm>
            <a:off x="160020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3" name="Text 21"/>
          <p:cNvSpPr/>
          <p:nvPr/>
        </p:nvSpPr>
        <p:spPr>
          <a:xfrm>
            <a:off x="167335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Statistical analysis</a:t>
            </a:r>
            <a:endParaRPr lang="en-US" sz="1100" dirty="0"/>
          </a:p>
        </p:txBody>
      </p:sp>
      <p:sp>
        <p:nvSpPr>
          <p:cNvPr id="24" name="Text 22"/>
          <p:cNvSpPr/>
          <p:nvPr/>
        </p:nvSpPr>
        <p:spPr>
          <a:xfrm>
            <a:off x="1673352"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LASSO driver selection</a:t>
            </a:r>
            <a:endParaRPr lang="en-US" sz="900" dirty="0"/>
          </a:p>
        </p:txBody>
      </p:sp>
      <p:sp>
        <p:nvSpPr>
          <p:cNvPr id="25" name="Shape 23"/>
          <p:cNvSpPr/>
          <p:nvPr/>
        </p:nvSpPr>
        <p:spPr>
          <a:xfrm>
            <a:off x="3046258"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6" name="Text 24"/>
          <p:cNvSpPr/>
          <p:nvPr/>
        </p:nvSpPr>
        <p:spPr>
          <a:xfrm>
            <a:off x="3119410"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Machine learning</a:t>
            </a:r>
            <a:endParaRPr lang="en-US" sz="1100" dirty="0"/>
          </a:p>
        </p:txBody>
      </p:sp>
      <p:sp>
        <p:nvSpPr>
          <p:cNvPr id="27" name="Text 25"/>
          <p:cNvSpPr/>
          <p:nvPr/>
        </p:nvSpPr>
        <p:spPr>
          <a:xfrm>
            <a:off x="3119410" y="3456261"/>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Create five easy-to-use community types</a:t>
            </a:r>
          </a:p>
        </p:txBody>
      </p:sp>
      <p:sp>
        <p:nvSpPr>
          <p:cNvPr id="28" name="Shape 26"/>
          <p:cNvSpPr/>
          <p:nvPr/>
        </p:nvSpPr>
        <p:spPr>
          <a:xfrm>
            <a:off x="4492317"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29" name="Text 27"/>
          <p:cNvSpPr/>
          <p:nvPr/>
        </p:nvSpPr>
        <p:spPr>
          <a:xfrm>
            <a:off x="4565469"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analysis</a:t>
            </a:r>
            <a:endParaRPr lang="en-US" sz="1100" dirty="0"/>
          </a:p>
        </p:txBody>
      </p:sp>
      <p:sp>
        <p:nvSpPr>
          <p:cNvPr id="30" name="Text 28"/>
          <p:cNvSpPr/>
          <p:nvPr/>
        </p:nvSpPr>
        <p:spPr>
          <a:xfrm>
            <a:off x="4565469"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where the problem is concentrated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1" name="Shape 29"/>
          <p:cNvSpPr/>
          <p:nvPr/>
        </p:nvSpPr>
        <p:spPr>
          <a:xfrm>
            <a:off x="5938375"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2" name="Text 30"/>
          <p:cNvSpPr/>
          <p:nvPr/>
        </p:nvSpPr>
        <p:spPr>
          <a:xfrm>
            <a:off x="6011527"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Time-series forecasting</a:t>
            </a:r>
            <a:endParaRPr lang="en-US" sz="1100" dirty="0"/>
          </a:p>
        </p:txBody>
      </p:sp>
      <p:sp>
        <p:nvSpPr>
          <p:cNvPr id="33" name="Text 31"/>
          <p:cNvSpPr/>
          <p:nvPr/>
        </p:nvSpPr>
        <p:spPr>
          <a:xfrm>
            <a:off x="6011527" y="3611537"/>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where coverage or completion may fall</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4" name="Shape 32"/>
          <p:cNvSpPr/>
          <p:nvPr/>
        </p:nvSpPr>
        <p:spPr>
          <a:xfrm>
            <a:off x="7384433"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5" name="Text 33"/>
          <p:cNvSpPr/>
          <p:nvPr/>
        </p:nvSpPr>
        <p:spPr>
          <a:xfrm>
            <a:off x="7457585"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Bayesian regression</a:t>
            </a:r>
            <a:endParaRPr lang="en-US" sz="1100" dirty="0"/>
          </a:p>
        </p:txBody>
      </p:sp>
      <p:sp>
        <p:nvSpPr>
          <p:cNvPr id="36" name="Text 34"/>
          <p:cNvSpPr/>
          <p:nvPr/>
        </p:nvSpPr>
        <p:spPr>
          <a:xfrm>
            <a:off x="7457585" y="3611537"/>
            <a:ext cx="1217458" cy="426853"/>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Estimate how many children are being missed</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37" name="Shape 35"/>
          <p:cNvSpPr/>
          <p:nvPr/>
        </p:nvSpPr>
        <p:spPr>
          <a:xfrm>
            <a:off x="8830491"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38" name="Text 36"/>
          <p:cNvSpPr/>
          <p:nvPr/>
        </p:nvSpPr>
        <p:spPr>
          <a:xfrm>
            <a:off x="8903643" y="3200400"/>
            <a:ext cx="1217458" cy="200997"/>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MGWR</a:t>
            </a:r>
            <a:endParaRPr lang="en-US" sz="1100" dirty="0"/>
          </a:p>
        </p:txBody>
      </p:sp>
      <p:sp>
        <p:nvSpPr>
          <p:cNvPr id="39" name="Text 37"/>
          <p:cNvSpPr/>
          <p:nvPr/>
        </p:nvSpPr>
        <p:spPr>
          <a:xfrm>
            <a:off x="8903643" y="3456261"/>
            <a:ext cx="1217458"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Show why different areas need different responses</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0" name="Shape 38"/>
          <p:cNvSpPr/>
          <p:nvPr/>
        </p:nvSpPr>
        <p:spPr>
          <a:xfrm>
            <a:off x="10276550" y="3127248"/>
            <a:ext cx="1363762" cy="1060704"/>
          </a:xfrm>
          <a:prstGeom prst="roundRect">
            <a:avLst>
              <a:gd name="adj" fmla="val 5172"/>
            </a:avLst>
          </a:prstGeom>
          <a:solidFill>
            <a:srgbClr val="2E6E8E"/>
          </a:solidFill>
          <a:ln w="12700">
            <a:solidFill>
              <a:srgbClr val="2E6E8E"/>
            </a:solidFill>
            <a:prstDash val="solid"/>
          </a:ln>
        </p:spPr>
        <p:txBody>
          <a:bodyPr/>
          <a:lstStyle/>
          <a:p>
            <a:endParaRPr lang="LID4096"/>
          </a:p>
        </p:txBody>
      </p:sp>
      <p:sp>
        <p:nvSpPr>
          <p:cNvPr id="41" name="Text 39"/>
          <p:cNvSpPr/>
          <p:nvPr/>
        </p:nvSpPr>
        <p:spPr>
          <a:xfrm>
            <a:off x="10349702" y="3200400"/>
            <a:ext cx="1217458" cy="356273"/>
          </a:xfrm>
          <a:prstGeom prst="rect">
            <a:avLst/>
          </a:prstGeom>
          <a:noFill/>
          <a:ln/>
        </p:spPr>
        <p:txBody>
          <a:bodyPr wrap="square" lIns="0" tIns="0" rIns="0" bIns="0" rtlCol="0" anchor="t"/>
          <a:lstStyle/>
          <a:p>
            <a:pPr marL="0" indent="0" algn="ctr">
              <a:lnSpc>
                <a:spcPct val="95000"/>
              </a:lnSpc>
              <a:buNone/>
            </a:pPr>
            <a:r>
              <a:rPr lang="en-US" sz="1100" b="1" dirty="0">
                <a:solidFill>
                  <a:srgbClr val="FFFFFF"/>
                </a:solidFill>
                <a:latin typeface="Arial" pitchFamily="34" charset="0"/>
                <a:ea typeface="Arial" pitchFamily="34" charset="-122"/>
                <a:cs typeface="Arial" pitchFamily="34" charset="-120"/>
              </a:rPr>
              <a:t>Spatial scan statistics</a:t>
            </a:r>
            <a:endParaRPr lang="en-US" sz="1100" dirty="0"/>
          </a:p>
        </p:txBody>
      </p:sp>
      <p:sp>
        <p:nvSpPr>
          <p:cNvPr id="42" name="Text 40"/>
          <p:cNvSpPr/>
          <p:nvPr/>
        </p:nvSpPr>
        <p:spPr>
          <a:xfrm>
            <a:off x="10349702" y="3611537"/>
            <a:ext cx="1217458" cy="172764"/>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Identify where surveillance should remain strong</a:t>
            </a:r>
          </a:p>
          <a:p>
            <a:pPr marL="0" indent="0" algn="ctr">
              <a:lnSpc>
                <a:spcPct val="95000"/>
              </a:lnSpc>
              <a:buNone/>
            </a:pPr>
            <a:endParaRPr lang="en-US" sz="900" dirty="0">
              <a:solidFill>
                <a:srgbClr val="FFFFFF"/>
              </a:solidFill>
              <a:latin typeface="Arial" pitchFamily="34" charset="0"/>
              <a:ea typeface="Arial" pitchFamily="34" charset="-122"/>
              <a:cs typeface="Arial" pitchFamily="34" charset="-120"/>
            </a:endParaRPr>
          </a:p>
        </p:txBody>
      </p:sp>
      <p:sp>
        <p:nvSpPr>
          <p:cNvPr id="43" name="Text 41"/>
          <p:cNvSpPr/>
          <p:nvPr/>
        </p:nvSpPr>
        <p:spPr>
          <a:xfrm>
            <a:off x="1600200" y="4242816"/>
            <a:ext cx="10040112" cy="201168"/>
          </a:xfrm>
          <a:prstGeom prst="rect">
            <a:avLst/>
          </a:prstGeom>
          <a:noFill/>
          <a:ln/>
        </p:spPr>
        <p:txBody>
          <a:bodyPr wrap="square" lIns="0" tIns="0" rIns="0" bIns="0" rtlCol="0" anchor="t"/>
          <a:lstStyle/>
          <a:p>
            <a:pPr marL="0" indent="0">
              <a:buNone/>
            </a:pPr>
            <a:r>
              <a:rPr lang="en-US" sz="1100" i="1" dirty="0">
                <a:solidFill>
                  <a:srgbClr val="5C6B78"/>
                </a:solidFill>
                <a:latin typeface="Arial" pitchFamily="34" charset="0"/>
                <a:ea typeface="Arial" pitchFamily="34" charset="-122"/>
                <a:cs typeface="Arial" pitchFamily="34" charset="-120"/>
              </a:rPr>
              <a:t>Seven methods run in parallel on the same engineered features</a:t>
            </a:r>
            <a:endParaRPr lang="en-US" sz="1100" dirty="0"/>
          </a:p>
        </p:txBody>
      </p:sp>
      <p:sp>
        <p:nvSpPr>
          <p:cNvPr id="44" name="Shape 42"/>
          <p:cNvSpPr/>
          <p:nvPr/>
        </p:nvSpPr>
        <p:spPr>
          <a:xfrm>
            <a:off x="6519672" y="4498848"/>
            <a:ext cx="201168" cy="219456"/>
          </a:xfrm>
          <a:prstGeom prst="downArrow">
            <a:avLst/>
          </a:prstGeom>
          <a:solidFill>
            <a:srgbClr val="C9D6E2"/>
          </a:solidFill>
          <a:ln w="12700">
            <a:solidFill>
              <a:srgbClr val="C9D6E2"/>
            </a:solidFill>
            <a:prstDash val="solid"/>
          </a:ln>
        </p:spPr>
        <p:txBody>
          <a:bodyPr/>
          <a:lstStyle/>
          <a:p>
            <a:endParaRPr lang="LID4096"/>
          </a:p>
        </p:txBody>
      </p:sp>
      <p:sp>
        <p:nvSpPr>
          <p:cNvPr id="45" name="Text 43"/>
          <p:cNvSpPr/>
          <p:nvPr/>
        </p:nvSpPr>
        <p:spPr>
          <a:xfrm>
            <a:off x="548640" y="4828032"/>
            <a:ext cx="960120" cy="566928"/>
          </a:xfrm>
          <a:prstGeom prst="rect">
            <a:avLst/>
          </a:prstGeom>
          <a:noFill/>
          <a:ln/>
        </p:spPr>
        <p:txBody>
          <a:bodyPr wrap="square" lIns="0" tIns="0" rIns="0" bIns="0" rtlCol="0" anchor="t"/>
          <a:lstStyle/>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3 · VALIDATE</a:t>
            </a:r>
            <a:endParaRPr lang="en-US" sz="1200" dirty="0"/>
          </a:p>
          <a:p>
            <a:pPr marL="0" indent="0">
              <a:lnSpc>
                <a:spcPct val="100000"/>
              </a:lnSpc>
              <a:buNone/>
            </a:pPr>
            <a:r>
              <a:rPr lang="en-US" sz="1200" b="1" dirty="0">
                <a:solidFill>
                  <a:srgbClr val="2E6E8E"/>
                </a:solidFill>
                <a:latin typeface="Arial" pitchFamily="34" charset="0"/>
                <a:ea typeface="Arial" pitchFamily="34" charset="-122"/>
                <a:cs typeface="Arial" pitchFamily="34" charset="-120"/>
              </a:rPr>
              <a:t>AND USE</a:t>
            </a:r>
            <a:endParaRPr lang="en-US" sz="1200" dirty="0"/>
          </a:p>
        </p:txBody>
      </p:sp>
      <p:sp>
        <p:nvSpPr>
          <p:cNvPr id="46" name="Shape 44"/>
          <p:cNvSpPr/>
          <p:nvPr/>
        </p:nvSpPr>
        <p:spPr>
          <a:xfrm>
            <a:off x="1600200"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47" name="Text 45"/>
          <p:cNvSpPr/>
          <p:nvPr/>
        </p:nvSpPr>
        <p:spPr>
          <a:xfrm>
            <a:off x="1673352"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Convergent validation</a:t>
            </a:r>
            <a:endParaRPr lang="en-US" sz="1200" dirty="0"/>
          </a:p>
        </p:txBody>
      </p:sp>
      <p:sp>
        <p:nvSpPr>
          <p:cNvPr id="48" name="Text 46"/>
          <p:cNvSpPr/>
          <p:nvPr/>
        </p:nvSpPr>
        <p:spPr>
          <a:xfrm>
            <a:off x="1673352"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Compare with newer surveys, independent maps and child-death patterns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49" name="Shape 47"/>
          <p:cNvSpPr/>
          <p:nvPr/>
        </p:nvSpPr>
        <p:spPr>
          <a:xfrm>
            <a:off x="4770120"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0" name="Shape 48"/>
          <p:cNvSpPr/>
          <p:nvPr/>
        </p:nvSpPr>
        <p:spPr>
          <a:xfrm>
            <a:off x="5062728" y="4828032"/>
            <a:ext cx="3115056" cy="1188720"/>
          </a:xfrm>
          <a:prstGeom prst="roundRect">
            <a:avLst>
              <a:gd name="adj" fmla="val 4615"/>
            </a:avLst>
          </a:prstGeom>
          <a:solidFill>
            <a:srgbClr val="E7F1EB"/>
          </a:solidFill>
          <a:ln w="12700">
            <a:solidFill>
              <a:srgbClr val="E7F1EB"/>
            </a:solidFill>
            <a:prstDash val="solid"/>
          </a:ln>
        </p:spPr>
        <p:txBody>
          <a:bodyPr/>
          <a:lstStyle/>
          <a:p>
            <a:endParaRPr lang="LID4096"/>
          </a:p>
        </p:txBody>
      </p:sp>
      <p:sp>
        <p:nvSpPr>
          <p:cNvPr id="51" name="Text 49"/>
          <p:cNvSpPr/>
          <p:nvPr/>
        </p:nvSpPr>
        <p:spPr>
          <a:xfrm>
            <a:off x="5135880"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1F3B57"/>
                </a:solidFill>
                <a:latin typeface="Arial" pitchFamily="34" charset="0"/>
                <a:ea typeface="Arial" pitchFamily="34" charset="-122"/>
                <a:cs typeface="Arial" pitchFamily="34" charset="-120"/>
              </a:rPr>
              <a:t>Priority list development</a:t>
            </a:r>
            <a:endParaRPr lang="en-US" sz="1200" dirty="0"/>
          </a:p>
        </p:txBody>
      </p:sp>
      <p:sp>
        <p:nvSpPr>
          <p:cNvPr id="52" name="Text 50"/>
          <p:cNvSpPr/>
          <p:nvPr/>
        </p:nvSpPr>
        <p:spPr>
          <a:xfrm>
            <a:off x="5135880"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1F3B57"/>
                </a:solidFill>
                <a:latin typeface="Arial" pitchFamily="34" charset="0"/>
                <a:ea typeface="Arial" pitchFamily="34" charset="-122"/>
                <a:cs typeface="Arial" pitchFamily="34" charset="-120"/>
              </a:rPr>
              <a:t>Rank local governments and match them with practical response packages</a:t>
            </a:r>
          </a:p>
          <a:p>
            <a:pPr marL="0" indent="0" algn="ctr">
              <a:lnSpc>
                <a:spcPct val="95000"/>
              </a:lnSpc>
              <a:buNone/>
            </a:pPr>
            <a:endParaRPr lang="en-US" sz="900" dirty="0">
              <a:solidFill>
                <a:srgbClr val="1F3B57"/>
              </a:solidFill>
              <a:latin typeface="Arial" pitchFamily="34" charset="0"/>
              <a:ea typeface="Arial" pitchFamily="34" charset="-122"/>
              <a:cs typeface="Arial" pitchFamily="34" charset="-120"/>
            </a:endParaRPr>
          </a:p>
        </p:txBody>
      </p:sp>
      <p:sp>
        <p:nvSpPr>
          <p:cNvPr id="53" name="Shape 51"/>
          <p:cNvSpPr/>
          <p:nvPr/>
        </p:nvSpPr>
        <p:spPr>
          <a:xfrm>
            <a:off x="8232648" y="5321808"/>
            <a:ext cx="237744" cy="201168"/>
          </a:xfrm>
          <a:prstGeom prst="rightArrow">
            <a:avLst/>
          </a:prstGeom>
          <a:solidFill>
            <a:srgbClr val="C9D6E2"/>
          </a:solidFill>
          <a:ln w="12700">
            <a:solidFill>
              <a:srgbClr val="C9D6E2"/>
            </a:solidFill>
            <a:prstDash val="solid"/>
          </a:ln>
        </p:spPr>
        <p:txBody>
          <a:bodyPr/>
          <a:lstStyle/>
          <a:p>
            <a:endParaRPr lang="LID4096"/>
          </a:p>
        </p:txBody>
      </p:sp>
      <p:sp>
        <p:nvSpPr>
          <p:cNvPr id="54" name="Shape 52"/>
          <p:cNvSpPr/>
          <p:nvPr/>
        </p:nvSpPr>
        <p:spPr>
          <a:xfrm>
            <a:off x="8525256" y="4828032"/>
            <a:ext cx="3115056" cy="1188720"/>
          </a:xfrm>
          <a:prstGeom prst="roundRect">
            <a:avLst>
              <a:gd name="adj" fmla="val 4615"/>
            </a:avLst>
          </a:prstGeom>
          <a:solidFill>
            <a:srgbClr val="1C7A3D"/>
          </a:solidFill>
          <a:ln w="12700">
            <a:solidFill>
              <a:srgbClr val="1C7A3D"/>
            </a:solidFill>
            <a:prstDash val="solid"/>
          </a:ln>
        </p:spPr>
        <p:txBody>
          <a:bodyPr/>
          <a:lstStyle/>
          <a:p>
            <a:endParaRPr lang="LID4096"/>
          </a:p>
        </p:txBody>
      </p:sp>
      <p:sp>
        <p:nvSpPr>
          <p:cNvPr id="55" name="Text 53"/>
          <p:cNvSpPr/>
          <p:nvPr/>
        </p:nvSpPr>
        <p:spPr>
          <a:xfrm>
            <a:off x="8598408" y="4901184"/>
            <a:ext cx="2968752" cy="215113"/>
          </a:xfrm>
          <a:prstGeom prst="rect">
            <a:avLst/>
          </a:prstGeom>
          <a:noFill/>
          <a:ln/>
        </p:spPr>
        <p:txBody>
          <a:bodyPr wrap="square" lIns="0" tIns="0" rIns="0" bIns="0" rtlCol="0" anchor="t"/>
          <a:lstStyle/>
          <a:p>
            <a:pPr marL="0" indent="0" algn="ctr">
              <a:lnSpc>
                <a:spcPct val="95000"/>
              </a:lnSpc>
              <a:buNone/>
            </a:pPr>
            <a:r>
              <a:rPr lang="en-US" sz="1200" b="1" dirty="0">
                <a:solidFill>
                  <a:srgbClr val="FFFFFF"/>
                </a:solidFill>
                <a:latin typeface="Arial" pitchFamily="34" charset="0"/>
                <a:ea typeface="Arial" pitchFamily="34" charset="-122"/>
                <a:cs typeface="Arial" pitchFamily="34" charset="-120"/>
              </a:rPr>
              <a:t>Programme use</a:t>
            </a:r>
            <a:endParaRPr lang="en-US" sz="1200" dirty="0"/>
          </a:p>
        </p:txBody>
      </p:sp>
      <p:sp>
        <p:nvSpPr>
          <p:cNvPr id="56" name="Text 54"/>
          <p:cNvSpPr/>
          <p:nvPr/>
        </p:nvSpPr>
        <p:spPr>
          <a:xfrm>
            <a:off x="8598408" y="5171161"/>
            <a:ext cx="2968752" cy="299809"/>
          </a:xfrm>
          <a:prstGeom prst="rect">
            <a:avLst/>
          </a:prstGeom>
          <a:noFill/>
          <a:ln/>
        </p:spPr>
        <p:txBody>
          <a:bodyPr wrap="square" lIns="0" tIns="0" rIns="0" bIns="0" rtlCol="0" anchor="t"/>
          <a:lstStyle/>
          <a:p>
            <a:pPr marL="0" indent="0" algn="ctr">
              <a:lnSpc>
                <a:spcPct val="95000"/>
              </a:lnSpc>
              <a:buNone/>
            </a:pPr>
            <a:r>
              <a:rPr lang="en-US" sz="900" dirty="0">
                <a:solidFill>
                  <a:srgbClr val="FFFFFF"/>
                </a:solidFill>
                <a:latin typeface="Arial" pitchFamily="34" charset="0"/>
                <a:ea typeface="Arial" pitchFamily="34" charset="-122"/>
                <a:cs typeface="Arial" pitchFamily="34" charset="-120"/>
              </a:rPr>
              <a:t>NPHCDA microplanning; the Hugging Face web application and the ZARA analyst</a:t>
            </a:r>
            <a:endParaRPr lang="en-US" sz="900" dirty="0"/>
          </a:p>
        </p:txBody>
      </p:sp>
      <p:sp>
        <p:nvSpPr>
          <p:cNvPr id="57" name="Text 55"/>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modelling pipeline, 2026. Every acronym is spelled out on the methods, datasets and reference slides.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Methods at a glance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method per question. Every finding is reproducible from the consortium notebooks.</a:t>
            </a:r>
            <a:endParaRPr lang="en-US" sz="1800" dirty="0"/>
          </a:p>
        </p:txBody>
      </p:sp>
      <p:sp>
        <p:nvSpPr>
          <p:cNvPr id="4" name="Shape 2"/>
          <p:cNvSpPr/>
          <p:nvPr/>
        </p:nvSpPr>
        <p:spPr>
          <a:xfrm>
            <a:off x="548640" y="1227582"/>
            <a:ext cx="11091672" cy="530352"/>
          </a:xfrm>
          <a:prstGeom prst="rect">
            <a:avLst/>
          </a:prstGeom>
          <a:solidFill>
            <a:srgbClr val="EEF2F6"/>
          </a:solidFill>
          <a:ln/>
        </p:spPr>
        <p:txBody>
          <a:bodyPr/>
          <a:lstStyle/>
          <a:p>
            <a:endParaRPr lang="LID4096"/>
          </a:p>
        </p:txBody>
      </p:sp>
      <p:sp>
        <p:nvSpPr>
          <p:cNvPr id="5" name="Text 3"/>
          <p:cNvSpPr/>
          <p:nvPr/>
        </p:nvSpPr>
        <p:spPr>
          <a:xfrm>
            <a:off x="694944" y="122758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1</a:t>
            </a:r>
            <a:endParaRPr lang="en-US" sz="1800" dirty="0"/>
          </a:p>
        </p:txBody>
      </p:sp>
      <p:sp>
        <p:nvSpPr>
          <p:cNvPr id="6" name="Text 4"/>
          <p:cNvSpPr/>
          <p:nvPr/>
        </p:nvSpPr>
        <p:spPr>
          <a:xfrm>
            <a:off x="1920240" y="133616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which vaccines may need attention soon.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Text 5"/>
          <p:cNvSpPr/>
          <p:nvPr/>
        </p:nvSpPr>
        <p:spPr>
          <a:xfrm>
            <a:off x="694944" y="1757934"/>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2</a:t>
            </a:r>
            <a:endParaRPr lang="en-US" sz="1800" dirty="0"/>
          </a:p>
        </p:txBody>
      </p:sp>
      <p:sp>
        <p:nvSpPr>
          <p:cNvPr id="8" name="Text 6"/>
          <p:cNvSpPr/>
          <p:nvPr/>
        </p:nvSpPr>
        <p:spPr>
          <a:xfrm>
            <a:off x="1920240" y="1902006"/>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children start vaccination but do not complete it.</a:t>
            </a:r>
          </a:p>
        </p:txBody>
      </p:sp>
      <p:sp>
        <p:nvSpPr>
          <p:cNvPr id="9" name="Shape 7"/>
          <p:cNvSpPr/>
          <p:nvPr/>
        </p:nvSpPr>
        <p:spPr>
          <a:xfrm>
            <a:off x="548640" y="2448306"/>
            <a:ext cx="11091672" cy="690372"/>
          </a:xfrm>
          <a:prstGeom prst="rect">
            <a:avLst/>
          </a:prstGeom>
          <a:solidFill>
            <a:srgbClr val="EEF2F6"/>
          </a:solidFill>
          <a:ln/>
        </p:spPr>
        <p:txBody>
          <a:bodyPr/>
          <a:lstStyle/>
          <a:p>
            <a:endParaRPr lang="LID4096"/>
          </a:p>
        </p:txBody>
      </p:sp>
      <p:sp>
        <p:nvSpPr>
          <p:cNvPr id="10" name="Text 8"/>
          <p:cNvSpPr/>
          <p:nvPr/>
        </p:nvSpPr>
        <p:spPr>
          <a:xfrm>
            <a:off x="694944" y="2448306"/>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3</a:t>
            </a:r>
            <a:endParaRPr lang="en-US" sz="1800" dirty="0"/>
          </a:p>
        </p:txBody>
      </p:sp>
      <p:sp>
        <p:nvSpPr>
          <p:cNvPr id="11" name="Text 9"/>
          <p:cNvSpPr/>
          <p:nvPr/>
        </p:nvSpPr>
        <p:spPr>
          <a:xfrm>
            <a:off x="1920240" y="2614681"/>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poverty, distance, education and access barriers are strongest.</a:t>
            </a:r>
          </a:p>
        </p:txBody>
      </p:sp>
      <p:sp>
        <p:nvSpPr>
          <p:cNvPr id="12" name="Text 10"/>
          <p:cNvSpPr/>
          <p:nvPr/>
        </p:nvSpPr>
        <p:spPr>
          <a:xfrm>
            <a:off x="694944" y="3138678"/>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4</a:t>
            </a:r>
            <a:endParaRPr lang="en-US" sz="1800" dirty="0"/>
          </a:p>
        </p:txBody>
      </p:sp>
      <p:sp>
        <p:nvSpPr>
          <p:cNvPr id="13" name="Text 11"/>
          <p:cNvSpPr/>
          <p:nvPr/>
        </p:nvSpPr>
        <p:spPr>
          <a:xfrm>
            <a:off x="1920240" y="3247263"/>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Checked whether vaccine concerns explain missed children.</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4" name="Shape 12"/>
          <p:cNvSpPr/>
          <p:nvPr/>
        </p:nvSpPr>
        <p:spPr>
          <a:xfrm>
            <a:off x="548640" y="3669030"/>
            <a:ext cx="11091672" cy="690372"/>
          </a:xfrm>
          <a:prstGeom prst="rect">
            <a:avLst/>
          </a:prstGeom>
          <a:solidFill>
            <a:srgbClr val="EEF2F6"/>
          </a:solidFill>
          <a:ln/>
        </p:spPr>
        <p:txBody>
          <a:bodyPr/>
          <a:lstStyle/>
          <a:p>
            <a:endParaRPr lang="LID4096"/>
          </a:p>
        </p:txBody>
      </p:sp>
      <p:sp>
        <p:nvSpPr>
          <p:cNvPr id="15" name="Text 13"/>
          <p:cNvSpPr/>
          <p:nvPr/>
        </p:nvSpPr>
        <p:spPr>
          <a:xfrm>
            <a:off x="694944" y="3669030"/>
            <a:ext cx="1143000" cy="69037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5</a:t>
            </a:r>
            <a:endParaRPr lang="en-US" sz="1800" dirty="0"/>
          </a:p>
        </p:txBody>
      </p:sp>
      <p:sp>
        <p:nvSpPr>
          <p:cNvPr id="16" name="Text 14"/>
          <p:cNvSpPr/>
          <p:nvPr/>
        </p:nvSpPr>
        <p:spPr>
          <a:xfrm>
            <a:off x="1920240" y="3880008"/>
            <a:ext cx="9537192"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Estimated where missed children are (two methods) and grouped areas by barrier.</a:t>
            </a:r>
          </a:p>
        </p:txBody>
      </p:sp>
      <p:sp>
        <p:nvSpPr>
          <p:cNvPr id="17" name="Text 15"/>
          <p:cNvSpPr/>
          <p:nvPr/>
        </p:nvSpPr>
        <p:spPr>
          <a:xfrm>
            <a:off x="694944" y="4359402"/>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6</a:t>
            </a:r>
            <a:endParaRPr lang="en-US" sz="1800" dirty="0"/>
          </a:p>
        </p:txBody>
      </p:sp>
      <p:sp>
        <p:nvSpPr>
          <p:cNvPr id="18" name="Text 16"/>
          <p:cNvSpPr/>
          <p:nvPr/>
        </p:nvSpPr>
        <p:spPr>
          <a:xfrm>
            <a:off x="1920240" y="4467987"/>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polio surveillance and response should remain strong.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9" name="Shape 17"/>
          <p:cNvSpPr/>
          <p:nvPr/>
        </p:nvSpPr>
        <p:spPr>
          <a:xfrm>
            <a:off x="548640" y="4889754"/>
            <a:ext cx="11091672" cy="530352"/>
          </a:xfrm>
          <a:prstGeom prst="rect">
            <a:avLst/>
          </a:prstGeom>
          <a:solidFill>
            <a:srgbClr val="EEF2F6"/>
          </a:solidFill>
          <a:ln/>
        </p:spPr>
        <p:txBody>
          <a:bodyPr/>
          <a:lstStyle/>
          <a:p>
            <a:endParaRPr lang="LID4096"/>
          </a:p>
        </p:txBody>
      </p:sp>
      <p:sp>
        <p:nvSpPr>
          <p:cNvPr id="20" name="Text 18"/>
          <p:cNvSpPr/>
          <p:nvPr/>
        </p:nvSpPr>
        <p:spPr>
          <a:xfrm>
            <a:off x="694944" y="4889754"/>
            <a:ext cx="1143000" cy="530352"/>
          </a:xfrm>
          <a:prstGeom prst="rect">
            <a:avLst/>
          </a:prstGeom>
          <a:noFill/>
          <a:ln/>
        </p:spPr>
        <p:txBody>
          <a:bodyPr wrap="square" lIns="0" tIns="0" rIns="0" bIns="0" rtlCol="0" anchor="ctr"/>
          <a:lstStyle/>
          <a:p>
            <a:pPr marL="0" indent="0">
              <a:buNone/>
            </a:pPr>
            <a:r>
              <a:rPr lang="en-US" sz="1800" b="1" dirty="0">
                <a:solidFill>
                  <a:srgbClr val="1F3B57"/>
                </a:solidFill>
                <a:latin typeface="Arial" pitchFamily="34" charset="0"/>
                <a:ea typeface="Arial" pitchFamily="34" charset="-122"/>
                <a:cs typeface="Arial" pitchFamily="34" charset="-120"/>
              </a:rPr>
              <a:t>Domain 7</a:t>
            </a:r>
            <a:endParaRPr lang="en-US" sz="1800" dirty="0"/>
          </a:p>
        </p:txBody>
      </p:sp>
      <p:sp>
        <p:nvSpPr>
          <p:cNvPr id="21" name="Text 19"/>
          <p:cNvSpPr/>
          <p:nvPr/>
        </p:nvSpPr>
        <p:spPr>
          <a:xfrm>
            <a:off x="1920240" y="4998339"/>
            <a:ext cx="9537192" cy="31318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Showed where low coverage is linked with higher child-survival risk.</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Text 20"/>
          <p:cNvSpPr/>
          <p:nvPr/>
        </p:nvSpPr>
        <p:spPr>
          <a:xfrm>
            <a:off x="548640" y="5672880"/>
            <a:ext cx="11091672" cy="530352"/>
          </a:xfrm>
          <a:prstGeom prst="rect">
            <a:avLst/>
          </a:prstGeom>
          <a:noFill/>
          <a:ln/>
        </p:spPr>
        <p:txBody>
          <a:bodyPr wrap="square" lIns="0" tIns="0" rIns="0" bIns="0" rtlCol="0" anchor="t"/>
          <a:lstStyle/>
          <a:p>
            <a:pPr>
              <a:lnSpc>
                <a:spcPct val="105000"/>
              </a:lnSpc>
            </a:pPr>
            <a:r>
              <a:rPr lang="" b="1" dirty="0">
                <a:latin typeface="Arial" panose="020B0604020202020204" pitchFamily="34" charset="0"/>
                <a:cs typeface="Arial" panose="020B0604020202020204" pitchFamily="34" charset="0"/>
              </a:rPr>
              <a:t>Validation: Independent testing showed the model was highly accurate (3 to 4% error)</a:t>
            </a:r>
            <a:endParaRPr lang="en-US" sz="1800" b="1" dirty="0">
              <a:latin typeface="Arial" panose="020B0604020202020204" pitchFamily="34" charset="0"/>
              <a:cs typeface="Arial" panose="020B0604020202020204" pitchFamily="34" charset="0"/>
            </a:endParaRPr>
          </a:p>
        </p:txBody>
      </p:sp>
      <p:sp>
        <p:nvSpPr>
          <p:cNvPr id="23" name="Text 21"/>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Source: consortium methods, 2026. Model estimates reported with their uncertainty; clean convergence, maximum R-hat below 1.01.</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datasets behind every estimate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Eleven sources, mapped to the domains they feed. Nothing is modelled from a single data stream.</a:t>
            </a:r>
            <a:endParaRPr lang="en-US" sz="1800" dirty="0"/>
          </a:p>
        </p:txBody>
      </p:sp>
      <p:sp>
        <p:nvSpPr>
          <p:cNvPr id="4" name="Shape 2"/>
          <p:cNvSpPr/>
          <p:nvPr/>
        </p:nvSpPr>
        <p:spPr>
          <a:xfrm>
            <a:off x="548640" y="1227582"/>
            <a:ext cx="11091672" cy="329184"/>
          </a:xfrm>
          <a:prstGeom prst="rect">
            <a:avLst/>
          </a:prstGeom>
          <a:solidFill>
            <a:srgbClr val="1F3B57"/>
          </a:solidFill>
          <a:ln/>
        </p:spPr>
        <p:txBody>
          <a:bodyPr/>
          <a:lstStyle/>
          <a:p>
            <a:endParaRPr lang="LID4096"/>
          </a:p>
        </p:txBody>
      </p:sp>
      <p:sp>
        <p:nvSpPr>
          <p:cNvPr id="5" name="Text 3"/>
          <p:cNvSpPr/>
          <p:nvPr/>
        </p:nvSpPr>
        <p:spPr>
          <a:xfrm>
            <a:off x="694944" y="1227582"/>
            <a:ext cx="40690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Dataset</a:t>
            </a:r>
            <a:endParaRPr lang="en-US" sz="1400" dirty="0"/>
          </a:p>
        </p:txBody>
      </p:sp>
      <p:sp>
        <p:nvSpPr>
          <p:cNvPr id="6" name="Text 4"/>
          <p:cNvSpPr/>
          <p:nvPr/>
        </p:nvSpPr>
        <p:spPr>
          <a:xfrm>
            <a:off x="4764024" y="1227582"/>
            <a:ext cx="5669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What it provides</a:t>
            </a:r>
            <a:endParaRPr lang="en-US" sz="1400" dirty="0"/>
          </a:p>
        </p:txBody>
      </p:sp>
      <p:sp>
        <p:nvSpPr>
          <p:cNvPr id="7" name="Text 5"/>
          <p:cNvSpPr/>
          <p:nvPr/>
        </p:nvSpPr>
        <p:spPr>
          <a:xfrm>
            <a:off x="10433304" y="1227582"/>
            <a:ext cx="1097280" cy="329184"/>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Domains</a:t>
            </a:r>
            <a:endParaRPr lang="en-US" sz="1400" dirty="0"/>
          </a:p>
        </p:txBody>
      </p:sp>
      <p:sp>
        <p:nvSpPr>
          <p:cNvPr id="8" name="Text 6"/>
          <p:cNvSpPr/>
          <p:nvPr/>
        </p:nvSpPr>
        <p:spPr>
          <a:xfrm>
            <a:off x="694944" y="155676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DHIS2 routine RI reports</a:t>
            </a:r>
            <a:endParaRPr lang="en-US" sz="1500" dirty="0"/>
          </a:p>
        </p:txBody>
      </p:sp>
      <p:sp>
        <p:nvSpPr>
          <p:cNvPr id="9" name="Text 7"/>
          <p:cNvSpPr/>
          <p:nvPr/>
        </p:nvSpPr>
        <p:spPr>
          <a:xfrm>
            <a:off x="4764024" y="155676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Monthly administrative dose counts, all states, 2021 to 2025</a:t>
            </a:r>
            <a:endParaRPr lang="en-US" sz="1500" dirty="0"/>
          </a:p>
        </p:txBody>
      </p:sp>
      <p:sp>
        <p:nvSpPr>
          <p:cNvPr id="10" name="Text 8"/>
          <p:cNvSpPr/>
          <p:nvPr/>
        </p:nvSpPr>
        <p:spPr>
          <a:xfrm>
            <a:off x="10433304" y="155676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1, 2, 5</a:t>
            </a:r>
            <a:endParaRPr lang="en-US" sz="1500" dirty="0"/>
          </a:p>
        </p:txBody>
      </p:sp>
      <p:sp>
        <p:nvSpPr>
          <p:cNvPr id="11" name="Shape 9"/>
          <p:cNvSpPr/>
          <p:nvPr/>
        </p:nvSpPr>
        <p:spPr>
          <a:xfrm>
            <a:off x="548640" y="1940814"/>
            <a:ext cx="11091672" cy="384048"/>
          </a:xfrm>
          <a:prstGeom prst="rect">
            <a:avLst/>
          </a:prstGeom>
          <a:solidFill>
            <a:srgbClr val="EEF2F6"/>
          </a:solidFill>
          <a:ln/>
        </p:spPr>
        <p:txBody>
          <a:bodyPr/>
          <a:lstStyle/>
          <a:p>
            <a:endParaRPr lang="LID4096"/>
          </a:p>
        </p:txBody>
      </p:sp>
      <p:sp>
        <p:nvSpPr>
          <p:cNvPr id="12" name="Text 10"/>
          <p:cNvSpPr/>
          <p:nvPr/>
        </p:nvSpPr>
        <p:spPr>
          <a:xfrm>
            <a:off x="694944" y="194081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NDHS 2008 to 2024 (verified)</a:t>
            </a:r>
            <a:endParaRPr lang="en-US" sz="1500" dirty="0"/>
          </a:p>
        </p:txBody>
      </p:sp>
      <p:sp>
        <p:nvSpPr>
          <p:cNvPr id="13" name="Text 11"/>
          <p:cNvSpPr/>
          <p:nvPr/>
        </p:nvSpPr>
        <p:spPr>
          <a:xfrm>
            <a:off x="4764024" y="194081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Survey DTP1 coverage and zero-dose, 12-to-23-month cohort</a:t>
            </a:r>
            <a:endParaRPr lang="en-US" sz="1500" dirty="0"/>
          </a:p>
        </p:txBody>
      </p:sp>
      <p:sp>
        <p:nvSpPr>
          <p:cNvPr id="14" name="Text 12"/>
          <p:cNvSpPr/>
          <p:nvPr/>
        </p:nvSpPr>
        <p:spPr>
          <a:xfrm>
            <a:off x="10433304" y="194081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1, 3, 4, 5</a:t>
            </a:r>
            <a:endParaRPr lang="en-US" sz="1500" dirty="0"/>
          </a:p>
        </p:txBody>
      </p:sp>
      <p:sp>
        <p:nvSpPr>
          <p:cNvPr id="15" name="Text 13"/>
          <p:cNvSpPr/>
          <p:nvPr/>
        </p:nvSpPr>
        <p:spPr>
          <a:xfrm>
            <a:off x="694944" y="232486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NmDHS 2025-26</a:t>
            </a:r>
            <a:endParaRPr lang="en-US" sz="1500" dirty="0"/>
          </a:p>
        </p:txBody>
      </p:sp>
      <p:sp>
        <p:nvSpPr>
          <p:cNvPr id="16" name="Text 14"/>
          <p:cNvSpPr/>
          <p:nvPr/>
        </p:nvSpPr>
        <p:spPr>
          <a:xfrm>
            <a:off x="4764024" y="232486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New national survey, released after this work: out-of-sample check</a:t>
            </a:r>
            <a:endParaRPr lang="en-US" sz="1500" dirty="0"/>
          </a:p>
        </p:txBody>
      </p:sp>
      <p:sp>
        <p:nvSpPr>
          <p:cNvPr id="17" name="Text 15"/>
          <p:cNvSpPr/>
          <p:nvPr/>
        </p:nvSpPr>
        <p:spPr>
          <a:xfrm>
            <a:off x="10433304" y="232486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Validation</a:t>
            </a:r>
            <a:endParaRPr lang="en-US" sz="1500" dirty="0"/>
          </a:p>
        </p:txBody>
      </p:sp>
      <p:sp>
        <p:nvSpPr>
          <p:cNvPr id="18" name="Shape 16"/>
          <p:cNvSpPr/>
          <p:nvPr/>
        </p:nvSpPr>
        <p:spPr>
          <a:xfrm>
            <a:off x="548640" y="2708910"/>
            <a:ext cx="11091672" cy="384048"/>
          </a:xfrm>
          <a:prstGeom prst="rect">
            <a:avLst/>
          </a:prstGeom>
          <a:solidFill>
            <a:srgbClr val="EEF2F6"/>
          </a:solidFill>
          <a:ln/>
        </p:spPr>
        <p:txBody>
          <a:bodyPr/>
          <a:lstStyle/>
          <a:p>
            <a:endParaRPr lang="LID4096"/>
          </a:p>
        </p:txBody>
      </p:sp>
      <p:sp>
        <p:nvSpPr>
          <p:cNvPr id="19" name="Text 17"/>
          <p:cNvSpPr/>
          <p:nvPr/>
        </p:nvSpPr>
        <p:spPr>
          <a:xfrm>
            <a:off x="694944" y="270891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Zero-dose master dataset</a:t>
            </a:r>
            <a:endParaRPr lang="en-US" sz="1500" dirty="0"/>
          </a:p>
        </p:txBody>
      </p:sp>
      <p:sp>
        <p:nvSpPr>
          <p:cNvPr id="20" name="Text 18"/>
          <p:cNvSpPr/>
          <p:nvPr/>
        </p:nvSpPr>
        <p:spPr>
          <a:xfrm>
            <a:off x="4764024" y="270891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37-state file: survey coverage plus 30+ predictors</a:t>
            </a:r>
            <a:endParaRPr lang="en-US" sz="1500" dirty="0"/>
          </a:p>
        </p:txBody>
      </p:sp>
      <p:sp>
        <p:nvSpPr>
          <p:cNvPr id="21" name="Text 19"/>
          <p:cNvSpPr/>
          <p:nvPr/>
        </p:nvSpPr>
        <p:spPr>
          <a:xfrm>
            <a:off x="10433304" y="270891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2, 3, 4, 5</a:t>
            </a:r>
            <a:endParaRPr lang="en-US" sz="1500" dirty="0"/>
          </a:p>
        </p:txBody>
      </p:sp>
      <p:sp>
        <p:nvSpPr>
          <p:cNvPr id="22" name="Text 20"/>
          <p:cNvSpPr/>
          <p:nvPr/>
        </p:nvSpPr>
        <p:spPr>
          <a:xfrm>
            <a:off x="694944" y="309295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Equity indicators file</a:t>
            </a:r>
            <a:endParaRPr lang="en-US" sz="1500" dirty="0"/>
          </a:p>
        </p:txBody>
      </p:sp>
      <p:sp>
        <p:nvSpPr>
          <p:cNvPr id="23" name="Text 21"/>
          <p:cNvSpPr/>
          <p:nvPr/>
        </p:nvSpPr>
        <p:spPr>
          <a:xfrm>
            <a:off x="4764024" y="309295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education, distance to care, urbanicity, fertility</a:t>
            </a:r>
            <a:endParaRPr lang="en-US" sz="1500" dirty="0"/>
          </a:p>
        </p:txBody>
      </p:sp>
      <p:sp>
        <p:nvSpPr>
          <p:cNvPr id="24" name="Text 22"/>
          <p:cNvSpPr/>
          <p:nvPr/>
        </p:nvSpPr>
        <p:spPr>
          <a:xfrm>
            <a:off x="10433304" y="309295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25" name="Shape 23"/>
          <p:cNvSpPr/>
          <p:nvPr/>
        </p:nvSpPr>
        <p:spPr>
          <a:xfrm>
            <a:off x="548640" y="3477006"/>
            <a:ext cx="11091672" cy="384048"/>
          </a:xfrm>
          <a:prstGeom prst="rect">
            <a:avLst/>
          </a:prstGeom>
          <a:solidFill>
            <a:srgbClr val="EEF2F6"/>
          </a:solidFill>
          <a:ln/>
        </p:spPr>
        <p:txBody>
          <a:bodyPr/>
          <a:lstStyle/>
          <a:p>
            <a:endParaRPr lang="LID4096"/>
          </a:p>
        </p:txBody>
      </p:sp>
      <p:sp>
        <p:nvSpPr>
          <p:cNvPr id="26" name="Text 24"/>
          <p:cNvSpPr/>
          <p:nvPr/>
        </p:nvSpPr>
        <p:spPr>
          <a:xfrm>
            <a:off x="694944" y="3477006"/>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GRID3 admin boundaries</a:t>
            </a:r>
            <a:endParaRPr lang="en-US" sz="1500" dirty="0"/>
          </a:p>
        </p:txBody>
      </p:sp>
      <p:sp>
        <p:nvSpPr>
          <p:cNvPr id="27" name="Text 25"/>
          <p:cNvSpPr/>
          <p:nvPr/>
        </p:nvSpPr>
        <p:spPr>
          <a:xfrm>
            <a:off x="4764024" y="3477006"/>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Admin-1 and admin-2 layers for maps and contiguity</a:t>
            </a:r>
            <a:endParaRPr lang="en-US" sz="1500" dirty="0"/>
          </a:p>
        </p:txBody>
      </p:sp>
      <p:sp>
        <p:nvSpPr>
          <p:cNvPr id="28" name="Text 26"/>
          <p:cNvSpPr/>
          <p:nvPr/>
        </p:nvSpPr>
        <p:spPr>
          <a:xfrm>
            <a:off x="10433304" y="3477006"/>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3, 5, 6</a:t>
            </a:r>
            <a:endParaRPr lang="en-US" sz="1500" dirty="0"/>
          </a:p>
        </p:txBody>
      </p:sp>
      <p:sp>
        <p:nvSpPr>
          <p:cNvPr id="29" name="Text 27"/>
          <p:cNvSpPr/>
          <p:nvPr/>
        </p:nvSpPr>
        <p:spPr>
          <a:xfrm>
            <a:off x="694944" y="3861054"/>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AFP national line list</a:t>
            </a:r>
            <a:endParaRPr lang="en-US" sz="1500" dirty="0"/>
          </a:p>
        </p:txBody>
      </p:sp>
      <p:sp>
        <p:nvSpPr>
          <p:cNvPr id="30" name="Text 28"/>
          <p:cNvSpPr/>
          <p:nvPr/>
        </p:nvSpPr>
        <p:spPr>
          <a:xfrm>
            <a:off x="4764024" y="3861054"/>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Case-level surveillance, about 103,000 records, 2015 to 2025</a:t>
            </a:r>
            <a:endParaRPr lang="en-US" sz="1500" dirty="0"/>
          </a:p>
        </p:txBody>
      </p:sp>
      <p:sp>
        <p:nvSpPr>
          <p:cNvPr id="31" name="Text 29"/>
          <p:cNvSpPr/>
          <p:nvPr/>
        </p:nvSpPr>
        <p:spPr>
          <a:xfrm>
            <a:off x="10433304" y="3861054"/>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6</a:t>
            </a:r>
            <a:endParaRPr lang="en-US" sz="1500" dirty="0"/>
          </a:p>
        </p:txBody>
      </p:sp>
      <p:sp>
        <p:nvSpPr>
          <p:cNvPr id="32" name="Shape 30"/>
          <p:cNvSpPr/>
          <p:nvPr/>
        </p:nvSpPr>
        <p:spPr>
          <a:xfrm>
            <a:off x="548640" y="4245102"/>
            <a:ext cx="11091672" cy="384048"/>
          </a:xfrm>
          <a:prstGeom prst="rect">
            <a:avLst/>
          </a:prstGeom>
          <a:solidFill>
            <a:srgbClr val="EEF2F6"/>
          </a:solidFill>
          <a:ln/>
        </p:spPr>
        <p:txBody>
          <a:bodyPr/>
          <a:lstStyle/>
          <a:p>
            <a:endParaRPr lang="LID4096"/>
          </a:p>
        </p:txBody>
      </p:sp>
      <p:sp>
        <p:nvSpPr>
          <p:cNvPr id="33" name="Text 31"/>
          <p:cNvSpPr/>
          <p:nvPr/>
        </p:nvSpPr>
        <p:spPr>
          <a:xfrm>
            <a:off x="694944" y="4245102"/>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IHME GBD 2023 (Nigeria)</a:t>
            </a:r>
            <a:endParaRPr lang="en-US" sz="1500" dirty="0"/>
          </a:p>
        </p:txBody>
      </p:sp>
      <p:sp>
        <p:nvSpPr>
          <p:cNvPr id="34" name="Text 32"/>
          <p:cNvSpPr/>
          <p:nvPr/>
        </p:nvSpPr>
        <p:spPr>
          <a:xfrm>
            <a:off x="4764024" y="4245102"/>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State cause-of-death fractions; independent mortality record</a:t>
            </a:r>
            <a:endParaRPr lang="en-US" sz="1500" dirty="0"/>
          </a:p>
        </p:txBody>
      </p:sp>
      <p:sp>
        <p:nvSpPr>
          <p:cNvPr id="35" name="Text 33"/>
          <p:cNvSpPr/>
          <p:nvPr/>
        </p:nvSpPr>
        <p:spPr>
          <a:xfrm>
            <a:off x="10433304" y="4245102"/>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7</a:t>
            </a:r>
            <a:endParaRPr lang="en-US" sz="1500" dirty="0"/>
          </a:p>
        </p:txBody>
      </p:sp>
      <p:sp>
        <p:nvSpPr>
          <p:cNvPr id="36" name="Text 34"/>
          <p:cNvSpPr/>
          <p:nvPr/>
        </p:nvSpPr>
        <p:spPr>
          <a:xfrm>
            <a:off x="694944" y="4629150"/>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NPHCDA ACSM register</a:t>
            </a:r>
            <a:endParaRPr lang="en-US" sz="1500" dirty="0"/>
          </a:p>
        </p:txBody>
      </p:sp>
      <p:sp>
        <p:nvSpPr>
          <p:cNvPr id="37" name="Text 35"/>
          <p:cNvSpPr/>
          <p:nvPr/>
        </p:nvSpPr>
        <p:spPr>
          <a:xfrm>
            <a:off x="4764024" y="4629150"/>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2,593 advocacy and social-mobilization activities, 36 states</a:t>
            </a:r>
            <a:endParaRPr lang="en-US" sz="1500" dirty="0"/>
          </a:p>
        </p:txBody>
      </p:sp>
      <p:sp>
        <p:nvSpPr>
          <p:cNvPr id="38" name="Text 36"/>
          <p:cNvSpPr/>
          <p:nvPr/>
        </p:nvSpPr>
        <p:spPr>
          <a:xfrm>
            <a:off x="10433304" y="4629150"/>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4</a:t>
            </a:r>
            <a:endParaRPr lang="en-US" sz="1500" dirty="0"/>
          </a:p>
        </p:txBody>
      </p:sp>
      <p:sp>
        <p:nvSpPr>
          <p:cNvPr id="39" name="Shape 37"/>
          <p:cNvSpPr/>
          <p:nvPr/>
        </p:nvSpPr>
        <p:spPr>
          <a:xfrm>
            <a:off x="548640" y="5013198"/>
            <a:ext cx="11091672" cy="384048"/>
          </a:xfrm>
          <a:prstGeom prst="rect">
            <a:avLst/>
          </a:prstGeom>
          <a:solidFill>
            <a:srgbClr val="EEF2F6"/>
          </a:solidFill>
          <a:ln/>
        </p:spPr>
        <p:txBody>
          <a:bodyPr/>
          <a:lstStyle/>
          <a:p>
            <a:endParaRPr lang="LID4096"/>
          </a:p>
        </p:txBody>
      </p:sp>
      <p:sp>
        <p:nvSpPr>
          <p:cNvPr id="40" name="Text 38"/>
          <p:cNvSpPr/>
          <p:nvPr/>
        </p:nvSpPr>
        <p:spPr>
          <a:xfrm>
            <a:off x="694944" y="5013198"/>
            <a:ext cx="3886200" cy="384048"/>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Population: NPC 2022 and WorldPop</a:t>
            </a:r>
            <a:endParaRPr lang="en-US" sz="1500" dirty="0"/>
          </a:p>
        </p:txBody>
      </p:sp>
      <p:sp>
        <p:nvSpPr>
          <p:cNvPr id="41" name="Text 39"/>
          <p:cNvSpPr/>
          <p:nvPr/>
        </p:nvSpPr>
        <p:spPr>
          <a:xfrm>
            <a:off x="4764024" y="5013198"/>
            <a:ext cx="5486400" cy="384048"/>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Local-government denominators for absolute-burden conversion</a:t>
            </a:r>
            <a:endParaRPr lang="en-US" sz="1500" dirty="0"/>
          </a:p>
        </p:txBody>
      </p:sp>
      <p:sp>
        <p:nvSpPr>
          <p:cNvPr id="42" name="Text 40"/>
          <p:cNvSpPr/>
          <p:nvPr/>
        </p:nvSpPr>
        <p:spPr>
          <a:xfrm>
            <a:off x="10433304" y="5013198"/>
            <a:ext cx="1097280" cy="384048"/>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1, 4, 5, 7</a:t>
            </a:r>
            <a:endParaRPr lang="en-US" sz="1500" dirty="0"/>
          </a:p>
        </p:txBody>
      </p:sp>
      <p:sp>
        <p:nvSpPr>
          <p:cNvPr id="43" name="Text 41"/>
          <p:cNvSpPr/>
          <p:nvPr/>
        </p:nvSpPr>
        <p:spPr>
          <a:xfrm>
            <a:off x="694944" y="5397246"/>
            <a:ext cx="3886200" cy="560641"/>
          </a:xfrm>
          <a:prstGeom prst="rect">
            <a:avLst/>
          </a:prstGeom>
          <a:noFill/>
          <a:ln/>
        </p:spPr>
        <p:txBody>
          <a:bodyPr wrap="square" lIns="0" tIns="0" rIns="0" bIns="0" rtlCol="0" anchor="ctr"/>
          <a:lstStyle/>
          <a:p>
            <a:pPr marL="0" indent="0">
              <a:lnSpc>
                <a:spcPct val="95000"/>
              </a:lnSpc>
              <a:buNone/>
            </a:pPr>
            <a:r>
              <a:rPr lang="en-US" sz="1500" b="1" dirty="0">
                <a:solidFill>
                  <a:srgbClr val="1F3B57"/>
                </a:solidFill>
                <a:latin typeface="Arial" pitchFamily="34" charset="0"/>
                <a:ea typeface="Arial" pitchFamily="34" charset="-122"/>
                <a:cs typeface="Arial" pitchFamily="34" charset="-120"/>
              </a:rPr>
              <a:t>Meta Relative Wealth Index; Weiss travel time; ACLED</a:t>
            </a:r>
            <a:endParaRPr lang="en-US" sz="1500" dirty="0"/>
          </a:p>
        </p:txBody>
      </p:sp>
      <p:sp>
        <p:nvSpPr>
          <p:cNvPr id="44" name="Text 42"/>
          <p:cNvSpPr/>
          <p:nvPr/>
        </p:nvSpPr>
        <p:spPr>
          <a:xfrm>
            <a:off x="4764024" y="5397246"/>
            <a:ext cx="5486400" cy="560641"/>
          </a:xfrm>
          <a:prstGeom prst="rect">
            <a:avLst/>
          </a:prstGeom>
          <a:noFill/>
          <a:ln/>
        </p:spPr>
        <p:txBody>
          <a:bodyPr wrap="square" lIns="0" tIns="0" rIns="0" bIns="0" rtlCol="0" anchor="ctr"/>
          <a:lstStyle/>
          <a:p>
            <a:pPr marL="0" indent="0">
              <a:lnSpc>
                <a:spcPct val="95000"/>
              </a:lnSpc>
              <a:buNone/>
            </a:pPr>
            <a:r>
              <a:rPr lang="en-US" sz="1500" dirty="0">
                <a:solidFill>
                  <a:srgbClr val="22333F"/>
                </a:solidFill>
                <a:latin typeface="Arial" pitchFamily="34" charset="0"/>
                <a:ea typeface="Arial" pitchFamily="34" charset="-122"/>
                <a:cs typeface="Arial" pitchFamily="34" charset="-120"/>
              </a:rPr>
              <a:t>Wealth, remoteness and political-violence covariates</a:t>
            </a:r>
            <a:endParaRPr lang="en-US" sz="1500" dirty="0"/>
          </a:p>
        </p:txBody>
      </p:sp>
      <p:sp>
        <p:nvSpPr>
          <p:cNvPr id="45" name="Text 43"/>
          <p:cNvSpPr/>
          <p:nvPr/>
        </p:nvSpPr>
        <p:spPr>
          <a:xfrm>
            <a:off x="10433304" y="5397246"/>
            <a:ext cx="1097280" cy="560641"/>
          </a:xfrm>
          <a:prstGeom prst="rect">
            <a:avLst/>
          </a:prstGeom>
          <a:noFill/>
          <a:ln/>
        </p:spPr>
        <p:txBody>
          <a:bodyPr wrap="square" lIns="0" tIns="0" rIns="0" bIns="0" rtlCol="0" anchor="ctr"/>
          <a:lstStyle/>
          <a:p>
            <a:pPr marL="0" indent="0">
              <a:buNone/>
            </a:pPr>
            <a:r>
              <a:rPr lang="en-US" sz="1500" dirty="0">
                <a:solidFill>
                  <a:srgbClr val="2E6E8E"/>
                </a:solidFill>
                <a:latin typeface="Arial" pitchFamily="34" charset="0"/>
                <a:ea typeface="Arial" pitchFamily="34" charset="-122"/>
                <a:cs typeface="Arial" pitchFamily="34" charset="-120"/>
              </a:rPr>
              <a:t>3, 5</a:t>
            </a:r>
            <a:endParaRPr lang="en-US" sz="1500" dirty="0"/>
          </a:p>
        </p:txBody>
      </p:sp>
      <p:sp>
        <p:nvSpPr>
          <p:cNvPr id="46" name="Text 4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All acronyms are spelled out in the reference slides</a:t>
            </a:r>
            <a:r>
              <a:rPr lang="en-US" sz="1400" i="1">
                <a:solidFill>
                  <a:srgbClr val="5C6B78"/>
                </a:solidFill>
                <a:latin typeface="Arial" pitchFamily="34" charset="0"/>
                <a:ea typeface="Arial" pitchFamily="34" charset="-122"/>
                <a:cs typeface="Arial" pitchFamily="34" charset="-120"/>
              </a:rPr>
              <a:t>.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Local government coverage of the zero-dose estimates</a:t>
            </a:r>
            <a:endParaRPr lang="en-US" sz="3200" dirty="0"/>
          </a:p>
        </p:txBody>
      </p:sp>
      <p:sp>
        <p:nvSpPr>
          <p:cNvPr id="3" name="TextBox 2"/>
          <p:cNvSpPr txBox="1"/>
          <p:nvPr/>
        </p:nvSpPr>
        <p:spPr>
          <a:xfrm>
            <a:off x="548640" y="795528"/>
            <a:ext cx="11091672" cy="365760"/>
          </a:xfrm>
          <a:prstGeom prst="rect">
            <a:avLst/>
          </a:prstGeom>
          <a:noFill/>
        </p:spPr>
        <p:txBody>
          <a:bodyPr wrap="square" lIns="0" rIns="0" tIns="0" bIns="0" anchor="t">
            <a:spAutoFit/>
          </a:bodyPr>
          <a:lstStyle/>
          <a:p>
            <a:pPr algn="l"/>
            <a:r>
              <a:rPr sz="1700" b="0" i="0">
                <a:solidFill>
                  <a:srgbClr val="45596B"/>
                </a:solidFill>
                <a:latin typeface="Arial"/>
              </a:rPr>
              <a:t>Method 1 estimates 773 of the 774 local government areas; Method 2 estimates all 774.</a:t>
            </a:r>
          </a:p>
        </p:txBody>
      </p:sp>
      <p:graphicFrame>
        <p:nvGraphicFramePr>
          <p:cNvPr id="4" name="Table 3"/>
          <p:cNvGraphicFramePr>
            <a:graphicFrameLocks noGrp="1"/>
          </p:cNvGraphicFramePr>
          <p:nvPr/>
        </p:nvGraphicFramePr>
        <p:xfrm>
          <a:off x="548640" y="1325880"/>
          <a:ext cx="5486400" cy="3364992"/>
        </p:xfrm>
        <a:graphic>
          <a:graphicData uri="http://schemas.openxmlformats.org/drawingml/2006/table">
            <a:tbl>
              <a:tblPr firstRow="1" bandRow="0">
                <a:tableStyleId>{2D5ABB26-0587-4C30-8999-92F81FD0307C}</a:tableStyleId>
              </a:tblPr>
              <a:tblGrid>
                <a:gridCol w="2194560"/>
                <a:gridCol w="1097280"/>
                <a:gridCol w="1097280"/>
                <a:gridCol w="1097280"/>
              </a:tblGrid>
              <a:tr h="420624">
                <a:tc>
                  <a:txBody>
                    <a:bodyPr wrap="square"/>
                    <a:lstStyle/>
                    <a:p>
                      <a:pPr algn="l"/>
                      <a:r>
                        <a:rPr sz="1300" b="1">
                          <a:solidFill>
                            <a:srgbClr val="FFFFFF"/>
                          </a:solidFill>
                          <a:latin typeface="Arial"/>
                        </a:rPr>
                        <a:t>Zone</a:t>
                      </a:r>
                    </a:p>
                  </a:txBody>
                  <a:tcPr marL="64008" marR="64008" marT="22860" marB="22860" anchor="ctr">
                    <a:solidFill>
                      <a:srgbClr val="1F3B57"/>
                    </a:solidFill>
                  </a:tcPr>
                </a:tc>
                <a:tc>
                  <a:txBody>
                    <a:bodyPr wrap="square"/>
                    <a:lstStyle/>
                    <a:p>
                      <a:pPr algn="ctr"/>
                      <a:r>
                        <a:rPr sz="1300" b="1">
                          <a:solidFill>
                            <a:srgbClr val="FFFFFF"/>
                          </a:solidFill>
                          <a:latin typeface="Arial"/>
                        </a:rPr>
                        <a:t>LGAs</a:t>
                      </a:r>
                    </a:p>
                  </a:txBody>
                  <a:tcPr marL="64008" marR="64008" marT="22860" marB="22860" anchor="ctr">
                    <a:solidFill>
                      <a:srgbClr val="1F3B57"/>
                    </a:solidFill>
                  </a:tcPr>
                </a:tc>
                <a:tc>
                  <a:txBody>
                    <a:bodyPr wrap="square"/>
                    <a:lstStyle/>
                    <a:p>
                      <a:pPr algn="ctr"/>
                      <a:r>
                        <a:rPr sz="1300" b="1">
                          <a:solidFill>
                            <a:srgbClr val="FFFFFF"/>
                          </a:solidFill>
                          <a:latin typeface="Arial"/>
                        </a:rPr>
                        <a:t>Method 1</a:t>
                      </a:r>
                    </a:p>
                  </a:txBody>
                  <a:tcPr marL="64008" marR="64008" marT="22860" marB="22860" anchor="ctr">
                    <a:solidFill>
                      <a:srgbClr val="1F3B57"/>
                    </a:solidFill>
                  </a:tcPr>
                </a:tc>
                <a:tc>
                  <a:txBody>
                    <a:bodyPr wrap="square"/>
                    <a:lstStyle/>
                    <a:p>
                      <a:pPr algn="ctr"/>
                      <a:r>
                        <a:rPr sz="1300" b="1">
                          <a:solidFill>
                            <a:srgbClr val="FFFFFF"/>
                          </a:solidFill>
                          <a:latin typeface="Arial"/>
                        </a:rPr>
                        <a:t>Method 2</a:t>
                      </a:r>
                    </a:p>
                  </a:txBody>
                  <a:tcPr marL="64008" marR="64008" marT="22860" marB="22860" anchor="ctr">
                    <a:solidFill>
                      <a:srgbClr val="1F3B57"/>
                    </a:solidFill>
                  </a:tcPr>
                </a:tc>
              </a:tr>
              <a:tr h="420624">
                <a:tc>
                  <a:txBody>
                    <a:bodyPr wrap="square"/>
                    <a:lstStyle/>
                    <a:p>
                      <a:pPr algn="l"/>
                      <a:r>
                        <a:rPr sz="1400" b="0">
                          <a:solidFill>
                            <a:srgbClr val="22333F"/>
                          </a:solidFill>
                          <a:latin typeface="Arial"/>
                        </a:rPr>
                        <a:t>North Central</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c>
                  <a:txBody>
                    <a:bodyPr wrap="square"/>
                    <a:lstStyle/>
                    <a:p>
                      <a:pPr algn="r"/>
                      <a:r>
                        <a:rPr sz="1400" b="0">
                          <a:solidFill>
                            <a:srgbClr val="22333F"/>
                          </a:solidFill>
                          <a:latin typeface="Arial"/>
                        </a:rPr>
                        <a:t>121</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North East</a:t>
                      </a:r>
                    </a:p>
                  </a:txBody>
                  <a:tcPr marL="64008" marR="64008" marT="22860" marB="22860" anchor="ctr">
                    <a:solidFill>
                      <a:srgbClr val="EEF2F6"/>
                    </a:solidFill>
                  </a:tcPr>
                </a:tc>
                <a:tc>
                  <a:txBody>
                    <a:bodyPr wrap="square"/>
                    <a:lstStyle/>
                    <a:p>
                      <a:pPr algn="r"/>
                      <a:r>
                        <a:rPr sz="1400" b="0">
                          <a:solidFill>
                            <a:srgbClr val="22333F"/>
                          </a:solidFill>
                          <a:latin typeface="Arial"/>
                        </a:rPr>
                        <a:t>112</a:t>
                      </a:r>
                    </a:p>
                  </a:txBody>
                  <a:tcPr marL="64008" marR="64008" marT="22860" marB="22860" anchor="ctr">
                    <a:solidFill>
                      <a:srgbClr val="EEF2F6"/>
                    </a:solidFill>
                  </a:tcPr>
                </a:tc>
                <a:tc>
                  <a:txBody>
                    <a:bodyPr wrap="square"/>
                    <a:lstStyle/>
                    <a:p>
                      <a:pPr algn="r"/>
                      <a:r>
                        <a:rPr sz="1400" b="0">
                          <a:solidFill>
                            <a:srgbClr val="22333F"/>
                          </a:solidFill>
                          <a:latin typeface="Arial"/>
                        </a:rPr>
                        <a:t>111</a:t>
                      </a:r>
                    </a:p>
                  </a:txBody>
                  <a:tcPr marL="64008" marR="64008" marT="22860" marB="22860" anchor="ctr">
                    <a:solidFill>
                      <a:srgbClr val="EEF2F6"/>
                    </a:solidFill>
                  </a:tcPr>
                </a:tc>
                <a:tc>
                  <a:txBody>
                    <a:bodyPr wrap="square"/>
                    <a:lstStyle/>
                    <a:p>
                      <a:pPr algn="r"/>
                      <a:r>
                        <a:rPr sz="1400" b="0">
                          <a:solidFill>
                            <a:srgbClr val="22333F"/>
                          </a:solidFill>
                          <a:latin typeface="Arial"/>
                        </a:rPr>
                        <a:t>112</a:t>
                      </a:r>
                    </a:p>
                  </a:txBody>
                  <a:tcPr marL="64008" marR="64008" marT="22860" marB="22860" anchor="ctr">
                    <a:solidFill>
                      <a:srgbClr val="EEF2F6"/>
                    </a:solidFill>
                  </a:tcPr>
                </a:tc>
              </a:tr>
              <a:tr h="420624">
                <a:tc>
                  <a:txBody>
                    <a:bodyPr wrap="square"/>
                    <a:lstStyle/>
                    <a:p>
                      <a:pPr algn="l"/>
                      <a:r>
                        <a:rPr sz="1400" b="0">
                          <a:solidFill>
                            <a:srgbClr val="22333F"/>
                          </a:solidFill>
                          <a:latin typeface="Arial"/>
                        </a:rPr>
                        <a:t>North West</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c>
                  <a:txBody>
                    <a:bodyPr wrap="square"/>
                    <a:lstStyle/>
                    <a:p>
                      <a:pPr algn="r"/>
                      <a:r>
                        <a:rPr sz="1400" b="0">
                          <a:solidFill>
                            <a:srgbClr val="22333F"/>
                          </a:solidFill>
                          <a:latin typeface="Arial"/>
                        </a:rPr>
                        <a:t>186</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South East</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c>
                  <a:txBody>
                    <a:bodyPr wrap="square"/>
                    <a:lstStyle/>
                    <a:p>
                      <a:pPr algn="r"/>
                      <a:r>
                        <a:rPr sz="1400" b="0">
                          <a:solidFill>
                            <a:srgbClr val="22333F"/>
                          </a:solidFill>
                          <a:latin typeface="Arial"/>
                        </a:rPr>
                        <a:t>95</a:t>
                      </a:r>
                    </a:p>
                  </a:txBody>
                  <a:tcPr marL="64008" marR="64008" marT="22860" marB="22860" anchor="ctr">
                    <a:solidFill>
                      <a:srgbClr val="EEF2F6"/>
                    </a:solidFill>
                  </a:tcPr>
                </a:tc>
              </a:tr>
              <a:tr h="420624">
                <a:tc>
                  <a:txBody>
                    <a:bodyPr wrap="square"/>
                    <a:lstStyle/>
                    <a:p>
                      <a:pPr algn="l"/>
                      <a:r>
                        <a:rPr sz="1400" b="0">
                          <a:solidFill>
                            <a:srgbClr val="22333F"/>
                          </a:solidFill>
                          <a:latin typeface="Arial"/>
                        </a:rPr>
                        <a:t>South South</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c>
                  <a:txBody>
                    <a:bodyPr wrap="square"/>
                    <a:lstStyle/>
                    <a:p>
                      <a:pPr algn="r"/>
                      <a:r>
                        <a:rPr sz="1400" b="0">
                          <a:solidFill>
                            <a:srgbClr val="22333F"/>
                          </a:solidFill>
                          <a:latin typeface="Arial"/>
                        </a:rPr>
                        <a:t>123</a:t>
                      </a:r>
                    </a:p>
                  </a:txBody>
                  <a:tcPr marL="64008" marR="64008" marT="22860" marB="22860" anchor="ctr">
                    <a:solidFill>
                      <a:srgbClr val="FFFFFF"/>
                    </a:solidFill>
                  </a:tcPr>
                </a:tc>
              </a:tr>
              <a:tr h="420624">
                <a:tc>
                  <a:txBody>
                    <a:bodyPr wrap="square"/>
                    <a:lstStyle/>
                    <a:p>
                      <a:pPr algn="l"/>
                      <a:r>
                        <a:rPr sz="1400" b="0">
                          <a:solidFill>
                            <a:srgbClr val="22333F"/>
                          </a:solidFill>
                          <a:latin typeface="Arial"/>
                        </a:rPr>
                        <a:t>South West</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c>
                  <a:txBody>
                    <a:bodyPr wrap="square"/>
                    <a:lstStyle/>
                    <a:p>
                      <a:pPr algn="r"/>
                      <a:r>
                        <a:rPr sz="1400" b="0">
                          <a:solidFill>
                            <a:srgbClr val="22333F"/>
                          </a:solidFill>
                          <a:latin typeface="Arial"/>
                        </a:rPr>
                        <a:t>137</a:t>
                      </a:r>
                    </a:p>
                  </a:txBody>
                  <a:tcPr marL="64008" marR="64008" marT="22860" marB="22860" anchor="ctr">
                    <a:solidFill>
                      <a:srgbClr val="EEF2F6"/>
                    </a:solidFill>
                  </a:tcPr>
                </a:tc>
              </a:tr>
              <a:tr h="420624">
                <a:tc>
                  <a:txBody>
                    <a:bodyPr wrap="square"/>
                    <a:lstStyle/>
                    <a:p>
                      <a:pPr algn="l"/>
                      <a:r>
                        <a:rPr sz="1400" b="1">
                          <a:solidFill>
                            <a:srgbClr val="22333F"/>
                          </a:solidFill>
                          <a:latin typeface="Arial"/>
                        </a:rPr>
                        <a:t>Nigeria</a:t>
                      </a:r>
                    </a:p>
                  </a:txBody>
                  <a:tcPr marL="64008" marR="64008" marT="22860" marB="22860" anchor="ctr">
                    <a:solidFill>
                      <a:srgbClr val="DCE6F0"/>
                    </a:solidFill>
                  </a:tcPr>
                </a:tc>
                <a:tc>
                  <a:txBody>
                    <a:bodyPr wrap="square"/>
                    <a:lstStyle/>
                    <a:p>
                      <a:pPr algn="r"/>
                      <a:r>
                        <a:rPr sz="1400" b="1">
                          <a:solidFill>
                            <a:srgbClr val="22333F"/>
                          </a:solidFill>
                          <a:latin typeface="Arial"/>
                        </a:rPr>
                        <a:t>774</a:t>
                      </a:r>
                    </a:p>
                  </a:txBody>
                  <a:tcPr marL="64008" marR="64008" marT="22860" marB="22860" anchor="ctr">
                    <a:solidFill>
                      <a:srgbClr val="DCE6F0"/>
                    </a:solidFill>
                  </a:tcPr>
                </a:tc>
                <a:tc>
                  <a:txBody>
                    <a:bodyPr wrap="square"/>
                    <a:lstStyle/>
                    <a:p>
                      <a:pPr algn="r"/>
                      <a:r>
                        <a:rPr sz="1400" b="1">
                          <a:solidFill>
                            <a:srgbClr val="22333F"/>
                          </a:solidFill>
                          <a:latin typeface="Arial"/>
                        </a:rPr>
                        <a:t>773</a:t>
                      </a:r>
                    </a:p>
                  </a:txBody>
                  <a:tcPr marL="64008" marR="64008" marT="22860" marB="22860" anchor="ctr">
                    <a:solidFill>
                      <a:srgbClr val="DCE6F0"/>
                    </a:solidFill>
                  </a:tcPr>
                </a:tc>
                <a:tc>
                  <a:txBody>
                    <a:bodyPr wrap="square"/>
                    <a:lstStyle/>
                    <a:p>
                      <a:pPr algn="r"/>
                      <a:r>
                        <a:rPr sz="1400" b="1">
                          <a:solidFill>
                            <a:srgbClr val="22333F"/>
                          </a:solidFill>
                          <a:latin typeface="Arial"/>
                        </a:rPr>
                        <a:t>774</a:t>
                      </a:r>
                    </a:p>
                  </a:txBody>
                  <a:tcPr marL="64008" marR="64008" marT="22860" marB="22860" anchor="ctr">
                    <a:solidFill>
                      <a:srgbClr val="DCE6F0"/>
                    </a:solidFill>
                  </a:tcPr>
                </a:tc>
              </a:tr>
            </a:tbl>
          </a:graphicData>
        </a:graphic>
      </p:graphicFrame>
      <p:sp>
        <p:nvSpPr>
          <p:cNvPr id="5" name="Rectangle 4"/>
          <p:cNvSpPr/>
          <p:nvPr/>
        </p:nvSpPr>
        <p:spPr>
          <a:xfrm>
            <a:off x="6400800" y="1325880"/>
            <a:ext cx="2514600" cy="14173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1435607"/>
            <a:ext cx="2148840" cy="566928"/>
          </a:xfrm>
          <a:prstGeom prst="rect">
            <a:avLst/>
          </a:prstGeom>
          <a:noFill/>
        </p:spPr>
        <p:txBody>
          <a:bodyPr wrap="square" lIns="0" rIns="0" tIns="0" bIns="0" anchor="t">
            <a:spAutoFit/>
          </a:bodyPr>
          <a:lstStyle/>
          <a:p>
            <a:pPr algn="l"/>
            <a:r>
              <a:rPr sz="3000" b="1" i="0">
                <a:solidFill>
                  <a:srgbClr val="0072B2"/>
                </a:solidFill>
                <a:latin typeface="Arial"/>
              </a:rPr>
              <a:t>773 / 774</a:t>
            </a:r>
          </a:p>
        </p:txBody>
      </p:sp>
      <p:sp>
        <p:nvSpPr>
          <p:cNvPr id="7" name="TextBox 6"/>
          <p:cNvSpPr txBox="1"/>
          <p:nvPr/>
        </p:nvSpPr>
        <p:spPr>
          <a:xfrm>
            <a:off x="6583680" y="1911858"/>
            <a:ext cx="2148840" cy="666750"/>
          </a:xfrm>
          <a:prstGeom prst="rect">
            <a:avLst/>
          </a:prstGeom>
          <a:noFill/>
        </p:spPr>
        <p:txBody>
          <a:bodyPr wrap="square" lIns="0" rIns="0" tIns="0" bIns="0" anchor="t">
            <a:spAutoFit/>
          </a:bodyPr>
          <a:lstStyle/>
          <a:p>
            <a:pPr algn="l"/>
            <a:r>
              <a:rPr sz="1300" b="1" i="0">
                <a:solidFill>
                  <a:srgbClr val="1F3B57"/>
                </a:solidFill>
                <a:latin typeface="Arial"/>
              </a:rPr>
              <a:t>LGAs estimated by Method 1</a:t>
            </a:r>
          </a:p>
        </p:txBody>
      </p:sp>
      <p:sp>
        <p:nvSpPr>
          <p:cNvPr id="8" name="Rectangle 7"/>
          <p:cNvSpPr/>
          <p:nvPr/>
        </p:nvSpPr>
        <p:spPr>
          <a:xfrm>
            <a:off x="9125712" y="1325880"/>
            <a:ext cx="2514600" cy="14173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08592" y="1435607"/>
            <a:ext cx="2148840" cy="566928"/>
          </a:xfrm>
          <a:prstGeom prst="rect">
            <a:avLst/>
          </a:prstGeom>
          <a:noFill/>
        </p:spPr>
        <p:txBody>
          <a:bodyPr wrap="square" lIns="0" rIns="0" tIns="0" bIns="0" anchor="t">
            <a:spAutoFit/>
          </a:bodyPr>
          <a:lstStyle/>
          <a:p>
            <a:pPr algn="l"/>
            <a:r>
              <a:rPr sz="3000" b="1" i="0">
                <a:solidFill>
                  <a:srgbClr val="D55E00"/>
                </a:solidFill>
                <a:latin typeface="Arial"/>
              </a:rPr>
              <a:t>774 / 774</a:t>
            </a:r>
          </a:p>
        </p:txBody>
      </p:sp>
      <p:sp>
        <p:nvSpPr>
          <p:cNvPr id="10" name="TextBox 9"/>
          <p:cNvSpPr txBox="1"/>
          <p:nvPr/>
        </p:nvSpPr>
        <p:spPr>
          <a:xfrm>
            <a:off x="9308592" y="1911858"/>
            <a:ext cx="2148840" cy="666750"/>
          </a:xfrm>
          <a:prstGeom prst="rect">
            <a:avLst/>
          </a:prstGeom>
          <a:noFill/>
        </p:spPr>
        <p:txBody>
          <a:bodyPr wrap="square" lIns="0" rIns="0" tIns="0" bIns="0" anchor="t">
            <a:spAutoFit/>
          </a:bodyPr>
          <a:lstStyle/>
          <a:p>
            <a:pPr algn="l"/>
            <a:r>
              <a:rPr sz="1300" b="1" i="0">
                <a:solidFill>
                  <a:srgbClr val="1F3B57"/>
                </a:solidFill>
                <a:latin typeface="Arial"/>
              </a:rPr>
              <a:t>LGAs estimated by Method 2 (SAE)</a:t>
            </a:r>
          </a:p>
        </p:txBody>
      </p:sp>
      <p:sp>
        <p:nvSpPr>
          <p:cNvPr id="11" name="Rectangle 10"/>
          <p:cNvSpPr/>
          <p:nvPr/>
        </p:nvSpPr>
        <p:spPr>
          <a:xfrm>
            <a:off x="6400800" y="2926080"/>
            <a:ext cx="5239512" cy="1874519"/>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3017520"/>
            <a:ext cx="4946904" cy="1691639"/>
          </a:xfrm>
          <a:prstGeom prst="rect">
            <a:avLst/>
          </a:prstGeom>
          <a:noFill/>
        </p:spPr>
        <p:txBody>
          <a:bodyPr wrap="square" lIns="0" rIns="0" tIns="0" bIns="0" anchor="t">
            <a:spAutoFit/>
          </a:bodyPr>
          <a:lstStyle/>
          <a:p>
            <a:pPr algn="l"/>
            <a:r>
              <a:rPr sz="1300" b="1" i="0">
                <a:solidFill>
                  <a:srgbClr val="1F3B57"/>
                </a:solidFill>
                <a:latin typeface="Arial"/>
              </a:rPr>
              <a:t>Guzamala (Borno). </a:t>
            </a:r>
            <a:r>
              <a:rPr sz="1300" b="0" i="0">
                <a:solidFill>
                  <a:srgbClr val="22333F"/>
                </a:solidFill>
                <a:latin typeface="Arial"/>
              </a:rPr>
              <a:t>No Penta1 doses were reported in DHIS2 for 2021 to 2024, and only partially in 2025. Method 1 distributes each state's children using the LGA's share of reported Penta1 doses, so it cannot place Guzamala. Method 2 estimates it from the Borno survey anchor, local conditions and neighbouring LGAs.</a:t>
            </a:r>
          </a:p>
        </p:txBody>
      </p:sp>
      <p:sp>
        <p:nvSpPr>
          <p:cNvPr id="13" name="Rectangle 12"/>
          <p:cNvSpPr/>
          <p:nvPr/>
        </p:nvSpPr>
        <p:spPr>
          <a:xfrm>
            <a:off x="548640" y="4983480"/>
            <a:ext cx="11091672" cy="10058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5074920"/>
            <a:ext cx="10799064" cy="822960"/>
          </a:xfrm>
          <a:prstGeom prst="rect">
            <a:avLst/>
          </a:prstGeom>
          <a:noFill/>
        </p:spPr>
        <p:txBody>
          <a:bodyPr wrap="square" lIns="0" rIns="0" tIns="0" bIns="0" anchor="t">
            <a:spAutoFit/>
          </a:bodyPr>
          <a:lstStyle/>
          <a:p>
            <a:pPr algn="l"/>
            <a:r>
              <a:rPr sz="1300" b="1" i="0">
                <a:solidFill>
                  <a:srgbClr val="1F3B57"/>
                </a:solidFill>
                <a:latin typeface="Arial"/>
              </a:rPr>
              <a:t>What the data team can do. </a:t>
            </a:r>
            <a:r>
              <a:rPr sz="1300" b="0" i="0">
                <a:solidFill>
                  <a:srgbClr val="22333F"/>
                </a:solidFill>
                <a:latin typeface="Arial"/>
              </a:rPr>
              <a:t>Restore routine Penta1 reporting for Guzamala, and review LGAs whose reported doses are far above or below their estimated child population in the monthly data-quality checks; these are the LGAs where the two methods differ most.</a:t>
            </a:r>
          </a:p>
        </p:txBody>
      </p:sp>
      <p:sp>
        <p:nvSpPr>
          <p:cNvPr id="15" name="TextBox 14"/>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Source: DHIS2 routine antigen export by local government area and month, 2021 to 2025; GRID3 boundaries (774 LGAs). LGA = local government area; SAE = small-area estimation.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1: which antigens are at risk of falling below target?</a:t>
            </a:r>
            <a:endParaRPr lang="en-US" sz="3200" dirty="0"/>
          </a:p>
        </p:txBody>
      </p:sp>
      <p:sp>
        <p:nvSpPr>
          <p:cNvPr id="3" name="Text 1"/>
          <p:cNvSpPr/>
          <p:nvPr/>
        </p:nvSpPr>
        <p:spPr>
          <a:xfrm>
            <a:off x="2049636" y="813816"/>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An early-warning signal that delivery is falling. It is not a count of children vaccinated.</a:t>
            </a:r>
            <a:endParaRPr lang="en-US" sz="1800" dirty="0"/>
          </a:p>
        </p:txBody>
      </p:sp>
      <p:pic>
        <p:nvPicPr>
          <p:cNvPr id="13" name="Picture 12" descr="D1_F4_lga_flag_map.png"/>
          <p:cNvPicPr>
            <a:picLocks noChangeAspect="1"/>
          </p:cNvPicPr>
          <p:nvPr/>
        </p:nvPicPr>
        <p:blipFill>
          <a:blip r:embed="rId4"/>
          <a:stretch>
            <a:fillRect/>
          </a:stretch>
        </p:blipFill>
        <p:spPr>
          <a:xfrm>
            <a:off x="1122737" y="1278674"/>
            <a:ext cx="4228476" cy="3840480"/>
          </a:xfrm>
          <a:prstGeom prst="rect">
            <a:avLst/>
          </a:prstGeom>
        </p:spPr>
      </p:pic>
      <p:sp>
        <p:nvSpPr>
          <p:cNvPr id="5" name="Shape 2"/>
          <p:cNvSpPr/>
          <p:nvPr/>
        </p:nvSpPr>
        <p:spPr>
          <a:xfrm>
            <a:off x="6400800" y="1227582"/>
            <a:ext cx="523951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6601968" y="1373886"/>
            <a:ext cx="483717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1,302</a:t>
            </a:r>
            <a:endParaRPr lang="en-US" sz="4600" dirty="0"/>
          </a:p>
        </p:txBody>
      </p:sp>
      <p:sp>
        <p:nvSpPr>
          <p:cNvPr id="7" name="Text 4"/>
          <p:cNvSpPr/>
          <p:nvPr/>
        </p:nvSpPr>
        <p:spPr>
          <a:xfrm>
            <a:off x="6601968" y="2139696"/>
            <a:ext cx="483717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early-warning flags, in 513 of the 773 LGAs</a:t>
            </a:r>
            <a:endParaRPr lang="en-US" sz="1800" dirty="0"/>
          </a:p>
        </p:txBody>
      </p:sp>
      <p:sp>
        <p:nvSpPr>
          <p:cNvPr id="8" name="Text 5"/>
          <p:cNvSpPr/>
          <p:nvPr/>
        </p:nvSpPr>
        <p:spPr>
          <a:xfrm>
            <a:off x="6400800" y="3012948"/>
            <a:ext cx="523951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3,092 forecasts, one per LGA and tracer vaccine. For 195 flags the fall is already visible in 2025. Nationally, all four stay above their 2024 level.</a:t>
            </a:r>
            <a:endParaRPr lang="en-US" sz="1800" dirty="0"/>
          </a:p>
        </p:txBody>
      </p:sp>
      <p:sp>
        <p:nvSpPr>
          <p:cNvPr id="9" name="Shape 6"/>
          <p:cNvSpPr/>
          <p:nvPr/>
        </p:nvSpPr>
        <p:spPr>
          <a:xfrm>
            <a:off x="6400800" y="4282592"/>
            <a:ext cx="5239512" cy="1724216"/>
          </a:xfrm>
          <a:prstGeom prst="rect">
            <a:avLst/>
          </a:prstGeom>
          <a:solidFill>
            <a:srgbClr val="EEF2F6"/>
          </a:solidFill>
          <a:ln w="9525">
            <a:solidFill>
              <a:srgbClr val="C9D6E2"/>
            </a:solidFill>
            <a:prstDash val="solid"/>
          </a:ln>
        </p:spPr>
        <p:txBody>
          <a:bodyPr/>
          <a:lstStyle/>
          <a:p>
            <a:endParaRPr lang="LID4096"/>
          </a:p>
        </p:txBody>
      </p:sp>
      <p:sp>
        <p:nvSpPr>
          <p:cNvPr id="10" name="Text 7"/>
          <p:cNvSpPr/>
          <p:nvPr/>
        </p:nvSpPr>
        <p:spPr>
          <a:xfrm>
            <a:off x="6601968" y="4419752"/>
            <a:ext cx="483717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below 80 percent means. </a:t>
            </a:r>
            <a:r>
              <a:rPr lang="en-US" sz="1800" dirty="0">
                <a:solidFill>
                  <a:srgbClr val="22333F"/>
                </a:solidFill>
                <a:latin typeface="Arial" pitchFamily="34" charset="0"/>
                <a:ea typeface="Arial" pitchFamily="34" charset="-122"/>
                <a:cs typeface="Arial" pitchFamily="34" charset="-120"/>
              </a:rPr>
              <a:t>Doses delivered have dropped below four-fifths of what that area managed in 2024. It does not mean only 80 percent of children were reached.</a:t>
            </a:r>
            <a:endParaRPr lang="en-US" sz="1800" dirty="0"/>
          </a:p>
        </p:txBody>
      </p:sp>
      <p:sp>
        <p:nvSpPr>
          <p:cNvPr id="11" name="Text 8"/>
          <p:cNvSpPr/>
          <p:nvPr/>
        </p:nvSpPr>
        <p:spPr>
          <a:xfrm>
            <a:off x="548640" y="5196078"/>
            <a:ext cx="5376672" cy="60739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 </a:t>
            </a:r>
            <a:r>
              <a:rPr lang="en-US" sz="1800" dirty="0" b="0">
                <a:solidFill>
                  <a:srgbClr val="22333F"/>
                </a:solidFill>
                <a:latin typeface="Arial" pitchFamily="34" charset="0"/>
                <a:ea typeface="Arial" pitchFamily="34" charset="-122"/>
                <a:cs typeface="Arial" pitchFamily="34" charset="-120"/>
              </a:rPr>
              <a:t>Follow up first where the fall is already visible, then watch the projected dips, by vaccine and by LGA.</a:t>
            </a:r>
            <a:endParaRPr lang="en-US" sz="1800" dirty="0"/>
          </a:p>
        </p:txBody>
      </p:sp>
      <p:sp>
        <p:nvSpPr>
          <p:cNvPr id="12" name="Text 9"/>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The 80 percent mark compares each LGA with its own 2024 level of doses delivered. It is a decline tripwire, not coverage of the eligible child population. Map: number of the four tracer vaccines flagged in each LGA. Source: Domain 1 Prophet forecasts on DHIS2 routine data, 2021 to 2025 (Guzamala, Borno, has no 2024 data and no forecast).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3815"/>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No decline warning for the nine additional antigens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Same method, nine more vaccines. The established five hold; rotavirus uptake dipped in 2025 and needs watching.</a:t>
            </a:r>
            <a:endParaRPr lang="en-US" sz="1450" dirty="0"/>
          </a:p>
        </p:txBody>
      </p:sp>
      <p:sp>
        <p:nvSpPr>
          <p:cNvPr id="4" name="Shape 2"/>
          <p:cNvSpPr/>
          <p:nvPr/>
        </p:nvSpPr>
        <p:spPr>
          <a:xfrm>
            <a:off x="548640" y="1353312"/>
            <a:ext cx="2743200" cy="1517904"/>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694944" y="1444752"/>
            <a:ext cx="2450592" cy="475488"/>
          </a:xfrm>
          <a:prstGeom prst="rect">
            <a:avLst/>
          </a:prstGeom>
          <a:noFill/>
          <a:ln/>
        </p:spPr>
        <p:txBody>
          <a:bodyPr wrap="square" lIns="0" tIns="0" rIns="0" bIns="0" rtlCol="0" anchor="ctr"/>
          <a:lstStyle/>
          <a:p>
            <a:pPr marL="0" indent="0">
              <a:buNone/>
            </a:pPr>
            <a:r>
              <a:rPr lang="en-US" sz="3200" b="1" dirty="0">
                <a:solidFill>
                  <a:srgbClr val="1F3B57"/>
                </a:solidFill>
                <a:latin typeface="Arial" pitchFamily="34" charset="0"/>
                <a:ea typeface="Arial" pitchFamily="34" charset="-122"/>
                <a:cs typeface="Arial" pitchFamily="34" charset="-120"/>
              </a:rPr>
              <a:t>5 of 5</a:t>
            </a:r>
            <a:endParaRPr lang="en-US" sz="3200" dirty="0"/>
          </a:p>
        </p:txBody>
      </p:sp>
      <p:sp>
        <p:nvSpPr>
          <p:cNvPr id="6" name="Text 4"/>
          <p:cNvSpPr/>
          <p:nvPr/>
        </p:nvSpPr>
        <p:spPr>
          <a:xfrm>
            <a:off x="694944" y="1920240"/>
            <a:ext cx="2450592" cy="877824"/>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established antigens added - OPV3, IPV1, PCV3, Yellow Fever and Meningitis A - are projected to stay above 80 percent of their own 2024 level. None is flagged.</a:t>
            </a:r>
            <a:endParaRPr lang="en-US" sz="1150" dirty="0"/>
          </a:p>
        </p:txBody>
      </p:sp>
      <p:sp>
        <p:nvSpPr>
          <p:cNvPr id="7" name="Shape 5"/>
          <p:cNvSpPr/>
          <p:nvPr/>
        </p:nvSpPr>
        <p:spPr>
          <a:xfrm>
            <a:off x="548640" y="2999232"/>
            <a:ext cx="2743200" cy="1371600"/>
          </a:xfrm>
          <a:prstGeom prst="rect">
            <a:avLst/>
          </a:prstGeom>
          <a:solidFill>
            <a:srgbClr val="FFFFFF"/>
          </a:solidFill>
          <a:ln w="9525">
            <a:solidFill>
              <a:srgbClr val="D6DEE7"/>
            </a:solidFill>
            <a:prstDash val="solid"/>
          </a:ln>
        </p:spPr>
        <p:txBody>
          <a:bodyPr/>
          <a:lstStyle/>
          <a:p>
            <a:endParaRPr lang="LID4096"/>
          </a:p>
        </p:txBody>
      </p:sp>
      <p:sp>
        <p:nvSpPr>
          <p:cNvPr id="8" name="Text 6"/>
          <p:cNvSpPr/>
          <p:nvPr/>
        </p:nvSpPr>
        <p:spPr>
          <a:xfrm>
            <a:off x="694944" y="3090672"/>
            <a:ext cx="2450592" cy="475488"/>
          </a:xfrm>
          <a:prstGeom prst="rect">
            <a:avLst/>
          </a:prstGeom>
          <a:noFill/>
          <a:ln/>
        </p:spPr>
        <p:txBody>
          <a:bodyPr wrap="square" lIns="0" tIns="0" rIns="0" bIns="0" rtlCol="0" anchor="ctr"/>
          <a:lstStyle/>
          <a:p>
            <a:pPr marL="0" indent="0">
              <a:buNone/>
            </a:pPr>
            <a:r>
              <a:rPr lang="en-US" sz="3200" b="1" dirty="0">
                <a:solidFill>
                  <a:srgbClr val="1C7A3D"/>
                </a:solidFill>
                <a:latin typeface="Arial" pitchFamily="34" charset="0"/>
                <a:ea typeface="Arial" pitchFamily="34" charset="-122"/>
                <a:cs typeface="Arial" pitchFamily="34" charset="-120"/>
              </a:rPr>
              <a:t>4 of 4</a:t>
            </a:r>
            <a:endParaRPr lang="en-US" sz="3200" dirty="0"/>
          </a:p>
        </p:txBody>
      </p:sp>
      <p:sp>
        <p:nvSpPr>
          <p:cNvPr id="9" name="Text 7"/>
          <p:cNvSpPr/>
          <p:nvPr/>
        </p:nvSpPr>
        <p:spPr>
          <a:xfrm>
            <a:off x="694944" y="3566160"/>
            <a:ext cx="2450592" cy="731520"/>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new series - IPV2 and Rotavirus 1 to 3 - are tracked for uptake. IPV2 is rising; rotavirus was 89-91 percent of 2024 in 2025.</a:t>
            </a:r>
            <a:endParaRPr lang="en-US" sz="1150" dirty="0"/>
          </a:p>
        </p:txBody>
      </p:sp>
      <p:sp>
        <p:nvSpPr>
          <p:cNvPr id="10" name="Shape 8"/>
          <p:cNvSpPr/>
          <p:nvPr/>
        </p:nvSpPr>
        <p:spPr>
          <a:xfrm>
            <a:off x="548640" y="4480560"/>
            <a:ext cx="2743200" cy="1481328"/>
          </a:xfrm>
          <a:prstGeom prst="rect">
            <a:avLst/>
          </a:prstGeom>
          <a:solidFill>
            <a:srgbClr val="FFFFFF"/>
          </a:solidFill>
          <a:ln w="9525">
            <a:solidFill>
              <a:srgbClr val="D6DEE7"/>
            </a:solidFill>
            <a:prstDash val="solid"/>
          </a:ln>
        </p:spPr>
        <p:txBody>
          <a:bodyPr/>
          <a:lstStyle/>
          <a:p>
            <a:endParaRPr lang="LID4096"/>
          </a:p>
        </p:txBody>
      </p:sp>
      <p:sp>
        <p:nvSpPr>
          <p:cNvPr id="11" name="Text 9"/>
          <p:cNvSpPr/>
          <p:nvPr/>
        </p:nvSpPr>
        <p:spPr>
          <a:xfrm>
            <a:off x="694944" y="4572000"/>
            <a:ext cx="2450592"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How to read the chart</a:t>
            </a:r>
            <a:endParaRPr lang="en-US" sz="1250" dirty="0"/>
          </a:p>
        </p:txBody>
      </p:sp>
      <p:sp>
        <p:nvSpPr>
          <p:cNvPr id="12" name="Text 10"/>
          <p:cNvSpPr/>
          <p:nvPr/>
        </p:nvSpPr>
        <p:spPr>
          <a:xfrm>
            <a:off x="694944" y="4846320"/>
            <a:ext cx="2450592" cy="1042416"/>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The purple dotted line is 80 percent of that antigen's own 2024 doses - the at-risk-of-decline early-warning mark. Rising series carry no line, because they should not be screened for decline.</a:t>
            </a:r>
            <a:endParaRPr lang="en-US" sz="1150" dirty="0"/>
          </a:p>
        </p:txBody>
      </p:sp>
      <p:pic>
        <p:nvPicPr>
          <p:cNvPr id="16" name="Picture 15" descr="D1_F5_additional_antigens.png"/>
          <p:cNvPicPr>
            <a:picLocks noChangeAspect="1"/>
          </p:cNvPicPr>
          <p:nvPr/>
        </p:nvPicPr>
        <p:blipFill>
          <a:blip r:embed="rId4"/>
          <a:stretch>
            <a:fillRect/>
          </a:stretch>
        </p:blipFill>
        <p:spPr>
          <a:xfrm>
            <a:off x="4365606" y="1353312"/>
            <a:ext cx="6429539" cy="4608576"/>
          </a:xfrm>
          <a:prstGeom prst="rect">
            <a:avLst/>
          </a:prstGeom>
        </p:spPr>
      </p:pic>
      <p:sp>
        <p:nvSpPr>
          <p:cNvPr id="14" name="Text 11"/>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Domain 1 Prophet forecasts on DHIS2 (District Health Information System, version 2) routine data, 2021 to 2025, projected to 2028. OPV = oral polio vaccine; IPV = inactivated polio vaccine; PCV3 = third dose of pneumococcal conjugate vaccine.</a:t>
            </a:r>
            <a:endParaRPr lang="en-US" sz="1000" dirty="0"/>
          </a:p>
        </p:txBody>
      </p:sp>
      <p:sp>
        <p:nvSpPr>
          <p:cNvPr id="15" name="Rounded Rectangle 14"/>
          <p:cNvSpPr/>
          <p:nvPr/>
        </p:nvSpPr>
        <p:spPr>
          <a:xfrm>
            <a:off x="9887681" y="969264"/>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804672"/>
          </a:xfrm>
          <a:prstGeom prst="rect">
            <a:avLst/>
          </a:prstGeom>
          <a:noFill/>
          <a:ln/>
        </p:spPr>
        <p:txBody>
          <a:bodyPr wrap="square" lIns="0" tIns="0" rIns="0" bIns="0" rtlCol="0" anchor="t"/>
          <a:lstStyle/>
          <a:p>
            <a:pPr marL="0" indent="0">
              <a:lnSpc>
                <a:spcPct val="105000"/>
              </a:lnSpc>
              <a:buNone/>
            </a:pPr>
            <a:r>
              <a:rPr lang="en-US" sz="3200" b="1" dirty="0">
                <a:solidFill>
                  <a:srgbClr val="1F3B57"/>
                </a:solidFill>
                <a:latin typeface="Arial" pitchFamily="34" charset="0"/>
                <a:ea typeface="Arial" pitchFamily="34" charset="-122"/>
                <a:cs typeface="Arial" pitchFamily="34" charset="-120"/>
              </a:rPr>
              <a:t>What the at-risk-of-decline early-warning measures</a:t>
            </a:r>
            <a:endParaRPr lang="en-US" sz="3200" dirty="0"/>
          </a:p>
        </p:txBody>
      </p:sp>
      <p:sp>
        <p:nvSpPr>
          <p:cNvPr id="3" name="Text 1"/>
          <p:cNvSpPr/>
          <p:nvPr/>
        </p:nvSpPr>
        <p:spPr>
          <a:xfrm>
            <a:off x="548640" y="987552"/>
            <a:ext cx="11091672" cy="274320"/>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It tells you when delivery is slipping against a settled benchmark. It is not a coverage figure.</a:t>
            </a:r>
            <a:endParaRPr lang="en-US" sz="1450" dirty="0"/>
          </a:p>
        </p:txBody>
      </p:sp>
      <p:sp>
        <p:nvSpPr>
          <p:cNvPr id="4" name="Shape 2"/>
          <p:cNvSpPr/>
          <p:nvPr/>
        </p:nvSpPr>
        <p:spPr>
          <a:xfrm>
            <a:off x="548640" y="1353312"/>
            <a:ext cx="6812280" cy="2807208"/>
          </a:xfrm>
          <a:prstGeom prst="rect">
            <a:avLst/>
          </a:prstGeom>
          <a:solidFill>
            <a:srgbClr val="EEF2F6"/>
          </a:solidFill>
          <a:ln w="9525">
            <a:solidFill>
              <a:srgbClr val="D6DEE7"/>
            </a:solidFill>
            <a:prstDash val="solid"/>
          </a:ln>
        </p:spPr>
        <p:txBody>
          <a:bodyPr/>
          <a:lstStyle/>
          <a:p>
            <a:endParaRPr lang="LID4096"/>
          </a:p>
        </p:txBody>
      </p:sp>
      <p:sp>
        <p:nvSpPr>
          <p:cNvPr id="5" name="Text 3"/>
          <p:cNvSpPr/>
          <p:nvPr/>
        </p:nvSpPr>
        <p:spPr>
          <a:xfrm>
            <a:off x="731520" y="1463040"/>
            <a:ext cx="6446520" cy="219456"/>
          </a:xfrm>
          <a:prstGeom prst="rect">
            <a:avLst/>
          </a:prstGeom>
          <a:noFill/>
          <a:ln/>
        </p:spPr>
        <p:txBody>
          <a:bodyPr wrap="square" lIns="0" tIns="0" rIns="0" bIns="0" rtlCol="0" anchor="ctr"/>
          <a:lstStyle/>
          <a:p>
            <a:pPr marL="0" indent="0">
              <a:buNone/>
            </a:pPr>
            <a:r>
              <a:rPr lang="en-US" sz="1050" b="1" kern="0" spc="150" dirty="0">
                <a:solidFill>
                  <a:srgbClr val="5C6B78"/>
                </a:solidFill>
                <a:latin typeface="Arial" pitchFamily="34" charset="0"/>
                <a:ea typeface="Arial" pitchFamily="34" charset="-122"/>
                <a:cs typeface="Arial" pitchFamily="34" charset="-120"/>
              </a:rPr>
              <a:t>THE FLAG, IN FOUR LINES</a:t>
            </a:r>
            <a:endParaRPr lang="en-US" sz="1050" dirty="0"/>
          </a:p>
        </p:txBody>
      </p:sp>
      <p:sp>
        <p:nvSpPr>
          <p:cNvPr id="6" name="Text 4"/>
          <p:cNvSpPr/>
          <p:nvPr/>
        </p:nvSpPr>
        <p:spPr>
          <a:xfrm>
            <a:off x="731520" y="1682496"/>
            <a:ext cx="6446520" cy="329184"/>
          </a:xfrm>
          <a:prstGeom prst="rect">
            <a:avLst/>
          </a:prstGeom>
          <a:noFill/>
          <a:ln/>
        </p:spPr>
        <p:txBody>
          <a:bodyPr wrap="square" lIns="0" tIns="0" rIns="0" bIns="0" rtlCol="0" anchor="ctr"/>
          <a:lstStyle/>
          <a:p>
            <a:pPr marL="0" indent="0">
              <a:buNone/>
            </a:pPr>
            <a:r>
              <a:rPr lang="en-US" sz="1700" b="1" dirty="0">
                <a:solidFill>
                  <a:srgbClr val="1F3B57"/>
                </a:solidFill>
                <a:latin typeface="Arial" pitchFamily="34" charset="0"/>
                <a:ea typeface="Arial" pitchFamily="34" charset="-122"/>
                <a:cs typeface="Arial" pitchFamily="34" charset="-120"/>
              </a:rPr>
              <a:t>At-risk-of-decline early-warning</a:t>
            </a:r>
            <a:endParaRPr lang="en-US" sz="1700" dirty="0"/>
          </a:p>
        </p:txBody>
      </p:sp>
      <p:sp>
        <p:nvSpPr>
          <p:cNvPr id="7" name="Text 5"/>
          <p:cNvSpPr/>
          <p:nvPr/>
        </p:nvSpPr>
        <p:spPr>
          <a:xfrm>
            <a:off x="731520" y="2066544"/>
            <a:ext cx="6446520" cy="1965960"/>
          </a:xfrm>
          <a:prstGeom prst="rect">
            <a:avLst/>
          </a:prstGeom>
          <a:noFill/>
          <a:ln/>
        </p:spPr>
        <p:txBody>
          <a:bodyPr wrap="square" lIns="0" tIns="0" rIns="0" bIns="0" rtlCol="0" anchor="t"/>
          <a:lstStyle/>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it measures. </a:t>
            </a:r>
            <a:r>
              <a:rPr lang="en-US" sz="1300" dirty="0">
                <a:solidFill>
                  <a:srgbClr val="22333F"/>
                </a:solidFill>
                <a:latin typeface="Arial" pitchFamily="34" charset="0"/>
                <a:ea typeface="Arial" pitchFamily="34" charset="-122"/>
                <a:cs typeface="Arial" pitchFamily="34" charset="-120"/>
              </a:rPr>
              <a:t>Projected monthly doses for an antigen, expressed as a percent of that antigen's own 2024 level.</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The mark. </a:t>
            </a:r>
            <a:r>
              <a:rPr lang="en-US" sz="1300" dirty="0">
                <a:solidFill>
                  <a:srgbClr val="22333F"/>
                </a:solidFill>
                <a:latin typeface="Arial" pitchFamily="34" charset="0"/>
                <a:ea typeface="Arial" pitchFamily="34" charset="-122"/>
                <a:cs typeface="Arial" pitchFamily="34" charset="-120"/>
              </a:rPr>
              <a:t>Below 80 percent means doses are slipping against the settled 2024 benchmark. That is what raises the flag.</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It is denominator-free. </a:t>
            </a:r>
            <a:r>
              <a:rPr lang="en-US" sz="1300" dirty="0">
                <a:solidFill>
                  <a:srgbClr val="22333F"/>
                </a:solidFill>
                <a:latin typeface="Arial" pitchFamily="34" charset="0"/>
                <a:ea typeface="Arial" pitchFamily="34" charset="-122"/>
                <a:cs typeface="Arial" pitchFamily="34" charset="-120"/>
              </a:rPr>
              <a:t>It does not say what share of children were reached, because no child population enters the calculation.</a:t>
            </a:r>
            <a:endParaRPr lang="en-US" sz="1300" dirty="0"/>
          </a:p>
          <a:p>
            <a:pPr marL="0" indent="0">
              <a:lnSpc>
                <a:spcPct val="106000"/>
              </a:lnSpc>
              <a:spcAft>
                <a:spcPts val="700"/>
              </a:spcAft>
              <a:buNone/>
            </a:pPr>
            <a:r>
              <a:rPr lang="en-US" sz="1300" b="1" dirty="0">
                <a:solidFill>
                  <a:srgbClr val="1F3B57"/>
                </a:solidFill>
                <a:latin typeface="Arial" pitchFamily="34" charset="0"/>
                <a:ea typeface="Arial" pitchFamily="34" charset="-122"/>
                <a:cs typeface="Arial" pitchFamily="34" charset="-120"/>
              </a:rPr>
              <a:t>What to do with it. </a:t>
            </a:r>
            <a:r>
              <a:rPr lang="en-US" sz="1300" dirty="0">
                <a:solidFill>
                  <a:srgbClr val="22333F"/>
                </a:solidFill>
                <a:latin typeface="Arial" pitchFamily="34" charset="0"/>
                <a:ea typeface="Arial" pitchFamily="34" charset="-122"/>
                <a:cs typeface="Arial" pitchFamily="34" charset="-120"/>
              </a:rPr>
              <a:t>Catch the decline early, and route supervision to the exact antigen, month and local government area.</a:t>
            </a:r>
            <a:endParaRPr lang="en-US" sz="1300" dirty="0"/>
          </a:p>
        </p:txBody>
      </p:sp>
      <p:pic>
        <p:nvPicPr>
          <p:cNvPr id="19" name="Picture 18" descr="D1_F6_opv3_worked_example.png"/>
          <p:cNvPicPr>
            <a:picLocks noChangeAspect="1"/>
          </p:cNvPicPr>
          <p:nvPr/>
        </p:nvPicPr>
        <p:blipFill>
          <a:blip r:embed="rId4"/>
          <a:stretch>
            <a:fillRect/>
          </a:stretch>
        </p:blipFill>
        <p:spPr>
          <a:xfrm>
            <a:off x="7543800" y="1510200"/>
            <a:ext cx="4096512" cy="2145958"/>
          </a:xfrm>
          <a:prstGeom prst="rect">
            <a:avLst/>
          </a:prstGeom>
        </p:spPr>
      </p:pic>
      <p:sp>
        <p:nvSpPr>
          <p:cNvPr id="9" name="Text 6"/>
          <p:cNvSpPr/>
          <p:nvPr/>
        </p:nvSpPr>
        <p:spPr>
          <a:xfrm>
            <a:off x="7543800" y="3858768"/>
            <a:ext cx="4096512" cy="420624"/>
          </a:xfrm>
          <a:prstGeom prst="rect">
            <a:avLst/>
          </a:prstGeom>
          <a:noFill/>
          <a:ln/>
        </p:spPr>
        <p:txBody>
          <a:bodyPr wrap="square" lIns="0" tIns="0" rIns="0" bIns="0" rtlCol="0" anchor="t"/>
          <a:lstStyle/>
          <a:p>
            <a:pPr marL="0" indent="0">
              <a:lnSpc>
                <a:spcPct val="102000"/>
              </a:lnSpc>
              <a:buNone/>
            </a:pPr>
            <a:r>
              <a:rPr lang="en-US" sz="1050" b="1" dirty="0">
                <a:solidFill>
                  <a:srgbClr val="1F3B57"/>
                </a:solidFill>
                <a:latin typeface="Arial" pitchFamily="34" charset="0"/>
                <a:ea typeface="Arial" pitchFamily="34" charset="-122"/>
                <a:cs typeface="Arial" pitchFamily="34" charset="-120"/>
              </a:rPr>
              <a:t>Reading one panel. </a:t>
            </a:r>
            <a:r>
              <a:rPr lang="en-US" sz="1050" dirty="0">
                <a:solidFill>
                  <a:srgbClr val="22333F"/>
                </a:solidFill>
                <a:latin typeface="Arial" pitchFamily="34" charset="0"/>
                <a:ea typeface="Arial" pitchFamily="34" charset="-122"/>
                <a:cs typeface="Arial" pitchFamily="34" charset="-120"/>
              </a:rPr>
              <a:t>The purple dotted line is 80 percent of OPV3's 2024 doses; the forecast stays clear of it, so OPV3 is not flagged.</a:t>
            </a:r>
            <a:endParaRPr lang="en-US" sz="1050" dirty="0"/>
          </a:p>
        </p:txBody>
      </p:sp>
      <p:sp>
        <p:nvSpPr>
          <p:cNvPr id="10" name="Shape 7"/>
          <p:cNvSpPr/>
          <p:nvPr/>
        </p:nvSpPr>
        <p:spPr>
          <a:xfrm>
            <a:off x="548640" y="4315968"/>
            <a:ext cx="5669280" cy="1115568"/>
          </a:xfrm>
          <a:prstGeom prst="rect">
            <a:avLst/>
          </a:prstGeom>
          <a:solidFill>
            <a:srgbClr val="FFFFFF"/>
          </a:solidFill>
          <a:ln w="9525">
            <a:solidFill>
              <a:srgbClr val="D6DEE7"/>
            </a:solidFill>
            <a:prstDash val="solid"/>
          </a:ln>
        </p:spPr>
        <p:txBody>
          <a:bodyPr/>
          <a:lstStyle/>
          <a:p>
            <a:endParaRPr lang="LID4096"/>
          </a:p>
        </p:txBody>
      </p:sp>
      <p:sp>
        <p:nvSpPr>
          <p:cNvPr id="11" name="Text 8"/>
          <p:cNvSpPr/>
          <p:nvPr/>
        </p:nvSpPr>
        <p:spPr>
          <a:xfrm>
            <a:off x="713232" y="4398264"/>
            <a:ext cx="5340096"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Why the benchmark is 2024, not 2025</a:t>
            </a:r>
            <a:endParaRPr lang="en-US" sz="1250" dirty="0"/>
          </a:p>
        </p:txBody>
      </p:sp>
      <p:sp>
        <p:nvSpPr>
          <p:cNvPr id="12" name="Text 9"/>
          <p:cNvSpPr/>
          <p:nvPr/>
        </p:nvSpPr>
        <p:spPr>
          <a:xfrm>
            <a:off x="713232" y="4663440"/>
            <a:ext cx="5340096"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2024 is the last complete, fully-reported year, so it holds still. 2025 is partial and keeps shifting as late reports arrive, which would raise alerts that are really reporting lag.</a:t>
            </a:r>
            <a:endParaRPr lang="en-US" sz="1150" dirty="0"/>
          </a:p>
        </p:txBody>
      </p:sp>
      <p:sp>
        <p:nvSpPr>
          <p:cNvPr id="13" name="Shape 10"/>
          <p:cNvSpPr/>
          <p:nvPr/>
        </p:nvSpPr>
        <p:spPr>
          <a:xfrm>
            <a:off x="6355080" y="4315968"/>
            <a:ext cx="5285232" cy="1115568"/>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6519672" y="4398264"/>
            <a:ext cx="4956048" cy="256032"/>
          </a:xfrm>
          <a:prstGeom prst="rect">
            <a:avLst/>
          </a:prstGeom>
          <a:noFill/>
          <a:ln/>
        </p:spPr>
        <p:txBody>
          <a:bodyPr wrap="square" lIns="0" tIns="0" rIns="0" bIns="0" rtlCol="0" anchor="ctr"/>
          <a:lstStyle/>
          <a:p>
            <a:pPr marL="0" indent="0">
              <a:buNone/>
            </a:pPr>
            <a:r>
              <a:rPr lang="en-US" sz="1250" b="1" dirty="0">
                <a:solidFill>
                  <a:srgbClr val="1F3B57"/>
                </a:solidFill>
                <a:latin typeface="Arial" pitchFamily="34" charset="0"/>
                <a:ea typeface="Arial" pitchFamily="34" charset="-122"/>
                <a:cs typeface="Arial" pitchFamily="34" charset="-120"/>
              </a:rPr>
              <a:t>Not to be confused with true coverage</a:t>
            </a:r>
            <a:endParaRPr lang="en-US" sz="1250" dirty="0"/>
          </a:p>
        </p:txBody>
      </p:sp>
      <p:sp>
        <p:nvSpPr>
          <p:cNvPr id="15" name="Text 12"/>
          <p:cNvSpPr/>
          <p:nvPr/>
        </p:nvSpPr>
        <p:spPr>
          <a:xfrm>
            <a:off x="6519672" y="4663440"/>
            <a:ext cx="4956048" cy="713232"/>
          </a:xfrm>
          <a:prstGeom prst="rect">
            <a:avLst/>
          </a:prstGeom>
          <a:noFill/>
          <a:ln/>
        </p:spPr>
        <p:txBody>
          <a:bodyPr wrap="square" lIns="0" tIns="0" rIns="0" bIns="0" rtlCol="0" anchor="ctr"/>
          <a:lstStyle/>
          <a:p>
            <a:pPr marL="0" indent="0">
              <a:lnSpc>
                <a:spcPct val="105000"/>
              </a:lnSpc>
              <a:buNone/>
            </a:pPr>
            <a:r>
              <a:rPr lang="en-US" sz="1150" dirty="0">
                <a:solidFill>
                  <a:srgbClr val="22333F"/>
                </a:solidFill>
                <a:latin typeface="Arial" pitchFamily="34" charset="0"/>
                <a:ea typeface="Arial" pitchFamily="34" charset="-122"/>
                <a:cs typeface="Arial" pitchFamily="34" charset="-120"/>
              </a:rPr>
              <a:t>True coverage divides doses by the eligible child population, the 12-to-23-month cohort. It answers a different question and is shown separately in the application as "Estimated coverage (eligible cohort)".</a:t>
            </a:r>
            <a:endParaRPr lang="en-US" sz="1150" dirty="0"/>
          </a:p>
        </p:txBody>
      </p:sp>
      <p:sp>
        <p:nvSpPr>
          <p:cNvPr id="16" name="Shape 13"/>
          <p:cNvSpPr/>
          <p:nvPr/>
        </p:nvSpPr>
        <p:spPr>
          <a:xfrm>
            <a:off x="548640" y="5541264"/>
            <a:ext cx="11091672" cy="566928"/>
          </a:xfrm>
          <a:prstGeom prst="rect">
            <a:avLst/>
          </a:prstGeom>
          <a:solidFill>
            <a:srgbClr val="1F3B57"/>
          </a:solidFill>
          <a:ln/>
        </p:spPr>
        <p:txBody>
          <a:bodyPr/>
          <a:lstStyle/>
          <a:p>
            <a:endParaRPr lang="LID4096"/>
          </a:p>
        </p:txBody>
      </p:sp>
      <p:sp>
        <p:nvSpPr>
          <p:cNvPr id="17" name="Text 14"/>
          <p:cNvSpPr/>
          <p:nvPr/>
        </p:nvSpPr>
        <p:spPr>
          <a:xfrm>
            <a:off x="731520" y="5541264"/>
            <a:ext cx="10725912" cy="566928"/>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The early-warning tells you when delivery is falling. Coverage tells you how many children you reached. Different questions, different denominators.</a:t>
            </a:r>
            <a:endParaRPr lang="en-US" sz="1300" dirty="0"/>
          </a:p>
        </p:txBody>
      </p:sp>
      <p:sp>
        <p:nvSpPr>
          <p:cNvPr id="18" name="Text 15"/>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Source: Domain 1 methods, consortium documentation, 2026. WHO = World Health Organization; Gavi = the global vaccine partnership. Projected values are model estimates.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2: what drives incomplete vaccination?</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Dropout differs by transition: the second measles dose is still the largest gap, and each transition has different drivers.</a:t>
            </a:r>
            <a:endParaRPr lang="en-US" sz="1800" dirty="0"/>
          </a:p>
        </p:txBody>
      </p:sp>
      <p:pic>
        <p:nvPicPr>
          <p:cNvPr id="19" name="Picture 18" descr="D2_F3_dropout_drivers_state.png"/>
          <p:cNvPicPr>
            <a:picLocks noChangeAspect="1"/>
          </p:cNvPicPr>
          <p:nvPr/>
        </p:nvPicPr>
        <p:blipFill>
          <a:blip r:embed="rId4"/>
          <a:stretch>
            <a:fillRect/>
          </a:stretch>
        </p:blipFill>
        <p:spPr>
          <a:xfrm>
            <a:off x="548640" y="1639388"/>
            <a:ext cx="6355080" cy="1997310"/>
          </a:xfrm>
          <a:prstGeom prst="rect">
            <a:avLst/>
          </a:prstGeom>
        </p:spPr>
      </p:pic>
      <p:sp>
        <p:nvSpPr>
          <p:cNvPr id="5" name="Text 2"/>
          <p:cNvSpPr/>
          <p:nvPr/>
        </p:nvSpPr>
        <p:spPr>
          <a:xfrm>
            <a:off x="7498080" y="1495044"/>
            <a:ext cx="414223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biggest gap is between Measles1 and Measles2: national dropout fell from 60% in 2021 to 34% in 2025, still far above Penta1 to Penta3 (about 5%) and Penta1 to Measles1 (about 11%).</a:t>
            </a:r>
          </a:p>
        </p:txBody>
      </p:sp>
      <p:sp>
        <p:nvSpPr>
          <p:cNvPr id="6" name="Shape 3"/>
          <p:cNvSpPr/>
          <p:nvPr/>
        </p:nvSpPr>
        <p:spPr>
          <a:xfrm>
            <a:off x="54864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7" name="Text 4"/>
          <p:cNvSpPr/>
          <p:nvPr/>
        </p:nvSpPr>
        <p:spPr>
          <a:xfrm>
            <a:off x="713232" y="4073652"/>
            <a:ext cx="3264408"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Penta1 to Penta3</a:t>
            </a:r>
            <a:endParaRPr lang="en-US" sz="1800" dirty="0"/>
          </a:p>
        </p:txBody>
      </p:sp>
      <p:sp>
        <p:nvSpPr>
          <p:cNvPr id="8" name="Text 5"/>
          <p:cNvSpPr/>
          <p:nvPr/>
        </p:nvSpPr>
        <p:spPr>
          <a:xfrm>
            <a:off x="71323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Higher with conflict deaths; lower with ORS use (LGAs).</a:t>
            </a:r>
            <a:endParaRPr lang="en-US" sz="1800" dirty="0"/>
          </a:p>
        </p:txBody>
      </p:sp>
      <p:sp>
        <p:nvSpPr>
          <p:cNvPr id="9" name="Text 6"/>
          <p:cNvSpPr/>
          <p:nvPr/>
        </p:nvSpPr>
        <p:spPr>
          <a:xfrm>
            <a:off x="71323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Defaulter tracing and security-sensitive outreach in conflict-affected LGAs.</a:t>
            </a:r>
            <a:endParaRPr lang="en-US" sz="1800" dirty="0"/>
          </a:p>
        </p:txBody>
      </p:sp>
      <p:sp>
        <p:nvSpPr>
          <p:cNvPr id="10" name="Shape 7"/>
          <p:cNvSpPr/>
          <p:nvPr/>
        </p:nvSpPr>
        <p:spPr>
          <a:xfrm>
            <a:off x="4297680" y="3945636"/>
            <a:ext cx="3593592" cy="1837944"/>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4462272" y="4073652"/>
            <a:ext cx="3264408" cy="274320"/>
          </a:xfrm>
          <a:prstGeom prst="rect">
            <a:avLst/>
          </a:prstGeom>
          <a:noFill/>
          <a:ln/>
        </p:spPr>
        <p:txBody>
          <a:bodyPr wrap="square" lIns="0" tIns="0" rIns="0" bIns="0" rtlCol="0" anchor="t"/>
          <a:lstStyle/>
          <a:p>
            <a:pPr marL="0" indent="0">
              <a:buNone/>
            </a:pPr>
            <a:r>
              <a:rPr lang="en-US" sz="1800" b="1" dirty="0">
                <a:solidFill>
                  <a:srgbClr val="2E6E8E"/>
                </a:solidFill>
                <a:latin typeface="Arial" pitchFamily="34" charset="0"/>
                <a:ea typeface="Arial" pitchFamily="34" charset="-122"/>
                <a:cs typeface="Arial" pitchFamily="34" charset="-120"/>
              </a:rPr>
              <a:t>Penta1 to Measles1</a:t>
            </a:r>
            <a:endParaRPr lang="en-US" sz="1800" dirty="0"/>
          </a:p>
        </p:txBody>
      </p:sp>
      <p:sp>
        <p:nvSpPr>
          <p:cNvPr id="12" name="Text 9"/>
          <p:cNvSpPr/>
          <p:nvPr/>
        </p:nvSpPr>
        <p:spPr>
          <a:xfrm>
            <a:off x="446227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Distance to care; high fertility; less antenatal care.</a:t>
            </a:r>
            <a:endParaRPr lang="en-US" sz="1800" dirty="0"/>
          </a:p>
        </p:txBody>
      </p:sp>
      <p:sp>
        <p:nvSpPr>
          <p:cNvPr id="13" name="Text 10"/>
          <p:cNvSpPr/>
          <p:nvPr/>
        </p:nvSpPr>
        <p:spPr>
          <a:xfrm>
            <a:off x="4462272" y="5074920"/>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Link the 9-month visit to outreach and nutrition contacts.</a:t>
            </a:r>
            <a:endParaRPr lang="en-US" sz="1800" dirty="0"/>
          </a:p>
        </p:txBody>
      </p:sp>
      <p:sp>
        <p:nvSpPr>
          <p:cNvPr id="14" name="Shape 11"/>
          <p:cNvSpPr/>
          <p:nvPr/>
        </p:nvSpPr>
        <p:spPr>
          <a:xfrm>
            <a:off x="8046720" y="3945636"/>
            <a:ext cx="3593592" cy="2105406"/>
          </a:xfrm>
          <a:prstGeom prst="rect">
            <a:avLst/>
          </a:prstGeom>
          <a:solidFill>
            <a:srgbClr val="EEF2F6"/>
          </a:solidFill>
          <a:ln w="9525">
            <a:solidFill>
              <a:srgbClr val="C9D6E2"/>
            </a:solidFill>
            <a:prstDash val="solid"/>
          </a:ln>
        </p:spPr>
        <p:txBody>
          <a:bodyPr/>
          <a:lstStyle/>
          <a:p>
            <a:endParaRPr lang="LID4096"/>
          </a:p>
        </p:txBody>
      </p:sp>
      <p:sp>
        <p:nvSpPr>
          <p:cNvPr id="15" name="Text 12"/>
          <p:cNvSpPr/>
          <p:nvPr/>
        </p:nvSpPr>
        <p:spPr>
          <a:xfrm>
            <a:off x="8211312" y="4073652"/>
            <a:ext cx="3264408" cy="274320"/>
          </a:xfrm>
          <a:prstGeom prst="rect">
            <a:avLst/>
          </a:prstGeom>
          <a:noFill/>
          <a:ln/>
        </p:spPr>
        <p:txBody>
          <a:bodyPr wrap="square" lIns="0" tIns="0" rIns="0" bIns="0" rtlCol="0" anchor="t"/>
          <a:lstStyle/>
          <a:p>
            <a:pPr marL="0" indent="0">
              <a:buNone/>
            </a:pPr>
            <a:r>
              <a:rPr lang="en-US" sz="1800" b="1" dirty="0">
                <a:solidFill>
                  <a:srgbClr val="C8902A"/>
                </a:solidFill>
                <a:latin typeface="Arial" pitchFamily="34" charset="0"/>
                <a:ea typeface="Arial" pitchFamily="34" charset="-122"/>
                <a:cs typeface="Arial" pitchFamily="34" charset="-120"/>
              </a:rPr>
              <a:t>Measles1 to Measles2</a:t>
            </a:r>
            <a:endParaRPr lang="en-US" sz="1800" dirty="0"/>
          </a:p>
        </p:txBody>
      </p:sp>
      <p:sp>
        <p:nvSpPr>
          <p:cNvPr id="16" name="Text 13"/>
          <p:cNvSpPr/>
          <p:nvPr/>
        </p:nvSpPr>
        <p:spPr>
          <a:xfrm>
            <a:off x="8211312" y="4402836"/>
            <a:ext cx="3264408"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Few vaccination cards seen; births unregistered.</a:t>
            </a:r>
            <a:endParaRPr lang="en-US" sz="1800" dirty="0"/>
          </a:p>
        </p:txBody>
      </p:sp>
      <p:sp>
        <p:nvSpPr>
          <p:cNvPr id="17" name="Text 14"/>
          <p:cNvSpPr/>
          <p:nvPr/>
        </p:nvSpPr>
        <p:spPr>
          <a:xfrm>
            <a:off x="8211312" y="5074920"/>
            <a:ext cx="3264408" cy="848106"/>
          </a:xfrm>
          <a:prstGeom prst="rect">
            <a:avLst/>
          </a:prstGeom>
          <a:noFill/>
          <a:ln/>
        </p:spPr>
        <p:txBody>
          <a:bodyPr wrap="square" lIns="0" tIns="0" rIns="0" bIns="0" rtlCol="0" anchor="t"/>
          <a:lstStyle/>
          <a:p>
            <a:pPr marL="0" indent="0">
              <a:lnSpc>
                <a:spcPct val="100000"/>
              </a:lnSpc>
              <a:buNone/>
            </a:pPr>
            <a:r>
              <a:rPr lang="en-US" sz="1800" dirty="0">
                <a:solidFill>
                  <a:srgbClr val="45596B"/>
                </a:solidFill>
                <a:latin typeface="Arial" pitchFamily="34" charset="0"/>
                <a:ea typeface="Arial" pitchFamily="34" charset="-122"/>
                <a:cs typeface="Arial" pitchFamily="34" charset="-120"/>
              </a:rPr>
              <a:t>Home-based records, card retention and second-year reminders.</a:t>
            </a:r>
            <a:endParaRPr lang="en-US" sz="1800" dirty="0"/>
          </a:p>
        </p:txBody>
      </p:sp>
      <p:sp>
        <p:nvSpPr>
          <p:cNvPr id="18" name="Text 15"/>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DHIS2 2021-2025 (counts read with thousands separators). Cross-validated LASSO: 37 states (2024; chart) and 743 LGAs (2021-2024). Ecological associations: directional, not causal. ORS = oral rehydration salts.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3: where children are hardest to reach</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The index combines travel time, education, poverty and wealth.</a:t>
            </a:r>
            <a:endParaRPr lang="en-US" sz="1800" dirty="0"/>
          </a:p>
        </p:txBody>
      </p:sp>
      <p:pic>
        <p:nvPicPr>
          <p:cNvPr id="4" name="Image 0" descr="/mnt/user-data/uploads/1784260008432_LGA_equity_deprivation_tiers.png"/>
          <p:cNvPicPr>
            <a:picLocks noChangeAspect="1"/>
          </p:cNvPicPr>
          <p:nvPr/>
        </p:nvPicPr>
        <p:blipFill>
          <a:blip r:embed="rId3"/>
          <a:stretch>
            <a:fillRect/>
          </a:stretch>
        </p:blipFill>
        <p:spPr>
          <a:xfrm>
            <a:off x="548640" y="1227582"/>
            <a:ext cx="6035040" cy="3191256"/>
          </a:xfrm>
          <a:prstGeom prst="rect">
            <a:avLst/>
          </a:prstGeom>
        </p:spPr>
      </p:pic>
      <p:sp>
        <p:nvSpPr>
          <p:cNvPr id="5" name="Shape 2"/>
          <p:cNvSpPr/>
          <p:nvPr/>
        </p:nvSpPr>
        <p:spPr>
          <a:xfrm>
            <a:off x="7680960" y="1264158"/>
            <a:ext cx="256032" cy="237744"/>
          </a:xfrm>
          <a:prstGeom prst="rect">
            <a:avLst/>
          </a:prstGeom>
          <a:solidFill>
            <a:srgbClr val="A02040"/>
          </a:solidFill>
          <a:ln w="6350">
            <a:solidFill>
              <a:srgbClr val="C9D6E2"/>
            </a:solidFill>
            <a:prstDash val="solid"/>
          </a:ln>
        </p:spPr>
        <p:txBody>
          <a:bodyPr/>
          <a:lstStyle/>
          <a:p>
            <a:endParaRPr lang="LID4096"/>
          </a:p>
        </p:txBody>
      </p:sp>
      <p:sp>
        <p:nvSpPr>
          <p:cNvPr id="6" name="Text 3"/>
          <p:cNvSpPr/>
          <p:nvPr/>
        </p:nvSpPr>
        <p:spPr>
          <a:xfrm>
            <a:off x="8046720" y="122758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1  Most deprived</a:t>
            </a:r>
            <a:endParaRPr lang="en-US" sz="1800" dirty="0"/>
          </a:p>
        </p:txBody>
      </p:sp>
      <p:sp>
        <p:nvSpPr>
          <p:cNvPr id="7" name="Shape 4"/>
          <p:cNvSpPr/>
          <p:nvPr/>
        </p:nvSpPr>
        <p:spPr>
          <a:xfrm>
            <a:off x="7680960" y="1629918"/>
            <a:ext cx="256032" cy="237744"/>
          </a:xfrm>
          <a:prstGeom prst="rect">
            <a:avLst/>
          </a:prstGeom>
          <a:solidFill>
            <a:srgbClr val="E06A3C"/>
          </a:solidFill>
          <a:ln w="6350">
            <a:solidFill>
              <a:srgbClr val="C9D6E2"/>
            </a:solidFill>
            <a:prstDash val="solid"/>
          </a:ln>
        </p:spPr>
        <p:txBody>
          <a:bodyPr/>
          <a:lstStyle/>
          <a:p>
            <a:endParaRPr lang="LID4096"/>
          </a:p>
        </p:txBody>
      </p:sp>
      <p:sp>
        <p:nvSpPr>
          <p:cNvPr id="8" name="Text 5"/>
          <p:cNvSpPr/>
          <p:nvPr/>
        </p:nvSpPr>
        <p:spPr>
          <a:xfrm>
            <a:off x="8046720" y="159334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2  Deprived</a:t>
            </a:r>
            <a:endParaRPr lang="en-US" sz="1800" dirty="0"/>
          </a:p>
        </p:txBody>
      </p:sp>
      <p:sp>
        <p:nvSpPr>
          <p:cNvPr id="9" name="Shape 6"/>
          <p:cNvSpPr/>
          <p:nvPr/>
        </p:nvSpPr>
        <p:spPr>
          <a:xfrm>
            <a:off x="7680960" y="1995678"/>
            <a:ext cx="256032" cy="237744"/>
          </a:xfrm>
          <a:prstGeom prst="rect">
            <a:avLst/>
          </a:prstGeom>
          <a:solidFill>
            <a:srgbClr val="F7D9C4"/>
          </a:solidFill>
          <a:ln w="6350">
            <a:solidFill>
              <a:srgbClr val="C9D6E2"/>
            </a:solidFill>
            <a:prstDash val="solid"/>
          </a:ln>
        </p:spPr>
        <p:txBody>
          <a:bodyPr/>
          <a:lstStyle/>
          <a:p>
            <a:endParaRPr lang="LID4096"/>
          </a:p>
        </p:txBody>
      </p:sp>
      <p:sp>
        <p:nvSpPr>
          <p:cNvPr id="10" name="Text 7"/>
          <p:cNvSpPr/>
          <p:nvPr/>
        </p:nvSpPr>
        <p:spPr>
          <a:xfrm>
            <a:off x="8046720" y="195910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3  Moderate</a:t>
            </a:r>
            <a:endParaRPr lang="en-US" sz="1800" dirty="0"/>
          </a:p>
        </p:txBody>
      </p:sp>
      <p:sp>
        <p:nvSpPr>
          <p:cNvPr id="11" name="Shape 8"/>
          <p:cNvSpPr/>
          <p:nvPr/>
        </p:nvSpPr>
        <p:spPr>
          <a:xfrm>
            <a:off x="7680960" y="2361438"/>
            <a:ext cx="256032" cy="237744"/>
          </a:xfrm>
          <a:prstGeom prst="rect">
            <a:avLst/>
          </a:prstGeom>
          <a:solidFill>
            <a:srgbClr val="7FB2DC"/>
          </a:solidFill>
          <a:ln w="6350">
            <a:solidFill>
              <a:srgbClr val="C9D6E2"/>
            </a:solidFill>
            <a:prstDash val="solid"/>
          </a:ln>
        </p:spPr>
        <p:txBody>
          <a:bodyPr/>
          <a:lstStyle/>
          <a:p>
            <a:endParaRPr lang="LID4096"/>
          </a:p>
        </p:txBody>
      </p:sp>
      <p:sp>
        <p:nvSpPr>
          <p:cNvPr id="12" name="Text 9"/>
          <p:cNvSpPr/>
          <p:nvPr/>
        </p:nvSpPr>
        <p:spPr>
          <a:xfrm>
            <a:off x="8046720" y="2324862"/>
            <a:ext cx="3593592" cy="31089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Tier 4  Least deprived</a:t>
            </a:r>
            <a:endParaRPr lang="en-US" sz="1800" dirty="0"/>
          </a:p>
        </p:txBody>
      </p:sp>
      <p:sp>
        <p:nvSpPr>
          <p:cNvPr id="13" name="Text 10"/>
          <p:cNvSpPr/>
          <p:nvPr/>
        </p:nvSpPr>
        <p:spPr>
          <a:xfrm>
            <a:off x="7680960" y="2745486"/>
            <a:ext cx="3959352" cy="144989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Darker areas have stronger barriers: longer travel, lower education and more poverty.</a:t>
            </a:r>
          </a:p>
        </p:txBody>
      </p:sp>
      <p:sp>
        <p:nvSpPr>
          <p:cNvPr id="14" name="Text 11"/>
          <p:cNvSpPr/>
          <p:nvPr/>
        </p:nvSpPr>
        <p:spPr>
          <a:xfrm>
            <a:off x="7680960" y="4295966"/>
            <a:ext cx="395935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Many of the hardest-to-reach LGAs are in the North-East and North-West.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5" name="Shape 12"/>
          <p:cNvSpPr/>
          <p:nvPr/>
        </p:nvSpPr>
        <p:spPr>
          <a:xfrm>
            <a:off x="548640" y="4528566"/>
            <a:ext cx="6949440" cy="1443380"/>
          </a:xfrm>
          <a:prstGeom prst="rect">
            <a:avLst/>
          </a:prstGeom>
          <a:solidFill>
            <a:srgbClr val="E7F1EB"/>
          </a:solidFill>
          <a:ln w="9525">
            <a:solidFill>
              <a:srgbClr val="C9D6E2"/>
            </a:solidFill>
            <a:prstDash val="solid"/>
          </a:ln>
        </p:spPr>
        <p:txBody>
          <a:bodyPr/>
          <a:lstStyle/>
          <a:p>
            <a:endParaRPr lang="LID4096"/>
          </a:p>
        </p:txBody>
      </p:sp>
      <p:sp>
        <p:nvSpPr>
          <p:cNvPr id="16" name="Text 13"/>
          <p:cNvSpPr/>
          <p:nvPr/>
        </p:nvSpPr>
        <p:spPr>
          <a:xfrm>
            <a:off x="749808" y="4665726"/>
            <a:ext cx="654710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Use this with the burden ranking. </a:t>
            </a:r>
            <a:r>
              <a:rPr lang="en-US" sz="1800" dirty="0">
                <a:solidFill>
                  <a:srgbClr val="22333F"/>
                </a:solidFill>
                <a:latin typeface="Arial" pitchFamily="34" charset="0"/>
                <a:ea typeface="Arial" pitchFamily="34" charset="-122"/>
                <a:cs typeface="Arial" pitchFamily="34" charset="-120"/>
              </a:rPr>
              <a:t>Burden shows where the most children are; this tier shows where barriers are deepest. Areas with both high burden and high deprivation should be prioritized..</a:t>
            </a:r>
            <a:endParaRPr lang="en-US" sz="1800" dirty="0"/>
          </a:p>
        </p:txBody>
      </p:sp>
      <p:sp>
        <p:nvSpPr>
          <p:cNvPr id="17" name="Text 14"/>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Composite equity-deprivation index (0 to 100) built from Weiss travel time, education, poverty and the Meta Relative Wealth Index, grouped into four equal bands; GRID3 boundaries.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causes act locally</a:t>
            </a:r>
            <a:endParaRPr lang="en-US" sz="3200" dirty="0"/>
          </a:p>
        </p:txBody>
      </p:sp>
      <p:sp>
        <p:nvSpPr>
          <p:cNvPr id="3" name="Text 1"/>
          <p:cNvSpPr/>
          <p:nvPr/>
        </p:nvSpPr>
        <p:spPr>
          <a:xfrm>
            <a:off x="548640" y="728622"/>
            <a:ext cx="11091672" cy="313182"/>
          </a:xfrm>
          <a:prstGeom prst="rect">
            <a:avLst/>
          </a:prstGeom>
          <a:noFill/>
          <a:ln/>
        </p:spPr>
        <p:txBody>
          <a:bodyPr wrap="square" lIns="0" tIns="0" rIns="0" bIns="0" rtlCol="0" anchor="t"/>
          <a:lstStyle/>
          <a:p>
            <a:pPr marL="0" indent="0">
              <a:buNone/>
            </a:pPr>
            <a:r>
              <a:rPr lang="en-US" sz="1600" dirty="0">
                <a:solidFill>
                  <a:srgbClr val="45596B"/>
                </a:solidFill>
                <a:latin typeface="Arial" pitchFamily="34" charset="0"/>
                <a:ea typeface="Arial" pitchFamily="34" charset="-122"/>
                <a:cs typeface="Arial" pitchFamily="34" charset="-120"/>
              </a:rPr>
              <a:t>The previous slide showed where disadvantage is deepest. These maps show which barrier appears strongest in each place.</a:t>
            </a:r>
          </a:p>
          <a:p>
            <a:pPr marL="0" indent="0">
              <a:buNone/>
            </a:pPr>
            <a:endParaRPr lang="en-US" sz="1600" dirty="0">
              <a:solidFill>
                <a:srgbClr val="45596B"/>
              </a:solidFill>
              <a:latin typeface="Arial" pitchFamily="34" charset="0"/>
              <a:ea typeface="Arial" pitchFamily="34" charset="-122"/>
              <a:cs typeface="Arial" pitchFamily="34" charset="-120"/>
            </a:endParaRPr>
          </a:p>
        </p:txBody>
      </p:sp>
      <p:pic>
        <p:nvPicPr>
          <p:cNvPr id="4" name="Image 0" descr="/mnt/user-data/uploads/1784263571430_LGA_MGWR_driver_surfaces.png"/>
          <p:cNvPicPr>
            <a:picLocks noChangeAspect="1"/>
          </p:cNvPicPr>
          <p:nvPr/>
        </p:nvPicPr>
        <p:blipFill>
          <a:blip r:embed="rId3"/>
          <a:stretch>
            <a:fillRect/>
          </a:stretch>
        </p:blipFill>
        <p:spPr>
          <a:xfrm>
            <a:off x="548640" y="1227582"/>
            <a:ext cx="7680960" cy="4489704"/>
          </a:xfrm>
          <a:prstGeom prst="rect">
            <a:avLst/>
          </a:prstGeom>
        </p:spPr>
      </p:pic>
      <p:sp>
        <p:nvSpPr>
          <p:cNvPr id="5" name="Shape 2"/>
          <p:cNvSpPr/>
          <p:nvPr/>
        </p:nvSpPr>
        <p:spPr>
          <a:xfrm>
            <a:off x="8412480" y="1227582"/>
            <a:ext cx="3227832" cy="1954530"/>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8613648" y="1373886"/>
            <a:ext cx="2825496" cy="491490"/>
          </a:xfrm>
          <a:prstGeom prst="rect">
            <a:avLst/>
          </a:prstGeom>
          <a:noFill/>
          <a:ln/>
        </p:spPr>
        <p:txBody>
          <a:bodyPr wrap="square" lIns="0" tIns="0" rIns="0" bIns="0" rtlCol="0" anchor="t"/>
          <a:lstStyle/>
          <a:p>
            <a:pPr marL="0" indent="0">
              <a:buNone/>
            </a:pPr>
            <a:r>
              <a:rPr lang="en-US" sz="3000" b="1" dirty="0">
                <a:solidFill>
                  <a:srgbClr val="1C7A3D"/>
                </a:solidFill>
                <a:latin typeface="Arial" pitchFamily="34" charset="0"/>
                <a:ea typeface="Arial" pitchFamily="34" charset="-122"/>
                <a:cs typeface="Arial" pitchFamily="34" charset="-120"/>
              </a:rPr>
              <a:t>39% → 55%</a:t>
            </a:r>
            <a:endParaRPr lang="en-US" sz="3000" dirty="0"/>
          </a:p>
        </p:txBody>
      </p:sp>
      <p:sp>
        <p:nvSpPr>
          <p:cNvPr id="7" name="Text 4"/>
          <p:cNvSpPr/>
          <p:nvPr/>
        </p:nvSpPr>
        <p:spPr>
          <a:xfrm>
            <a:off x="8613648" y="1901952"/>
            <a:ext cx="2825496" cy="1115568"/>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variation explained, once drivers can act differently in different places</a:t>
            </a:r>
            <a:endParaRPr lang="en-US" sz="1800" dirty="0"/>
          </a:p>
        </p:txBody>
      </p:sp>
      <p:sp>
        <p:nvSpPr>
          <p:cNvPr id="8" name="Text 5"/>
          <p:cNvSpPr/>
          <p:nvPr/>
        </p:nvSpPr>
        <p:spPr>
          <a:xfrm>
            <a:off x="8412480" y="3310128"/>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map shows one possible barrier to vaccination.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9" name="Text 6"/>
          <p:cNvSpPr/>
          <p:nvPr/>
        </p:nvSpPr>
        <p:spPr>
          <a:xfrm>
            <a:off x="8412480" y="4298937"/>
            <a:ext cx="3227832"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Red means the factor is linked with more zero-dose children. Blue means the opposite. Darker </a:t>
            </a:r>
            <a:r>
              <a:rPr lang="en-US" sz="1800" dirty="0" err="1">
                <a:solidFill>
                  <a:srgbClr val="22333F"/>
                </a:solidFill>
                <a:latin typeface="Arial" pitchFamily="34" charset="0"/>
                <a:ea typeface="Arial" pitchFamily="34" charset="-122"/>
                <a:cs typeface="Arial" pitchFamily="34" charset="-120"/>
              </a:rPr>
              <a:t>colour</a:t>
            </a:r>
            <a:r>
              <a:rPr lang="en-US" sz="1800" dirty="0">
                <a:solidFill>
                  <a:srgbClr val="22333F"/>
                </a:solidFill>
                <a:latin typeface="Arial" pitchFamily="34" charset="0"/>
                <a:ea typeface="Arial" pitchFamily="34" charset="-122"/>
                <a:cs typeface="Arial" pitchFamily="34" charset="-120"/>
              </a:rPr>
              <a:t> means stronger effect.</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Text 7"/>
          <p:cNvSpPr/>
          <p:nvPr/>
        </p:nvSpPr>
        <p:spPr>
          <a:xfrm>
            <a:off x="548640" y="5950458"/>
            <a:ext cx="11091672" cy="669798"/>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across the 774 local government areas. MGWR = multiscale geographically weighted regression, which lets each driver's effect vary from place to place. These are local, standardised, partial associations, not causal effects. White areas are not modelled because they have no DTP1 reporting, so they carry no estimate rather than a zero.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4: does hesitancy explain the shortfall?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Hesitancy is real, but it does not sit where the missed children are.</a:t>
            </a:r>
            <a:endParaRPr lang="en-US" sz="1800" dirty="0"/>
          </a:p>
        </p:txBody>
      </p:sp>
      <p:pic>
        <p:nvPicPr>
          <p:cNvPr id="4" name="Image 0" descr="/mnt/user-data/uploads/1784266770040_d4_decoupling.png"/>
          <p:cNvPicPr>
            <a:picLocks noChangeAspect="1"/>
          </p:cNvPicPr>
          <p:nvPr/>
        </p:nvPicPr>
        <p:blipFill>
          <a:blip r:embed="rId3"/>
          <a:stretch>
            <a:fillRect/>
          </a:stretch>
        </p:blipFill>
        <p:spPr>
          <a:xfrm>
            <a:off x="548640" y="1227582"/>
            <a:ext cx="7498080" cy="3602736"/>
          </a:xfrm>
          <a:prstGeom prst="rect">
            <a:avLst/>
          </a:prstGeom>
        </p:spPr>
      </p:pic>
      <p:sp>
        <p:nvSpPr>
          <p:cNvPr id="5" name="Shape 2"/>
          <p:cNvSpPr/>
          <p:nvPr/>
        </p:nvSpPr>
        <p:spPr>
          <a:xfrm>
            <a:off x="9235440" y="1227582"/>
            <a:ext cx="2404872" cy="2162556"/>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9436608" y="1373886"/>
            <a:ext cx="2002536" cy="432054"/>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rho = -0.33</a:t>
            </a:r>
            <a:endParaRPr lang="en-US" sz="2600" dirty="0"/>
          </a:p>
        </p:txBody>
      </p:sp>
      <p:sp>
        <p:nvSpPr>
          <p:cNvPr id="7" name="Text 4"/>
          <p:cNvSpPr/>
          <p:nvPr/>
        </p:nvSpPr>
        <p:spPr>
          <a:xfrm>
            <a:off x="9436608" y="1842516"/>
            <a:ext cx="2002536" cy="138303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states with the most recorded doubt are not the states missing the most children.</a:t>
            </a:r>
            <a:endParaRPr lang="en-US" sz="1800" dirty="0"/>
          </a:p>
        </p:txBody>
      </p:sp>
      <p:sp>
        <p:nvSpPr>
          <p:cNvPr id="8" name="Text 5"/>
          <p:cNvSpPr/>
          <p:nvPr/>
        </p:nvSpPr>
        <p:spPr>
          <a:xfrm>
            <a:off x="9235440" y="3518154"/>
            <a:ext cx="2404872" cy="1169060"/>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Each bubble is a state. Bubble size is the under-five population.</a:t>
            </a:r>
            <a:endParaRPr lang="en-US" sz="1800" dirty="0"/>
          </a:p>
        </p:txBody>
      </p:sp>
      <p:sp>
        <p:nvSpPr>
          <p:cNvPr id="9" name="Shape 6"/>
          <p:cNvSpPr/>
          <p:nvPr/>
        </p:nvSpPr>
        <p:spPr>
          <a:xfrm>
            <a:off x="548640" y="4921758"/>
            <a:ext cx="7498080" cy="1162545"/>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5058918"/>
            <a:ext cx="709574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What to do.</a:t>
            </a:r>
            <a:r>
              <a:rPr lang="en-US" sz="1800" dirty="0">
                <a:solidFill>
                  <a:srgbClr val="22333F"/>
                </a:solidFill>
                <a:latin typeface="Arial" pitchFamily="34" charset="0"/>
                <a:ea typeface="Arial" pitchFamily="34" charset="-122"/>
                <a:cs typeface="Arial" pitchFamily="34" charset="-120"/>
              </a:rPr>
              <a:t> In high zero-dose but low-hesitancy areas, focus on access, outreach and service availability. Use trust-building where hesitancy is actually high.</a:t>
            </a:r>
            <a:endParaRPr lang="en-US" sz="1800" dirty="0"/>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Domain 4 Composite Hesitancy Index against the Domain 5 zero-dose forecast. rho = Spearman rank correlation; full provenance on the figure.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5: where do zero-dose children concentrate?</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North-West hotspot that stays fixed from 2026 to 2028, held in place by structural conditions.</a:t>
            </a:r>
            <a:endParaRPr lang="en-US" sz="1800" dirty="0"/>
          </a:p>
        </p:txBody>
      </p:sp>
      <p:pic>
        <p:nvPicPr>
          <p:cNvPr id="15" name="Picture 14" descr="M1_02_state_hotspots_2026_2028.png"/>
          <p:cNvPicPr>
            <a:picLocks noChangeAspect="1"/>
          </p:cNvPicPr>
          <p:nvPr/>
        </p:nvPicPr>
        <p:blipFill>
          <a:blip r:embed="rId4"/>
          <a:stretch>
            <a:fillRect/>
          </a:stretch>
        </p:blipFill>
        <p:spPr>
          <a:xfrm>
            <a:off x="548640" y="1499762"/>
            <a:ext cx="6583680" cy="2162263"/>
          </a:xfrm>
          <a:prstGeom prst="rect">
            <a:avLst/>
          </a:prstGeom>
        </p:spPr>
      </p:pic>
      <p:sp>
        <p:nvSpPr>
          <p:cNvPr id="5" name="Text 2"/>
          <p:cNvSpPr/>
          <p:nvPr/>
        </p:nvSpPr>
        <p:spPr>
          <a:xfrm>
            <a:off x="548640" y="4153662"/>
            <a:ext cx="6858000" cy="888225"/>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The maps show the modelled zero-dose surface for 2026, 2027 and 2028. The hot area sits over the North-West in every year.</a:t>
            </a:r>
            <a:endParaRPr lang="en-US" sz="1800" dirty="0"/>
          </a:p>
        </p:txBody>
      </p:sp>
      <p:sp>
        <p:nvSpPr>
          <p:cNvPr id="6" name="Text 3"/>
          <p:cNvSpPr/>
          <p:nvPr/>
        </p:nvSpPr>
        <p:spPr>
          <a:xfrm>
            <a:off x="548640" y="5142471"/>
            <a:ext cx="6949440"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Sokoto, Kebbi and Zamfara </a:t>
            </a:r>
            <a:r>
              <a:rPr lang="en-US" sz="1800" dirty="0">
                <a:solidFill>
                  <a:srgbClr val="1F3B57"/>
                </a:solidFill>
                <a:latin typeface="Arial" pitchFamily="34" charset="0"/>
                <a:ea typeface="Arial" pitchFamily="34" charset="-122"/>
                <a:cs typeface="Arial" pitchFamily="34" charset="-120"/>
              </a:rPr>
              <a:t>remain high-priority throughout the forecast period. They require a multi-year plan, not a one-off activity.</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7" name="Shape 4"/>
          <p:cNvSpPr/>
          <p:nvPr/>
        </p:nvSpPr>
        <p:spPr>
          <a:xfrm>
            <a:off x="7589520" y="1227582"/>
            <a:ext cx="4050792" cy="1835658"/>
          </a:xfrm>
          <a:prstGeom prst="rect">
            <a:avLst/>
          </a:prstGeom>
          <a:solidFill>
            <a:srgbClr val="EEF2F6"/>
          </a:solidFill>
          <a:ln w="9525">
            <a:solidFill>
              <a:srgbClr val="C9D6E2"/>
            </a:solidFill>
            <a:prstDash val="solid"/>
          </a:ln>
        </p:spPr>
        <p:txBody>
          <a:bodyPr/>
          <a:lstStyle/>
          <a:p>
            <a:endParaRPr lang="LID4096"/>
          </a:p>
        </p:txBody>
      </p:sp>
      <p:sp>
        <p:nvSpPr>
          <p:cNvPr id="8" name="Text 5"/>
          <p:cNvSpPr/>
          <p:nvPr/>
        </p:nvSpPr>
        <p:spPr>
          <a:xfrm>
            <a:off x="7790688" y="1373886"/>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2.10 million</a:t>
            </a:r>
            <a:endParaRPr lang="en-US" sz="4000" dirty="0"/>
          </a:p>
        </p:txBody>
      </p:sp>
      <p:sp>
        <p:nvSpPr>
          <p:cNvPr id="9" name="Text 6"/>
          <p:cNvSpPr/>
          <p:nvPr/>
        </p:nvSpPr>
        <p:spPr>
          <a:xfrm>
            <a:off x="7790688" y="2050542"/>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zero-dose children in 2026 (95% interval 1.90 to 2.31 million), across 773 modelled LGAs</a:t>
            </a:r>
            <a:endParaRPr lang="en-US" sz="1800" dirty="0"/>
          </a:p>
        </p:txBody>
      </p:sp>
      <p:sp>
        <p:nvSpPr>
          <p:cNvPr id="10" name="Shape 7"/>
          <p:cNvSpPr/>
          <p:nvPr/>
        </p:nvSpPr>
        <p:spPr>
          <a:xfrm>
            <a:off x="7589520" y="3191256"/>
            <a:ext cx="4050792" cy="1835658"/>
          </a:xfrm>
          <a:prstGeom prst="rect">
            <a:avLst/>
          </a:prstGeom>
          <a:solidFill>
            <a:srgbClr val="EEF2F6"/>
          </a:solidFill>
          <a:ln w="9525">
            <a:solidFill>
              <a:srgbClr val="C9D6E2"/>
            </a:solidFill>
            <a:prstDash val="solid"/>
          </a:ln>
        </p:spPr>
        <p:txBody>
          <a:bodyPr/>
          <a:lstStyle/>
          <a:p>
            <a:endParaRPr lang="LID4096"/>
          </a:p>
        </p:txBody>
      </p:sp>
      <p:sp>
        <p:nvSpPr>
          <p:cNvPr id="11" name="Text 8"/>
          <p:cNvSpPr/>
          <p:nvPr/>
        </p:nvSpPr>
        <p:spPr>
          <a:xfrm>
            <a:off x="7790688" y="3337560"/>
            <a:ext cx="3648456" cy="640080"/>
          </a:xfrm>
          <a:prstGeom prst="rect">
            <a:avLst/>
          </a:prstGeom>
          <a:noFill/>
          <a:ln/>
        </p:spPr>
        <p:txBody>
          <a:bodyPr wrap="square" lIns="0" tIns="0" rIns="0" bIns="0" rtlCol="0" anchor="t"/>
          <a:lstStyle/>
          <a:p>
            <a:pPr marL="0" indent="0">
              <a:buNone/>
            </a:pPr>
            <a:r>
              <a:rPr lang="en-US" sz="4000" b="1" dirty="0">
                <a:solidFill>
                  <a:srgbClr val="1F3B57"/>
                </a:solidFill>
                <a:latin typeface="Arial" pitchFamily="34" charset="0"/>
                <a:ea typeface="Arial" pitchFamily="34" charset="-122"/>
                <a:cs typeface="Arial" pitchFamily="34" charset="-120"/>
              </a:rPr>
              <a:t>51%</a:t>
            </a:r>
            <a:endParaRPr lang="en-US" sz="4000" dirty="0"/>
          </a:p>
        </p:txBody>
      </p:sp>
      <p:sp>
        <p:nvSpPr>
          <p:cNvPr id="12" name="Text 9"/>
          <p:cNvSpPr/>
          <p:nvPr/>
        </p:nvSpPr>
        <p:spPr>
          <a:xfrm>
            <a:off x="7790688" y="4014216"/>
            <a:ext cx="364845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of the burden is in the top 20% of LGAs (155 LGAs)</a:t>
            </a:r>
          </a:p>
        </p:txBody>
      </p:sp>
      <p:sp>
        <p:nvSpPr>
          <p:cNvPr id="13" name="Text 10"/>
          <p:cNvSpPr/>
          <p:nvPr/>
        </p:nvSpPr>
        <p:spPr>
          <a:xfrm>
            <a:off x="7589520" y="5154930"/>
            <a:ext cx="405079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342 local government areas hold 80 percent - concentrated, but not the textbook 80/20.</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Method 1: Bayesian hierarchical model with DHIS2-calibrated LGA allocation (Bayesian hierarchical Beta regression on NDHS 2008 to 2024 with a DHIS2 trend term; LGA allocation by DHIS2 Penta1 share and NPC 2022 population); GRID3 boundaries; Getis-Ord Gi* state hotspots (Queen contiguity).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Every local government area, ranked by burden</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The top 151 reach half of zero-dose children; the top 342 reach 80 percent.</a:t>
            </a:r>
            <a:endParaRPr lang="en-US" sz="1800" dirty="0"/>
          </a:p>
        </p:txBody>
      </p:sp>
      <p:pic>
        <p:nvPicPr>
          <p:cNvPr id="81" name="Picture 80" descr="D_M1_lga_hotspots.png"/>
          <p:cNvPicPr>
            <a:picLocks noChangeAspect="1"/>
          </p:cNvPicPr>
          <p:nvPr/>
        </p:nvPicPr>
        <p:blipFill>
          <a:blip r:embed="rId4"/>
          <a:stretch>
            <a:fillRect/>
          </a:stretch>
        </p:blipFill>
        <p:spPr>
          <a:xfrm>
            <a:off x="556507" y="1227582"/>
            <a:ext cx="4373384" cy="3749039"/>
          </a:xfrm>
          <a:prstGeom prst="rect">
            <a:avLst/>
          </a:prstGeom>
        </p:spPr>
      </p:pic>
      <p:sp>
        <p:nvSpPr>
          <p:cNvPr id="5" name="Text 2"/>
          <p:cNvSpPr/>
          <p:nvPr/>
        </p:nvSpPr>
        <p:spPr>
          <a:xfrm>
            <a:off x="548640" y="5077206"/>
            <a:ext cx="4389120"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Red marks clusters of high zero-dose burden; blue marks low-burden clusters.</a:t>
            </a:r>
            <a:endParaRPr lang="en-US" sz="1800" dirty="0"/>
          </a:p>
        </p:txBody>
      </p:sp>
      <p:sp>
        <p:nvSpPr>
          <p:cNvPr id="6" name="Shape 3"/>
          <p:cNvSpPr/>
          <p:nvPr/>
        </p:nvSpPr>
        <p:spPr>
          <a:xfrm>
            <a:off x="5257800" y="1227582"/>
            <a:ext cx="6382512" cy="329184"/>
          </a:xfrm>
          <a:prstGeom prst="rect">
            <a:avLst/>
          </a:prstGeom>
          <a:solidFill>
            <a:srgbClr val="1F3B57"/>
          </a:solidFill>
          <a:ln/>
        </p:spPr>
        <p:txBody>
          <a:bodyPr/>
          <a:lstStyle/>
          <a:p>
            <a:endParaRPr lang="LID4096"/>
          </a:p>
        </p:txBody>
      </p:sp>
      <p:sp>
        <p:nvSpPr>
          <p:cNvPr id="7" name="Text 4"/>
          <p:cNvSpPr/>
          <p:nvPr/>
        </p:nvSpPr>
        <p:spPr>
          <a:xfrm>
            <a:off x="5312664" y="1227582"/>
            <a:ext cx="438912" cy="329184"/>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Rank</a:t>
            </a:r>
            <a:endParaRPr lang="en-US" sz="1400" dirty="0"/>
          </a:p>
        </p:txBody>
      </p:sp>
      <p:sp>
        <p:nvSpPr>
          <p:cNvPr id="8" name="Text 5"/>
          <p:cNvSpPr/>
          <p:nvPr/>
        </p:nvSpPr>
        <p:spPr>
          <a:xfrm>
            <a:off x="5861304" y="1227582"/>
            <a:ext cx="10789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State</a:t>
            </a:r>
            <a:endParaRPr lang="en-US" sz="1400" dirty="0"/>
          </a:p>
        </p:txBody>
      </p:sp>
      <p:sp>
        <p:nvSpPr>
          <p:cNvPr id="9" name="Text 6"/>
          <p:cNvSpPr/>
          <p:nvPr/>
        </p:nvSpPr>
        <p:spPr>
          <a:xfrm>
            <a:off x="7050024" y="1227582"/>
            <a:ext cx="153619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LGA</a:t>
            </a:r>
            <a:endParaRPr lang="en-US" sz="1400" dirty="0"/>
          </a:p>
        </p:txBody>
      </p:sp>
      <p:sp>
        <p:nvSpPr>
          <p:cNvPr id="10" name="Text 7"/>
          <p:cNvSpPr/>
          <p:nvPr/>
        </p:nvSpPr>
        <p:spPr>
          <a:xfrm>
            <a:off x="8695944" y="1227582"/>
            <a:ext cx="1261872" cy="329184"/>
          </a:xfrm>
          <a:prstGeom prst="rect">
            <a:avLst/>
          </a:prstGeom>
          <a:noFill/>
          <a:ln/>
        </p:spPr>
        <p:txBody>
          <a:bodyPr wrap="square" lIns="0" tIns="0" rIns="0" bIns="0" rtlCol="0" anchor="ctr"/>
          <a:lstStyle/>
          <a:p>
            <a:pPr marL="0" indent="0" algn="l">
              <a:buNone/>
            </a:pPr>
            <a:r>
              <a:rPr lang="en-US" sz="1400" b="1" dirty="0">
                <a:solidFill>
                  <a:srgbClr val="FFFFFF"/>
                </a:solidFill>
                <a:latin typeface="Arial" pitchFamily="34" charset="0"/>
                <a:ea typeface="Arial" pitchFamily="34" charset="-122"/>
                <a:cs typeface="Arial" pitchFamily="34" charset="-120"/>
              </a:rPr>
              <a:t>Zone</a:t>
            </a:r>
            <a:endParaRPr lang="en-US" sz="1400" dirty="0"/>
          </a:p>
        </p:txBody>
      </p:sp>
      <p:sp>
        <p:nvSpPr>
          <p:cNvPr id="11" name="Text 8"/>
          <p:cNvSpPr/>
          <p:nvPr/>
        </p:nvSpPr>
        <p:spPr>
          <a:xfrm>
            <a:off x="10067544" y="1227582"/>
            <a:ext cx="941832"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Burden</a:t>
            </a:r>
            <a:endParaRPr lang="en-US" sz="1400" dirty="0"/>
          </a:p>
        </p:txBody>
      </p:sp>
      <p:sp>
        <p:nvSpPr>
          <p:cNvPr id="12" name="Text 9"/>
          <p:cNvSpPr/>
          <p:nvPr/>
        </p:nvSpPr>
        <p:spPr>
          <a:xfrm>
            <a:off x="11119104" y="1227582"/>
            <a:ext cx="466344" cy="329184"/>
          </a:xfrm>
          <a:prstGeom prst="rect">
            <a:avLst/>
          </a:prstGeom>
          <a:noFill/>
          <a:ln/>
        </p:spPr>
        <p:txBody>
          <a:bodyPr wrap="square" lIns="0" tIns="0" rIns="0" bIns="0" rtlCol="0" anchor="ctr"/>
          <a:lstStyle/>
          <a:p>
            <a:pPr marL="0" indent="0" algn="r">
              <a:buNone/>
            </a:pPr>
            <a:r>
              <a:rPr lang="en-US" sz="1400" b="1" dirty="0">
                <a:solidFill>
                  <a:srgbClr val="FFFFFF"/>
                </a:solidFill>
                <a:latin typeface="Arial" pitchFamily="34" charset="0"/>
                <a:ea typeface="Arial" pitchFamily="34" charset="-122"/>
                <a:cs typeface="Arial" pitchFamily="34" charset="-120"/>
              </a:rPr>
              <a:t>Rate %</a:t>
            </a:r>
            <a:endParaRPr lang="en-US" sz="1400" dirty="0"/>
          </a:p>
        </p:txBody>
      </p:sp>
      <p:sp>
        <p:nvSpPr>
          <p:cNvPr id="13" name="Text 10"/>
          <p:cNvSpPr/>
          <p:nvPr/>
        </p:nvSpPr>
        <p:spPr>
          <a:xfrm>
            <a:off x="5312664" y="15567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5861304" y="15567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15" name="Text 12"/>
          <p:cNvSpPr/>
          <p:nvPr/>
        </p:nvSpPr>
        <p:spPr>
          <a:xfrm>
            <a:off x="7050024" y="15567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Bukkuyum</a:t>
            </a:r>
            <a:endParaRPr lang="en-US" sz="1800" dirty="0"/>
          </a:p>
        </p:txBody>
      </p:sp>
      <p:sp>
        <p:nvSpPr>
          <p:cNvPr id="16" name="Text 13"/>
          <p:cNvSpPr/>
          <p:nvPr/>
        </p:nvSpPr>
        <p:spPr>
          <a:xfrm>
            <a:off x="8695944" y="15567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17" name="Text 14"/>
          <p:cNvSpPr/>
          <p:nvPr/>
        </p:nvSpPr>
        <p:spPr>
          <a:xfrm>
            <a:off x="10067544" y="15567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13,589</a:t>
            </a:r>
            <a:endParaRPr lang="en-US" sz="1800" dirty="0"/>
          </a:p>
        </p:txBody>
      </p:sp>
      <p:sp>
        <p:nvSpPr>
          <p:cNvPr id="18" name="Text 15"/>
          <p:cNvSpPr/>
          <p:nvPr/>
        </p:nvSpPr>
        <p:spPr>
          <a:xfrm>
            <a:off x="11119104" y="15567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87.8</a:t>
            </a:r>
            <a:endParaRPr lang="en-US" sz="1800" dirty="0"/>
          </a:p>
        </p:txBody>
      </p:sp>
      <p:sp>
        <p:nvSpPr>
          <p:cNvPr id="19" name="Shape 16"/>
          <p:cNvSpPr/>
          <p:nvPr/>
        </p:nvSpPr>
        <p:spPr>
          <a:xfrm>
            <a:off x="5257800" y="1922526"/>
            <a:ext cx="6382512" cy="365760"/>
          </a:xfrm>
          <a:prstGeom prst="rect">
            <a:avLst/>
          </a:prstGeom>
          <a:solidFill>
            <a:srgbClr val="EEF2F6"/>
          </a:solidFill>
          <a:ln/>
        </p:spPr>
        <p:txBody>
          <a:bodyPr/>
          <a:lstStyle/>
          <a:p>
            <a:endParaRPr lang="LID4096"/>
          </a:p>
        </p:txBody>
      </p:sp>
      <p:sp>
        <p:nvSpPr>
          <p:cNvPr id="20" name="Text 17"/>
          <p:cNvSpPr/>
          <p:nvPr/>
        </p:nvSpPr>
        <p:spPr>
          <a:xfrm>
            <a:off x="5312664" y="19225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2</a:t>
            </a:r>
            <a:endParaRPr lang="en-US" sz="1800" dirty="0"/>
          </a:p>
        </p:txBody>
      </p:sp>
      <p:sp>
        <p:nvSpPr>
          <p:cNvPr id="21" name="Text 18"/>
          <p:cNvSpPr/>
          <p:nvPr/>
        </p:nvSpPr>
        <p:spPr>
          <a:xfrm>
            <a:off x="5861304" y="19225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22" name="Text 19"/>
          <p:cNvSpPr/>
          <p:nvPr/>
        </p:nvSpPr>
        <p:spPr>
          <a:xfrm>
            <a:off x="7050024" y="19225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Bakura</a:t>
            </a:r>
            <a:endParaRPr lang="en-US" sz="1800" dirty="0"/>
          </a:p>
        </p:txBody>
      </p:sp>
      <p:sp>
        <p:nvSpPr>
          <p:cNvPr id="23" name="Text 20"/>
          <p:cNvSpPr/>
          <p:nvPr/>
        </p:nvSpPr>
        <p:spPr>
          <a:xfrm>
            <a:off x="8695944" y="19225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24" name="Text 21"/>
          <p:cNvSpPr/>
          <p:nvPr/>
        </p:nvSpPr>
        <p:spPr>
          <a:xfrm>
            <a:off x="10067544" y="19225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13,253</a:t>
            </a:r>
            <a:endParaRPr lang="en-US" sz="1800" dirty="0"/>
          </a:p>
        </p:txBody>
      </p:sp>
      <p:sp>
        <p:nvSpPr>
          <p:cNvPr id="25" name="Text 22"/>
          <p:cNvSpPr/>
          <p:nvPr/>
        </p:nvSpPr>
        <p:spPr>
          <a:xfrm>
            <a:off x="11119104" y="19225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99.0</a:t>
            </a:r>
            <a:endParaRPr lang="en-US" sz="1800" dirty="0"/>
          </a:p>
        </p:txBody>
      </p:sp>
      <p:sp>
        <p:nvSpPr>
          <p:cNvPr id="26" name="Text 23"/>
          <p:cNvSpPr/>
          <p:nvPr/>
        </p:nvSpPr>
        <p:spPr>
          <a:xfrm>
            <a:off x="5312664" y="22882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3</a:t>
            </a:r>
            <a:endParaRPr lang="en-US" sz="1800" dirty="0"/>
          </a:p>
        </p:txBody>
      </p:sp>
      <p:sp>
        <p:nvSpPr>
          <p:cNvPr id="27" name="Text 24"/>
          <p:cNvSpPr/>
          <p:nvPr/>
        </p:nvSpPr>
        <p:spPr>
          <a:xfrm>
            <a:off x="5861304" y="22882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Sokoto</a:t>
            </a:r>
            <a:endParaRPr lang="en-US" sz="1800" dirty="0"/>
          </a:p>
        </p:txBody>
      </p:sp>
      <p:sp>
        <p:nvSpPr>
          <p:cNvPr id="28" name="Text 25"/>
          <p:cNvSpPr/>
          <p:nvPr/>
        </p:nvSpPr>
        <p:spPr>
          <a:xfrm>
            <a:off x="7050024" y="228828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Tambuwal</a:t>
            </a:r>
            <a:endParaRPr lang="en-US" sz="1800" dirty="0"/>
          </a:p>
        </p:txBody>
      </p:sp>
      <p:sp>
        <p:nvSpPr>
          <p:cNvPr id="29" name="Text 26"/>
          <p:cNvSpPr/>
          <p:nvPr/>
        </p:nvSpPr>
        <p:spPr>
          <a:xfrm>
            <a:off x="8695944" y="22882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0" name="Text 27"/>
          <p:cNvSpPr/>
          <p:nvPr/>
        </p:nvSpPr>
        <p:spPr>
          <a:xfrm>
            <a:off x="10067544" y="22882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12,738</a:t>
            </a:r>
            <a:endParaRPr lang="en-US" sz="1800" dirty="0"/>
          </a:p>
        </p:txBody>
      </p:sp>
      <p:sp>
        <p:nvSpPr>
          <p:cNvPr id="31" name="Text 28"/>
          <p:cNvSpPr/>
          <p:nvPr/>
        </p:nvSpPr>
        <p:spPr>
          <a:xfrm>
            <a:off x="11119104" y="22882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83.2</a:t>
            </a:r>
            <a:endParaRPr lang="en-US" sz="1800" dirty="0"/>
          </a:p>
        </p:txBody>
      </p:sp>
      <p:sp>
        <p:nvSpPr>
          <p:cNvPr id="32" name="Shape 29"/>
          <p:cNvSpPr/>
          <p:nvPr/>
        </p:nvSpPr>
        <p:spPr>
          <a:xfrm>
            <a:off x="5257800" y="2654046"/>
            <a:ext cx="6382512" cy="365760"/>
          </a:xfrm>
          <a:prstGeom prst="rect">
            <a:avLst/>
          </a:prstGeom>
          <a:solidFill>
            <a:srgbClr val="EEF2F6"/>
          </a:solidFill>
          <a:ln/>
        </p:spPr>
        <p:txBody>
          <a:bodyPr/>
          <a:lstStyle/>
          <a:p>
            <a:endParaRPr lang="LID4096"/>
          </a:p>
        </p:txBody>
      </p:sp>
      <p:sp>
        <p:nvSpPr>
          <p:cNvPr id="33" name="Text 30"/>
          <p:cNvSpPr/>
          <p:nvPr/>
        </p:nvSpPr>
        <p:spPr>
          <a:xfrm>
            <a:off x="5312664" y="26540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4</a:t>
            </a:r>
            <a:endParaRPr lang="en-US" sz="1800" dirty="0"/>
          </a:p>
        </p:txBody>
      </p:sp>
      <p:sp>
        <p:nvSpPr>
          <p:cNvPr id="34" name="Text 31"/>
          <p:cNvSpPr/>
          <p:nvPr/>
        </p:nvSpPr>
        <p:spPr>
          <a:xfrm>
            <a:off x="5861304" y="26540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35" name="Text 32"/>
          <p:cNvSpPr/>
          <p:nvPr/>
        </p:nvSpPr>
        <p:spPr>
          <a:xfrm>
            <a:off x="7050024" y="265404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Birnin Magaji</a:t>
            </a:r>
            <a:endParaRPr lang="en-US" sz="1800" dirty="0"/>
          </a:p>
        </p:txBody>
      </p:sp>
      <p:sp>
        <p:nvSpPr>
          <p:cNvPr id="36" name="Text 33"/>
          <p:cNvSpPr/>
          <p:nvPr/>
        </p:nvSpPr>
        <p:spPr>
          <a:xfrm>
            <a:off x="8695944" y="26540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37" name="Text 34"/>
          <p:cNvSpPr/>
          <p:nvPr/>
        </p:nvSpPr>
        <p:spPr>
          <a:xfrm>
            <a:off x="10067544" y="26540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12,223</a:t>
            </a:r>
            <a:endParaRPr lang="en-US" sz="1800" dirty="0"/>
          </a:p>
        </p:txBody>
      </p:sp>
      <p:sp>
        <p:nvSpPr>
          <p:cNvPr id="38" name="Text 35"/>
          <p:cNvSpPr/>
          <p:nvPr/>
        </p:nvSpPr>
        <p:spPr>
          <a:xfrm>
            <a:off x="11119104" y="26540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92.8</a:t>
            </a:r>
            <a:endParaRPr lang="en-US" sz="1800" dirty="0"/>
          </a:p>
        </p:txBody>
      </p:sp>
      <p:sp>
        <p:nvSpPr>
          <p:cNvPr id="39" name="Text 36"/>
          <p:cNvSpPr/>
          <p:nvPr/>
        </p:nvSpPr>
        <p:spPr>
          <a:xfrm>
            <a:off x="5312664" y="30198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5</a:t>
            </a:r>
            <a:endParaRPr lang="en-US" sz="1800" dirty="0"/>
          </a:p>
        </p:txBody>
      </p:sp>
      <p:sp>
        <p:nvSpPr>
          <p:cNvPr id="40" name="Text 37"/>
          <p:cNvSpPr/>
          <p:nvPr/>
        </p:nvSpPr>
        <p:spPr>
          <a:xfrm>
            <a:off x="5861304" y="30198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41" name="Text 38"/>
          <p:cNvSpPr/>
          <p:nvPr/>
        </p:nvSpPr>
        <p:spPr>
          <a:xfrm>
            <a:off x="7050024" y="301980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Maradun</a:t>
            </a:r>
            <a:endParaRPr lang="en-US" sz="1800" dirty="0"/>
          </a:p>
        </p:txBody>
      </p:sp>
      <p:sp>
        <p:nvSpPr>
          <p:cNvPr id="42" name="Text 39"/>
          <p:cNvSpPr/>
          <p:nvPr/>
        </p:nvSpPr>
        <p:spPr>
          <a:xfrm>
            <a:off x="8695944" y="30198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43" name="Text 40"/>
          <p:cNvSpPr/>
          <p:nvPr/>
        </p:nvSpPr>
        <p:spPr>
          <a:xfrm>
            <a:off x="10067544" y="30198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12,057</a:t>
            </a:r>
            <a:endParaRPr lang="en-US" sz="1800" dirty="0"/>
          </a:p>
        </p:txBody>
      </p:sp>
      <p:sp>
        <p:nvSpPr>
          <p:cNvPr id="44" name="Text 41"/>
          <p:cNvSpPr/>
          <p:nvPr/>
        </p:nvSpPr>
        <p:spPr>
          <a:xfrm>
            <a:off x="11119104" y="30198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81.2</a:t>
            </a:r>
            <a:endParaRPr lang="en-US" sz="1800" dirty="0"/>
          </a:p>
        </p:txBody>
      </p:sp>
      <p:sp>
        <p:nvSpPr>
          <p:cNvPr id="45" name="Shape 42"/>
          <p:cNvSpPr/>
          <p:nvPr/>
        </p:nvSpPr>
        <p:spPr>
          <a:xfrm>
            <a:off x="5257800" y="3385566"/>
            <a:ext cx="6382512" cy="365760"/>
          </a:xfrm>
          <a:prstGeom prst="rect">
            <a:avLst/>
          </a:prstGeom>
          <a:solidFill>
            <a:srgbClr val="EEF2F6"/>
          </a:solidFill>
          <a:ln/>
        </p:spPr>
        <p:txBody>
          <a:bodyPr/>
          <a:lstStyle/>
          <a:p>
            <a:endParaRPr lang="LID4096"/>
          </a:p>
        </p:txBody>
      </p:sp>
      <p:sp>
        <p:nvSpPr>
          <p:cNvPr id="46" name="Text 43"/>
          <p:cNvSpPr/>
          <p:nvPr/>
        </p:nvSpPr>
        <p:spPr>
          <a:xfrm>
            <a:off x="5312664" y="338556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6</a:t>
            </a:r>
            <a:endParaRPr lang="en-US" sz="1800" dirty="0"/>
          </a:p>
        </p:txBody>
      </p:sp>
      <p:sp>
        <p:nvSpPr>
          <p:cNvPr id="47" name="Text 44"/>
          <p:cNvSpPr/>
          <p:nvPr/>
        </p:nvSpPr>
        <p:spPr>
          <a:xfrm>
            <a:off x="5861304" y="338556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48" name="Text 45"/>
          <p:cNvSpPr/>
          <p:nvPr/>
        </p:nvSpPr>
        <p:spPr>
          <a:xfrm>
            <a:off x="7050024" y="338556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Maru</a:t>
            </a:r>
            <a:endParaRPr lang="en-US" sz="1800" dirty="0"/>
          </a:p>
        </p:txBody>
      </p:sp>
      <p:sp>
        <p:nvSpPr>
          <p:cNvPr id="49" name="Text 46"/>
          <p:cNvSpPr/>
          <p:nvPr/>
        </p:nvSpPr>
        <p:spPr>
          <a:xfrm>
            <a:off x="8695944" y="338556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0" name="Text 47"/>
          <p:cNvSpPr/>
          <p:nvPr/>
        </p:nvSpPr>
        <p:spPr>
          <a:xfrm>
            <a:off x="10067544" y="338556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12,052</a:t>
            </a:r>
            <a:endParaRPr lang="en-US" sz="1800" dirty="0"/>
          </a:p>
        </p:txBody>
      </p:sp>
      <p:sp>
        <p:nvSpPr>
          <p:cNvPr id="51" name="Text 48"/>
          <p:cNvSpPr/>
          <p:nvPr/>
        </p:nvSpPr>
        <p:spPr>
          <a:xfrm>
            <a:off x="11119104" y="338556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57.5</a:t>
            </a:r>
            <a:endParaRPr lang="en-US" sz="1800" dirty="0"/>
          </a:p>
        </p:txBody>
      </p:sp>
      <p:sp>
        <p:nvSpPr>
          <p:cNvPr id="52" name="Text 49"/>
          <p:cNvSpPr/>
          <p:nvPr/>
        </p:nvSpPr>
        <p:spPr>
          <a:xfrm>
            <a:off x="5312664" y="375132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7</a:t>
            </a:r>
            <a:endParaRPr lang="en-US" sz="1800" dirty="0"/>
          </a:p>
        </p:txBody>
      </p:sp>
      <p:sp>
        <p:nvSpPr>
          <p:cNvPr id="53" name="Text 50"/>
          <p:cNvSpPr/>
          <p:nvPr/>
        </p:nvSpPr>
        <p:spPr>
          <a:xfrm>
            <a:off x="5861304" y="375132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54" name="Text 51"/>
          <p:cNvSpPr/>
          <p:nvPr/>
        </p:nvSpPr>
        <p:spPr>
          <a:xfrm>
            <a:off x="7050024" y="3751326"/>
            <a:ext cx="15361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Zurmi</a:t>
            </a:r>
            <a:endParaRPr lang="en-US" sz="1800" dirty="0"/>
          </a:p>
        </p:txBody>
      </p:sp>
      <p:sp>
        <p:nvSpPr>
          <p:cNvPr id="55" name="Text 52"/>
          <p:cNvSpPr/>
          <p:nvPr/>
        </p:nvSpPr>
        <p:spPr>
          <a:xfrm>
            <a:off x="8695944" y="375132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56" name="Text 53"/>
          <p:cNvSpPr/>
          <p:nvPr/>
        </p:nvSpPr>
        <p:spPr>
          <a:xfrm>
            <a:off x="10067544" y="375132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11,913</a:t>
            </a:r>
            <a:endParaRPr lang="en-US" sz="1800" dirty="0"/>
          </a:p>
        </p:txBody>
      </p:sp>
      <p:sp>
        <p:nvSpPr>
          <p:cNvPr id="57" name="Text 54"/>
          <p:cNvSpPr/>
          <p:nvPr/>
        </p:nvSpPr>
        <p:spPr>
          <a:xfrm>
            <a:off x="11119104" y="375132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56.6</a:t>
            </a:r>
            <a:endParaRPr lang="en-US" sz="1800" dirty="0"/>
          </a:p>
        </p:txBody>
      </p:sp>
      <p:sp>
        <p:nvSpPr>
          <p:cNvPr id="58" name="Shape 55"/>
          <p:cNvSpPr/>
          <p:nvPr/>
        </p:nvSpPr>
        <p:spPr>
          <a:xfrm>
            <a:off x="5257800" y="4117086"/>
            <a:ext cx="6382512" cy="365760"/>
          </a:xfrm>
          <a:prstGeom prst="rect">
            <a:avLst/>
          </a:prstGeom>
          <a:solidFill>
            <a:srgbClr val="EEF2F6"/>
          </a:solidFill>
          <a:ln/>
        </p:spPr>
        <p:txBody>
          <a:bodyPr/>
          <a:lstStyle/>
          <a:p>
            <a:endParaRPr lang="LID4096"/>
          </a:p>
        </p:txBody>
      </p:sp>
      <p:sp>
        <p:nvSpPr>
          <p:cNvPr id="59" name="Text 56"/>
          <p:cNvSpPr/>
          <p:nvPr/>
        </p:nvSpPr>
        <p:spPr>
          <a:xfrm>
            <a:off x="5312664" y="411708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8</a:t>
            </a:r>
            <a:endParaRPr lang="en-US" sz="1800" dirty="0"/>
          </a:p>
        </p:txBody>
      </p:sp>
      <p:sp>
        <p:nvSpPr>
          <p:cNvPr id="60" name="Text 57"/>
          <p:cNvSpPr/>
          <p:nvPr/>
        </p:nvSpPr>
        <p:spPr>
          <a:xfrm>
            <a:off x="5861304" y="411708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Sokoto</a:t>
            </a:r>
            <a:endParaRPr lang="en-US" sz="1800" dirty="0"/>
          </a:p>
        </p:txBody>
      </p:sp>
      <p:sp>
        <p:nvSpPr>
          <p:cNvPr id="61" name="Text 58"/>
          <p:cNvSpPr/>
          <p:nvPr/>
        </p:nvSpPr>
        <p:spPr>
          <a:xfrm>
            <a:off x="7050024" y="411708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Sokoto North</a:t>
            </a:r>
            <a:endParaRPr lang="en-US" sz="1800" dirty="0"/>
          </a:p>
        </p:txBody>
      </p:sp>
      <p:sp>
        <p:nvSpPr>
          <p:cNvPr id="62" name="Text 59"/>
          <p:cNvSpPr/>
          <p:nvPr/>
        </p:nvSpPr>
        <p:spPr>
          <a:xfrm>
            <a:off x="8695944" y="411708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3" name="Text 60"/>
          <p:cNvSpPr/>
          <p:nvPr/>
        </p:nvSpPr>
        <p:spPr>
          <a:xfrm>
            <a:off x="10067544" y="411708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11,869</a:t>
            </a:r>
            <a:endParaRPr lang="en-US" sz="1800" dirty="0"/>
          </a:p>
        </p:txBody>
      </p:sp>
      <p:sp>
        <p:nvSpPr>
          <p:cNvPr id="64" name="Text 61"/>
          <p:cNvSpPr/>
          <p:nvPr/>
        </p:nvSpPr>
        <p:spPr>
          <a:xfrm>
            <a:off x="11119104" y="411708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75.2</a:t>
            </a:r>
            <a:endParaRPr lang="en-US" sz="1800" dirty="0"/>
          </a:p>
        </p:txBody>
      </p:sp>
      <p:sp>
        <p:nvSpPr>
          <p:cNvPr id="65" name="Text 62"/>
          <p:cNvSpPr/>
          <p:nvPr/>
        </p:nvSpPr>
        <p:spPr>
          <a:xfrm>
            <a:off x="5312664" y="448284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9</a:t>
            </a:r>
            <a:endParaRPr lang="en-US" sz="1800" dirty="0"/>
          </a:p>
        </p:txBody>
      </p:sp>
      <p:sp>
        <p:nvSpPr>
          <p:cNvPr id="66" name="Text 63"/>
          <p:cNvSpPr/>
          <p:nvPr/>
        </p:nvSpPr>
        <p:spPr>
          <a:xfrm>
            <a:off x="5861304" y="448284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67" name="Text 64"/>
          <p:cNvSpPr/>
          <p:nvPr/>
        </p:nvSpPr>
        <p:spPr>
          <a:xfrm>
            <a:off x="7050024" y="448284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Talata Mafara</a:t>
            </a:r>
            <a:endParaRPr lang="en-US" sz="1800" dirty="0"/>
          </a:p>
        </p:txBody>
      </p:sp>
      <p:sp>
        <p:nvSpPr>
          <p:cNvPr id="68" name="Text 65"/>
          <p:cNvSpPr/>
          <p:nvPr/>
        </p:nvSpPr>
        <p:spPr>
          <a:xfrm>
            <a:off x="8695944" y="448284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69" name="Text 66"/>
          <p:cNvSpPr/>
          <p:nvPr/>
        </p:nvSpPr>
        <p:spPr>
          <a:xfrm>
            <a:off x="10067544" y="448284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11,666</a:t>
            </a:r>
            <a:endParaRPr lang="en-US" sz="1800" dirty="0"/>
          </a:p>
        </p:txBody>
      </p:sp>
      <p:sp>
        <p:nvSpPr>
          <p:cNvPr id="70" name="Text 67"/>
          <p:cNvSpPr/>
          <p:nvPr/>
        </p:nvSpPr>
        <p:spPr>
          <a:xfrm>
            <a:off x="11119104" y="448284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75.6</a:t>
            </a:r>
            <a:endParaRPr lang="en-US" sz="1800" dirty="0"/>
          </a:p>
        </p:txBody>
      </p:sp>
      <p:sp>
        <p:nvSpPr>
          <p:cNvPr id="71" name="Shape 68"/>
          <p:cNvSpPr/>
          <p:nvPr/>
        </p:nvSpPr>
        <p:spPr>
          <a:xfrm>
            <a:off x="5257800" y="4848606"/>
            <a:ext cx="6382512" cy="365760"/>
          </a:xfrm>
          <a:prstGeom prst="rect">
            <a:avLst/>
          </a:prstGeom>
          <a:solidFill>
            <a:srgbClr val="EEF2F6"/>
          </a:solidFill>
          <a:ln/>
        </p:spPr>
        <p:txBody>
          <a:bodyPr/>
          <a:lstStyle/>
          <a:p>
            <a:endParaRPr lang="LID4096"/>
          </a:p>
        </p:txBody>
      </p:sp>
      <p:sp>
        <p:nvSpPr>
          <p:cNvPr id="72" name="Text 69"/>
          <p:cNvSpPr/>
          <p:nvPr/>
        </p:nvSpPr>
        <p:spPr>
          <a:xfrm>
            <a:off x="5312664" y="4848606"/>
            <a:ext cx="438912" cy="365760"/>
          </a:xfrm>
          <a:prstGeom prst="rect">
            <a:avLst/>
          </a:prstGeom>
          <a:noFill/>
          <a:ln/>
        </p:spPr>
        <p:txBody>
          <a:bodyPr wrap="square" lIns="0" tIns="0" rIns="0" bIns="0" rtlCol="0" anchor="ctr"/>
          <a:lstStyle/>
          <a:p>
            <a:pPr marL="0" indent="0" algn="ctr">
              <a:buNone/>
            </a:pPr>
            <a:r>
              <a:rPr lang="en-US" sz="1800" b="1" dirty="0">
                <a:solidFill>
                  <a:srgbClr val="1F3B57"/>
                </a:solidFill>
                <a:latin typeface="Arial" pitchFamily="34" charset="0"/>
                <a:ea typeface="Arial" pitchFamily="34" charset="-122"/>
                <a:cs typeface="Arial" pitchFamily="34" charset="-120"/>
              </a:rPr>
              <a:t>10</a:t>
            </a:r>
            <a:endParaRPr lang="en-US" sz="1800" dirty="0"/>
          </a:p>
        </p:txBody>
      </p:sp>
      <p:sp>
        <p:nvSpPr>
          <p:cNvPr id="73" name="Text 70"/>
          <p:cNvSpPr/>
          <p:nvPr/>
        </p:nvSpPr>
        <p:spPr>
          <a:xfrm>
            <a:off x="5861304" y="4848606"/>
            <a:ext cx="107899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Zamfara</a:t>
            </a:r>
            <a:endParaRPr lang="en-US" sz="1800" dirty="0"/>
          </a:p>
        </p:txBody>
      </p:sp>
      <p:sp>
        <p:nvSpPr>
          <p:cNvPr id="74" name="Text 71"/>
          <p:cNvSpPr/>
          <p:nvPr/>
        </p:nvSpPr>
        <p:spPr>
          <a:xfrm>
            <a:off x="7050024" y="4848606"/>
            <a:ext cx="1536192" cy="365760"/>
          </a:xfrm>
          <a:prstGeom prst="rect">
            <a:avLst/>
          </a:prstGeom>
          <a:noFill/>
          <a:ln/>
        </p:spPr>
        <p:txBody>
          <a:bodyPr wrap="square" lIns="0" tIns="0" rIns="0" bIns="0" rtlCol="0" anchor="ctr"/>
          <a:lstStyle/>
          <a:p>
            <a:pPr marL="0" indent="0" algn="l">
              <a:buNone/>
            </a:pPr>
            <a:r>
              <a:rPr lang="en-US" sz="1400" dirty="0">
                <a:solidFill>
                  <a:srgbClr val="22333F"/>
                </a:solidFill>
                <a:latin typeface="Arial" pitchFamily="34" charset="0"/>
                <a:ea typeface="Arial" pitchFamily="34" charset="-122"/>
                <a:cs typeface="Arial" pitchFamily="34" charset="-120"/>
              </a:rPr>
              <a:t>Kaura Namoda</a:t>
            </a:r>
            <a:endParaRPr lang="en-US" sz="1800" dirty="0"/>
          </a:p>
        </p:txBody>
      </p:sp>
      <p:sp>
        <p:nvSpPr>
          <p:cNvPr id="75" name="Text 72"/>
          <p:cNvSpPr/>
          <p:nvPr/>
        </p:nvSpPr>
        <p:spPr>
          <a:xfrm>
            <a:off x="8695944" y="4848606"/>
            <a:ext cx="1261872" cy="365760"/>
          </a:xfrm>
          <a:prstGeom prst="rect">
            <a:avLst/>
          </a:prstGeom>
          <a:noFill/>
          <a:ln/>
        </p:spPr>
        <p:txBody>
          <a:bodyPr wrap="square" lIns="0" tIns="0" rIns="0" bIns="0" rtlCol="0" anchor="ctr"/>
          <a:lstStyle/>
          <a:p>
            <a:pPr marL="0" indent="0" algn="l">
              <a:buNone/>
            </a:pPr>
            <a:r>
              <a:rPr lang="en-US" sz="1800" dirty="0">
                <a:solidFill>
                  <a:srgbClr val="22333F"/>
                </a:solidFill>
                <a:latin typeface="Arial" pitchFamily="34" charset="0"/>
                <a:ea typeface="Arial" pitchFamily="34" charset="-122"/>
                <a:cs typeface="Arial" pitchFamily="34" charset="-120"/>
              </a:rPr>
              <a:t>North West</a:t>
            </a:r>
            <a:endParaRPr lang="en-US" sz="1800" dirty="0"/>
          </a:p>
        </p:txBody>
      </p:sp>
      <p:sp>
        <p:nvSpPr>
          <p:cNvPr id="76" name="Text 73"/>
          <p:cNvSpPr/>
          <p:nvPr/>
        </p:nvSpPr>
        <p:spPr>
          <a:xfrm>
            <a:off x="10067544" y="4848606"/>
            <a:ext cx="941832"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11,282</a:t>
            </a:r>
            <a:endParaRPr lang="en-US" sz="1800" dirty="0"/>
          </a:p>
        </p:txBody>
      </p:sp>
      <p:sp>
        <p:nvSpPr>
          <p:cNvPr id="77" name="Text 74"/>
          <p:cNvSpPr/>
          <p:nvPr/>
        </p:nvSpPr>
        <p:spPr>
          <a:xfrm>
            <a:off x="11119104" y="4848606"/>
            <a:ext cx="466344" cy="365760"/>
          </a:xfrm>
          <a:prstGeom prst="rect">
            <a:avLst/>
          </a:prstGeom>
          <a:noFill/>
          <a:ln/>
        </p:spPr>
        <p:txBody>
          <a:bodyPr wrap="square" lIns="0" tIns="0" rIns="0" bIns="0" rtlCol="0" anchor="ctr"/>
          <a:lstStyle/>
          <a:p>
            <a:pPr marL="0" indent="0" algn="r">
              <a:buNone/>
            </a:pPr>
            <a:r>
              <a:rPr lang="en-US" sz="1800" dirty="0">
                <a:solidFill>
                  <a:srgbClr val="22333F"/>
                </a:solidFill>
                <a:latin typeface="Arial" pitchFamily="34" charset="0"/>
                <a:ea typeface="Arial" pitchFamily="34" charset="-122"/>
                <a:cs typeface="Arial" pitchFamily="34" charset="-120"/>
              </a:rPr>
              <a:t>55.3</a:t>
            </a:r>
            <a:endParaRPr lang="en-US" sz="1800" dirty="0"/>
          </a:p>
        </p:txBody>
      </p:sp>
      <p:sp>
        <p:nvSpPr>
          <p:cNvPr id="78" name="Text 75"/>
          <p:cNvSpPr/>
          <p:nvPr/>
        </p:nvSpPr>
        <p:spPr>
          <a:xfrm>
            <a:off x="5257800" y="5314950"/>
            <a:ext cx="6382512" cy="607390"/>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Top 10 shown here (Method 1). The full ranked list for both methods is in the government workbook and can be filtered by state or priority level in the web app.</a:t>
            </a:r>
          </a:p>
        </p:txBody>
      </p:sp>
      <p:sp>
        <p:nvSpPr>
          <p:cNvPr id="79" name="Text 76"/>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Method 1: Bayesian hierarchical model with DHIS2-calibrated LGA allocation, 2026; GRID3 boundaries. Hotspot method: Getis-Ord Gi* (spatial clustering), k = 5 nearest neighbours. Rates are capped at 99%.</a:t>
            </a:r>
            <a:endParaRPr lang="en-US" sz="1400" dirty="0"/>
          </a:p>
        </p:txBody>
      </p:sp>
      <p:sp>
        <p:nvSpPr>
          <p:cNvPr id="80" name="Rounded Rectangle 79"/>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37744"/>
            <a:ext cx="11091672" cy="457200"/>
          </a:xfrm>
          <a:prstGeom prst="rect">
            <a:avLst/>
          </a:prstGeom>
          <a:noFill/>
          <a:ln/>
        </p:spPr>
        <p:txBody>
          <a:bodyPr wrap="square" lIns="0" tIns="0" rIns="0" bIns="0" rtlCol="0" anchor="t"/>
          <a:lstStyle/>
          <a:p>
            <a:pPr marL="0" indent="0">
              <a:buNone/>
            </a:pPr>
            <a:r>
              <a:rPr lang="en-US" sz="2600" b="1" dirty="0">
                <a:solidFill>
                  <a:srgbClr val="1F3B57"/>
                </a:solidFill>
                <a:latin typeface="Arial" pitchFamily="34" charset="0"/>
                <a:ea typeface="Arial" pitchFamily="34" charset="-122"/>
                <a:cs typeface="Arial" pitchFamily="34" charset="-120"/>
              </a:rPr>
              <a:t>Archetype profiles and modelled zero-dose burden</a:t>
            </a:r>
            <a:endParaRPr lang="en-US" sz="3200" dirty="0"/>
          </a:p>
        </p:txBody>
      </p:sp>
      <p:pic>
        <p:nvPicPr>
          <p:cNvPr id="9" name="Picture 8" descr="P_01_profile_map_burden.png"/>
          <p:cNvPicPr>
            <a:picLocks noChangeAspect="1"/>
          </p:cNvPicPr>
          <p:nvPr/>
        </p:nvPicPr>
        <p:blipFill>
          <a:blip r:embed="rId5"/>
          <a:stretch>
            <a:fillRect/>
          </a:stretch>
        </p:blipFill>
        <p:spPr>
          <a:xfrm>
            <a:off x="2722370" y="806349"/>
            <a:ext cx="6753354" cy="3379925"/>
          </a:xfrm>
          <a:prstGeom prst="rect">
            <a:avLst/>
          </a:prstGeom>
        </p:spPr>
      </p:pic>
      <p:sp>
        <p:nvSpPr>
          <p:cNvPr id="4" name="Text 1"/>
          <p:cNvSpPr/>
          <p:nvPr/>
        </p:nvSpPr>
        <p:spPr>
          <a:xfrm>
            <a:off x="548640" y="4407408"/>
            <a:ext cx="6035040" cy="1650492"/>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Built from 15 contextual indicators (education, nutrition, poverty, wealth, travel time, water, maternal care, conflict and DTP1-3 dropout), the profiles use no zero-dose or coverage estimate. Yet they reproduce where the children are: profiles 1 and 2 hold 1.52 million of 2.10 million zero-dose children (72 percent; 77 percent under Method 2).</a:t>
            </a:r>
            <a:endParaRPr lang="en-US" sz="1800" dirty="0"/>
          </a:p>
        </p:txBody>
      </p:sp>
      <p:sp>
        <p:nvSpPr>
          <p:cNvPr id="5" name="Text 2"/>
          <p:cNvSpPr/>
          <p:nvPr/>
        </p:nvSpPr>
        <p:spPr>
          <a:xfrm>
            <a:off x="6766560" y="4407408"/>
            <a:ext cx="4873752" cy="1650492"/>
          </a:xfrm>
          <a:prstGeom prst="rect">
            <a:avLst/>
          </a:prstGeom>
          <a:noFill/>
          <a:ln/>
        </p:spPr>
        <p:txBody>
          <a:bodyPr wrap="square" lIns="0" tIns="0" rIns="0" bIns="0" rtlCol="0" anchor="t"/>
          <a:lstStyle/>
          <a:p>
            <a:pPr marL="0" indent="0">
              <a:lnSpc>
                <a:spcPct val="100000"/>
              </a:lnSpc>
              <a:buNone/>
            </a:pPr>
            <a:r>
              <a:rPr lang="en-US" sz="1800" b="1" dirty="0">
                <a:solidFill>
                  <a:srgbClr val="1F3B57"/>
                </a:solidFill>
                <a:latin typeface="Arial" pitchFamily="34" charset="0"/>
                <a:ea typeface="Arial" pitchFamily="34" charset="-122"/>
                <a:cs typeface="Arial" pitchFamily="34" charset="-120"/>
              </a:rPr>
              <a:t>Colour shows the contextual profile. Bars compare each profile's share of children with its share of zero-dose children under both methods. Labels describe only what the indicators measure.</a:t>
            </a:r>
          </a:p>
        </p:txBody>
      </p:sp>
      <p:sp>
        <p:nvSpPr>
          <p:cNvPr id="6" name="Text 3"/>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Profiles (community archetypes) from agglomerative (Ward) clustering of 15 LGA indicators (IHME, DHS, Meta Relative Wealth Index, Weiss travel time, ACLED); bars are modelled zero-dose children under both methods; GRID3 admin-2 boundaries.</a:t>
            </a:r>
            <a:endParaRPr lang="en-US" sz="1400" dirty="0"/>
          </a:p>
        </p:txBody>
      </p:sp>
      <p:sp>
        <p:nvSpPr>
          <p:cNvPr id="7" name="Rounded Rectangle 6"/>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Five contextual profiles and candidate responses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Profiles 1 and 2 hold about 72 percent of all zero-dose children (77 percent under Method 2).</a:t>
            </a:r>
            <a:endParaRPr lang="en-US" sz="1800" dirty="0"/>
          </a:p>
        </p:txBody>
      </p:sp>
      <p:sp>
        <p:nvSpPr>
          <p:cNvPr id="4" name="Shape 2"/>
          <p:cNvSpPr/>
          <p:nvPr/>
        </p:nvSpPr>
        <p:spPr>
          <a:xfrm>
            <a:off x="548640" y="1227582"/>
            <a:ext cx="11091672" cy="310896"/>
          </a:xfrm>
          <a:prstGeom prst="rect">
            <a:avLst/>
          </a:prstGeom>
          <a:solidFill>
            <a:srgbClr val="1F3B57"/>
          </a:solidFill>
          <a:ln/>
        </p:spPr>
        <p:txBody>
          <a:bodyPr/>
          <a:lstStyle/>
          <a:p>
            <a:endParaRPr lang="LID4096"/>
          </a:p>
        </p:txBody>
      </p:sp>
      <p:sp>
        <p:nvSpPr>
          <p:cNvPr id="5" name="Text 3"/>
          <p:cNvSpPr/>
          <p:nvPr/>
        </p:nvSpPr>
        <p:spPr>
          <a:xfrm>
            <a:off x="621792" y="1227582"/>
            <a:ext cx="2743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05840" y="1227582"/>
            <a:ext cx="203911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Profile</a:t>
            </a:r>
            <a:endParaRPr lang="en-US" sz="1200" dirty="0"/>
          </a:p>
        </p:txBody>
      </p:sp>
      <p:sp>
        <p:nvSpPr>
          <p:cNvPr id="7" name="Text 5"/>
          <p:cNvSpPr/>
          <p:nvPr/>
        </p:nvSpPr>
        <p:spPr>
          <a:xfrm>
            <a:off x="3154680" y="1227582"/>
            <a:ext cx="54864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LGAs</a:t>
            </a:r>
            <a:endParaRPr lang="en-US" sz="1200" dirty="0"/>
          </a:p>
        </p:txBody>
      </p:sp>
      <p:sp>
        <p:nvSpPr>
          <p:cNvPr id="8" name="Text 6"/>
          <p:cNvSpPr/>
          <p:nvPr/>
        </p:nvSpPr>
        <p:spPr>
          <a:xfrm>
            <a:off x="3813048" y="1227582"/>
            <a:ext cx="1188720"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Zero-dose children</a:t>
            </a:r>
            <a:endParaRPr lang="en-US" sz="1200" dirty="0"/>
          </a:p>
        </p:txBody>
      </p:sp>
      <p:sp>
        <p:nvSpPr>
          <p:cNvPr id="9" name="Text 7"/>
          <p:cNvSpPr/>
          <p:nvPr/>
        </p:nvSpPr>
        <p:spPr>
          <a:xfrm>
            <a:off x="5111496" y="1227582"/>
            <a:ext cx="603504"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Mean rate</a:t>
            </a:r>
            <a:endParaRPr lang="en-US" sz="1200" dirty="0"/>
          </a:p>
        </p:txBody>
      </p:sp>
      <p:sp>
        <p:nvSpPr>
          <p:cNvPr id="10" name="Text 8"/>
          <p:cNvSpPr/>
          <p:nvPr/>
        </p:nvSpPr>
        <p:spPr>
          <a:xfrm>
            <a:off x="5824728" y="1227582"/>
            <a:ext cx="2679192"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Defining signature</a:t>
            </a:r>
            <a:endParaRPr lang="en-US" sz="1200" dirty="0"/>
          </a:p>
        </p:txBody>
      </p:sp>
      <p:sp>
        <p:nvSpPr>
          <p:cNvPr id="11" name="Text 9"/>
          <p:cNvSpPr/>
          <p:nvPr/>
        </p:nvSpPr>
        <p:spPr>
          <a:xfrm>
            <a:off x="8613648" y="1227582"/>
            <a:ext cx="2990088" cy="310896"/>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Priority intervention</a:t>
            </a:r>
            <a:endParaRPr lang="en-US" sz="1200" dirty="0"/>
          </a:p>
        </p:txBody>
      </p:sp>
      <p:sp>
        <p:nvSpPr>
          <p:cNvPr id="12" name="Text 10"/>
          <p:cNvSpPr/>
          <p:nvPr/>
        </p:nvSpPr>
        <p:spPr>
          <a:xfrm>
            <a:off x="621792" y="1538478"/>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1</a:t>
            </a:r>
            <a:endParaRPr lang="en-US" sz="1400" dirty="0"/>
          </a:p>
        </p:txBody>
      </p:sp>
      <p:sp>
        <p:nvSpPr>
          <p:cNvPr id="13" name="Text 11"/>
          <p:cNvSpPr/>
          <p:nvPr/>
        </p:nvSpPr>
        <p:spPr>
          <a:xfrm>
            <a:off x="1005840" y="1611630"/>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Deprived northern rural</a:t>
            </a:r>
            <a:endParaRPr lang="en-US" sz="1400" dirty="0"/>
          </a:p>
        </p:txBody>
      </p:sp>
      <p:sp>
        <p:nvSpPr>
          <p:cNvPr id="14" name="Text 12"/>
          <p:cNvSpPr/>
          <p:nvPr/>
        </p:nvSpPr>
        <p:spPr>
          <a:xfrm>
            <a:off x="1005840" y="2105406"/>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Kano, Jigawa, Katsina</a:t>
            </a:r>
            <a:endParaRPr lang="en-US" sz="1000" dirty="0"/>
          </a:p>
        </p:txBody>
      </p:sp>
      <p:sp>
        <p:nvSpPr>
          <p:cNvPr id="15" name="Text 13"/>
          <p:cNvSpPr/>
          <p:nvPr/>
        </p:nvSpPr>
        <p:spPr>
          <a:xfrm>
            <a:off x="3154680" y="1538478"/>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136</a:t>
            </a:r>
            <a:endParaRPr lang="en-US" sz="1400" dirty="0"/>
          </a:p>
        </p:txBody>
      </p:sp>
      <p:sp>
        <p:nvSpPr>
          <p:cNvPr id="16" name="Text 14"/>
          <p:cNvSpPr/>
          <p:nvPr/>
        </p:nvSpPr>
        <p:spPr>
          <a:xfrm>
            <a:off x="3813048" y="1538478"/>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695,337</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(33%)</a:t>
            </a:r>
            <a:endParaRPr lang="en-US" sz="1400" dirty="0"/>
          </a:p>
        </p:txBody>
      </p:sp>
      <p:sp>
        <p:nvSpPr>
          <p:cNvPr id="17" name="Text 15"/>
          <p:cNvSpPr/>
          <p:nvPr/>
        </p:nvSpPr>
        <p:spPr>
          <a:xfrm>
            <a:off x="5111496" y="1538478"/>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44.2%</a:t>
            </a:r>
            <a:endParaRPr lang="en-US" sz="1400" dirty="0"/>
          </a:p>
        </p:txBody>
      </p:sp>
      <p:sp>
        <p:nvSpPr>
          <p:cNvPr id="18" name="Text 16"/>
          <p:cNvSpPr/>
          <p:nvPr/>
        </p:nvSpPr>
        <p:spPr>
          <a:xfrm>
            <a:off x="5824728" y="1538478"/>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child undernutrition; lowest maternal education (about 2.5 years) and facility delivery (about 10%)</a:t>
            </a:r>
            <a:endParaRPr lang="en-US" sz="1200" dirty="0"/>
          </a:p>
        </p:txBody>
      </p:sp>
      <p:sp>
        <p:nvSpPr>
          <p:cNvPr id="19" name="Text 17"/>
          <p:cNvSpPr/>
          <p:nvPr/>
        </p:nvSpPr>
        <p:spPr>
          <a:xfrm>
            <a:off x="8613648" y="1538478"/>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Reaching-Every-Community microplanning, BHCPF outreach and community health workers; co-deliver with nutrition and antenatal care</a:t>
            </a:r>
            <a:endParaRPr lang="en-US" sz="1200" dirty="0"/>
          </a:p>
        </p:txBody>
      </p:sp>
      <p:sp>
        <p:nvSpPr>
          <p:cNvPr id="20" name="Shape 18"/>
          <p:cNvSpPr/>
          <p:nvPr/>
        </p:nvSpPr>
        <p:spPr>
          <a:xfrm>
            <a:off x="548640" y="2389784"/>
            <a:ext cx="11091672" cy="822960"/>
          </a:xfrm>
          <a:prstGeom prst="rect">
            <a:avLst/>
          </a:prstGeom>
          <a:solidFill>
            <a:srgbClr val="EEF2F6"/>
          </a:solidFill>
          <a:ln/>
        </p:spPr>
        <p:txBody>
          <a:bodyPr/>
          <a:lstStyle/>
          <a:p>
            <a:endParaRPr lang="LID4096"/>
          </a:p>
        </p:txBody>
      </p:sp>
      <p:sp>
        <p:nvSpPr>
          <p:cNvPr id="21" name="Text 19"/>
          <p:cNvSpPr/>
          <p:nvPr/>
        </p:nvSpPr>
        <p:spPr>
          <a:xfrm>
            <a:off x="621792" y="238978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1005840" y="246293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Low maternal care, high conflict exposure</a:t>
            </a:r>
            <a:endParaRPr lang="en-US" sz="1400" dirty="0"/>
          </a:p>
        </p:txBody>
      </p:sp>
      <p:sp>
        <p:nvSpPr>
          <p:cNvPr id="23" name="Text 21"/>
          <p:cNvSpPr/>
          <p:nvPr/>
        </p:nvSpPr>
        <p:spPr>
          <a:xfrm>
            <a:off x="1005840" y="295671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Borno, Niger, Adamawa</a:t>
            </a:r>
            <a:endParaRPr lang="en-US" sz="1000" dirty="0"/>
          </a:p>
        </p:txBody>
      </p:sp>
      <p:sp>
        <p:nvSpPr>
          <p:cNvPr id="24" name="Text 22"/>
          <p:cNvSpPr/>
          <p:nvPr/>
        </p:nvSpPr>
        <p:spPr>
          <a:xfrm>
            <a:off x="3154680" y="238978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192</a:t>
            </a:r>
            <a:endParaRPr lang="en-US" sz="1400" dirty="0"/>
          </a:p>
        </p:txBody>
      </p:sp>
      <p:sp>
        <p:nvSpPr>
          <p:cNvPr id="25" name="Text 23"/>
          <p:cNvSpPr/>
          <p:nvPr/>
        </p:nvSpPr>
        <p:spPr>
          <a:xfrm>
            <a:off x="3813048" y="238978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820,871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(39%)</a:t>
            </a:r>
            <a:endParaRPr lang="en-US" sz="1400" dirty="0"/>
          </a:p>
        </p:txBody>
      </p:sp>
      <p:sp>
        <p:nvSpPr>
          <p:cNvPr id="26" name="Text 24"/>
          <p:cNvSpPr/>
          <p:nvPr/>
        </p:nvSpPr>
        <p:spPr>
          <a:xfrm>
            <a:off x="5111496" y="238978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39.0%</a:t>
            </a:r>
            <a:endParaRPr lang="en-US" sz="1400" dirty="0"/>
          </a:p>
        </p:txBody>
      </p:sp>
      <p:sp>
        <p:nvSpPr>
          <p:cNvPr id="27" name="Text 25"/>
          <p:cNvSpPr/>
          <p:nvPr/>
        </p:nvSpPr>
        <p:spPr>
          <a:xfrm>
            <a:off x="5824728" y="238978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political-violence fatalities; high antigen dropout; weak antenatal care and delivery</a:t>
            </a:r>
            <a:endParaRPr lang="en-US" sz="1200" dirty="0"/>
          </a:p>
        </p:txBody>
      </p:sp>
      <p:sp>
        <p:nvSpPr>
          <p:cNvPr id="28" name="Text 26"/>
          <p:cNvSpPr/>
          <p:nvPr/>
        </p:nvSpPr>
        <p:spPr>
          <a:xfrm>
            <a:off x="8613648" y="238978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Security-integrated microplanning, negotiated access, mobile outreach teams and defaulter tracing</a:t>
            </a:r>
            <a:endParaRPr lang="en-US" sz="1200" dirty="0"/>
          </a:p>
        </p:txBody>
      </p:sp>
      <p:sp>
        <p:nvSpPr>
          <p:cNvPr id="29" name="Text 27"/>
          <p:cNvSpPr/>
          <p:nvPr/>
        </p:nvSpPr>
        <p:spPr>
          <a:xfrm>
            <a:off x="621792" y="321274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3</a:t>
            </a:r>
            <a:endParaRPr lang="en-US" sz="1400" dirty="0"/>
          </a:p>
        </p:txBody>
      </p:sp>
      <p:sp>
        <p:nvSpPr>
          <p:cNvPr id="30" name="Text 28"/>
          <p:cNvSpPr/>
          <p:nvPr/>
        </p:nvSpPr>
        <p:spPr>
          <a:xfrm>
            <a:off x="1005840" y="328589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Geographically isolated</a:t>
            </a:r>
            <a:endParaRPr lang="en-US" sz="1400" dirty="0"/>
          </a:p>
        </p:txBody>
      </p:sp>
      <p:sp>
        <p:nvSpPr>
          <p:cNvPr id="31" name="Text 29"/>
          <p:cNvSpPr/>
          <p:nvPr/>
        </p:nvSpPr>
        <p:spPr>
          <a:xfrm>
            <a:off x="1005840" y="377967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Cross River, Bayelsa, Delta</a:t>
            </a:r>
            <a:endParaRPr lang="en-US" sz="1000" dirty="0"/>
          </a:p>
        </p:txBody>
      </p:sp>
      <p:sp>
        <p:nvSpPr>
          <p:cNvPr id="32" name="Text 30"/>
          <p:cNvSpPr/>
          <p:nvPr/>
        </p:nvSpPr>
        <p:spPr>
          <a:xfrm>
            <a:off x="3154680" y="321274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a:t>
            </a:r>
            <a:endParaRPr lang="en-US" sz="1400" dirty="0"/>
          </a:p>
        </p:txBody>
      </p:sp>
      <p:sp>
        <p:nvSpPr>
          <p:cNvPr id="33" name="Text 31"/>
          <p:cNvSpPr/>
          <p:nvPr/>
        </p:nvSpPr>
        <p:spPr>
          <a:xfrm>
            <a:off x="3813048" y="321274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23,514</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a:t>
            </a:r>
            <a:endParaRPr lang="en-US" sz="1400" dirty="0"/>
          </a:p>
        </p:txBody>
      </p:sp>
      <p:sp>
        <p:nvSpPr>
          <p:cNvPr id="34" name="Text 32"/>
          <p:cNvSpPr/>
          <p:nvPr/>
        </p:nvSpPr>
        <p:spPr>
          <a:xfrm>
            <a:off x="5111496" y="321274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17.7%</a:t>
            </a:r>
            <a:endParaRPr lang="en-US" sz="1400" dirty="0"/>
          </a:p>
        </p:txBody>
      </p:sp>
      <p:sp>
        <p:nvSpPr>
          <p:cNvPr id="35" name="Text 33"/>
          <p:cNvSpPr/>
          <p:nvPr/>
        </p:nvSpPr>
        <p:spPr>
          <a:xfrm>
            <a:off x="5824728" y="321274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Extreme travel time to care (about 108 minutes); low improved-water access</a:t>
            </a:r>
            <a:endParaRPr lang="en-US" sz="1200" dirty="0"/>
          </a:p>
        </p:txBody>
      </p:sp>
      <p:sp>
        <p:nvSpPr>
          <p:cNvPr id="36" name="Text 34"/>
          <p:cNvSpPr/>
          <p:nvPr/>
        </p:nvSpPr>
        <p:spPr>
          <a:xfrm>
            <a:off x="8613648" y="321274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Outreach and mobile sessions (boat-based where waterways apply), community health workers, multi-antigen bundling</a:t>
            </a:r>
            <a:endParaRPr lang="en-US" sz="1200" dirty="0"/>
          </a:p>
        </p:txBody>
      </p:sp>
      <p:sp>
        <p:nvSpPr>
          <p:cNvPr id="37" name="Shape 35"/>
          <p:cNvSpPr/>
          <p:nvPr/>
        </p:nvSpPr>
        <p:spPr>
          <a:xfrm>
            <a:off x="548640" y="4035704"/>
            <a:ext cx="11091672" cy="822960"/>
          </a:xfrm>
          <a:prstGeom prst="rect">
            <a:avLst/>
          </a:prstGeom>
          <a:solidFill>
            <a:srgbClr val="EEF2F6"/>
          </a:solidFill>
          <a:ln/>
        </p:spPr>
        <p:txBody>
          <a:bodyPr/>
          <a:lstStyle/>
          <a:p>
            <a:endParaRPr lang="LID4096"/>
          </a:p>
        </p:txBody>
      </p:sp>
      <p:sp>
        <p:nvSpPr>
          <p:cNvPr id="38" name="Text 36"/>
          <p:cNvSpPr/>
          <p:nvPr/>
        </p:nvSpPr>
        <p:spPr>
          <a:xfrm>
            <a:off x="621792" y="4035704"/>
            <a:ext cx="274320" cy="822960"/>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4</a:t>
            </a:r>
            <a:endParaRPr lang="en-US" sz="1400" dirty="0"/>
          </a:p>
        </p:txBody>
      </p:sp>
      <p:sp>
        <p:nvSpPr>
          <p:cNvPr id="39" name="Text 37"/>
          <p:cNvSpPr/>
          <p:nvPr/>
        </p:nvSpPr>
        <p:spPr>
          <a:xfrm>
            <a:off x="1005840" y="410885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Near-average</a:t>
            </a:r>
            <a:endParaRPr lang="en-US" sz="1400" dirty="0"/>
          </a:p>
        </p:txBody>
      </p:sp>
      <p:sp>
        <p:nvSpPr>
          <p:cNvPr id="40" name="Text 38"/>
          <p:cNvSpPr/>
          <p:nvPr/>
        </p:nvSpPr>
        <p:spPr>
          <a:xfrm>
            <a:off x="1005840" y="460263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Osun, Akwa Ibom, Oyo</a:t>
            </a:r>
            <a:endParaRPr lang="en-US" sz="1000" dirty="0"/>
          </a:p>
        </p:txBody>
      </p:sp>
      <p:sp>
        <p:nvSpPr>
          <p:cNvPr id="41" name="Text 39"/>
          <p:cNvSpPr/>
          <p:nvPr/>
        </p:nvSpPr>
        <p:spPr>
          <a:xfrm>
            <a:off x="3154680" y="4035704"/>
            <a:ext cx="548640"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280</a:t>
            </a:r>
            <a:endParaRPr lang="en-US" sz="1400" dirty="0"/>
          </a:p>
        </p:txBody>
      </p:sp>
      <p:sp>
        <p:nvSpPr>
          <p:cNvPr id="42" name="Text 40"/>
          <p:cNvSpPr/>
          <p:nvPr/>
        </p:nvSpPr>
        <p:spPr>
          <a:xfrm>
            <a:off x="3813048" y="4035704"/>
            <a:ext cx="1188720" cy="822960"/>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427,791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(20%)</a:t>
            </a:r>
            <a:endParaRPr lang="en-US" sz="1400" dirty="0"/>
          </a:p>
        </p:txBody>
      </p:sp>
      <p:sp>
        <p:nvSpPr>
          <p:cNvPr id="43" name="Text 41"/>
          <p:cNvSpPr/>
          <p:nvPr/>
        </p:nvSpPr>
        <p:spPr>
          <a:xfrm>
            <a:off x="5111496" y="4035704"/>
            <a:ext cx="603504" cy="822960"/>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20.6%</a:t>
            </a:r>
            <a:endParaRPr lang="en-US" sz="1400" dirty="0"/>
          </a:p>
        </p:txBody>
      </p:sp>
      <p:sp>
        <p:nvSpPr>
          <p:cNvPr id="44" name="Text 42"/>
          <p:cNvSpPr/>
          <p:nvPr/>
        </p:nvSpPr>
        <p:spPr>
          <a:xfrm>
            <a:off x="5824728" y="4035704"/>
            <a:ext cx="2679192"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Near the national average on every indicator; fair care-seeking (antenatal care 72%, delivery 61%)</a:t>
            </a:r>
            <a:endParaRPr lang="en-US" sz="1200" dirty="0"/>
          </a:p>
        </p:txBody>
      </p:sp>
      <p:sp>
        <p:nvSpPr>
          <p:cNvPr id="45" name="Text 43"/>
          <p:cNvSpPr/>
          <p:nvPr/>
        </p:nvSpPr>
        <p:spPr>
          <a:xfrm>
            <a:off x="8613648" y="4035704"/>
            <a:ext cx="2990088" cy="822960"/>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Core fixed-site and outreach services, ward enumeration, and Periodic Intensification of Routine Immunization</a:t>
            </a:r>
            <a:endParaRPr lang="en-US" sz="1200" dirty="0"/>
          </a:p>
        </p:txBody>
      </p:sp>
      <p:sp>
        <p:nvSpPr>
          <p:cNvPr id="46" name="Text 44"/>
          <p:cNvSpPr/>
          <p:nvPr/>
        </p:nvSpPr>
        <p:spPr>
          <a:xfrm>
            <a:off x="621792" y="4858664"/>
            <a:ext cx="274320" cy="851306"/>
          </a:xfrm>
          <a:prstGeom prst="rect">
            <a:avLst/>
          </a:prstGeom>
          <a:noFill/>
          <a:ln/>
        </p:spPr>
        <p:txBody>
          <a:bodyPr wrap="square" lIns="0" tIns="0" rIns="0" bIns="0" rtlCol="0" anchor="ctr"/>
          <a:lstStyle/>
          <a:p>
            <a:pPr marL="0" indent="0">
              <a:lnSpc>
                <a:spcPct val="92000"/>
              </a:lnSpc>
              <a:buNone/>
            </a:pPr>
            <a:r>
              <a:rPr lang="en-US" sz="1400" b="1" dirty="0">
                <a:solidFill>
                  <a:srgbClr val="22333F"/>
                </a:solidFill>
                <a:latin typeface="Arial" pitchFamily="34" charset="0"/>
                <a:ea typeface="Arial" pitchFamily="34" charset="-122"/>
                <a:cs typeface="Arial" pitchFamily="34" charset="-120"/>
              </a:rPr>
              <a:t>5</a:t>
            </a:r>
            <a:endParaRPr lang="en-US" sz="1400" dirty="0"/>
          </a:p>
        </p:txBody>
      </p:sp>
      <p:sp>
        <p:nvSpPr>
          <p:cNvPr id="47" name="Text 45"/>
          <p:cNvSpPr/>
          <p:nvPr/>
        </p:nvSpPr>
        <p:spPr>
          <a:xfrm>
            <a:off x="1005840" y="4931816"/>
            <a:ext cx="2039112" cy="457200"/>
          </a:xfrm>
          <a:prstGeom prst="rect">
            <a:avLst/>
          </a:prstGeom>
          <a:noFill/>
          <a:ln/>
        </p:spPr>
        <p:txBody>
          <a:bodyPr wrap="square" lIns="0" tIns="0" rIns="0" bIns="0" rtlCol="0" anchor="t"/>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Relatively advantaged</a:t>
            </a:r>
            <a:endParaRPr lang="en-US" sz="1400" dirty="0"/>
          </a:p>
        </p:txBody>
      </p:sp>
      <p:sp>
        <p:nvSpPr>
          <p:cNvPr id="48" name="Text 46"/>
          <p:cNvSpPr/>
          <p:nvPr/>
        </p:nvSpPr>
        <p:spPr>
          <a:xfrm>
            <a:off x="1005840" y="5425592"/>
            <a:ext cx="2039112" cy="179451"/>
          </a:xfrm>
          <a:prstGeom prst="rect">
            <a:avLst/>
          </a:prstGeom>
          <a:noFill/>
          <a:ln/>
        </p:spPr>
        <p:txBody>
          <a:bodyPr wrap="square" lIns="0" tIns="0" rIns="0" bIns="0" rtlCol="0" anchor="t"/>
          <a:lstStyle/>
          <a:p>
            <a:pPr marL="0" indent="0">
              <a:lnSpc>
                <a:spcPct val="90000"/>
              </a:lnSpc>
              <a:buNone/>
            </a:pPr>
            <a:r>
              <a:rPr lang="en-US" sz="1000" dirty="0">
                <a:solidFill>
                  <a:srgbClr val="5C6B78"/>
                </a:solidFill>
                <a:latin typeface="Arial" pitchFamily="34" charset="0"/>
                <a:ea typeface="Arial" pitchFamily="34" charset="-122"/>
                <a:cs typeface="Arial" pitchFamily="34" charset="-120"/>
              </a:rPr>
              <a:t>Imo, Anambra, Lagos</a:t>
            </a:r>
            <a:endParaRPr lang="en-US" sz="1000" dirty="0"/>
          </a:p>
        </p:txBody>
      </p:sp>
      <p:sp>
        <p:nvSpPr>
          <p:cNvPr id="49" name="Text 47"/>
          <p:cNvSpPr/>
          <p:nvPr/>
        </p:nvSpPr>
        <p:spPr>
          <a:xfrm>
            <a:off x="3154680" y="4858664"/>
            <a:ext cx="548640"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146</a:t>
            </a:r>
            <a:endParaRPr lang="en-US" sz="1400" dirty="0"/>
          </a:p>
        </p:txBody>
      </p:sp>
      <p:sp>
        <p:nvSpPr>
          <p:cNvPr id="50" name="Text 48"/>
          <p:cNvSpPr/>
          <p:nvPr/>
        </p:nvSpPr>
        <p:spPr>
          <a:xfrm>
            <a:off x="3813048" y="4858664"/>
            <a:ext cx="1188720" cy="851306"/>
          </a:xfrm>
          <a:prstGeom prst="rect">
            <a:avLst/>
          </a:prstGeom>
          <a:noFill/>
          <a:ln/>
        </p:spPr>
        <p:txBody>
          <a:bodyPr wrap="square" lIns="0" tIns="0" rIns="0" bIns="0" rtlCol="0" anchor="ctr"/>
          <a:lstStyle/>
          <a:p>
            <a:pPr marL="0" indent="0">
              <a:lnSpc>
                <a:spcPct val="92000"/>
              </a:lnSpc>
              <a:buNone/>
            </a:pPr>
            <a:r>
              <a:rPr lang="en-US" sz="1400" b="1" dirty="0">
                <a:solidFill>
                  <a:srgbClr val="1F3B57"/>
                </a:solidFill>
                <a:latin typeface="Arial" pitchFamily="34" charset="0"/>
                <a:ea typeface="Arial" pitchFamily="34" charset="-122"/>
                <a:cs typeface="Arial" pitchFamily="34" charset="-120"/>
              </a:rPr>
              <a:t>131,691</a:t>
            </a:r>
            <a:endParaRPr lang="en-US" sz="1400" dirty="0"/>
          </a:p>
          <a:p>
            <a:pPr marL="0" indent="0">
              <a:lnSpc>
                <a:spcPct val="92000"/>
              </a:lnSpc>
              <a:buNone/>
            </a:pPr>
            <a:r>
              <a:rPr lang="en-US" sz="1400" b="1" dirty="0">
                <a:solidFill>
                  <a:srgbClr val="1F3B57"/>
                </a:solidFill>
                <a:latin typeface="Arial" pitchFamily="34" charset="0"/>
                <a:ea typeface="Arial" pitchFamily="34" charset="-122"/>
                <a:cs typeface="Arial" pitchFamily="34" charset="-120"/>
              </a:rPr>
              <a:t>(6%)</a:t>
            </a:r>
            <a:endParaRPr lang="en-US" sz="1400" dirty="0"/>
          </a:p>
        </p:txBody>
      </p:sp>
      <p:sp>
        <p:nvSpPr>
          <p:cNvPr id="51" name="Text 49"/>
          <p:cNvSpPr/>
          <p:nvPr/>
        </p:nvSpPr>
        <p:spPr>
          <a:xfrm>
            <a:off x="5111496" y="4858664"/>
            <a:ext cx="603504" cy="851306"/>
          </a:xfrm>
          <a:prstGeom prst="rect">
            <a:avLst/>
          </a:prstGeom>
          <a:noFill/>
          <a:ln/>
        </p:spPr>
        <p:txBody>
          <a:bodyPr wrap="square" lIns="0" tIns="0" rIns="0" bIns="0" rtlCol="0" anchor="ctr"/>
          <a:lstStyle/>
          <a:p>
            <a:pPr marL="0" indent="0">
              <a:lnSpc>
                <a:spcPct val="92000"/>
              </a:lnSpc>
              <a:buNone/>
            </a:pPr>
            <a:r>
              <a:rPr lang="en-US" sz="1400" dirty="0">
                <a:solidFill>
                  <a:srgbClr val="22333F"/>
                </a:solidFill>
                <a:latin typeface="Arial" pitchFamily="34" charset="0"/>
                <a:ea typeface="Arial" pitchFamily="34" charset="-122"/>
                <a:cs typeface="Arial" pitchFamily="34" charset="-120"/>
              </a:rPr>
              <a:t>9.9%</a:t>
            </a:r>
            <a:endParaRPr lang="en-US" sz="1400" dirty="0"/>
          </a:p>
        </p:txBody>
      </p:sp>
      <p:sp>
        <p:nvSpPr>
          <p:cNvPr id="52" name="Text 50"/>
          <p:cNvSpPr/>
          <p:nvPr/>
        </p:nvSpPr>
        <p:spPr>
          <a:xfrm>
            <a:off x="5824728" y="4858664"/>
            <a:ext cx="2679192"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Highest wealth and education (about 9.6 years) and facility delivery (78%); moderate conflict events</a:t>
            </a:r>
            <a:endParaRPr lang="en-US" sz="1200" dirty="0"/>
          </a:p>
        </p:txBody>
      </p:sp>
      <p:sp>
        <p:nvSpPr>
          <p:cNvPr id="53" name="Text 51"/>
          <p:cNvSpPr/>
          <p:nvPr/>
        </p:nvSpPr>
        <p:spPr>
          <a:xfrm>
            <a:off x="8613648" y="4858664"/>
            <a:ext cx="2990088" cy="851306"/>
          </a:xfrm>
          <a:prstGeom prst="rect">
            <a:avLst/>
          </a:prstGeom>
          <a:noFill/>
          <a:ln/>
        </p:spPr>
        <p:txBody>
          <a:bodyPr wrap="square" lIns="0" tIns="0" rIns="0" bIns="0" rtlCol="0" anchor="ctr"/>
          <a:lstStyle/>
          <a:p>
            <a:pPr marL="0" indent="0">
              <a:lnSpc>
                <a:spcPct val="92000"/>
              </a:lnSpc>
              <a:buNone/>
            </a:pPr>
            <a:r>
              <a:rPr lang="en-US" sz="1200" dirty="0">
                <a:solidFill>
                  <a:srgbClr val="22333F"/>
                </a:solidFill>
                <a:latin typeface="Arial" pitchFamily="34" charset="0"/>
                <a:ea typeface="Arial" pitchFamily="34" charset="-122"/>
                <a:cs typeface="Arial" pitchFamily="34" charset="-120"/>
              </a:rPr>
              <a:t>Targeted social mobilisation, a fixed-plus-outreach hybrid, and private-sector last-mile reach</a:t>
            </a:r>
            <a:endParaRPr lang="en-US" sz="1200" dirty="0"/>
          </a:p>
        </p:txBody>
      </p:sp>
      <p:sp>
        <p:nvSpPr>
          <p:cNvPr id="54" name="Text 52"/>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Ward clustering of 15 indicators across all 774 LGAs; labels describe measured indicators only. Zero-dose children and mean LGA rate from Method 1 (total 2.10 million). Grey text names example states. BHCPF = Basic Health Care Provision Fund.</a:t>
            </a:r>
            <a:endParaRPr lang="en-US" sz="1400" dirty="0"/>
          </a:p>
        </p:txBody>
      </p:sp>
      <p:sp>
        <p:nvSpPr>
          <p:cNvPr id="55" name="Rounded Rectangle 54"/>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Maternal and immunization gaps sit in the same places</a:t>
            </a:r>
            <a:endParaRPr lang="en-US" sz="2600" dirty="0"/>
          </a:p>
        </p:txBody>
      </p:sp>
      <p:sp>
        <p:nvSpPr>
          <p:cNvPr id="3" name="Text 1"/>
          <p:cNvSpPr/>
          <p:nvPr/>
        </p:nvSpPr>
        <p:spPr>
          <a:xfrm>
            <a:off x="548640" y="914400"/>
            <a:ext cx="11091672" cy="493776"/>
          </a:xfrm>
          <a:prstGeom prst="rect">
            <a:avLst/>
          </a:prstGeom>
          <a:noFill/>
          <a:ln/>
        </p:spPr>
        <p:txBody>
          <a:bodyPr wrap="square" lIns="0" tIns="0" rIns="0" bIns="0" rtlCol="0" anchor="t"/>
          <a:lstStyle/>
          <a:p>
            <a:pPr marL="0" indent="0">
              <a:lnSpc>
                <a:spcPct val="105000"/>
              </a:lnSpc>
              <a:buNone/>
            </a:pPr>
            <a:r>
              <a:rPr lang="en-US" sz="1450" dirty="0">
                <a:solidFill>
                  <a:srgbClr val="5C6B78"/>
                </a:solidFill>
                <a:latin typeface="Arial" pitchFamily="34" charset="0"/>
                <a:ea typeface="Arial" pitchFamily="34" charset="-122"/>
                <a:cs typeface="Arial" pitchFamily="34" charset="-120"/>
              </a:rPr>
              <a:t>The local governments with the weakest antenatal care and facility delivery are the same ones missing the most zero-dose children, so an existing maternal contact is a ready entry point to reach them.</a:t>
            </a:r>
            <a:endParaRPr lang="en-US" sz="1450" dirty="0"/>
          </a:p>
        </p:txBody>
      </p:sp>
      <p:pic>
        <p:nvPicPr>
          <p:cNvPr id="19" name="Picture 18" descr="A_02_maternal_care.png"/>
          <p:cNvPicPr>
            <a:picLocks noChangeAspect="1"/>
          </p:cNvPicPr>
          <p:nvPr/>
        </p:nvPicPr>
        <p:blipFill>
          <a:blip r:embed="rId4"/>
          <a:stretch>
            <a:fillRect/>
          </a:stretch>
        </p:blipFill>
        <p:spPr>
          <a:xfrm>
            <a:off x="815022" y="1481328"/>
            <a:ext cx="7349363" cy="3136392"/>
          </a:xfrm>
          <a:prstGeom prst="rect">
            <a:avLst/>
          </a:prstGeom>
        </p:spPr>
      </p:pic>
      <p:sp>
        <p:nvSpPr>
          <p:cNvPr id="5" name="Shape 2"/>
          <p:cNvSpPr/>
          <p:nvPr/>
        </p:nvSpPr>
        <p:spPr>
          <a:xfrm>
            <a:off x="8659368" y="1481328"/>
            <a:ext cx="2980944" cy="1572768"/>
          </a:xfrm>
          <a:prstGeom prst="rect">
            <a:avLst/>
          </a:prstGeom>
          <a:solidFill>
            <a:srgbClr val="EEF2F6"/>
          </a:solidFill>
          <a:ln w="9525">
            <a:solidFill>
              <a:srgbClr val="D6DEE7"/>
            </a:solidFill>
            <a:prstDash val="solid"/>
          </a:ln>
        </p:spPr>
        <p:txBody>
          <a:bodyPr/>
          <a:lstStyle/>
          <a:p>
            <a:endParaRPr lang="LID4096"/>
          </a:p>
        </p:txBody>
      </p:sp>
      <p:sp>
        <p:nvSpPr>
          <p:cNvPr id="6" name="Text 3"/>
          <p:cNvSpPr/>
          <p:nvPr/>
        </p:nvSpPr>
        <p:spPr>
          <a:xfrm>
            <a:off x="8805672" y="1572768"/>
            <a:ext cx="2688336" cy="402336"/>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1.5 million</a:t>
            </a:r>
            <a:endParaRPr lang="en-US" sz="2400" dirty="0"/>
          </a:p>
        </p:txBody>
      </p:sp>
      <p:sp>
        <p:nvSpPr>
          <p:cNvPr id="7" name="Text 4"/>
          <p:cNvSpPr/>
          <p:nvPr/>
        </p:nvSpPr>
        <p:spPr>
          <a:xfrm>
            <a:off x="8805672" y="1993392"/>
            <a:ext cx="2688336" cy="96926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of the 2.10 million modelled zero-dose children (Method 1) are in the two profiles with the weakest maternal care.</a:t>
            </a:r>
            <a:endParaRPr lang="en-US" sz="1300" dirty="0"/>
          </a:p>
        </p:txBody>
      </p:sp>
      <p:sp>
        <p:nvSpPr>
          <p:cNvPr id="8" name="Shape 5"/>
          <p:cNvSpPr/>
          <p:nvPr/>
        </p:nvSpPr>
        <p:spPr>
          <a:xfrm>
            <a:off x="8659368" y="3163824"/>
            <a:ext cx="2980944" cy="1453896"/>
          </a:xfrm>
          <a:prstGeom prst="rect">
            <a:avLst/>
          </a:prstGeom>
          <a:solidFill>
            <a:srgbClr val="FFFFFF"/>
          </a:solidFill>
          <a:ln w="9525">
            <a:solidFill>
              <a:srgbClr val="D6DEE7"/>
            </a:solidFill>
            <a:prstDash val="solid"/>
          </a:ln>
        </p:spPr>
        <p:txBody>
          <a:bodyPr/>
          <a:lstStyle/>
          <a:p>
            <a:endParaRPr lang="LID4096"/>
          </a:p>
        </p:txBody>
      </p:sp>
      <p:sp>
        <p:nvSpPr>
          <p:cNvPr id="9" name="Text 6"/>
          <p:cNvSpPr/>
          <p:nvPr/>
        </p:nvSpPr>
        <p:spPr>
          <a:xfrm>
            <a:off x="8805672" y="3255264"/>
            <a:ext cx="2688336" cy="384048"/>
          </a:xfrm>
          <a:prstGeom prst="rect">
            <a:avLst/>
          </a:prstGeom>
          <a:noFill/>
          <a:ln/>
        </p:spPr>
        <p:txBody>
          <a:bodyPr wrap="square" lIns="0" tIns="0" rIns="0" bIns="0" rtlCol="0" anchor="ctr"/>
          <a:lstStyle/>
          <a:p>
            <a:pPr marL="0" indent="0">
              <a:buNone/>
            </a:pPr>
            <a:r>
              <a:rPr lang="en-US" sz="2400" b="1" dirty="0">
                <a:solidFill>
                  <a:srgbClr val="1F3B57"/>
                </a:solidFill>
                <a:latin typeface="Arial" pitchFamily="34" charset="0"/>
                <a:ea typeface="Arial" pitchFamily="34" charset="-122"/>
                <a:cs typeface="Arial" pitchFamily="34" charset="-120"/>
              </a:rPr>
              <a:t>r = -0.63</a:t>
            </a:r>
            <a:endParaRPr lang="en-US" sz="2400" dirty="0"/>
          </a:p>
        </p:txBody>
      </p:sp>
      <p:sp>
        <p:nvSpPr>
          <p:cNvPr id="10" name="Text 7"/>
          <p:cNvSpPr/>
          <p:nvPr/>
        </p:nvSpPr>
        <p:spPr>
          <a:xfrm>
            <a:off x="8805672" y="3657600"/>
            <a:ext cx="2688336" cy="877824"/>
          </a:xfrm>
          <a:prstGeom prst="rect">
            <a:avLst/>
          </a:prstGeom>
          <a:noFill/>
          <a:ln/>
        </p:spPr>
        <p:txBody>
          <a:bodyPr wrap="square" lIns="0" tIns="0" rIns="0" bIns="0" rtlCol="0" anchor="ctr"/>
          <a:lstStyle/>
          <a:p>
            <a:pPr marL="0" indent="0">
              <a:lnSpc>
                <a:spcPct val="105000"/>
              </a:lnSpc>
              <a:buNone/>
            </a:pPr>
            <a:r>
              <a:rPr lang="en-US" sz="1300" dirty="0">
                <a:solidFill>
                  <a:srgbClr val="22333F"/>
                </a:solidFill>
                <a:latin typeface="Arial" pitchFamily="34" charset="0"/>
                <a:ea typeface="Arial" pitchFamily="34" charset="-122"/>
                <a:cs typeface="Arial" pitchFamily="34" charset="-120"/>
              </a:rPr>
              <a:t>antenatal care, four or more visits, against the Method 1 zero-dose rate across local governments. Facility delivery is r = -0.59.</a:t>
            </a:r>
            <a:endParaRPr lang="en-US" sz="1300" dirty="0"/>
          </a:p>
        </p:txBody>
      </p:sp>
      <p:sp>
        <p:nvSpPr>
          <p:cNvPr id="11" name="Shape 8"/>
          <p:cNvSpPr/>
          <p:nvPr/>
        </p:nvSpPr>
        <p:spPr>
          <a:xfrm>
            <a:off x="548640"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2" name="Text 9"/>
          <p:cNvSpPr/>
          <p:nvPr/>
        </p:nvSpPr>
        <p:spPr>
          <a:xfrm>
            <a:off x="694944"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link. </a:t>
            </a:r>
            <a:r>
              <a:rPr lang="en-US" sz="1350" dirty="0" b="0">
                <a:solidFill>
                  <a:srgbClr val="22333F"/>
                </a:solidFill>
                <a:latin typeface="Arial" pitchFamily="34" charset="0"/>
                <a:ea typeface="Arial" pitchFamily="34" charset="-122"/>
                <a:cs typeface="Arial" pitchFamily="34" charset="-120"/>
              </a:rPr>
              <a:t>Weaker antenatal care goes with higher zero-dose across the local governments with antenatal-care data (ANC4+ r = -0.63; facility delivery r = -0.59). The link is strong and consistent.</a:t>
            </a:r>
            <a:endParaRPr lang="en-US" sz="1350" dirty="0"/>
          </a:p>
        </p:txBody>
      </p:sp>
      <p:sp>
        <p:nvSpPr>
          <p:cNvPr id="13" name="Shape 10"/>
          <p:cNvSpPr/>
          <p:nvPr/>
        </p:nvSpPr>
        <p:spPr>
          <a:xfrm>
            <a:off x="4306824" y="4791456"/>
            <a:ext cx="3575304" cy="1316736"/>
          </a:xfrm>
          <a:prstGeom prst="rect">
            <a:avLst/>
          </a:prstGeom>
          <a:solidFill>
            <a:srgbClr val="FFFFFF"/>
          </a:solidFill>
          <a:ln w="9525">
            <a:solidFill>
              <a:srgbClr val="D6DEE7"/>
            </a:solidFill>
            <a:prstDash val="solid"/>
          </a:ln>
        </p:spPr>
        <p:txBody>
          <a:bodyPr/>
          <a:lstStyle/>
          <a:p>
            <a:endParaRPr lang="LID4096"/>
          </a:p>
        </p:txBody>
      </p:sp>
      <p:sp>
        <p:nvSpPr>
          <p:cNvPr id="14" name="Text 11"/>
          <p:cNvSpPr/>
          <p:nvPr/>
        </p:nvSpPr>
        <p:spPr>
          <a:xfrm>
            <a:off x="4453128"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burden. </a:t>
            </a:r>
            <a:r>
              <a:rPr lang="en-US" sz="1350" dirty="0" b="0">
                <a:solidFill>
                  <a:srgbClr val="22333F"/>
                </a:solidFill>
                <a:latin typeface="Arial" pitchFamily="34" charset="0"/>
                <a:ea typeface="Arial" pitchFamily="34" charset="-122"/>
                <a:cs typeface="Arial" pitchFamily="34" charset="-120"/>
              </a:rPr>
              <a:t>The deprived northern rural and low maternal care, high conflict exposure profiles hold about 1.5 million zero-dose children, on the lowest antenatal care (36 to 40%) and facility delivery (10 to 19%).</a:t>
            </a:r>
            <a:endParaRPr lang="en-US" sz="1350" dirty="0"/>
          </a:p>
        </p:txBody>
      </p:sp>
      <p:sp>
        <p:nvSpPr>
          <p:cNvPr id="15" name="Shape 12"/>
          <p:cNvSpPr/>
          <p:nvPr/>
        </p:nvSpPr>
        <p:spPr>
          <a:xfrm>
            <a:off x="8065008" y="4791456"/>
            <a:ext cx="3575304" cy="1316736"/>
          </a:xfrm>
          <a:prstGeom prst="rect">
            <a:avLst/>
          </a:prstGeom>
          <a:solidFill>
            <a:srgbClr val="EEF2F6"/>
          </a:solidFill>
          <a:ln w="9525">
            <a:solidFill>
              <a:srgbClr val="D6DEE7"/>
            </a:solidFill>
            <a:prstDash val="solid"/>
          </a:ln>
        </p:spPr>
        <p:txBody>
          <a:bodyPr/>
          <a:lstStyle/>
          <a:p>
            <a:endParaRPr lang="LID4096"/>
          </a:p>
        </p:txBody>
      </p:sp>
      <p:sp>
        <p:nvSpPr>
          <p:cNvPr id="16" name="Text 13"/>
          <p:cNvSpPr/>
          <p:nvPr/>
        </p:nvSpPr>
        <p:spPr>
          <a:xfrm>
            <a:off x="8211312" y="4791456"/>
            <a:ext cx="3282696" cy="1316736"/>
          </a:xfrm>
          <a:prstGeom prst="rect">
            <a:avLst/>
          </a:prstGeom>
          <a:noFill/>
          <a:ln/>
        </p:spPr>
        <p:txBody>
          <a:bodyPr wrap="square" lIns="0" tIns="0" rIns="0" bIns="0" rtlCol="0" anchor="ctr"/>
          <a:lstStyle/>
          <a:p>
            <a:pPr marL="0" indent="0">
              <a:lnSpc>
                <a:spcPct val="105000"/>
              </a:lnSpc>
              <a:buNone/>
            </a:pPr>
            <a:r>
              <a:rPr lang="en-US" sz="1350" b="1" dirty="0">
                <a:solidFill>
                  <a:srgbClr val="1F3B57"/>
                </a:solidFill>
                <a:latin typeface="Arial" pitchFamily="34" charset="0"/>
                <a:ea typeface="Arial" pitchFamily="34" charset="-122"/>
                <a:cs typeface="Arial" pitchFamily="34" charset="-120"/>
              </a:rPr>
              <a:t>The action. </a:t>
            </a:r>
            <a:r>
              <a:rPr lang="en-US" sz="1350" dirty="0" b="0">
                <a:solidFill>
                  <a:srgbClr val="22333F"/>
                </a:solidFill>
                <a:latin typeface="Arial" pitchFamily="34" charset="0"/>
                <a:ea typeface="Arial" pitchFamily="34" charset="-122"/>
                <a:cs typeface="Arial" pitchFamily="34" charset="-120"/>
              </a:rPr>
              <a:t>Co-deliver immunization with antenatal and delivery contacts in these profiles: one visit, several services, rather than immunization outreach on its own.</a:t>
            </a:r>
            <a:endParaRPr lang="en-US" sz="1350" dirty="0"/>
          </a:p>
        </p:txBody>
      </p:sp>
      <p:sp>
        <p:nvSpPr>
          <p:cNvPr id="17" name="Text 14"/>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profile master (IHME and DHS antenatal-care and facility-delivery covariates; modelled zero-dose). RMNCH = reproductive, maternal, newborn and child health; EPI = Expanded Programme on Immunization; ANC4+ = antenatal care, four or more visits; LGA = local government area.</a:t>
            </a:r>
            <a:endParaRPr lang="en-US" sz="1000" dirty="0"/>
          </a:p>
        </p:txBody>
      </p:sp>
      <p:sp>
        <p:nvSpPr>
          <p:cNvPr id="18" name="Rounded Rectangle 17"/>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64592"/>
            <a:ext cx="11091672" cy="749808"/>
          </a:xfrm>
          <a:prstGeom prst="rect">
            <a:avLst/>
          </a:prstGeom>
          <a:noFill/>
          <a:ln/>
        </p:spPr>
        <p:txBody>
          <a:bodyPr wrap="square" lIns="0" tIns="0" rIns="0" bIns="0" rtlCol="0" anchor="t"/>
          <a:lstStyle/>
          <a:p>
            <a:pPr marL="0" indent="0">
              <a:lnSpc>
                <a:spcPct val="105000"/>
              </a:lnSpc>
              <a:buNone/>
            </a:pPr>
            <a:r>
              <a:rPr lang="en-US" sz="2600" b="1" dirty="0">
                <a:solidFill>
                  <a:srgbClr val="1F3B57"/>
                </a:solidFill>
                <a:latin typeface="Arial" pitchFamily="34" charset="0"/>
                <a:ea typeface="Arial" pitchFamily="34" charset="-122"/>
                <a:cs typeface="Arial" pitchFamily="34" charset="-120"/>
              </a:rPr>
              <a:t>From profile to action: the RMNCH-EPI operational list</a:t>
            </a:r>
            <a:endParaRPr lang="en-US" sz="2600" dirty="0"/>
          </a:p>
        </p:txBody>
      </p:sp>
      <p:sp>
        <p:nvSpPr>
          <p:cNvPr id="3" name="Text 1"/>
          <p:cNvSpPr/>
          <p:nvPr/>
        </p:nvSpPr>
        <p:spPr>
          <a:xfrm>
            <a:off x="548640" y="914400"/>
            <a:ext cx="11091672" cy="292608"/>
          </a:xfrm>
          <a:prstGeom prst="rect">
            <a:avLst/>
          </a:prstGeom>
          <a:noFill/>
          <a:ln/>
        </p:spPr>
        <p:txBody>
          <a:bodyPr wrap="square" lIns="0" tIns="0" rIns="0" bIns="0" rtlCol="0" anchor="ctr"/>
          <a:lstStyle/>
          <a:p>
            <a:pPr marL="0" indent="0">
              <a:buNone/>
            </a:pPr>
            <a:r>
              <a:rPr lang="en-US" sz="1450" dirty="0">
                <a:solidFill>
                  <a:srgbClr val="5C6B78"/>
                </a:solidFill>
                <a:latin typeface="Arial" pitchFamily="34" charset="0"/>
                <a:ea typeface="Arial" pitchFamily="34" charset="-122"/>
                <a:cs typeface="Arial" pitchFamily="34" charset="-120"/>
              </a:rPr>
              <a:t>Five contextual profiles, the maternal-care numbers behind each, and the candidate package.</a:t>
            </a:r>
            <a:endParaRPr lang="en-US" sz="1450" dirty="0"/>
          </a:p>
        </p:txBody>
      </p:sp>
      <p:sp>
        <p:nvSpPr>
          <p:cNvPr id="4" name="Shape 2"/>
          <p:cNvSpPr/>
          <p:nvPr/>
        </p:nvSpPr>
        <p:spPr>
          <a:xfrm>
            <a:off x="548640" y="1325880"/>
            <a:ext cx="11091672" cy="566928"/>
          </a:xfrm>
          <a:prstGeom prst="rect">
            <a:avLst/>
          </a:prstGeom>
          <a:solidFill>
            <a:srgbClr val="1F3B57"/>
          </a:solidFill>
          <a:ln/>
        </p:spPr>
        <p:txBody>
          <a:bodyPr/>
          <a:lstStyle/>
          <a:p>
            <a:endParaRPr lang="LID4096"/>
          </a:p>
        </p:txBody>
      </p:sp>
      <p:sp>
        <p:nvSpPr>
          <p:cNvPr id="5" name="Text 3"/>
          <p:cNvSpPr/>
          <p:nvPr/>
        </p:nvSpPr>
        <p:spPr>
          <a:xfrm>
            <a:off x="640080" y="1325880"/>
            <a:ext cx="216712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Profile</a:t>
            </a:r>
            <a:endParaRPr lang="en-US" sz="1050" dirty="0"/>
          </a:p>
        </p:txBody>
      </p:sp>
      <p:sp>
        <p:nvSpPr>
          <p:cNvPr id="6" name="Text 4"/>
          <p:cNvSpPr/>
          <p:nvPr/>
        </p:nvSpPr>
        <p:spPr>
          <a:xfrm>
            <a:off x="2971800" y="1325880"/>
            <a:ext cx="42976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LGAs</a:t>
            </a:r>
            <a:endParaRPr lang="en-US" sz="1050" dirty="0"/>
          </a:p>
        </p:txBody>
      </p:sp>
      <p:sp>
        <p:nvSpPr>
          <p:cNvPr id="7" name="Text 5"/>
          <p:cNvSpPr/>
          <p:nvPr/>
        </p:nvSpPr>
        <p:spPr>
          <a:xfrm>
            <a:off x="3566160" y="1325880"/>
            <a:ext cx="64008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ANC4+ (%)</a:t>
            </a:r>
            <a:endParaRPr lang="en-US" sz="1050" dirty="0"/>
          </a:p>
        </p:txBody>
      </p:sp>
      <p:sp>
        <p:nvSpPr>
          <p:cNvPr id="8" name="Text 6"/>
          <p:cNvSpPr/>
          <p:nvPr/>
        </p:nvSpPr>
        <p:spPr>
          <a:xfrm>
            <a:off x="4370832" y="1325880"/>
            <a:ext cx="841248"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Facility delivery (%)</a:t>
            </a:r>
            <a:endParaRPr lang="en-US" sz="1050" dirty="0"/>
          </a:p>
        </p:txBody>
      </p:sp>
      <p:sp>
        <p:nvSpPr>
          <p:cNvPr id="9" name="Text 7"/>
          <p:cNvSpPr/>
          <p:nvPr/>
        </p:nvSpPr>
        <p:spPr>
          <a:xfrm>
            <a:off x="5376672" y="1325880"/>
            <a:ext cx="694944"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rate (%)</a:t>
            </a:r>
            <a:endParaRPr lang="en-US" sz="1050" dirty="0"/>
          </a:p>
        </p:txBody>
      </p:sp>
      <p:sp>
        <p:nvSpPr>
          <p:cNvPr id="10" name="Text 8"/>
          <p:cNvSpPr/>
          <p:nvPr/>
        </p:nvSpPr>
        <p:spPr>
          <a:xfrm>
            <a:off x="6236208" y="1325880"/>
            <a:ext cx="91440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Zero-dose children</a:t>
            </a:r>
            <a:endParaRPr lang="en-US" sz="1050" dirty="0"/>
          </a:p>
        </p:txBody>
      </p:sp>
      <p:sp>
        <p:nvSpPr>
          <p:cNvPr id="11" name="Text 9"/>
          <p:cNvSpPr/>
          <p:nvPr/>
        </p:nvSpPr>
        <p:spPr>
          <a:xfrm>
            <a:off x="7315200" y="1325880"/>
            <a:ext cx="4251960" cy="566928"/>
          </a:xfrm>
          <a:prstGeom prst="rect">
            <a:avLst/>
          </a:prstGeom>
          <a:noFill/>
          <a:ln/>
        </p:spPr>
        <p:txBody>
          <a:bodyPr wrap="square" lIns="0" tIns="0" rIns="0" bIns="0" rtlCol="0" anchor="ctr"/>
          <a:lstStyle/>
          <a:p>
            <a:pPr marL="0" indent="0">
              <a:lnSpc>
                <a:spcPct val="100000"/>
              </a:lnSpc>
              <a:buNone/>
            </a:pPr>
            <a:r>
              <a:rPr lang="en-US" sz="1050" b="1" dirty="0">
                <a:solidFill>
                  <a:srgbClr val="FFFFFF"/>
                </a:solidFill>
                <a:latin typeface="Arial" pitchFamily="34" charset="0"/>
                <a:ea typeface="Arial" pitchFamily="34" charset="-122"/>
                <a:cs typeface="Arial" pitchFamily="34" charset="-120"/>
              </a:rPr>
              <a:t>RMNCH-EPI intervention, matched to the profile</a:t>
            </a:r>
            <a:endParaRPr lang="en-US" sz="1050" dirty="0"/>
          </a:p>
        </p:txBody>
      </p:sp>
      <p:sp>
        <p:nvSpPr>
          <p:cNvPr id="12" name="Shape 10"/>
          <p:cNvSpPr/>
          <p:nvPr/>
        </p:nvSpPr>
        <p:spPr>
          <a:xfrm>
            <a:off x="548640" y="1892808"/>
            <a:ext cx="11091672" cy="749808"/>
          </a:xfrm>
          <a:prstGeom prst="rect">
            <a:avLst/>
          </a:prstGeom>
          <a:solidFill>
            <a:srgbClr val="EEF2F6"/>
          </a:solidFill>
          <a:ln/>
        </p:spPr>
        <p:txBody>
          <a:bodyPr/>
          <a:lstStyle/>
          <a:p>
            <a:endParaRPr lang="LID4096"/>
          </a:p>
        </p:txBody>
      </p:sp>
      <p:sp>
        <p:nvSpPr>
          <p:cNvPr id="13" name="Text 11"/>
          <p:cNvSpPr/>
          <p:nvPr/>
        </p:nvSpPr>
        <p:spPr>
          <a:xfrm>
            <a:off x="640080" y="1892808"/>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Deprived northern rural</a:t>
            </a:r>
            <a:endParaRPr lang="en-US" sz="1150" dirty="0"/>
          </a:p>
        </p:txBody>
      </p:sp>
      <p:sp>
        <p:nvSpPr>
          <p:cNvPr id="14" name="Text 12"/>
          <p:cNvSpPr/>
          <p:nvPr/>
        </p:nvSpPr>
        <p:spPr>
          <a:xfrm>
            <a:off x="2971800" y="1892808"/>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136</a:t>
            </a:r>
            <a:endParaRPr lang="en-US" sz="1150" dirty="0"/>
          </a:p>
        </p:txBody>
      </p:sp>
      <p:sp>
        <p:nvSpPr>
          <p:cNvPr id="15" name="Text 13"/>
          <p:cNvSpPr/>
          <p:nvPr/>
        </p:nvSpPr>
        <p:spPr>
          <a:xfrm>
            <a:off x="3566160" y="1892808"/>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35.7</a:t>
            </a:r>
            <a:endParaRPr lang="en-US" sz="1150" dirty="0"/>
          </a:p>
        </p:txBody>
      </p:sp>
      <p:sp>
        <p:nvSpPr>
          <p:cNvPr id="16" name="Text 14"/>
          <p:cNvSpPr/>
          <p:nvPr/>
        </p:nvSpPr>
        <p:spPr>
          <a:xfrm>
            <a:off x="4370832" y="1892808"/>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9.8</a:t>
            </a:r>
            <a:endParaRPr lang="en-US" sz="1150" dirty="0"/>
          </a:p>
        </p:txBody>
      </p:sp>
      <p:sp>
        <p:nvSpPr>
          <p:cNvPr id="17" name="Text 15"/>
          <p:cNvSpPr/>
          <p:nvPr/>
        </p:nvSpPr>
        <p:spPr>
          <a:xfrm>
            <a:off x="5376672" y="1892808"/>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44.2</a:t>
            </a:r>
            <a:endParaRPr lang="en-US" sz="1150" dirty="0"/>
          </a:p>
        </p:txBody>
      </p:sp>
      <p:sp>
        <p:nvSpPr>
          <p:cNvPr id="18" name="Text 16"/>
          <p:cNvSpPr/>
          <p:nvPr/>
        </p:nvSpPr>
        <p:spPr>
          <a:xfrm>
            <a:off x="6236208" y="1892808"/>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695,337</a:t>
            </a:r>
            <a:endParaRPr lang="en-US" sz="1150" dirty="0"/>
          </a:p>
        </p:txBody>
      </p:sp>
      <p:sp>
        <p:nvSpPr>
          <p:cNvPr id="19" name="Text 17"/>
          <p:cNvSpPr/>
          <p:nvPr/>
        </p:nvSpPr>
        <p:spPr>
          <a:xfrm>
            <a:off x="7315200" y="1892808"/>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Reaching-Every-Community microplanning, BHCPF outreach and community health workers; co-deliver immunization with antenatal and nutrition contacts</a:t>
            </a:r>
            <a:endParaRPr lang="en-US" sz="1000" dirty="0"/>
          </a:p>
        </p:txBody>
      </p:sp>
      <p:sp>
        <p:nvSpPr>
          <p:cNvPr id="20" name="Text 18"/>
          <p:cNvSpPr/>
          <p:nvPr/>
        </p:nvSpPr>
        <p:spPr>
          <a:xfrm>
            <a:off x="640080" y="2642616"/>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Low maternal care, high conflict exposure</a:t>
            </a:r>
            <a:endParaRPr lang="en-US" sz="1150" dirty="0"/>
          </a:p>
        </p:txBody>
      </p:sp>
      <p:sp>
        <p:nvSpPr>
          <p:cNvPr id="21" name="Text 19"/>
          <p:cNvSpPr/>
          <p:nvPr/>
        </p:nvSpPr>
        <p:spPr>
          <a:xfrm>
            <a:off x="2971800" y="2642616"/>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2" name="Text 20"/>
          <p:cNvSpPr/>
          <p:nvPr/>
        </p:nvSpPr>
        <p:spPr>
          <a:xfrm>
            <a:off x="3566160" y="2642616"/>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39.8</a:t>
            </a:r>
            <a:endParaRPr lang="en-US" sz="1150" dirty="0"/>
          </a:p>
        </p:txBody>
      </p:sp>
      <p:sp>
        <p:nvSpPr>
          <p:cNvPr id="23" name="Text 21"/>
          <p:cNvSpPr/>
          <p:nvPr/>
        </p:nvSpPr>
        <p:spPr>
          <a:xfrm>
            <a:off x="4370832" y="2642616"/>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19.2</a:t>
            </a:r>
            <a:endParaRPr lang="en-US" sz="1150" dirty="0"/>
          </a:p>
        </p:txBody>
      </p:sp>
      <p:sp>
        <p:nvSpPr>
          <p:cNvPr id="24" name="Text 22"/>
          <p:cNvSpPr/>
          <p:nvPr/>
        </p:nvSpPr>
        <p:spPr>
          <a:xfrm>
            <a:off x="5376672" y="2642616"/>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39.0</a:t>
            </a:r>
            <a:endParaRPr lang="en-US" sz="1150" dirty="0"/>
          </a:p>
        </p:txBody>
      </p:sp>
      <p:sp>
        <p:nvSpPr>
          <p:cNvPr id="25" name="Text 23"/>
          <p:cNvSpPr/>
          <p:nvPr/>
        </p:nvSpPr>
        <p:spPr>
          <a:xfrm>
            <a:off x="6236208" y="2642616"/>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820,871</a:t>
            </a:r>
            <a:endParaRPr lang="en-US" sz="1150" dirty="0"/>
          </a:p>
        </p:txBody>
      </p:sp>
      <p:sp>
        <p:nvSpPr>
          <p:cNvPr id="26" name="Text 24"/>
          <p:cNvSpPr/>
          <p:nvPr/>
        </p:nvSpPr>
        <p:spPr>
          <a:xfrm>
            <a:off x="7315200" y="2642616"/>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Security-integrated microplanning, negotiated access, and mobile outreach teams delivering immunization and antenatal care together</a:t>
            </a:r>
            <a:endParaRPr lang="en-US" sz="1000" dirty="0"/>
          </a:p>
        </p:txBody>
      </p:sp>
      <p:sp>
        <p:nvSpPr>
          <p:cNvPr id="27" name="Shape 25"/>
          <p:cNvSpPr/>
          <p:nvPr/>
        </p:nvSpPr>
        <p:spPr>
          <a:xfrm>
            <a:off x="548640" y="3392424"/>
            <a:ext cx="11091672" cy="749808"/>
          </a:xfrm>
          <a:prstGeom prst="rect">
            <a:avLst/>
          </a:prstGeom>
          <a:solidFill>
            <a:srgbClr val="EEF2F6"/>
          </a:solidFill>
          <a:ln/>
        </p:spPr>
        <p:txBody>
          <a:bodyPr/>
          <a:lstStyle/>
          <a:p>
            <a:endParaRPr lang="LID4096"/>
          </a:p>
        </p:txBody>
      </p:sp>
      <p:sp>
        <p:nvSpPr>
          <p:cNvPr id="28" name="Text 26"/>
          <p:cNvSpPr/>
          <p:nvPr/>
        </p:nvSpPr>
        <p:spPr>
          <a:xfrm>
            <a:off x="640080" y="3392424"/>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Geographically isolated</a:t>
            </a:r>
            <a:endParaRPr lang="en-US" sz="1150" dirty="0"/>
          </a:p>
        </p:txBody>
      </p:sp>
      <p:sp>
        <p:nvSpPr>
          <p:cNvPr id="29" name="Text 27"/>
          <p:cNvSpPr/>
          <p:nvPr/>
        </p:nvSpPr>
        <p:spPr>
          <a:xfrm>
            <a:off x="2971800" y="3392424"/>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20</a:t>
            </a:r>
            <a:endParaRPr lang="en-US" sz="1150" dirty="0"/>
          </a:p>
        </p:txBody>
      </p:sp>
      <p:sp>
        <p:nvSpPr>
          <p:cNvPr id="30" name="Text 28"/>
          <p:cNvSpPr/>
          <p:nvPr/>
        </p:nvSpPr>
        <p:spPr>
          <a:xfrm>
            <a:off x="3566160" y="3392424"/>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42.6</a:t>
            </a:r>
            <a:endParaRPr lang="en-US" sz="1150" dirty="0"/>
          </a:p>
        </p:txBody>
      </p:sp>
      <p:sp>
        <p:nvSpPr>
          <p:cNvPr id="31" name="Text 29"/>
          <p:cNvSpPr/>
          <p:nvPr/>
        </p:nvSpPr>
        <p:spPr>
          <a:xfrm>
            <a:off x="4370832" y="3392424"/>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26.8</a:t>
            </a:r>
            <a:endParaRPr lang="en-US" sz="1150" dirty="0"/>
          </a:p>
        </p:txBody>
      </p:sp>
      <p:sp>
        <p:nvSpPr>
          <p:cNvPr id="32" name="Text 30"/>
          <p:cNvSpPr/>
          <p:nvPr/>
        </p:nvSpPr>
        <p:spPr>
          <a:xfrm>
            <a:off x="5376672" y="3392424"/>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17.7</a:t>
            </a:r>
            <a:endParaRPr lang="en-US" sz="1150" dirty="0"/>
          </a:p>
        </p:txBody>
      </p:sp>
      <p:sp>
        <p:nvSpPr>
          <p:cNvPr id="33" name="Text 31"/>
          <p:cNvSpPr/>
          <p:nvPr/>
        </p:nvSpPr>
        <p:spPr>
          <a:xfrm>
            <a:off x="6236208" y="3392424"/>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23,514</a:t>
            </a:r>
            <a:endParaRPr lang="en-US" sz="1150" dirty="0"/>
          </a:p>
        </p:txBody>
      </p:sp>
      <p:sp>
        <p:nvSpPr>
          <p:cNvPr id="34" name="Text 32"/>
          <p:cNvSpPr/>
          <p:nvPr/>
        </p:nvSpPr>
        <p:spPr>
          <a:xfrm>
            <a:off x="7315200" y="3392424"/>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Outreach and mobile sessions (boat-based where waterways apply), community health workers, and multi-antigen and antenatal bundling per visit</a:t>
            </a:r>
            <a:endParaRPr lang="en-US" sz="1000" dirty="0"/>
          </a:p>
        </p:txBody>
      </p:sp>
      <p:sp>
        <p:nvSpPr>
          <p:cNvPr id="35" name="Text 33"/>
          <p:cNvSpPr/>
          <p:nvPr/>
        </p:nvSpPr>
        <p:spPr>
          <a:xfrm>
            <a:off x="640080" y="4142232"/>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Near-average</a:t>
            </a:r>
            <a:endParaRPr lang="en-US" sz="1150" dirty="0"/>
          </a:p>
        </p:txBody>
      </p:sp>
      <p:sp>
        <p:nvSpPr>
          <p:cNvPr id="36" name="Text 34"/>
          <p:cNvSpPr/>
          <p:nvPr/>
        </p:nvSpPr>
        <p:spPr>
          <a:xfrm>
            <a:off x="2971800" y="4142232"/>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280</a:t>
            </a:r>
            <a:endParaRPr lang="en-US" sz="1150" dirty="0"/>
          </a:p>
        </p:txBody>
      </p:sp>
      <p:sp>
        <p:nvSpPr>
          <p:cNvPr id="37" name="Text 35"/>
          <p:cNvSpPr/>
          <p:nvPr/>
        </p:nvSpPr>
        <p:spPr>
          <a:xfrm>
            <a:off x="3566160" y="4142232"/>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71.8</a:t>
            </a:r>
            <a:endParaRPr lang="en-US" sz="1150" dirty="0"/>
          </a:p>
        </p:txBody>
      </p:sp>
      <p:sp>
        <p:nvSpPr>
          <p:cNvPr id="38" name="Text 36"/>
          <p:cNvSpPr/>
          <p:nvPr/>
        </p:nvSpPr>
        <p:spPr>
          <a:xfrm>
            <a:off x="4370832" y="4142232"/>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60.7</a:t>
            </a:r>
            <a:endParaRPr lang="en-US" sz="1150" dirty="0"/>
          </a:p>
        </p:txBody>
      </p:sp>
      <p:sp>
        <p:nvSpPr>
          <p:cNvPr id="39" name="Text 37"/>
          <p:cNvSpPr/>
          <p:nvPr/>
        </p:nvSpPr>
        <p:spPr>
          <a:xfrm>
            <a:off x="5376672" y="4142232"/>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20.6</a:t>
            </a:r>
            <a:endParaRPr lang="en-US" sz="1150" dirty="0"/>
          </a:p>
        </p:txBody>
      </p:sp>
      <p:sp>
        <p:nvSpPr>
          <p:cNvPr id="40" name="Text 38"/>
          <p:cNvSpPr/>
          <p:nvPr/>
        </p:nvSpPr>
        <p:spPr>
          <a:xfrm>
            <a:off x="6236208" y="4142232"/>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427,791</a:t>
            </a:r>
            <a:endParaRPr lang="en-US" sz="1150" dirty="0"/>
          </a:p>
        </p:txBody>
      </p:sp>
      <p:sp>
        <p:nvSpPr>
          <p:cNvPr id="41" name="Text 39"/>
          <p:cNvSpPr/>
          <p:nvPr/>
        </p:nvSpPr>
        <p:spPr>
          <a:xfrm>
            <a:off x="7315200" y="4142232"/>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Ward enumeration and Periodic Intensification of Routine Immunization linked to antenatal clinics</a:t>
            </a:r>
            <a:endParaRPr lang="en-US" sz="1000" dirty="0"/>
          </a:p>
        </p:txBody>
      </p:sp>
      <p:sp>
        <p:nvSpPr>
          <p:cNvPr id="42" name="Shape 40"/>
          <p:cNvSpPr/>
          <p:nvPr/>
        </p:nvSpPr>
        <p:spPr>
          <a:xfrm>
            <a:off x="548640" y="4892040"/>
            <a:ext cx="11091672" cy="749808"/>
          </a:xfrm>
          <a:prstGeom prst="rect">
            <a:avLst/>
          </a:prstGeom>
          <a:solidFill>
            <a:srgbClr val="EEF2F6"/>
          </a:solidFill>
          <a:ln/>
        </p:spPr>
        <p:txBody>
          <a:bodyPr/>
          <a:lstStyle/>
          <a:p>
            <a:endParaRPr lang="LID4096"/>
          </a:p>
        </p:txBody>
      </p:sp>
      <p:sp>
        <p:nvSpPr>
          <p:cNvPr id="43" name="Text 41"/>
          <p:cNvSpPr/>
          <p:nvPr/>
        </p:nvSpPr>
        <p:spPr>
          <a:xfrm>
            <a:off x="640080" y="4892040"/>
            <a:ext cx="2167128" cy="749808"/>
          </a:xfrm>
          <a:prstGeom prst="rect">
            <a:avLst/>
          </a:prstGeom>
          <a:noFill/>
          <a:ln/>
        </p:spPr>
        <p:txBody>
          <a:bodyPr wrap="square" lIns="0" tIns="0" rIns="0" bIns="0" rtlCol="0" anchor="ctr"/>
          <a:lstStyle/>
          <a:p>
            <a:pPr marL="0" indent="0">
              <a:lnSpc>
                <a:spcPct val="95000"/>
              </a:lnSpc>
              <a:buNone/>
            </a:pPr>
            <a:r>
              <a:rPr lang="en-US" sz="1150" b="1" dirty="0">
                <a:solidFill>
                  <a:srgbClr val="1F3B57"/>
                </a:solidFill>
                <a:latin typeface="Arial" pitchFamily="34" charset="0"/>
                <a:ea typeface="Arial" pitchFamily="34" charset="-122"/>
                <a:cs typeface="Arial" pitchFamily="34" charset="-120"/>
              </a:rPr>
              <a:t>Relatively advantaged</a:t>
            </a:r>
            <a:endParaRPr lang="en-US" sz="1150" dirty="0"/>
          </a:p>
        </p:txBody>
      </p:sp>
      <p:sp>
        <p:nvSpPr>
          <p:cNvPr id="44" name="Text 42"/>
          <p:cNvSpPr/>
          <p:nvPr/>
        </p:nvSpPr>
        <p:spPr>
          <a:xfrm>
            <a:off x="2971800" y="4892040"/>
            <a:ext cx="42976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146</a:t>
            </a:r>
            <a:endParaRPr lang="en-US" sz="1150" dirty="0"/>
          </a:p>
        </p:txBody>
      </p:sp>
      <p:sp>
        <p:nvSpPr>
          <p:cNvPr id="45" name="Text 43"/>
          <p:cNvSpPr/>
          <p:nvPr/>
        </p:nvSpPr>
        <p:spPr>
          <a:xfrm>
            <a:off x="3566160" y="4892040"/>
            <a:ext cx="640080"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80.9</a:t>
            </a:r>
            <a:endParaRPr lang="en-US" sz="1150" dirty="0"/>
          </a:p>
        </p:txBody>
      </p:sp>
      <p:sp>
        <p:nvSpPr>
          <p:cNvPr id="46" name="Text 44"/>
          <p:cNvSpPr/>
          <p:nvPr/>
        </p:nvSpPr>
        <p:spPr>
          <a:xfrm>
            <a:off x="4370832" y="4892040"/>
            <a:ext cx="841248" cy="749808"/>
          </a:xfrm>
          <a:prstGeom prst="rect">
            <a:avLst/>
          </a:prstGeom>
          <a:noFill/>
          <a:ln/>
        </p:spPr>
        <p:txBody>
          <a:bodyPr wrap="square" lIns="0" tIns="0" rIns="0" bIns="0" rtlCol="0" anchor="ctr"/>
          <a:lstStyle/>
          <a:p>
            <a:pPr marL="0" indent="0">
              <a:buNone/>
            </a:pPr>
            <a:r>
              <a:rPr lang="en-US" sz="1150" dirty="0">
                <a:solidFill>
                  <a:srgbClr val="22333F"/>
                </a:solidFill>
                <a:latin typeface="Arial" pitchFamily="34" charset="0"/>
                <a:ea typeface="Arial" pitchFamily="34" charset="-122"/>
                <a:cs typeface="Arial" pitchFamily="34" charset="-120"/>
              </a:rPr>
              <a:t>77.8</a:t>
            </a:r>
            <a:endParaRPr lang="en-US" sz="1150" dirty="0"/>
          </a:p>
        </p:txBody>
      </p:sp>
      <p:sp>
        <p:nvSpPr>
          <p:cNvPr id="47" name="Text 45"/>
          <p:cNvSpPr/>
          <p:nvPr/>
        </p:nvSpPr>
        <p:spPr>
          <a:xfrm>
            <a:off x="5376672" y="4892040"/>
            <a:ext cx="694944"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9.9</a:t>
            </a:r>
            <a:endParaRPr lang="en-US" sz="1150" dirty="0"/>
          </a:p>
        </p:txBody>
      </p:sp>
      <p:sp>
        <p:nvSpPr>
          <p:cNvPr id="48" name="Text 46"/>
          <p:cNvSpPr/>
          <p:nvPr/>
        </p:nvSpPr>
        <p:spPr>
          <a:xfrm>
            <a:off x="6236208" y="4892040"/>
            <a:ext cx="914400" cy="749808"/>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131,691</a:t>
            </a:r>
            <a:endParaRPr lang="en-US" sz="1150" dirty="0"/>
          </a:p>
        </p:txBody>
      </p:sp>
      <p:sp>
        <p:nvSpPr>
          <p:cNvPr id="49" name="Text 47"/>
          <p:cNvSpPr/>
          <p:nvPr/>
        </p:nvSpPr>
        <p:spPr>
          <a:xfrm>
            <a:off x="7315200" y="4892040"/>
            <a:ext cx="4251960" cy="749808"/>
          </a:xfrm>
          <a:prstGeom prst="rect">
            <a:avLst/>
          </a:prstGeom>
          <a:noFill/>
          <a:ln/>
        </p:spPr>
        <p:txBody>
          <a:bodyPr wrap="square" lIns="0" tIns="0" rIns="0" bIns="0" rtlCol="0" anchor="ctr"/>
          <a:lstStyle/>
          <a:p>
            <a:pPr marL="0" indent="0">
              <a:lnSpc>
                <a:spcPct val="100000"/>
              </a:lnSpc>
              <a:buNone/>
            </a:pPr>
            <a:r>
              <a:rPr lang="en-US" sz="1000" dirty="0">
                <a:solidFill>
                  <a:srgbClr val="22333F"/>
                </a:solidFill>
                <a:latin typeface="Arial" pitchFamily="34" charset="0"/>
                <a:ea typeface="Arial" pitchFamily="34" charset="-122"/>
                <a:cs typeface="Arial" pitchFamily="34" charset="-120"/>
              </a:rPr>
              <a:t>Targeted social mobilization, a fixed-plus-outreach hybrid, and private-sector last-mile reach for immunization and antenatal care</a:t>
            </a:r>
            <a:endParaRPr lang="en-US" sz="1000" dirty="0"/>
          </a:p>
        </p:txBody>
      </p:sp>
      <p:sp>
        <p:nvSpPr>
          <p:cNvPr id="50" name="Shape 48"/>
          <p:cNvSpPr/>
          <p:nvPr/>
        </p:nvSpPr>
        <p:spPr>
          <a:xfrm>
            <a:off x="548640" y="5687568"/>
            <a:ext cx="11091672" cy="457200"/>
          </a:xfrm>
          <a:prstGeom prst="rect">
            <a:avLst/>
          </a:prstGeom>
          <a:solidFill>
            <a:srgbClr val="EEF2F6"/>
          </a:solidFill>
          <a:ln w="9525">
            <a:solidFill>
              <a:srgbClr val="D6DEE7"/>
            </a:solidFill>
            <a:prstDash val="solid"/>
          </a:ln>
        </p:spPr>
        <p:txBody>
          <a:bodyPr/>
          <a:lstStyle/>
          <a:p>
            <a:endParaRPr lang="LID4096"/>
          </a:p>
        </p:txBody>
      </p:sp>
      <p:sp>
        <p:nvSpPr>
          <p:cNvPr id="51" name="Text 49"/>
          <p:cNvSpPr/>
          <p:nvPr/>
        </p:nvSpPr>
        <p:spPr>
          <a:xfrm>
            <a:off x="694944" y="5687568"/>
            <a:ext cx="10799064" cy="457200"/>
          </a:xfrm>
          <a:prstGeom prst="rect">
            <a:avLst/>
          </a:prstGeom>
          <a:noFill/>
          <a:ln/>
        </p:spPr>
        <p:txBody>
          <a:bodyPr wrap="square" lIns="0" tIns="0" rIns="0" bIns="0" rtlCol="0" anchor="ctr"/>
          <a:lstStyle/>
          <a:p>
            <a:pPr marL="0" indent="0">
              <a:buNone/>
            </a:pPr>
            <a:r>
              <a:rPr lang="en-US" sz="1150" b="1" dirty="0">
                <a:solidFill>
                  <a:srgbClr val="1F3B57"/>
                </a:solidFill>
                <a:latin typeface="Arial" pitchFamily="34" charset="0"/>
                <a:ea typeface="Arial" pitchFamily="34" charset="-122"/>
                <a:cs typeface="Arial" pitchFamily="34" charset="-120"/>
              </a:rPr>
              <a:t>The full list. </a:t>
            </a:r>
            <a:r>
              <a:rPr lang="en-US" sz="1150" dirty="0" b="0">
                <a:solidFill>
                  <a:srgbClr val="22333F"/>
                </a:solidFill>
                <a:latin typeface="Arial" pitchFamily="34" charset="0"/>
                <a:ea typeface="Arial" pitchFamily="34" charset="-122"/>
                <a:cs typeface="Arial" pitchFamily="34" charset="-120"/>
              </a:rPr>
              <a:t>All 774 local government areas are ranked worst-to-best by modelled zero-dose burden in the operational workbook, each carrying its profile, maternal-care figures and candidate package, ready for microplanning.</a:t>
            </a:r>
            <a:endParaRPr lang="en-US" sz="1150" dirty="0"/>
          </a:p>
        </p:txBody>
      </p:sp>
      <p:sp>
        <p:nvSpPr>
          <p:cNvPr id="52" name="Text 50"/>
          <p:cNvSpPr/>
          <p:nvPr/>
        </p:nvSpPr>
        <p:spPr>
          <a:xfrm>
            <a:off x="548640" y="6217920"/>
            <a:ext cx="11091672" cy="411480"/>
          </a:xfrm>
          <a:prstGeom prst="rect">
            <a:avLst/>
          </a:prstGeom>
          <a:noFill/>
          <a:ln/>
        </p:spPr>
        <p:txBody>
          <a:bodyPr wrap="square" lIns="0" tIns="0" rIns="0" bIns="0" rtlCol="0" anchor="t"/>
          <a:lstStyle/>
          <a:p>
            <a:pPr marL="0" indent="0">
              <a:buNone/>
            </a:pPr>
            <a:r>
              <a:rPr lang="en-US" sz="1000" i="1" dirty="0">
                <a:solidFill>
                  <a:srgbClr val="5C6B78"/>
                </a:solidFill>
                <a:latin typeface="Arial" pitchFamily="34" charset="0"/>
                <a:ea typeface="Arial" pitchFamily="34" charset="-122"/>
                <a:cs typeface="Arial" pitchFamily="34" charset="-120"/>
              </a:rPr>
              <a:t>Model estimate. Source: LGA archetype master and the RMNCH-EPI operational workbook (IHME and DHS antenatal-care and facility-delivery covariates; Method 1 modelled zero-dose). BHCPF = Basic Health Care Provision Fund. Facility-level primary health care lists and facility density are not included; those need a GRID3 or National Health Facility Registry dataset.</a:t>
            </a:r>
            <a:endParaRPr lang="en-US" sz="1000" dirty="0"/>
          </a:p>
        </p:txBody>
      </p:sp>
      <p:sp>
        <p:nvSpPr>
          <p:cNvPr id="53" name="Rounded Rectangle 52"/>
          <p:cNvSpPr/>
          <p:nvPr/>
        </p:nvSpPr>
        <p:spPr>
          <a:xfrm>
            <a:off x="9887681" y="155448"/>
            <a:ext cx="1755648" cy="246888"/>
          </a:xfrm>
          <a:prstGeom prst="roundRect">
            <a:avLst>
              <a:gd name="adj" fmla="val 50000"/>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b="1">
                <a:solidFill>
                  <a:srgbClr val="FFFFFF"/>
                </a:solidFill>
                <a:latin typeface="Arial"/>
              </a:rPr>
              <a:t>NEW  ·  ED REQUEST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Five contextual profiles: what sets them apart</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Mean domain scores (higher = more disadvantaged); labels describe only what the indicators measure.</a:t>
            </a:r>
          </a:p>
        </p:txBody>
      </p:sp>
      <p:pic>
        <p:nvPicPr>
          <p:cNvPr id="4" name="Picture 3" descr="Figure_B2_profile_domain_heatmap.png"/>
          <p:cNvPicPr>
            <a:picLocks noChangeAspect="1"/>
          </p:cNvPicPr>
          <p:nvPr/>
        </p:nvPicPr>
        <p:blipFill>
          <a:blip r:embed="rId2"/>
          <a:stretch>
            <a:fillRect/>
          </a:stretch>
        </p:blipFill>
        <p:spPr>
          <a:xfrm>
            <a:off x="548640" y="1234440"/>
            <a:ext cx="7315200" cy="3209235"/>
          </a:xfrm>
          <a:prstGeom prst="rect">
            <a:avLst/>
          </a:prstGeom>
        </p:spPr>
      </p:pic>
      <p:sp>
        <p:nvSpPr>
          <p:cNvPr id="5" name="Rectangle 4"/>
          <p:cNvSpPr/>
          <p:nvPr/>
        </p:nvSpPr>
        <p:spPr>
          <a:xfrm>
            <a:off x="8092440" y="1234440"/>
            <a:ext cx="3547872" cy="10515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316736"/>
            <a:ext cx="3273552" cy="886968"/>
          </a:xfrm>
          <a:prstGeom prst="rect">
            <a:avLst/>
          </a:prstGeom>
          <a:noFill/>
        </p:spPr>
        <p:txBody>
          <a:bodyPr wrap="square" lIns="0" rIns="0" tIns="0" bIns="0" anchor="t">
            <a:spAutoFit/>
          </a:bodyPr>
          <a:lstStyle/>
          <a:p>
            <a:pPr algn="l"/>
            <a:r>
              <a:rPr sz="1200" b="1" i="0">
                <a:solidFill>
                  <a:srgbClr val="1F3B57"/>
                </a:solidFill>
                <a:latin typeface="Arial"/>
              </a:rPr>
              <a:t>An operational choice. </a:t>
            </a:r>
            <a:r>
              <a:rPr sz="1200" b="0" i="0">
                <a:solidFill>
                  <a:srgbClr val="22333F"/>
                </a:solidFill>
                <a:latin typeface="Arial"/>
              </a:rPr>
              <a:t>Four profiles fit slightly better (silhouette 0.31 vs 0.18); five are kept because near-average and relatively advantaged LGAs differ in burden (16.3% vs 4.5%).</a:t>
            </a:r>
          </a:p>
        </p:txBody>
      </p:sp>
      <p:sp>
        <p:nvSpPr>
          <p:cNvPr id="7" name="Rectangle 6"/>
          <p:cNvSpPr/>
          <p:nvPr/>
        </p:nvSpPr>
        <p:spPr>
          <a:xfrm>
            <a:off x="8092440" y="2359152"/>
            <a:ext cx="3547872" cy="10058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2441448"/>
            <a:ext cx="3273552" cy="841248"/>
          </a:xfrm>
          <a:prstGeom prst="rect">
            <a:avLst/>
          </a:prstGeom>
          <a:noFill/>
        </p:spPr>
        <p:txBody>
          <a:bodyPr wrap="square" lIns="0" rIns="0" tIns="0" bIns="0" anchor="t">
            <a:spAutoFit/>
          </a:bodyPr>
          <a:lstStyle/>
          <a:p>
            <a:pPr algn="l"/>
            <a:r>
              <a:rPr sz="1200" b="1" i="0">
                <a:solidFill>
                  <a:srgbClr val="1F3B57"/>
                </a:solidFill>
                <a:latin typeface="Arial"/>
              </a:rPr>
              <a:t>Coherent. </a:t>
            </a:r>
            <a:r>
              <a:rPr sz="1200" b="0" i="0">
                <a:solidFill>
                  <a:srgbClr val="22333F"/>
                </a:solidFill>
                <a:latin typeface="Arial"/>
              </a:rPr>
              <a:t>79% of neighbouring LGAs share a profile (26% by chance); bootstrap stability ARI 0.54 (0.42 to 0.72).</a:t>
            </a:r>
          </a:p>
        </p:txBody>
      </p:sp>
      <p:sp>
        <p:nvSpPr>
          <p:cNvPr id="9" name="Rectangle 8"/>
          <p:cNvSpPr/>
          <p:nvPr/>
        </p:nvSpPr>
        <p:spPr>
          <a:xfrm>
            <a:off x="8092440" y="3438144"/>
            <a:ext cx="3547872" cy="1088136"/>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520439"/>
            <a:ext cx="3273552" cy="923544"/>
          </a:xfrm>
          <a:prstGeom prst="rect">
            <a:avLst/>
          </a:prstGeom>
          <a:noFill/>
        </p:spPr>
        <p:txBody>
          <a:bodyPr wrap="square" lIns="0" rIns="0" tIns="0" bIns="0" anchor="t">
            <a:spAutoFit/>
          </a:bodyPr>
          <a:lstStyle/>
          <a:p>
            <a:pPr algn="l"/>
            <a:r>
              <a:rPr sz="1200" b="1" i="0">
                <a:solidFill>
                  <a:srgbClr val="1F3B57"/>
                </a:solidFill>
                <a:latin typeface="Arial"/>
              </a:rPr>
              <a:t>Membership. </a:t>
            </a:r>
            <a:r>
              <a:rPr sz="1200" b="0" i="0">
                <a:solidFill>
                  <a:srgbClr val="22333F"/>
                </a:solidFill>
                <a:latin typeface="Arial"/>
              </a:rPr>
              <a:t>Clear for 46% of LGAs (60% of modelled zero-dose children), intermediate for 31%, mixed for 23%.</a:t>
            </a:r>
          </a:p>
        </p:txBody>
      </p:sp>
      <p:sp>
        <p:nvSpPr>
          <p:cNvPr id="11" name="Rectangle 10"/>
          <p:cNvSpPr/>
          <p:nvPr/>
        </p:nvSpPr>
        <p:spPr>
          <a:xfrm>
            <a:off x="548640" y="4709160"/>
            <a:ext cx="11091672" cy="12344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4791456"/>
            <a:ext cx="10817352" cy="1069848"/>
          </a:xfrm>
          <a:prstGeom prst="rect">
            <a:avLst/>
          </a:prstGeom>
          <a:noFill/>
        </p:spPr>
        <p:txBody>
          <a:bodyPr wrap="square" lIns="0" rIns="0" tIns="0" bIns="0" anchor="t">
            <a:spAutoFit/>
          </a:bodyPr>
          <a:lstStyle/>
          <a:p>
            <a:pPr algn="l"/>
            <a:r>
              <a:rPr sz="1300" b="1" i="0">
                <a:solidFill>
                  <a:srgbClr val="1F3B57"/>
                </a:solidFill>
                <a:latin typeface="Arial"/>
              </a:rPr>
              <a:t>Labels retired. </a:t>
            </a:r>
            <a:r>
              <a:rPr sz="1300" b="0" i="0">
                <a:solidFill>
                  <a:srgbClr val="22333F"/>
                </a:solidFill>
                <a:latin typeface="Arial"/>
              </a:rPr>
              <a:t>Earlier names for nomadic, migrant, riverine and urban-slum areas were dropped because no indicator measures those attributes. Population mobility must be confirmed locally before transit-point strategies are used. The two highest-burden profiles hold 77.4% of Method 2 modelled zero-dose children but 51.3% of the birth cohort.</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Ward hierarchical clustering of 15 indicators in six domains (socioeconomic, maternal care, nutrition, access, insecurity, DTP1-3 dropout), 774 LGAs. ARI = adjusted Rand index; SD = standard deviation.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Barriers differ within states and at the same zero-dose rate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Dominant barrier by LGA, and how clearly each LGA fits its profile.</a:t>
            </a:r>
          </a:p>
        </p:txBody>
      </p:sp>
      <p:pic>
        <p:nvPicPr>
          <p:cNvPr id="4" name="Picture 3" descr="Figure_B3_dominant_barrier_and_overlap_maps.png"/>
          <p:cNvPicPr>
            <a:picLocks noChangeAspect="1"/>
          </p:cNvPicPr>
          <p:nvPr/>
        </p:nvPicPr>
        <p:blipFill>
          <a:blip r:embed="rId2"/>
          <a:stretch>
            <a:fillRect/>
          </a:stretch>
        </p:blipFill>
        <p:spPr>
          <a:xfrm>
            <a:off x="548640" y="1234440"/>
            <a:ext cx="7498079" cy="3303582"/>
          </a:xfrm>
          <a:prstGeom prst="rect">
            <a:avLst/>
          </a:prstGeom>
        </p:spPr>
      </p:pic>
      <p:sp>
        <p:nvSpPr>
          <p:cNvPr id="5" name="Rectangle 4"/>
          <p:cNvSpPr/>
          <p:nvPr/>
        </p:nvSpPr>
        <p:spPr>
          <a:xfrm>
            <a:off x="8275320" y="1234440"/>
            <a:ext cx="3364992" cy="106984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39912" y="1325880"/>
            <a:ext cx="3035808" cy="457200"/>
          </a:xfrm>
          <a:prstGeom prst="rect">
            <a:avLst/>
          </a:prstGeom>
          <a:noFill/>
        </p:spPr>
        <p:txBody>
          <a:bodyPr wrap="square" lIns="0" rIns="0" tIns="0" bIns="0" anchor="t">
            <a:spAutoFit/>
          </a:bodyPr>
          <a:lstStyle/>
          <a:p>
            <a:pPr algn="l"/>
            <a:r>
              <a:rPr sz="2600" b="1" i="0">
                <a:solidFill>
                  <a:srgbClr val="1C7A3D"/>
                </a:solidFill>
                <a:latin typeface="Arial"/>
              </a:rPr>
              <a:t>35 of 37</a:t>
            </a:r>
          </a:p>
        </p:txBody>
      </p:sp>
      <p:sp>
        <p:nvSpPr>
          <p:cNvPr id="7" name="TextBox 6"/>
          <p:cNvSpPr txBox="1"/>
          <p:nvPr/>
        </p:nvSpPr>
        <p:spPr>
          <a:xfrm>
            <a:off x="8439912" y="1755140"/>
            <a:ext cx="3035808" cy="411987"/>
          </a:xfrm>
          <a:prstGeom prst="rect">
            <a:avLst/>
          </a:prstGeom>
          <a:noFill/>
        </p:spPr>
        <p:txBody>
          <a:bodyPr wrap="square" lIns="0" rIns="0" tIns="0" bIns="0" anchor="t">
            <a:spAutoFit/>
          </a:bodyPr>
          <a:lstStyle/>
          <a:p>
            <a:pPr algn="l"/>
            <a:r>
              <a:rPr sz="1200" b="1" i="0">
                <a:solidFill>
                  <a:srgbClr val="1F3B57"/>
                </a:solidFill>
                <a:latin typeface="Arial"/>
              </a:rPr>
              <a:t>states contain LGAs with different dominant barriers</a:t>
            </a:r>
          </a:p>
        </p:txBody>
      </p:sp>
      <p:sp>
        <p:nvSpPr>
          <p:cNvPr id="8" name="Rectangle 7"/>
          <p:cNvSpPr/>
          <p:nvPr/>
        </p:nvSpPr>
        <p:spPr>
          <a:xfrm>
            <a:off x="8275320" y="2377440"/>
            <a:ext cx="3364992" cy="106984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39912" y="2468880"/>
            <a:ext cx="3035808" cy="457200"/>
          </a:xfrm>
          <a:prstGeom prst="rect">
            <a:avLst/>
          </a:prstGeom>
          <a:noFill/>
        </p:spPr>
        <p:txBody>
          <a:bodyPr wrap="square" lIns="0" rIns="0" tIns="0" bIns="0" anchor="t">
            <a:spAutoFit/>
          </a:bodyPr>
          <a:lstStyle/>
          <a:p>
            <a:pPr algn="l"/>
            <a:r>
              <a:rPr sz="2600" b="1" i="0">
                <a:solidFill>
                  <a:srgbClr val="1C7A3D"/>
                </a:solidFill>
                <a:latin typeface="Arial"/>
              </a:rPr>
              <a:t>56% / 59%</a:t>
            </a:r>
          </a:p>
        </p:txBody>
      </p:sp>
      <p:sp>
        <p:nvSpPr>
          <p:cNvPr id="10" name="TextBox 9"/>
          <p:cNvSpPr txBox="1"/>
          <p:nvPr/>
        </p:nvSpPr>
        <p:spPr>
          <a:xfrm>
            <a:off x="8439912" y="2898140"/>
            <a:ext cx="3035808" cy="411987"/>
          </a:xfrm>
          <a:prstGeom prst="rect">
            <a:avLst/>
          </a:prstGeom>
          <a:noFill/>
        </p:spPr>
        <p:txBody>
          <a:bodyPr wrap="square" lIns="0" rIns="0" tIns="0" bIns="0" anchor="t">
            <a:spAutoFit/>
          </a:bodyPr>
          <a:lstStyle/>
          <a:p>
            <a:pPr algn="l"/>
            <a:r>
              <a:rPr sz="1200" b="1" i="0">
                <a:solidFill>
                  <a:srgbClr val="1F3B57"/>
                </a:solidFill>
                <a:latin typeface="Arial"/>
              </a:rPr>
              <a:t>of access and insecurity variance lies within states (nutrition 5%)</a:t>
            </a:r>
          </a:p>
        </p:txBody>
      </p:sp>
      <p:sp>
        <p:nvSpPr>
          <p:cNvPr id="11" name="Rectangle 10"/>
          <p:cNvSpPr/>
          <p:nvPr/>
        </p:nvSpPr>
        <p:spPr>
          <a:xfrm>
            <a:off x="8275320" y="3520440"/>
            <a:ext cx="3364992" cy="10972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9912" y="3611880"/>
            <a:ext cx="3035808" cy="457200"/>
          </a:xfrm>
          <a:prstGeom prst="rect">
            <a:avLst/>
          </a:prstGeom>
          <a:noFill/>
        </p:spPr>
        <p:txBody>
          <a:bodyPr wrap="square" lIns="0" rIns="0" tIns="0" bIns="0" anchor="t">
            <a:spAutoFit/>
          </a:bodyPr>
          <a:lstStyle/>
          <a:p>
            <a:pPr algn="l"/>
            <a:r>
              <a:rPr sz="2600" b="1" i="0">
                <a:solidFill>
                  <a:srgbClr val="1C7A3D"/>
                </a:solidFill>
                <a:latin typeface="Arial"/>
              </a:rPr>
              <a:t>67%</a:t>
            </a:r>
          </a:p>
        </p:txBody>
      </p:sp>
      <p:sp>
        <p:nvSpPr>
          <p:cNvPr id="13" name="TextBox 12"/>
          <p:cNvSpPr txBox="1"/>
          <p:nvPr/>
        </p:nvSpPr>
        <p:spPr>
          <a:xfrm>
            <a:off x="8439912" y="4041140"/>
            <a:ext cx="3035808" cy="439419"/>
          </a:xfrm>
          <a:prstGeom prst="rect">
            <a:avLst/>
          </a:prstGeom>
          <a:noFill/>
        </p:spPr>
        <p:txBody>
          <a:bodyPr wrap="square" lIns="0" rIns="0" tIns="0" bIns="0" anchor="t">
            <a:spAutoFit/>
          </a:bodyPr>
          <a:lstStyle/>
          <a:p>
            <a:pPr algn="l"/>
            <a:r>
              <a:rPr sz="1200" b="1" i="0">
                <a:solidFill>
                  <a:srgbClr val="1F3B57"/>
                </a:solidFill>
                <a:latin typeface="Arial"/>
              </a:rPr>
              <a:t>of LGA pairs with near-equal rates have a different dominant barrier</a:t>
            </a:r>
          </a:p>
        </p:txBody>
      </p:sp>
      <p:sp>
        <p:nvSpPr>
          <p:cNvPr id="14" name="Rectangle 13"/>
          <p:cNvSpPr/>
          <p:nvPr/>
        </p:nvSpPr>
        <p:spPr>
          <a:xfrm>
            <a:off x="548640" y="4754880"/>
            <a:ext cx="11091672" cy="12801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837176"/>
            <a:ext cx="10817352" cy="1115568"/>
          </a:xfrm>
          <a:prstGeom prst="rect">
            <a:avLst/>
          </a:prstGeom>
          <a:noFill/>
        </p:spPr>
        <p:txBody>
          <a:bodyPr wrap="square" lIns="0" rIns="0" tIns="0" bIns="0" anchor="t">
            <a:spAutoFit/>
          </a:bodyPr>
          <a:lstStyle/>
          <a:p>
            <a:pPr algn="l"/>
            <a:r>
              <a:rPr sz="1300" b="1" i="0">
                <a:solidFill>
                  <a:srgbClr val="1F3B57"/>
                </a:solidFill>
                <a:latin typeface="Arial"/>
              </a:rPr>
              <a:t>Caveat. </a:t>
            </a:r>
            <a:r>
              <a:rPr sz="1300" b="0" i="0">
                <a:solidFill>
                  <a:srgbClr val="22333F"/>
                </a:solidFill>
                <a:latin typeface="Arial"/>
              </a:rPr>
              <a:t>Near-equal pairs are still contextually closer than random pairs (median distance 1.8 vs 2.8), so 'same rate, different barriers' applies to a substantial minority, not to every LGA. State averages capture nutrition and maternal care well but hide access and insecurity, which need LGA-level planning.</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Ward hierarchical clustering of 15 indicators in six domains (socioeconomic, maternal care, nutrition, access, insecurity, DTP1-3 dropout), 774 LGAs. ARI = adjusted Rand index; SD = standard deviation. Dominant barrier = highest domain score at or above +0.5 SD.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Same estimated rate, different barriers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Four real LGA pairs with near-identical Method 2 zero-dose rates.</a:t>
            </a:r>
          </a:p>
        </p:txBody>
      </p:sp>
      <p:pic>
        <p:nvPicPr>
          <p:cNvPr id="4" name="Picture 3" descr="Figure_B4_similar_rate_different_barriers.png"/>
          <p:cNvPicPr>
            <a:picLocks noChangeAspect="1"/>
          </p:cNvPicPr>
          <p:nvPr/>
        </p:nvPicPr>
        <p:blipFill>
          <a:blip r:embed="rId2"/>
          <a:stretch>
            <a:fillRect/>
          </a:stretch>
        </p:blipFill>
        <p:spPr>
          <a:xfrm>
            <a:off x="548640" y="1234440"/>
            <a:ext cx="11091672" cy="3163731"/>
          </a:xfrm>
          <a:prstGeom prst="rect">
            <a:avLst/>
          </a:prstGeom>
        </p:spPr>
      </p:pic>
      <p:sp>
        <p:nvSpPr>
          <p:cNvPr id="5" name="Rectangle 4"/>
          <p:cNvSpPr/>
          <p:nvPr/>
        </p:nvSpPr>
        <p:spPr>
          <a:xfrm>
            <a:off x="548640" y="4663440"/>
            <a:ext cx="5458968" cy="13716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4745736"/>
            <a:ext cx="5184648" cy="1207008"/>
          </a:xfrm>
          <a:prstGeom prst="rect">
            <a:avLst/>
          </a:prstGeom>
          <a:noFill/>
        </p:spPr>
        <p:txBody>
          <a:bodyPr wrap="square" lIns="0" rIns="0" tIns="0" bIns="0" anchor="t">
            <a:spAutoFit/>
          </a:bodyPr>
          <a:lstStyle/>
          <a:p>
            <a:pPr algn="l"/>
            <a:r>
              <a:rPr sz="1300" b="1" i="0">
                <a:solidFill>
                  <a:srgbClr val="1F3B57"/>
                </a:solidFill>
                <a:latin typeface="Arial"/>
              </a:rPr>
              <a:t>Reading the pairs. </a:t>
            </a:r>
            <a:r>
              <a:rPr sz="1300" b="0" i="0">
                <a:solidFill>
                  <a:srgbClr val="22333F"/>
                </a:solidFill>
                <a:latin typeface="Arial"/>
              </a:rPr>
              <a:t>Each pair has nearly the same estimated zero-dose rate but a different dominant barrier, so a rate-only ranking would send both the same response. Across all near-equal pairs, 49.6% fall in different profiles.</a:t>
            </a:r>
          </a:p>
        </p:txBody>
      </p:sp>
      <p:sp>
        <p:nvSpPr>
          <p:cNvPr id="7" name="Rectangle 6"/>
          <p:cNvSpPr/>
          <p:nvPr/>
        </p:nvSpPr>
        <p:spPr>
          <a:xfrm>
            <a:off x="6181344" y="4663440"/>
            <a:ext cx="5458968" cy="13716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18504" y="4745736"/>
            <a:ext cx="5184648" cy="1207008"/>
          </a:xfrm>
          <a:prstGeom prst="rect">
            <a:avLst/>
          </a:prstGeom>
          <a:noFill/>
        </p:spPr>
        <p:txBody>
          <a:bodyPr wrap="square" lIns="0" rIns="0" tIns="0" bIns="0" anchor="t">
            <a:spAutoFit/>
          </a:bodyPr>
          <a:lstStyle/>
          <a:p>
            <a:pPr algn="l"/>
            <a:r>
              <a:rPr sz="1300" b="1" i="0">
                <a:solidFill>
                  <a:srgbClr val="1F3B57"/>
                </a:solidFill>
                <a:latin typeface="Arial"/>
              </a:rPr>
              <a:t>Caution. </a:t>
            </a:r>
            <a:r>
              <a:rPr sz="1300" b="0" i="0">
                <a:solidFill>
                  <a:srgbClr val="22333F"/>
                </a:solidFill>
                <a:latin typeface="Arial"/>
              </a:rPr>
              <a:t>All four pairs contrast Niger Delta with Jigawa LGAs, and their rate intervals are wide. They illustrate the pattern; they do not measure how common it is.</a:t>
            </a:r>
          </a:p>
        </p:txBody>
      </p:sp>
      <p:sp>
        <p:nvSpPr>
          <p:cNvPr id="9" name="TextBox 8"/>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Ward hierarchical clustering of 15 indicators in six domains (socioeconomic, maternal care, nutrition, access, insecurity, DTP1-3 dropout), 774 LGAs. ARI = adjusted Rand index; SD = standard deviation.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Assigning packages: start from the state, refine by LGA barriers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Agreement of each assignment rule with every LGA's own barrier package, weighted by modelled zero-dose children.</a:t>
            </a:r>
          </a:p>
        </p:txBody>
      </p:sp>
      <p:pic>
        <p:nvPicPr>
          <p:cNvPr id="4" name="Picture 3" descr="Figure_B5_within_state_variance_and_package_agreement.png"/>
          <p:cNvPicPr>
            <a:picLocks noChangeAspect="1"/>
          </p:cNvPicPr>
          <p:nvPr/>
        </p:nvPicPr>
        <p:blipFill>
          <a:blip r:embed="rId2"/>
          <a:stretch>
            <a:fillRect/>
          </a:stretch>
        </p:blipFill>
        <p:spPr>
          <a:xfrm>
            <a:off x="674417" y="1234440"/>
            <a:ext cx="10840116" cy="3520440"/>
          </a:xfrm>
          <a:prstGeom prst="rect">
            <a:avLst/>
          </a:prstGeom>
        </p:spPr>
      </p:pic>
      <p:sp>
        <p:nvSpPr>
          <p:cNvPr id="5" name="Rectangle 4"/>
          <p:cNvSpPr/>
          <p:nvPr/>
        </p:nvSpPr>
        <p:spPr>
          <a:xfrm>
            <a:off x="548640" y="4846320"/>
            <a:ext cx="3575304" cy="12344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4928616"/>
            <a:ext cx="3300984" cy="1069848"/>
          </a:xfrm>
          <a:prstGeom prst="rect">
            <a:avLst/>
          </a:prstGeom>
          <a:noFill/>
        </p:spPr>
        <p:txBody>
          <a:bodyPr wrap="square" lIns="0" rIns="0" tIns="0" bIns="0" anchor="t">
            <a:spAutoFit/>
          </a:bodyPr>
          <a:lstStyle/>
          <a:p>
            <a:pPr algn="l"/>
            <a:r>
              <a:rPr sz="1250" b="1" i="0">
                <a:solidFill>
                  <a:srgbClr val="1F3B57"/>
                </a:solidFill>
                <a:latin typeface="Arial"/>
              </a:rPr>
              <a:t>Combined barriers are the norm. </a:t>
            </a:r>
            <a:r>
              <a:rPr sz="1250" b="0" i="0">
                <a:solidFill>
                  <a:srgbClr val="22333F"/>
                </a:solidFill>
                <a:latin typeface="Arial"/>
              </a:rPr>
              <a:t>36% of LGAs, holding 67% of modelled zero-dose children, have two or more flagged barriers.</a:t>
            </a:r>
          </a:p>
        </p:txBody>
      </p:sp>
      <p:sp>
        <p:nvSpPr>
          <p:cNvPr id="7" name="Rectangle 6"/>
          <p:cNvSpPr/>
          <p:nvPr/>
        </p:nvSpPr>
        <p:spPr>
          <a:xfrm>
            <a:off x="4306824" y="4846320"/>
            <a:ext cx="3575304" cy="12344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3984" y="4928616"/>
            <a:ext cx="3300984" cy="1069848"/>
          </a:xfrm>
          <a:prstGeom prst="rect">
            <a:avLst/>
          </a:prstGeom>
          <a:noFill/>
        </p:spPr>
        <p:txBody>
          <a:bodyPr wrap="square" lIns="0" rIns="0" tIns="0" bIns="0" anchor="t">
            <a:spAutoFit/>
          </a:bodyPr>
          <a:lstStyle/>
          <a:p>
            <a:pPr algn="l"/>
            <a:r>
              <a:rPr sz="1250" b="1" i="0">
                <a:solidFill>
                  <a:srgbClr val="1F3B57"/>
                </a:solidFill>
                <a:latin typeface="Arial"/>
              </a:rPr>
              <a:t>State first, then LGA. </a:t>
            </a:r>
            <a:r>
              <a:rPr sz="1250" b="0" i="0">
                <a:solidFill>
                  <a:srgbClr val="22333F"/>
                </a:solidFill>
                <a:latin typeface="Arial"/>
              </a:rPr>
              <a:t>State packages agree best (0.65), profiles next (0.58); one national package agrees least (0.13).</a:t>
            </a:r>
          </a:p>
        </p:txBody>
      </p:sp>
      <p:sp>
        <p:nvSpPr>
          <p:cNvPr id="9" name="Rectangle 8"/>
          <p:cNvSpPr/>
          <p:nvPr/>
        </p:nvSpPr>
        <p:spPr>
          <a:xfrm>
            <a:off x="8065008" y="4846320"/>
            <a:ext cx="3575304" cy="12344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02168" y="4928616"/>
            <a:ext cx="3300984" cy="1069848"/>
          </a:xfrm>
          <a:prstGeom prst="rect">
            <a:avLst/>
          </a:prstGeom>
          <a:noFill/>
        </p:spPr>
        <p:txBody>
          <a:bodyPr wrap="square" lIns="0" rIns="0" tIns="0" bIns="0" anchor="t">
            <a:spAutoFit/>
          </a:bodyPr>
          <a:lstStyle/>
          <a:p>
            <a:pPr algn="l"/>
            <a:r>
              <a:rPr sz="1250" b="1" i="0">
                <a:solidFill>
                  <a:srgbClr val="1F3B57"/>
                </a:solidFill>
                <a:latin typeface="Arial"/>
              </a:rPr>
              <a:t>Validate locally. </a:t>
            </a:r>
            <a:r>
              <a:rPr sz="1250" b="0" i="0">
                <a:solidFill>
                  <a:srgbClr val="22333F"/>
                </a:solidFill>
                <a:latin typeface="Arial"/>
              </a:rPr>
              <a:t>Packages are candidate components from documented rules, not measured intervention effects.</a:t>
            </a:r>
          </a:p>
        </p:txBody>
      </p:sp>
      <p:sp>
        <p:nvSpPr>
          <p:cNvPr id="11" name="TextBox 10"/>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Barrier flag = domain score in the national top quartile (travel time: top decile). Agreement = Jaccard similarity (1 = identical). Population mobility is not measured and is never assigned.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How robust are the candidate packages?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Share of LGAs and children keeping the same core components when modelling choices change.</a:t>
            </a:r>
          </a:p>
        </p:txBody>
      </p:sp>
      <p:pic>
        <p:nvPicPr>
          <p:cNvPr id="4" name="Picture 3" descr="Figure_B6_decision_stability.png"/>
          <p:cNvPicPr>
            <a:picLocks noChangeAspect="1"/>
          </p:cNvPicPr>
          <p:nvPr/>
        </p:nvPicPr>
        <p:blipFill>
          <a:blip r:embed="rId2"/>
          <a:stretch>
            <a:fillRect/>
          </a:stretch>
        </p:blipFill>
        <p:spPr>
          <a:xfrm>
            <a:off x="548640" y="1234440"/>
            <a:ext cx="6400800" cy="3563942"/>
          </a:xfrm>
          <a:prstGeom prst="rect">
            <a:avLst/>
          </a:prstGeom>
        </p:spPr>
      </p:pic>
      <p:sp>
        <p:nvSpPr>
          <p:cNvPr id="5" name="Rectangle 4"/>
          <p:cNvSpPr/>
          <p:nvPr/>
        </p:nvSpPr>
        <p:spPr>
          <a:xfrm>
            <a:off x="7178040" y="1234440"/>
            <a:ext cx="4462272" cy="112471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316736"/>
            <a:ext cx="4187952" cy="960120"/>
          </a:xfrm>
          <a:prstGeom prst="rect">
            <a:avLst/>
          </a:prstGeom>
          <a:noFill/>
        </p:spPr>
        <p:txBody>
          <a:bodyPr wrap="square" lIns="0" rIns="0" tIns="0" bIns="0" anchor="t">
            <a:spAutoFit/>
          </a:bodyPr>
          <a:lstStyle/>
          <a:p>
            <a:pPr algn="l"/>
            <a:r>
              <a:rPr sz="1150" b="1" i="0">
                <a:solidFill>
                  <a:srgbClr val="1F3B57"/>
                </a:solidFill>
                <a:latin typeface="Arial"/>
              </a:rPr>
              <a:t>Stable core. </a:t>
            </a:r>
            <a:r>
              <a:rPr sz="1150" b="0" i="0">
                <a:solidFill>
                  <a:srgbClr val="22333F"/>
                </a:solidFill>
                <a:latin typeface="Arial"/>
              </a:rPr>
              <a:t>Core components are kept for 51-82% of LGAs (71-96% of modelled children) across indicator sets, numbers of profiles, algorithms and bootstrap refits.</a:t>
            </a:r>
          </a:p>
        </p:txBody>
      </p:sp>
      <p:sp>
        <p:nvSpPr>
          <p:cNvPr id="7" name="Rectangle 6"/>
          <p:cNvSpPr/>
          <p:nvPr/>
        </p:nvSpPr>
        <p:spPr>
          <a:xfrm>
            <a:off x="7178040" y="2450592"/>
            <a:ext cx="4462272" cy="112471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2532888"/>
            <a:ext cx="4187952" cy="960120"/>
          </a:xfrm>
          <a:prstGeom prst="rect">
            <a:avLst/>
          </a:prstGeom>
          <a:noFill/>
        </p:spPr>
        <p:txBody>
          <a:bodyPr wrap="square" lIns="0" rIns="0" tIns="0" bIns="0" anchor="t">
            <a:spAutoFit/>
          </a:bodyPr>
          <a:lstStyle/>
          <a:p>
            <a:pPr algn="l"/>
            <a:r>
              <a:rPr sz="1150" b="1" i="0">
                <a:solidFill>
                  <a:srgbClr val="1F3B57"/>
                </a:solidFill>
                <a:latin typeface="Arial"/>
              </a:rPr>
              <a:t>Threshold. </a:t>
            </a:r>
            <a:r>
              <a:rPr sz="1150" b="0" i="0">
                <a:solidFill>
                  <a:srgbClr val="22333F"/>
                </a:solidFill>
                <a:latin typeface="Arial"/>
              </a:rPr>
              <a:t>Changing the barrier-flagging threshold keeps 73-82% of LGA packages; LGA flags do not depend on the clustering.</a:t>
            </a:r>
          </a:p>
        </p:txBody>
      </p:sp>
      <p:sp>
        <p:nvSpPr>
          <p:cNvPr id="9" name="Rectangle 8"/>
          <p:cNvSpPr/>
          <p:nvPr/>
        </p:nvSpPr>
        <p:spPr>
          <a:xfrm>
            <a:off x="7178040" y="3666744"/>
            <a:ext cx="4462272" cy="112471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0" y="3749039"/>
            <a:ext cx="4187952" cy="960120"/>
          </a:xfrm>
          <a:prstGeom prst="rect">
            <a:avLst/>
          </a:prstGeom>
          <a:noFill/>
        </p:spPr>
        <p:txBody>
          <a:bodyPr wrap="square" lIns="0" rIns="0" tIns="0" bIns="0" anchor="t">
            <a:spAutoFit/>
          </a:bodyPr>
          <a:lstStyle/>
          <a:p>
            <a:pPr algn="l"/>
            <a:r>
              <a:rPr sz="1150" b="1" i="0">
                <a:solidFill>
                  <a:srgbClr val="1F3B57"/>
                </a:solidFill>
                <a:latin typeface="Arial"/>
              </a:rPr>
              <a:t>Information content. </a:t>
            </a:r>
            <a:r>
              <a:rPr sz="1150" b="0" i="0">
                <a:solidFill>
                  <a:srgbClr val="22333F"/>
                </a:solidFill>
                <a:latin typeface="Arial"/>
              </a:rPr>
              <a:t>Profiles add to zone in explaining LGA zero-dose (R-squared +0.08) but little beyond a deprivation quintile (+0.01); at state level they improve prediction of the NmDHS 2025-26 (R-squared 0.71 to 0.78).</a:t>
            </a:r>
          </a:p>
        </p:txBody>
      </p:sp>
      <p:sp>
        <p:nvSpPr>
          <p:cNvPr id="11" name="Rectangle 10"/>
          <p:cNvSpPr/>
          <p:nvPr/>
        </p:nvSpPr>
        <p:spPr>
          <a:xfrm>
            <a:off x="7178040" y="4882896"/>
            <a:ext cx="4462272" cy="1124712"/>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4965192"/>
            <a:ext cx="4187952" cy="960120"/>
          </a:xfrm>
          <a:prstGeom prst="rect">
            <a:avLst/>
          </a:prstGeom>
          <a:noFill/>
        </p:spPr>
        <p:txBody>
          <a:bodyPr wrap="square" lIns="0" rIns="0" tIns="0" bIns="0" anchor="t">
            <a:spAutoFit/>
          </a:bodyPr>
          <a:lstStyle/>
          <a:p>
            <a:pPr algn="l"/>
            <a:r>
              <a:rPr sz="1150" b="1" i="0">
                <a:solidFill>
                  <a:srgbClr val="1F3B57"/>
                </a:solidFill>
                <a:latin typeface="Arial"/>
              </a:rPr>
              <a:t>Use. </a:t>
            </a:r>
            <a:r>
              <a:rPr sz="1150" b="0" i="0">
                <a:solidFill>
                  <a:srgbClr val="22333F"/>
                </a:solidFill>
                <a:latin typeface="Arial"/>
              </a:rPr>
              <a:t>Choose components from LGA barrier flags; use profiles as a planning summary, not as an independent predictor.</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Ward hierarchical clustering of 15 indicators in six domains (socioeconomic, maternal care, nutrition, access, insecurity, DTP1-3 dropout), 774 LGAs. ARI = adjusted Rand index; SD = standard deviation. Core components = Jaccard similarity of 0.67 or more; R-squared out of sample (state check leave-one-out).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Bayesian small-area estimation (SAE)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A second, survey-anchored model that estimates zero-dose directly for every one of the 774 LGAs.</a:t>
            </a:r>
          </a:p>
        </p:txBody>
      </p:sp>
      <p:pic>
        <p:nvPicPr>
          <p:cNvPr id="4" name="Picture 3" descr="M2_01_model_schematic.png"/>
          <p:cNvPicPr>
            <a:picLocks noChangeAspect="1"/>
          </p:cNvPicPr>
          <p:nvPr/>
        </p:nvPicPr>
        <p:blipFill>
          <a:blip r:embed="rId2"/>
          <a:stretch>
            <a:fillRect/>
          </a:stretch>
        </p:blipFill>
        <p:spPr>
          <a:xfrm>
            <a:off x="548640" y="1280160"/>
            <a:ext cx="6720840" cy="3192541"/>
          </a:xfrm>
          <a:prstGeom prst="rect">
            <a:avLst/>
          </a:prstGeom>
        </p:spPr>
      </p:pic>
      <p:sp>
        <p:nvSpPr>
          <p:cNvPr id="5" name="Oval 4"/>
          <p:cNvSpPr/>
          <p:nvPr/>
        </p:nvSpPr>
        <p:spPr>
          <a:xfrm>
            <a:off x="7498079" y="1280160"/>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280160"/>
            <a:ext cx="384048" cy="384048"/>
          </a:xfrm>
          <a:prstGeom prst="rect">
            <a:avLst/>
          </a:prstGeom>
          <a:noFill/>
        </p:spPr>
        <p:txBody>
          <a:bodyPr wrap="square" lIns="0" rIns="0" tIns="0" bIns="0" anchor="ctr">
            <a:spAutoFit/>
          </a:bodyPr>
          <a:lstStyle/>
          <a:p>
            <a:pPr algn="ctr"/>
            <a:r>
              <a:rPr sz="1500" b="1" i="0">
                <a:solidFill>
                  <a:srgbClr val="FFFFFF"/>
                </a:solidFill>
                <a:latin typeface="Arial"/>
              </a:rPr>
              <a:t>1</a:t>
            </a:r>
          </a:p>
        </p:txBody>
      </p:sp>
      <p:sp>
        <p:nvSpPr>
          <p:cNvPr id="7" name="TextBox 6"/>
          <p:cNvSpPr txBox="1"/>
          <p:nvPr/>
        </p:nvSpPr>
        <p:spPr>
          <a:xfrm>
            <a:off x="8028431" y="1261872"/>
            <a:ext cx="3611880" cy="1097280"/>
          </a:xfrm>
          <a:prstGeom prst="rect">
            <a:avLst/>
          </a:prstGeom>
          <a:noFill/>
        </p:spPr>
        <p:txBody>
          <a:bodyPr wrap="square" lIns="0" rIns="0" tIns="0" bIns="0" anchor="t">
            <a:spAutoFit/>
          </a:bodyPr>
          <a:lstStyle/>
          <a:p>
            <a:pPr algn="l"/>
            <a:r>
              <a:rPr sz="1300" b="1" i="0">
                <a:solidFill>
                  <a:srgbClr val="1F3B57"/>
                </a:solidFill>
                <a:latin typeface="Arial"/>
              </a:rPr>
              <a:t>Anchored to the surveys. </a:t>
            </a:r>
            <a:r>
              <a:rPr sz="1300" b="0" i="0">
                <a:solidFill>
                  <a:srgbClr val="22333F"/>
                </a:solidFill>
                <a:latin typeface="Arial"/>
              </a:rPr>
              <a:t>Each state's LGA estimates must add up to that state's NDHS zero-dose level (2008, 2013, 2018, 2023-24), allowing for survey sampling error.</a:t>
            </a:r>
          </a:p>
        </p:txBody>
      </p:sp>
      <p:sp>
        <p:nvSpPr>
          <p:cNvPr id="8" name="Oval 7"/>
          <p:cNvSpPr/>
          <p:nvPr/>
        </p:nvSpPr>
        <p:spPr>
          <a:xfrm>
            <a:off x="7498079" y="2441448"/>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79" y="2441448"/>
            <a:ext cx="384048" cy="384048"/>
          </a:xfrm>
          <a:prstGeom prst="rect">
            <a:avLst/>
          </a:prstGeom>
          <a:noFill/>
        </p:spPr>
        <p:txBody>
          <a:bodyPr wrap="square" lIns="0" rIns="0" tIns="0" bIns="0" anchor="ctr">
            <a:spAutoFit/>
          </a:bodyPr>
          <a:lstStyle/>
          <a:p>
            <a:pPr algn="ctr"/>
            <a:r>
              <a:rPr sz="1500" b="1" i="0">
                <a:solidFill>
                  <a:srgbClr val="FFFFFF"/>
                </a:solidFill>
                <a:latin typeface="Arial"/>
              </a:rPr>
              <a:t>2</a:t>
            </a:r>
          </a:p>
        </p:txBody>
      </p:sp>
      <p:sp>
        <p:nvSpPr>
          <p:cNvPr id="10" name="TextBox 9"/>
          <p:cNvSpPr txBox="1"/>
          <p:nvPr/>
        </p:nvSpPr>
        <p:spPr>
          <a:xfrm>
            <a:off x="8028431" y="2423160"/>
            <a:ext cx="3611880" cy="1097280"/>
          </a:xfrm>
          <a:prstGeom prst="rect">
            <a:avLst/>
          </a:prstGeom>
          <a:noFill/>
        </p:spPr>
        <p:txBody>
          <a:bodyPr wrap="square" lIns="0" rIns="0" tIns="0" bIns="0" anchor="t">
            <a:spAutoFit/>
          </a:bodyPr>
          <a:lstStyle/>
          <a:p>
            <a:pPr algn="l"/>
            <a:r>
              <a:rPr sz="1300" b="1" i="0">
                <a:solidFill>
                  <a:srgbClr val="1F3B57"/>
                </a:solidFill>
                <a:latin typeface="Arial"/>
              </a:rPr>
              <a:t>Local conditions. </a:t>
            </a:r>
            <a:r>
              <a:rPr sz="1300" b="0" i="0">
                <a:solidFill>
                  <a:srgbClr val="22333F"/>
                </a:solidFill>
                <a:latin typeface="Arial"/>
              </a:rPr>
              <a:t>Six LGA measures shape differences within a state: maternal care, improved water, wealth, travel time to a facility, conflict and poverty.</a:t>
            </a:r>
          </a:p>
        </p:txBody>
      </p:sp>
      <p:sp>
        <p:nvSpPr>
          <p:cNvPr id="11" name="Oval 10"/>
          <p:cNvSpPr/>
          <p:nvPr/>
        </p:nvSpPr>
        <p:spPr>
          <a:xfrm>
            <a:off x="7498079" y="3602736"/>
            <a:ext cx="384048" cy="384048"/>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602736"/>
            <a:ext cx="384048" cy="384048"/>
          </a:xfrm>
          <a:prstGeom prst="rect">
            <a:avLst/>
          </a:prstGeom>
          <a:noFill/>
        </p:spPr>
        <p:txBody>
          <a:bodyPr wrap="square" lIns="0" rIns="0" tIns="0" bIns="0" anchor="ctr">
            <a:spAutoFit/>
          </a:bodyPr>
          <a:lstStyle/>
          <a:p>
            <a:pPr algn="ctr"/>
            <a:r>
              <a:rPr sz="1500" b="1" i="0">
                <a:solidFill>
                  <a:srgbClr val="FFFFFF"/>
                </a:solidFill>
                <a:latin typeface="Arial"/>
              </a:rPr>
              <a:t>3</a:t>
            </a:r>
          </a:p>
        </p:txBody>
      </p:sp>
      <p:sp>
        <p:nvSpPr>
          <p:cNvPr id="13" name="TextBox 12"/>
          <p:cNvSpPr txBox="1"/>
          <p:nvPr/>
        </p:nvSpPr>
        <p:spPr>
          <a:xfrm>
            <a:off x="8028431" y="3584448"/>
            <a:ext cx="3611880" cy="1097280"/>
          </a:xfrm>
          <a:prstGeom prst="rect">
            <a:avLst/>
          </a:prstGeom>
          <a:noFill/>
        </p:spPr>
        <p:txBody>
          <a:bodyPr wrap="square" lIns="0" rIns="0" tIns="0" bIns="0" anchor="t">
            <a:spAutoFit/>
          </a:bodyPr>
          <a:lstStyle/>
          <a:p>
            <a:pPr algn="l"/>
            <a:r>
              <a:rPr sz="1300" b="1" i="0">
                <a:solidFill>
                  <a:srgbClr val="1F3B57"/>
                </a:solidFill>
                <a:latin typeface="Arial"/>
              </a:rPr>
              <a:t>Neighbours. </a:t>
            </a:r>
            <a:r>
              <a:rPr sz="1300" b="0" i="0">
                <a:solidFill>
                  <a:srgbClr val="22333F"/>
                </a:solidFill>
                <a:latin typeface="Arial"/>
              </a:rPr>
              <a:t>A spatial term (BYM2) lets neighbouring LGAs share information, so sparse areas borrow strength from their surroundings.</a:t>
            </a:r>
          </a:p>
        </p:txBody>
      </p:sp>
      <p:sp>
        <p:nvSpPr>
          <p:cNvPr id="14" name="Rectangle 13"/>
          <p:cNvSpPr/>
          <p:nvPr/>
        </p:nvSpPr>
        <p:spPr>
          <a:xfrm>
            <a:off x="548640" y="4892040"/>
            <a:ext cx="11091672" cy="114300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983479"/>
            <a:ext cx="10799064" cy="960120"/>
          </a:xfrm>
          <a:prstGeom prst="rect">
            <a:avLst/>
          </a:prstGeom>
          <a:noFill/>
        </p:spPr>
        <p:txBody>
          <a:bodyPr wrap="square" lIns="0" rIns="0" tIns="0" bIns="0" anchor="t">
            <a:spAutoFit/>
          </a:bodyPr>
          <a:lstStyle/>
          <a:p>
            <a:pPr algn="l"/>
            <a:r>
              <a:rPr sz="1300" b="1" i="0">
                <a:solidFill>
                  <a:srgbClr val="1F3B57"/>
                </a:solidFill>
                <a:latin typeface="Arial"/>
              </a:rPr>
              <a:t>Why a second method. </a:t>
            </a:r>
            <a:r>
              <a:rPr sz="1300" b="0" i="0">
                <a:solidFill>
                  <a:srgbClr val="22333F"/>
                </a:solidFill>
                <a:latin typeface="Arial"/>
              </a:rPr>
              <a:t>Method 1 distributes each state's estimate to its LGAs using routine DHIS2 Penta1 reporting. Method 2 does not use routine coverage at all: it combines survey levels with local conditions and geography, and gives every LGA its own 95% credible interval and a probability of being a priority. Reading both together shows which priorities are robust.</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NDHS = Nigeria Demographic and Health Survey; BYM2 = Besag-York-Mollie spatial model, version 2. Fitted in PyMC (4 chains x 8,000 draws). Covariates: DHS spatial surfaces 2018, Meta Relative Wealth Index, travel time to healthcare, ACLED, poverty.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zero-dose rate and its uncertainty, all 774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Every LGA has its own estimate and its own 95% credible interval.</a:t>
            </a:r>
          </a:p>
        </p:txBody>
      </p:sp>
      <p:pic>
        <p:nvPicPr>
          <p:cNvPr id="4" name="Picture 3" descr="M2_02_rate_and_uncertainty_maps.png"/>
          <p:cNvPicPr>
            <a:picLocks noChangeAspect="1"/>
          </p:cNvPicPr>
          <p:nvPr/>
        </p:nvPicPr>
        <p:blipFill>
          <a:blip r:embed="rId2"/>
          <a:stretch>
            <a:fillRect/>
          </a:stretch>
        </p:blipFill>
        <p:spPr>
          <a:xfrm>
            <a:off x="548640" y="1234440"/>
            <a:ext cx="8001000" cy="3421525"/>
          </a:xfrm>
          <a:prstGeom prst="rect">
            <a:avLst/>
          </a:prstGeom>
        </p:spPr>
      </p:pic>
      <p:sp>
        <p:nvSpPr>
          <p:cNvPr id="5" name="Rectangle 4"/>
          <p:cNvSpPr/>
          <p:nvPr/>
        </p:nvSpPr>
        <p:spPr>
          <a:xfrm>
            <a:off x="8823960" y="1234440"/>
            <a:ext cx="28163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1344168"/>
            <a:ext cx="2450592" cy="566928"/>
          </a:xfrm>
          <a:prstGeom prst="rect">
            <a:avLst/>
          </a:prstGeom>
          <a:noFill/>
        </p:spPr>
        <p:txBody>
          <a:bodyPr wrap="square" lIns="0" rIns="0" tIns="0" bIns="0" anchor="t">
            <a:spAutoFit/>
          </a:bodyPr>
          <a:lstStyle/>
          <a:p>
            <a:pPr algn="l"/>
            <a:r>
              <a:rPr sz="3200" b="1" i="0">
                <a:solidFill>
                  <a:srgbClr val="D55E00"/>
                </a:solidFill>
                <a:latin typeface="Arial"/>
              </a:rPr>
              <a:t>30.6%</a:t>
            </a:r>
          </a:p>
        </p:txBody>
      </p:sp>
      <p:sp>
        <p:nvSpPr>
          <p:cNvPr id="7" name="TextBox 6"/>
          <p:cNvSpPr txBox="1"/>
          <p:nvPr/>
        </p:nvSpPr>
        <p:spPr>
          <a:xfrm>
            <a:off x="9006840" y="1852168"/>
            <a:ext cx="2450592" cy="909320"/>
          </a:xfrm>
          <a:prstGeom prst="rect">
            <a:avLst/>
          </a:prstGeom>
          <a:noFill/>
        </p:spPr>
        <p:txBody>
          <a:bodyPr wrap="square" lIns="0" rIns="0" tIns="0" bIns="0" anchor="t">
            <a:spAutoFit/>
          </a:bodyPr>
          <a:lstStyle/>
          <a:p>
            <a:pPr algn="l"/>
            <a:r>
              <a:rPr sz="1200" b="1" i="0">
                <a:solidFill>
                  <a:srgbClr val="1F3B57"/>
                </a:solidFill>
                <a:latin typeface="Arial"/>
              </a:rPr>
              <a:t>national zero-dose rate, 2026 (95% CrI 26.5 to 35.0%)</a:t>
            </a:r>
          </a:p>
        </p:txBody>
      </p:sp>
      <p:sp>
        <p:nvSpPr>
          <p:cNvPr id="8" name="Rectangle 7"/>
          <p:cNvSpPr/>
          <p:nvPr/>
        </p:nvSpPr>
        <p:spPr>
          <a:xfrm>
            <a:off x="8823960" y="3108960"/>
            <a:ext cx="28163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3218688"/>
            <a:ext cx="2450592" cy="566928"/>
          </a:xfrm>
          <a:prstGeom prst="rect">
            <a:avLst/>
          </a:prstGeom>
          <a:noFill/>
        </p:spPr>
        <p:txBody>
          <a:bodyPr wrap="square" lIns="0" rIns="0" tIns="0" bIns="0" anchor="t">
            <a:spAutoFit/>
          </a:bodyPr>
          <a:lstStyle/>
          <a:p>
            <a:pPr algn="l"/>
            <a:r>
              <a:rPr sz="3200" b="1" i="0">
                <a:solidFill>
                  <a:srgbClr val="D55E00"/>
                </a:solidFill>
                <a:latin typeface="Arial"/>
              </a:rPr>
              <a:t>50.6%</a:t>
            </a:r>
          </a:p>
        </p:txBody>
      </p:sp>
      <p:sp>
        <p:nvSpPr>
          <p:cNvPr id="10" name="TextBox 9"/>
          <p:cNvSpPr txBox="1"/>
          <p:nvPr/>
        </p:nvSpPr>
        <p:spPr>
          <a:xfrm>
            <a:off x="9006840" y="3726688"/>
            <a:ext cx="2450592" cy="909320"/>
          </a:xfrm>
          <a:prstGeom prst="rect">
            <a:avLst/>
          </a:prstGeom>
          <a:noFill/>
        </p:spPr>
        <p:txBody>
          <a:bodyPr wrap="square" lIns="0" rIns="0" tIns="0" bIns="0" anchor="t">
            <a:spAutoFit/>
          </a:bodyPr>
          <a:lstStyle/>
          <a:p>
            <a:pPr algn="l"/>
            <a:r>
              <a:rPr sz="1200" b="1" i="0">
                <a:solidFill>
                  <a:srgbClr val="1F3B57"/>
                </a:solidFill>
                <a:latin typeface="Arial"/>
              </a:rPr>
              <a:t>North-West zone rate, the highest of the six zones</a:t>
            </a:r>
          </a:p>
        </p:txBody>
      </p:sp>
      <p:sp>
        <p:nvSpPr>
          <p:cNvPr id="11" name="Rectangle 10"/>
          <p:cNvSpPr/>
          <p:nvPr/>
        </p:nvSpPr>
        <p:spPr>
          <a:xfrm>
            <a:off x="548640" y="4983480"/>
            <a:ext cx="11091672" cy="10515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074920"/>
            <a:ext cx="10799064" cy="868680"/>
          </a:xfrm>
          <a:prstGeom prst="rect">
            <a:avLst/>
          </a:prstGeom>
          <a:noFill/>
        </p:spPr>
        <p:txBody>
          <a:bodyPr wrap="square" lIns="0" rIns="0" tIns="0" bIns="0" anchor="t">
            <a:spAutoFit/>
          </a:bodyPr>
          <a:lstStyle/>
          <a:p>
            <a:pPr algn="l"/>
            <a:r>
              <a:rPr sz="1300" b="1" i="0">
                <a:solidFill>
                  <a:srgbClr val="1F3B57"/>
                </a:solidFill>
                <a:latin typeface="Arial"/>
              </a:rPr>
              <a:t>How to read the right-hand map. </a:t>
            </a:r>
            <a:r>
              <a:rPr sz="1300" b="0" i="0">
                <a:solidFill>
                  <a:srgbClr val="22333F"/>
                </a:solidFill>
                <a:latin typeface="Arial"/>
              </a:rPr>
              <a:t>Wider intervals mark LGAs where survey anchors and local measures leave more room for error. These LGAs are the first candidates for local verification, for example a rapid coverage assessment, before large investments.</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CrI = credible interval. Sources: NDHS 2008-2024; NPC 2022; GRID3 boundaries; covariates as listed on the method slide.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zero-dose burden and priority probability</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Burden combines rate and child numbers; the probability shows how stable each priority is.</a:t>
            </a:r>
          </a:p>
        </p:txBody>
      </p:sp>
      <p:pic>
        <p:nvPicPr>
          <p:cNvPr id="4" name="Picture 3" descr="M2_03_burden_and_priority_maps.png"/>
          <p:cNvPicPr>
            <a:picLocks noChangeAspect="1"/>
          </p:cNvPicPr>
          <p:nvPr/>
        </p:nvPicPr>
        <p:blipFill>
          <a:blip r:embed="rId2"/>
          <a:stretch>
            <a:fillRect/>
          </a:stretch>
        </p:blipFill>
        <p:spPr>
          <a:xfrm>
            <a:off x="548640" y="1234440"/>
            <a:ext cx="8001000" cy="3141275"/>
          </a:xfrm>
          <a:prstGeom prst="rect">
            <a:avLst/>
          </a:prstGeom>
        </p:spPr>
      </p:pic>
      <p:sp>
        <p:nvSpPr>
          <p:cNvPr id="5" name="Rectangle 4"/>
          <p:cNvSpPr/>
          <p:nvPr/>
        </p:nvSpPr>
        <p:spPr>
          <a:xfrm>
            <a:off x="8823960" y="1234440"/>
            <a:ext cx="28163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06840" y="1344168"/>
            <a:ext cx="2450592" cy="566928"/>
          </a:xfrm>
          <a:prstGeom prst="rect">
            <a:avLst/>
          </a:prstGeom>
          <a:noFill/>
        </p:spPr>
        <p:txBody>
          <a:bodyPr wrap="square" lIns="0" rIns="0" tIns="0" bIns="0" anchor="t">
            <a:spAutoFit/>
          </a:bodyPr>
          <a:lstStyle/>
          <a:p>
            <a:pPr algn="l"/>
            <a:r>
              <a:rPr sz="2800" b="1" i="0">
                <a:solidFill>
                  <a:srgbClr val="D55E00"/>
                </a:solidFill>
                <a:latin typeface="Arial"/>
              </a:rPr>
              <a:t>2.15 million</a:t>
            </a:r>
          </a:p>
        </p:txBody>
      </p:sp>
      <p:sp>
        <p:nvSpPr>
          <p:cNvPr id="7" name="TextBox 6"/>
          <p:cNvSpPr txBox="1"/>
          <p:nvPr/>
        </p:nvSpPr>
        <p:spPr>
          <a:xfrm>
            <a:off x="9006840" y="1788668"/>
            <a:ext cx="2450592" cy="972820"/>
          </a:xfrm>
          <a:prstGeom prst="rect">
            <a:avLst/>
          </a:prstGeom>
          <a:noFill/>
        </p:spPr>
        <p:txBody>
          <a:bodyPr wrap="square" lIns="0" rIns="0" tIns="0" bIns="0" anchor="t">
            <a:spAutoFit/>
          </a:bodyPr>
          <a:lstStyle/>
          <a:p>
            <a:pPr algn="l"/>
            <a:r>
              <a:rPr sz="1200" b="1" i="0">
                <a:solidFill>
                  <a:srgbClr val="1F3B57"/>
                </a:solidFill>
                <a:latin typeface="Arial"/>
              </a:rPr>
              <a:t>zero-dose children in 2026 (95% CrI 1.86 to 2.46 million)</a:t>
            </a:r>
          </a:p>
        </p:txBody>
      </p:sp>
      <p:sp>
        <p:nvSpPr>
          <p:cNvPr id="8" name="Rectangle 7"/>
          <p:cNvSpPr/>
          <p:nvPr/>
        </p:nvSpPr>
        <p:spPr>
          <a:xfrm>
            <a:off x="8823960" y="3108960"/>
            <a:ext cx="28163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3218688"/>
            <a:ext cx="2450592" cy="566928"/>
          </a:xfrm>
          <a:prstGeom prst="rect">
            <a:avLst/>
          </a:prstGeom>
          <a:noFill/>
        </p:spPr>
        <p:txBody>
          <a:bodyPr wrap="square" lIns="0" rIns="0" tIns="0" bIns="0" anchor="t">
            <a:spAutoFit/>
          </a:bodyPr>
          <a:lstStyle/>
          <a:p>
            <a:pPr algn="l"/>
            <a:r>
              <a:rPr sz="3200" b="1" i="0">
                <a:solidFill>
                  <a:srgbClr val="D55E00"/>
                </a:solidFill>
                <a:latin typeface="Arial"/>
              </a:rPr>
              <a:t>54%</a:t>
            </a:r>
          </a:p>
        </p:txBody>
      </p:sp>
      <p:sp>
        <p:nvSpPr>
          <p:cNvPr id="10" name="TextBox 9"/>
          <p:cNvSpPr txBox="1"/>
          <p:nvPr/>
        </p:nvSpPr>
        <p:spPr>
          <a:xfrm>
            <a:off x="9006840" y="3726688"/>
            <a:ext cx="2450592" cy="909320"/>
          </a:xfrm>
          <a:prstGeom prst="rect">
            <a:avLst/>
          </a:prstGeom>
          <a:noFill/>
        </p:spPr>
        <p:txBody>
          <a:bodyPr wrap="square" lIns="0" rIns="0" tIns="0" bIns="0" anchor="t">
            <a:spAutoFit/>
          </a:bodyPr>
          <a:lstStyle/>
          <a:p>
            <a:pPr algn="l"/>
            <a:r>
              <a:rPr sz="1200" b="1" i="0">
                <a:solidFill>
                  <a:srgbClr val="1F3B57"/>
                </a:solidFill>
                <a:latin typeface="Arial"/>
              </a:rPr>
              <a:t>of the burden is in the top 20% of LGAs (155 LGAs)</a:t>
            </a:r>
          </a:p>
        </p:txBody>
      </p:sp>
      <p:sp>
        <p:nvSpPr>
          <p:cNvPr id="11" name="Rectangle 10"/>
          <p:cNvSpPr/>
          <p:nvPr/>
        </p:nvSpPr>
        <p:spPr>
          <a:xfrm>
            <a:off x="548640" y="4983480"/>
            <a:ext cx="11091672" cy="105156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074920"/>
            <a:ext cx="10799064" cy="868680"/>
          </a:xfrm>
          <a:prstGeom prst="rect">
            <a:avLst/>
          </a:prstGeom>
          <a:noFill/>
        </p:spPr>
        <p:txBody>
          <a:bodyPr wrap="square" lIns="0" rIns="0" tIns="0" bIns="0" anchor="t">
            <a:spAutoFit/>
          </a:bodyPr>
          <a:lstStyle/>
          <a:p>
            <a:pPr algn="l"/>
            <a:r>
              <a:rPr sz="1300" b="1" i="0">
                <a:solidFill>
                  <a:srgbClr val="1F3B57"/>
                </a:solidFill>
                <a:latin typeface="Arial"/>
              </a:rPr>
              <a:t>Priority probability. </a:t>
            </a:r>
            <a:r>
              <a:rPr sz="1300" b="0" i="0">
                <a:solidFill>
                  <a:srgbClr val="22333F"/>
                </a:solidFill>
                <a:latin typeface="Arial"/>
              </a:rPr>
              <a:t>For each LGA, the share of 4,000 model simulations in which it ranks among the 155 highest-burden LGAs. 40 LGAs are priorities in at least 90% of simulations; LGAs between 0.1 and 0.9 are borderline and should be confirmed with local data.</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Children aged 12-23 months from the 2024 under-five projection divided by five, shared by NPC 2022 LGA population.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the 20 highest-burden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Each bar shows the 95% credible interval; P is the probability of being among the top 155.</a:t>
            </a:r>
          </a:p>
        </p:txBody>
      </p:sp>
      <p:pic>
        <p:nvPicPr>
          <p:cNvPr id="4" name="Picture 3" descr="M2_04_top20_lgas.png"/>
          <p:cNvPicPr>
            <a:picLocks noChangeAspect="1"/>
          </p:cNvPicPr>
          <p:nvPr/>
        </p:nvPicPr>
        <p:blipFill>
          <a:blip r:embed="rId2"/>
          <a:stretch>
            <a:fillRect/>
          </a:stretch>
        </p:blipFill>
        <p:spPr>
          <a:xfrm>
            <a:off x="548640" y="1234440"/>
            <a:ext cx="6949440" cy="4836641"/>
          </a:xfrm>
          <a:prstGeom prst="rect">
            <a:avLst/>
          </a:prstGeom>
        </p:spPr>
      </p:pic>
      <p:sp>
        <p:nvSpPr>
          <p:cNvPr id="5" name="Rectangle 4"/>
          <p:cNvSpPr/>
          <p:nvPr/>
        </p:nvSpPr>
        <p:spPr>
          <a:xfrm>
            <a:off x="7818120" y="1234440"/>
            <a:ext cx="3822191" cy="14630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01000" y="1344168"/>
            <a:ext cx="3456432" cy="566928"/>
          </a:xfrm>
          <a:prstGeom prst="rect">
            <a:avLst/>
          </a:prstGeom>
          <a:noFill/>
        </p:spPr>
        <p:txBody>
          <a:bodyPr wrap="square" lIns="0" rIns="0" tIns="0" bIns="0" anchor="t">
            <a:spAutoFit/>
          </a:bodyPr>
          <a:lstStyle/>
          <a:p>
            <a:pPr algn="l"/>
            <a:r>
              <a:rPr sz="3200" b="1" i="0">
                <a:solidFill>
                  <a:srgbClr val="D55E00"/>
                </a:solidFill>
                <a:latin typeface="Arial"/>
              </a:rPr>
              <a:t>19 of 20</a:t>
            </a:r>
          </a:p>
        </p:txBody>
      </p:sp>
      <p:sp>
        <p:nvSpPr>
          <p:cNvPr id="7" name="TextBox 6"/>
          <p:cNvSpPr txBox="1"/>
          <p:nvPr/>
        </p:nvSpPr>
        <p:spPr>
          <a:xfrm>
            <a:off x="8001000" y="1852168"/>
            <a:ext cx="3456432" cy="680720"/>
          </a:xfrm>
          <a:prstGeom prst="rect">
            <a:avLst/>
          </a:prstGeom>
          <a:noFill/>
        </p:spPr>
        <p:txBody>
          <a:bodyPr wrap="square" lIns="0" rIns="0" tIns="0" bIns="0" anchor="t">
            <a:spAutoFit/>
          </a:bodyPr>
          <a:lstStyle/>
          <a:p>
            <a:pPr algn="l"/>
            <a:r>
              <a:rPr sz="1300" b="1" i="0">
                <a:solidFill>
                  <a:srgbClr val="1F3B57"/>
                </a:solidFill>
                <a:latin typeface="Arial"/>
              </a:rPr>
              <a:t>are in the North-West zone</a:t>
            </a:r>
          </a:p>
        </p:txBody>
      </p:sp>
      <p:sp>
        <p:nvSpPr>
          <p:cNvPr id="8" name="Rectangle 7"/>
          <p:cNvSpPr/>
          <p:nvPr/>
        </p:nvSpPr>
        <p:spPr>
          <a:xfrm>
            <a:off x="7818120" y="2834640"/>
            <a:ext cx="3822191" cy="14630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2944368"/>
            <a:ext cx="3456432" cy="566928"/>
          </a:xfrm>
          <a:prstGeom prst="rect">
            <a:avLst/>
          </a:prstGeom>
          <a:noFill/>
        </p:spPr>
        <p:txBody>
          <a:bodyPr wrap="square" lIns="0" rIns="0" tIns="0" bIns="0" anchor="t">
            <a:spAutoFit/>
          </a:bodyPr>
          <a:lstStyle/>
          <a:p>
            <a:pPr algn="l"/>
            <a:r>
              <a:rPr sz="3200" b="1" i="0">
                <a:solidFill>
                  <a:srgbClr val="D55E00"/>
                </a:solidFill>
                <a:latin typeface="Arial"/>
              </a:rPr>
              <a:t>19 of 20</a:t>
            </a:r>
          </a:p>
        </p:txBody>
      </p:sp>
      <p:sp>
        <p:nvSpPr>
          <p:cNvPr id="10" name="TextBox 9"/>
          <p:cNvSpPr txBox="1"/>
          <p:nvPr/>
        </p:nvSpPr>
        <p:spPr>
          <a:xfrm>
            <a:off x="8001000" y="3452368"/>
            <a:ext cx="3456432" cy="680720"/>
          </a:xfrm>
          <a:prstGeom prst="rect">
            <a:avLst/>
          </a:prstGeom>
          <a:noFill/>
        </p:spPr>
        <p:txBody>
          <a:bodyPr wrap="square" lIns="0" rIns="0" tIns="0" bIns="0" anchor="t">
            <a:spAutoFit/>
          </a:bodyPr>
          <a:lstStyle/>
          <a:p>
            <a:pPr algn="l"/>
            <a:r>
              <a:rPr sz="1300" b="1" i="0">
                <a:solidFill>
                  <a:srgbClr val="1F3B57"/>
                </a:solidFill>
                <a:latin typeface="Arial"/>
              </a:rPr>
              <a:t>are priorities in at least 90% of simulations</a:t>
            </a:r>
          </a:p>
        </p:txBody>
      </p:sp>
      <p:sp>
        <p:nvSpPr>
          <p:cNvPr id="11" name="Rectangle 10"/>
          <p:cNvSpPr/>
          <p:nvPr/>
        </p:nvSpPr>
        <p:spPr>
          <a:xfrm>
            <a:off x="7818120" y="4434840"/>
            <a:ext cx="3822191" cy="16002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64424" y="4526279"/>
            <a:ext cx="3529584" cy="1417320"/>
          </a:xfrm>
          <a:prstGeom prst="rect">
            <a:avLst/>
          </a:prstGeom>
          <a:noFill/>
        </p:spPr>
        <p:txBody>
          <a:bodyPr wrap="square" lIns="0" rIns="0" tIns="0" bIns="0" anchor="t">
            <a:spAutoFit/>
          </a:bodyPr>
          <a:lstStyle/>
          <a:p>
            <a:pPr algn="l"/>
            <a:r>
              <a:rPr sz="1200" b="1" i="0">
                <a:solidFill>
                  <a:srgbClr val="1F3B57"/>
                </a:solidFill>
                <a:latin typeface="Arial"/>
              </a:rPr>
              <a:t>Concentration. </a:t>
            </a:r>
            <a:r>
              <a:rPr sz="1200" b="0" i="0">
                <a:solidFill>
                  <a:srgbClr val="22333F"/>
                </a:solidFill>
                <a:latin typeface="Arial"/>
              </a:rPr>
              <a:t>Zamfara 8, Kebbi 5, Sokoto 3, Katsina 1, FCT 1, Jigawa 1, Kano 1. These LGAs combine high rates with large child populations.</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2026. Ranks from 4,000 posterior draws.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model performance and diagnostics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model fits every survey round, passes an independent survey check, and its sampler converged cleanly.</a:t>
            </a:r>
          </a:p>
        </p:txBody>
      </p:sp>
      <p:pic>
        <p:nvPicPr>
          <p:cNvPr id="4" name="Picture 3" descr="M2_05_diagnostics.png"/>
          <p:cNvPicPr>
            <a:picLocks noChangeAspect="1"/>
          </p:cNvPicPr>
          <p:nvPr/>
        </p:nvPicPr>
        <p:blipFill>
          <a:blip r:embed="rId2"/>
          <a:stretch>
            <a:fillRect/>
          </a:stretch>
        </p:blipFill>
        <p:spPr>
          <a:xfrm>
            <a:off x="885305" y="1188720"/>
            <a:ext cx="10418341" cy="3794760"/>
          </a:xfrm>
          <a:prstGeom prst="rect">
            <a:avLst/>
          </a:prstGeom>
        </p:spPr>
      </p:pic>
      <p:sp>
        <p:nvSpPr>
          <p:cNvPr id="5" name="Rectangle 4"/>
          <p:cNvSpPr/>
          <p:nvPr/>
        </p:nvSpPr>
        <p:spPr>
          <a:xfrm>
            <a:off x="548640"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1.003</a:t>
            </a:r>
          </a:p>
        </p:txBody>
      </p:sp>
      <p:sp>
        <p:nvSpPr>
          <p:cNvPr id="7" name="TextBox 6"/>
          <p:cNvSpPr txBox="1"/>
          <p:nvPr/>
        </p:nvSpPr>
        <p:spPr>
          <a:xfrm>
            <a:off x="658368"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maximum R-hat (target below 1.01)</a:t>
            </a:r>
          </a:p>
        </p:txBody>
      </p:sp>
      <p:sp>
        <p:nvSpPr>
          <p:cNvPr id="8" name="Rectangle 7"/>
          <p:cNvSpPr/>
          <p:nvPr/>
        </p:nvSpPr>
        <p:spPr>
          <a:xfrm>
            <a:off x="2794406"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04134"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2,549</a:t>
            </a:r>
          </a:p>
        </p:txBody>
      </p:sp>
      <p:sp>
        <p:nvSpPr>
          <p:cNvPr id="10" name="TextBox 9"/>
          <p:cNvSpPr txBox="1"/>
          <p:nvPr/>
        </p:nvSpPr>
        <p:spPr>
          <a:xfrm>
            <a:off x="2904134"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minimum effective sample size (target above 400)</a:t>
            </a:r>
          </a:p>
        </p:txBody>
      </p:sp>
      <p:sp>
        <p:nvSpPr>
          <p:cNvPr id="11" name="Rectangle 10"/>
          <p:cNvSpPr/>
          <p:nvPr/>
        </p:nvSpPr>
        <p:spPr>
          <a:xfrm>
            <a:off x="5040172"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49900"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0</a:t>
            </a:r>
          </a:p>
        </p:txBody>
      </p:sp>
      <p:sp>
        <p:nvSpPr>
          <p:cNvPr id="13" name="TextBox 12"/>
          <p:cNvSpPr txBox="1"/>
          <p:nvPr/>
        </p:nvSpPr>
        <p:spPr>
          <a:xfrm>
            <a:off x="5149900"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divergent transitions</a:t>
            </a:r>
          </a:p>
        </p:txBody>
      </p:sp>
      <p:sp>
        <p:nvSpPr>
          <p:cNvPr id="14" name="Rectangle 13"/>
          <p:cNvSpPr/>
          <p:nvPr/>
        </p:nvSpPr>
        <p:spPr>
          <a:xfrm>
            <a:off x="7285939"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95667"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98%</a:t>
            </a:r>
          </a:p>
        </p:txBody>
      </p:sp>
      <p:sp>
        <p:nvSpPr>
          <p:cNvPr id="16" name="TextBox 15"/>
          <p:cNvSpPr txBox="1"/>
          <p:nvPr/>
        </p:nvSpPr>
        <p:spPr>
          <a:xfrm>
            <a:off x="7395667"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of NDHS state-round values inside the 95% predictive interval</a:t>
            </a:r>
          </a:p>
        </p:txBody>
      </p:sp>
      <p:sp>
        <p:nvSpPr>
          <p:cNvPr id="17" name="Rectangle 16"/>
          <p:cNvSpPr/>
          <p:nvPr/>
        </p:nvSpPr>
        <p:spPr>
          <a:xfrm>
            <a:off x="9531705" y="5074920"/>
            <a:ext cx="2108606"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41433" y="5120640"/>
            <a:ext cx="1889150" cy="384048"/>
          </a:xfrm>
          <a:prstGeom prst="rect">
            <a:avLst/>
          </a:prstGeom>
          <a:noFill/>
        </p:spPr>
        <p:txBody>
          <a:bodyPr wrap="square" lIns="0" rIns="0" tIns="0" bIns="0" anchor="t">
            <a:spAutoFit/>
          </a:bodyPr>
          <a:lstStyle/>
          <a:p>
            <a:pPr algn="l"/>
            <a:r>
              <a:rPr sz="2000" b="1" i="0">
                <a:solidFill>
                  <a:srgbClr val="1C7A3D"/>
                </a:solidFill>
                <a:latin typeface="Arial"/>
              </a:rPr>
              <a:t>rho 0.87</a:t>
            </a:r>
          </a:p>
        </p:txBody>
      </p:sp>
      <p:sp>
        <p:nvSpPr>
          <p:cNvPr id="19" name="TextBox 18"/>
          <p:cNvSpPr txBox="1"/>
          <p:nvPr/>
        </p:nvSpPr>
        <p:spPr>
          <a:xfrm>
            <a:off x="9641433" y="5504688"/>
            <a:ext cx="1889150" cy="566928"/>
          </a:xfrm>
          <a:prstGeom prst="rect">
            <a:avLst/>
          </a:prstGeom>
          <a:noFill/>
        </p:spPr>
        <p:txBody>
          <a:bodyPr wrap="square" lIns="0" rIns="0" tIns="0" bIns="0" anchor="t">
            <a:spAutoFit/>
          </a:bodyPr>
          <a:lstStyle/>
          <a:p>
            <a:pPr algn="l"/>
            <a:r>
              <a:rPr sz="1050" b="1" i="0">
                <a:solidFill>
                  <a:srgbClr val="1F3B57"/>
                </a:solidFill>
                <a:latin typeface="Arial"/>
              </a:rPr>
              <a:t>against NmDHS 2025-26 (37 states); mean absolute error 5.9 points</a:t>
            </a:r>
          </a:p>
        </p:txBody>
      </p:sp>
      <p:sp>
        <p:nvSpPr>
          <p:cNvPr id="20" name="TextBox 19"/>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Method 2: Bayesian small-area estimation (SAE). 1,649 parameters; 4 chains x 8,000 draws after 3,000 tuning steps. NmDHS = Nigeria mini Demographic and Health Survey, not used in fitting.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2: what explains differences between LGAs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Maternal care is the strongest and most certain predictor of zero-dose within states.</a:t>
            </a:r>
          </a:p>
        </p:txBody>
      </p:sp>
      <p:pic>
        <p:nvPicPr>
          <p:cNvPr id="4" name="Picture 3" descr="M2_06_covariate_effects.png"/>
          <p:cNvPicPr>
            <a:picLocks noChangeAspect="1"/>
          </p:cNvPicPr>
          <p:nvPr/>
        </p:nvPicPr>
        <p:blipFill>
          <a:blip r:embed="rId2"/>
          <a:stretch>
            <a:fillRect/>
          </a:stretch>
        </p:blipFill>
        <p:spPr>
          <a:xfrm>
            <a:off x="548640" y="1234440"/>
            <a:ext cx="6400800" cy="3085513"/>
          </a:xfrm>
          <a:prstGeom prst="rect">
            <a:avLst/>
          </a:prstGeom>
        </p:spPr>
      </p:pic>
      <p:graphicFrame>
        <p:nvGraphicFramePr>
          <p:cNvPr id="5" name="Table 4"/>
          <p:cNvGraphicFramePr>
            <a:graphicFrameLocks noGrp="1"/>
          </p:cNvGraphicFramePr>
          <p:nvPr/>
        </p:nvGraphicFramePr>
        <p:xfrm>
          <a:off x="7178040" y="1234440"/>
          <a:ext cx="4462272" cy="2880360"/>
        </p:xfrm>
        <a:graphic>
          <a:graphicData uri="http://schemas.openxmlformats.org/drawingml/2006/table">
            <a:tbl>
              <a:tblPr firstRow="1" bandRow="0">
                <a:tableStyleId>{2D5ABB26-0587-4C30-8999-92F81FD0307C}</a:tableStyleId>
              </a:tblPr>
              <a:tblGrid>
                <a:gridCol w="1783080"/>
                <a:gridCol w="1783080"/>
                <a:gridCol w="896112"/>
              </a:tblGrid>
              <a:tr h="411480">
                <a:tc>
                  <a:txBody>
                    <a:bodyPr wrap="square"/>
                    <a:lstStyle/>
                    <a:p>
                      <a:pPr algn="l"/>
                      <a:r>
                        <a:rPr sz="1100" b="1">
                          <a:solidFill>
                            <a:srgbClr val="FFFFFF"/>
                          </a:solidFill>
                          <a:latin typeface="Arial"/>
                        </a:rPr>
                        <a:t>Local measure</a:t>
                      </a:r>
                    </a:p>
                  </a:txBody>
                  <a:tcPr marL="64008" marR="64008" marT="22860" marB="22860" anchor="ctr">
                    <a:solidFill>
                      <a:srgbClr val="1F3B57"/>
                    </a:solidFill>
                  </a:tcPr>
                </a:tc>
                <a:tc>
                  <a:txBody>
                    <a:bodyPr wrap="square"/>
                    <a:lstStyle/>
                    <a:p>
                      <a:pPr algn="ctr"/>
                      <a:r>
                        <a:rPr sz="1100" b="1">
                          <a:solidFill>
                            <a:srgbClr val="FFFFFF"/>
                          </a:solidFill>
                          <a:latin typeface="Arial"/>
                        </a:rPr>
                        <a:t>Effect (95% CrI)</a:t>
                      </a:r>
                    </a:p>
                  </a:txBody>
                  <a:tcPr marL="64008" marR="64008" marT="22860" marB="22860" anchor="ctr">
                    <a:solidFill>
                      <a:srgbClr val="1F3B57"/>
                    </a:solidFill>
                  </a:tcPr>
                </a:tc>
                <a:tc>
                  <a:txBody>
                    <a:bodyPr wrap="square"/>
                    <a:lstStyle/>
                    <a:p>
                      <a:pPr algn="ctr"/>
                      <a:r>
                        <a:rPr sz="1100" b="1">
                          <a:solidFill>
                            <a:srgbClr val="FFFFFF"/>
                          </a:solidFill>
                          <a:latin typeface="Arial"/>
                        </a:rPr>
                        <a:t>Odds ratio</a:t>
                      </a:r>
                    </a:p>
                  </a:txBody>
                  <a:tcPr marL="64008" marR="64008" marT="22860" marB="22860" anchor="ctr">
                    <a:solidFill>
                      <a:srgbClr val="1F3B57"/>
                    </a:solidFill>
                  </a:tcPr>
                </a:tc>
              </a:tr>
              <a:tr h="411480">
                <a:tc>
                  <a:txBody>
                    <a:bodyPr wrap="square"/>
                    <a:lstStyle/>
                    <a:p>
                      <a:pPr algn="l"/>
                      <a:r>
                        <a:rPr sz="1100" b="0">
                          <a:solidFill>
                            <a:srgbClr val="22333F"/>
                          </a:solidFill>
                          <a:latin typeface="Arial"/>
                        </a:rPr>
                        <a:t>Maternal care</a:t>
                      </a:r>
                    </a:p>
                  </a:txBody>
                  <a:tcPr marL="64008" marR="64008" marT="22860" marB="22860" anchor="ctr">
                    <a:solidFill>
                      <a:srgbClr val="FFFFFF"/>
                    </a:solidFill>
                  </a:tcPr>
                </a:tc>
                <a:tc>
                  <a:txBody>
                    <a:bodyPr wrap="square"/>
                    <a:lstStyle/>
                    <a:p>
                      <a:pPr algn="r"/>
                      <a:r>
                        <a:rPr sz="1100" b="0">
                          <a:solidFill>
                            <a:srgbClr val="22333F"/>
                          </a:solidFill>
                          <a:latin typeface="Arial"/>
                        </a:rPr>
                        <a:t>-0.83 (-1.29 to -0.37)</a:t>
                      </a:r>
                    </a:p>
                  </a:txBody>
                  <a:tcPr marL="64008" marR="64008" marT="22860" marB="22860" anchor="ctr">
                    <a:solidFill>
                      <a:srgbClr val="FFFFFF"/>
                    </a:solidFill>
                  </a:tcPr>
                </a:tc>
                <a:tc>
                  <a:txBody>
                    <a:bodyPr wrap="square"/>
                    <a:lstStyle/>
                    <a:p>
                      <a:pPr algn="r"/>
                      <a:r>
                        <a:rPr sz="1100" b="0">
                          <a:solidFill>
                            <a:srgbClr val="22333F"/>
                          </a:solidFill>
                          <a:latin typeface="Arial"/>
                        </a:rPr>
                        <a:t>0.44</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Improved water</a:t>
                      </a:r>
                    </a:p>
                  </a:txBody>
                  <a:tcPr marL="64008" marR="64008" marT="22860" marB="22860" anchor="ctr">
                    <a:solidFill>
                      <a:srgbClr val="EEF2F6"/>
                    </a:solidFill>
                  </a:tcPr>
                </a:tc>
                <a:tc>
                  <a:txBody>
                    <a:bodyPr wrap="square"/>
                    <a:lstStyle/>
                    <a:p>
                      <a:pPr algn="r"/>
                      <a:r>
                        <a:rPr sz="1100" b="0">
                          <a:solidFill>
                            <a:srgbClr val="22333F"/>
                          </a:solidFill>
                          <a:latin typeface="Arial"/>
                        </a:rPr>
                        <a:t>-0.42 (-0.88 to -0.00)</a:t>
                      </a:r>
                    </a:p>
                  </a:txBody>
                  <a:tcPr marL="64008" marR="64008" marT="22860" marB="22860" anchor="ctr">
                    <a:solidFill>
                      <a:srgbClr val="EEF2F6"/>
                    </a:solidFill>
                  </a:tcPr>
                </a:tc>
                <a:tc>
                  <a:txBody>
                    <a:bodyPr wrap="square"/>
                    <a:lstStyle/>
                    <a:p>
                      <a:pPr algn="r"/>
                      <a:r>
                        <a:rPr sz="1100" b="0">
                          <a:solidFill>
                            <a:srgbClr val="22333F"/>
                          </a:solidFill>
                          <a:latin typeface="Arial"/>
                        </a:rPr>
                        <a:t>0.65</a:t>
                      </a:r>
                    </a:p>
                  </a:txBody>
                  <a:tcPr marL="64008" marR="64008" marT="22860" marB="22860" anchor="ctr">
                    <a:solidFill>
                      <a:srgbClr val="EEF2F6"/>
                    </a:solidFill>
                  </a:tcPr>
                </a:tc>
              </a:tr>
              <a:tr h="411480">
                <a:tc>
                  <a:txBody>
                    <a:bodyPr wrap="square"/>
                    <a:lstStyle/>
                    <a:p>
                      <a:pPr algn="l"/>
                      <a:r>
                        <a:rPr sz="1100" b="0">
                          <a:solidFill>
                            <a:srgbClr val="22333F"/>
                          </a:solidFill>
                          <a:latin typeface="Arial"/>
                        </a:rPr>
                        <a:t>Relative wealth</a:t>
                      </a:r>
                    </a:p>
                  </a:txBody>
                  <a:tcPr marL="64008" marR="64008" marT="22860" marB="22860" anchor="ctr">
                    <a:solidFill>
                      <a:srgbClr val="FFFFFF"/>
                    </a:solidFill>
                  </a:tcPr>
                </a:tc>
                <a:tc>
                  <a:txBody>
                    <a:bodyPr wrap="square"/>
                    <a:lstStyle/>
                    <a:p>
                      <a:pPr algn="r"/>
                      <a:r>
                        <a:rPr sz="1100" b="0">
                          <a:solidFill>
                            <a:srgbClr val="22333F"/>
                          </a:solidFill>
                          <a:latin typeface="Arial"/>
                        </a:rPr>
                        <a:t>-0.31 (-0.77 to +0.16)</a:t>
                      </a:r>
                    </a:p>
                  </a:txBody>
                  <a:tcPr marL="64008" marR="64008" marT="22860" marB="22860" anchor="ctr">
                    <a:solidFill>
                      <a:srgbClr val="FFFFFF"/>
                    </a:solidFill>
                  </a:tcPr>
                </a:tc>
                <a:tc>
                  <a:txBody>
                    <a:bodyPr wrap="square"/>
                    <a:lstStyle/>
                    <a:p>
                      <a:pPr algn="r"/>
                      <a:r>
                        <a:rPr sz="1100" b="0">
                          <a:solidFill>
                            <a:srgbClr val="22333F"/>
                          </a:solidFill>
                          <a:latin typeface="Arial"/>
                        </a:rPr>
                        <a:t>0.73</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Travel time to facility</a:t>
                      </a:r>
                    </a:p>
                  </a:txBody>
                  <a:tcPr marL="64008" marR="64008" marT="22860" marB="22860" anchor="ctr">
                    <a:solidFill>
                      <a:srgbClr val="EEF2F6"/>
                    </a:solidFill>
                  </a:tcPr>
                </a:tc>
                <a:tc>
                  <a:txBody>
                    <a:bodyPr wrap="square"/>
                    <a:lstStyle/>
                    <a:p>
                      <a:pPr algn="r"/>
                      <a:r>
                        <a:rPr sz="1100" b="0">
                          <a:solidFill>
                            <a:srgbClr val="22333F"/>
                          </a:solidFill>
                          <a:latin typeface="Arial"/>
                        </a:rPr>
                        <a:t>-0.06 (-0.58 to +0.46)</a:t>
                      </a:r>
                    </a:p>
                  </a:txBody>
                  <a:tcPr marL="64008" marR="64008" marT="22860" marB="22860" anchor="ctr">
                    <a:solidFill>
                      <a:srgbClr val="EEF2F6"/>
                    </a:solidFill>
                  </a:tcPr>
                </a:tc>
                <a:tc>
                  <a:txBody>
                    <a:bodyPr wrap="square"/>
                    <a:lstStyle/>
                    <a:p>
                      <a:pPr algn="r"/>
                      <a:r>
                        <a:rPr sz="1100" b="0">
                          <a:solidFill>
                            <a:srgbClr val="22333F"/>
                          </a:solidFill>
                          <a:latin typeface="Arial"/>
                        </a:rPr>
                        <a:t>0.95</a:t>
                      </a:r>
                    </a:p>
                  </a:txBody>
                  <a:tcPr marL="64008" marR="64008" marT="22860" marB="22860" anchor="ctr">
                    <a:solidFill>
                      <a:srgbClr val="EEF2F6"/>
                    </a:solidFill>
                  </a:tcPr>
                </a:tc>
              </a:tr>
              <a:tr h="411480">
                <a:tc>
                  <a:txBody>
                    <a:bodyPr wrap="square"/>
                    <a:lstStyle/>
                    <a:p>
                      <a:pPr algn="l"/>
                      <a:r>
                        <a:rPr sz="1100" b="0">
                          <a:solidFill>
                            <a:srgbClr val="22333F"/>
                          </a:solidFill>
                          <a:latin typeface="Arial"/>
                        </a:rPr>
                        <a:t>Conflict events</a:t>
                      </a:r>
                    </a:p>
                  </a:txBody>
                  <a:tcPr marL="64008" marR="64008" marT="22860" marB="22860" anchor="ctr">
                    <a:solidFill>
                      <a:srgbClr val="FFFFFF"/>
                    </a:solidFill>
                  </a:tcPr>
                </a:tc>
                <a:tc>
                  <a:txBody>
                    <a:bodyPr wrap="square"/>
                    <a:lstStyle/>
                    <a:p>
                      <a:pPr algn="r"/>
                      <a:r>
                        <a:rPr sz="1100" b="0">
                          <a:solidFill>
                            <a:srgbClr val="22333F"/>
                          </a:solidFill>
                          <a:latin typeface="Arial"/>
                        </a:rPr>
                        <a:t>-0.11 (-0.39 to +0.16)</a:t>
                      </a:r>
                    </a:p>
                  </a:txBody>
                  <a:tcPr marL="64008" marR="64008" marT="22860" marB="22860" anchor="ctr">
                    <a:solidFill>
                      <a:srgbClr val="FFFFFF"/>
                    </a:solidFill>
                  </a:tcPr>
                </a:tc>
                <a:tc>
                  <a:txBody>
                    <a:bodyPr wrap="square"/>
                    <a:lstStyle/>
                    <a:p>
                      <a:pPr algn="r"/>
                      <a:r>
                        <a:rPr sz="1100" b="0">
                          <a:solidFill>
                            <a:srgbClr val="22333F"/>
                          </a:solidFill>
                          <a:latin typeface="Arial"/>
                        </a:rPr>
                        <a:t>0.89</a:t>
                      </a:r>
                    </a:p>
                  </a:txBody>
                  <a:tcPr marL="64008" marR="64008" marT="22860" marB="22860" anchor="ctr">
                    <a:solidFill>
                      <a:srgbClr val="FFFFFF"/>
                    </a:solidFill>
                  </a:tcPr>
                </a:tc>
              </a:tr>
              <a:tr h="411480">
                <a:tc>
                  <a:txBody>
                    <a:bodyPr wrap="square"/>
                    <a:lstStyle/>
                    <a:p>
                      <a:pPr algn="l"/>
                      <a:r>
                        <a:rPr sz="1100" b="0">
                          <a:solidFill>
                            <a:srgbClr val="22333F"/>
                          </a:solidFill>
                          <a:latin typeface="Arial"/>
                        </a:rPr>
                        <a:t>Poverty rate</a:t>
                      </a:r>
                    </a:p>
                  </a:txBody>
                  <a:tcPr marL="64008" marR="64008" marT="22860" marB="22860" anchor="ctr">
                    <a:solidFill>
                      <a:srgbClr val="EEF2F6"/>
                    </a:solidFill>
                  </a:tcPr>
                </a:tc>
                <a:tc>
                  <a:txBody>
                    <a:bodyPr wrap="square"/>
                    <a:lstStyle/>
                    <a:p>
                      <a:pPr algn="r"/>
                      <a:r>
                        <a:rPr sz="1100" b="0">
                          <a:solidFill>
                            <a:srgbClr val="22333F"/>
                          </a:solidFill>
                          <a:latin typeface="Arial"/>
                        </a:rPr>
                        <a:t>-0.28 (-0.60 to +0.02)</a:t>
                      </a:r>
                    </a:p>
                  </a:txBody>
                  <a:tcPr marL="64008" marR="64008" marT="22860" marB="22860" anchor="ctr">
                    <a:solidFill>
                      <a:srgbClr val="EEF2F6"/>
                    </a:solidFill>
                  </a:tcPr>
                </a:tc>
                <a:tc>
                  <a:txBody>
                    <a:bodyPr wrap="square"/>
                    <a:lstStyle/>
                    <a:p>
                      <a:pPr algn="r"/>
                      <a:r>
                        <a:rPr sz="1100" b="0">
                          <a:solidFill>
                            <a:srgbClr val="22333F"/>
                          </a:solidFill>
                          <a:latin typeface="Arial"/>
                        </a:rPr>
                        <a:t>0.75</a:t>
                      </a:r>
                    </a:p>
                  </a:txBody>
                  <a:tcPr marL="64008" marR="64008" marT="22860" marB="22860" anchor="ctr">
                    <a:solidFill>
                      <a:srgbClr val="EEF2F6"/>
                    </a:solidFill>
                  </a:tcPr>
                </a:tc>
              </a:tr>
            </a:tbl>
          </a:graphicData>
        </a:graphic>
      </p:graphicFrame>
      <p:sp>
        <p:nvSpPr>
          <p:cNvPr id="6" name="Rectangle 5"/>
          <p:cNvSpPr/>
          <p:nvPr/>
        </p:nvSpPr>
        <p:spPr>
          <a:xfrm>
            <a:off x="7178040" y="4343400"/>
            <a:ext cx="446227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24344" y="4434840"/>
            <a:ext cx="4169663" cy="1508760"/>
          </a:xfrm>
          <a:prstGeom prst="rect">
            <a:avLst/>
          </a:prstGeom>
          <a:noFill/>
        </p:spPr>
        <p:txBody>
          <a:bodyPr wrap="square" lIns="0" rIns="0" tIns="0" bIns="0" anchor="t">
            <a:spAutoFit/>
          </a:bodyPr>
          <a:lstStyle/>
          <a:p>
            <a:pPr algn="l"/>
            <a:r>
              <a:rPr sz="1200" b="1" i="0">
                <a:solidFill>
                  <a:srgbClr val="1F3B57"/>
                </a:solidFill>
                <a:latin typeface="Arial"/>
              </a:rPr>
              <a:t>Reading the table. </a:t>
            </a:r>
            <a:r>
              <a:rPr sz="1200" b="0" i="0">
                <a:solidFill>
                  <a:srgbClr val="22333F"/>
                </a:solidFill>
                <a:latin typeface="Arial"/>
              </a:rPr>
              <a:t>Effects are on the log-odds scale per standard deviation; below zero means lower zero-dose. An odds ratio of 0.44 means one standard deviation better maternal care is linked with about 56% lower odds of a child being zero-dose.</a:t>
            </a:r>
          </a:p>
        </p:txBody>
      </p:sp>
      <p:sp>
        <p:nvSpPr>
          <p:cNvPr id="8" name="Rectangle 7"/>
          <p:cNvSpPr/>
          <p:nvPr/>
        </p:nvSpPr>
        <p:spPr>
          <a:xfrm>
            <a:off x="548640" y="5074920"/>
            <a:ext cx="6400800" cy="96012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5166359"/>
            <a:ext cx="6108192" cy="777240"/>
          </a:xfrm>
          <a:prstGeom prst="rect">
            <a:avLst/>
          </a:prstGeom>
          <a:noFill/>
        </p:spPr>
        <p:txBody>
          <a:bodyPr wrap="square" lIns="0" rIns="0" tIns="0" bIns="0" anchor="t">
            <a:spAutoFit/>
          </a:bodyPr>
          <a:lstStyle/>
          <a:p>
            <a:pPr algn="l"/>
            <a:r>
              <a:rPr sz="1200" b="1" i="0">
                <a:solidFill>
                  <a:srgbClr val="1F3B57"/>
                </a:solidFill>
                <a:latin typeface="Arial"/>
              </a:rPr>
              <a:t>Associations, not causes. </a:t>
            </a:r>
            <a:r>
              <a:rPr sz="1200" b="0" i="0">
                <a:solidFill>
                  <a:srgbClr val="22333F"/>
                </a:solidFill>
                <a:latin typeface="Arial"/>
              </a:rPr>
              <a:t>These are partial associations used to distribute survey levels within states, not causal effects.</a:t>
            </a:r>
          </a:p>
        </p:txBody>
      </p:sp>
      <p:sp>
        <p:nvSpPr>
          <p:cNvPr id="10" name="TextBox 9"/>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Method 2: Bayesian small-area estimation (SAE). Maternal care = mean of standardised ANC4+ and facility delivery (DHS spatial surfaces, 2018).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Routine coverage and survey-anchored estimates</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Why Method 2 uses survey levels rather than routine coverage to estimate LGA zero-dose.</a:t>
            </a:r>
          </a:p>
        </p:txBody>
      </p:sp>
      <p:pic>
        <p:nvPicPr>
          <p:cNvPr id="4" name="Picture 3" descr="M2_07_admin_vs_survey.png"/>
          <p:cNvPicPr>
            <a:picLocks noChangeAspect="1"/>
          </p:cNvPicPr>
          <p:nvPr/>
        </p:nvPicPr>
        <p:blipFill>
          <a:blip r:embed="rId2"/>
          <a:stretch>
            <a:fillRect/>
          </a:stretch>
        </p:blipFill>
        <p:spPr>
          <a:xfrm>
            <a:off x="548640" y="1234440"/>
            <a:ext cx="8183879" cy="3067115"/>
          </a:xfrm>
          <a:prstGeom prst="rect">
            <a:avLst/>
          </a:prstGeom>
        </p:spPr>
      </p:pic>
      <p:sp>
        <p:nvSpPr>
          <p:cNvPr id="5" name="Rectangle 4"/>
          <p:cNvSpPr/>
          <p:nvPr/>
        </p:nvSpPr>
        <p:spPr>
          <a:xfrm>
            <a:off x="8915400" y="1234440"/>
            <a:ext cx="2724912" cy="1024128"/>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98280" y="1344168"/>
            <a:ext cx="2359152" cy="566928"/>
          </a:xfrm>
          <a:prstGeom prst="rect">
            <a:avLst/>
          </a:prstGeom>
          <a:noFill/>
        </p:spPr>
        <p:txBody>
          <a:bodyPr wrap="square" lIns="0" rIns="0" tIns="0" bIns="0" anchor="t">
            <a:spAutoFit/>
          </a:bodyPr>
          <a:lstStyle/>
          <a:p>
            <a:pPr algn="l"/>
            <a:r>
              <a:rPr sz="2600" b="1" i="0">
                <a:solidFill>
                  <a:srgbClr val="C0392B"/>
                </a:solidFill>
                <a:latin typeface="Arial"/>
              </a:rPr>
              <a:t>81%</a:t>
            </a:r>
          </a:p>
        </p:txBody>
      </p:sp>
      <p:sp>
        <p:nvSpPr>
          <p:cNvPr id="7" name="TextBox 6"/>
          <p:cNvSpPr txBox="1"/>
          <p:nvPr/>
        </p:nvSpPr>
        <p:spPr>
          <a:xfrm>
            <a:off x="9098280" y="1756918"/>
            <a:ext cx="2359152" cy="337058"/>
          </a:xfrm>
          <a:prstGeom prst="rect">
            <a:avLst/>
          </a:prstGeom>
          <a:noFill/>
        </p:spPr>
        <p:txBody>
          <a:bodyPr wrap="square" lIns="0" rIns="0" tIns="0" bIns="0" anchor="t">
            <a:spAutoFit/>
          </a:bodyPr>
          <a:lstStyle/>
          <a:p>
            <a:pPr algn="l"/>
            <a:r>
              <a:rPr sz="1100" b="1" i="0">
                <a:solidFill>
                  <a:srgbClr val="1F3B57"/>
                </a:solidFill>
                <a:latin typeface="Arial"/>
              </a:rPr>
              <a:t>of LGAs show Penta1 coverage above 100%</a:t>
            </a:r>
          </a:p>
        </p:txBody>
      </p:sp>
      <p:sp>
        <p:nvSpPr>
          <p:cNvPr id="8" name="Rectangle 7"/>
          <p:cNvSpPr/>
          <p:nvPr/>
        </p:nvSpPr>
        <p:spPr>
          <a:xfrm>
            <a:off x="8915400" y="2377440"/>
            <a:ext cx="2724912" cy="1024128"/>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2487168"/>
            <a:ext cx="2359152" cy="566928"/>
          </a:xfrm>
          <a:prstGeom prst="rect">
            <a:avLst/>
          </a:prstGeom>
          <a:noFill/>
        </p:spPr>
        <p:txBody>
          <a:bodyPr wrap="square" lIns="0" rIns="0" tIns="0" bIns="0" anchor="t">
            <a:spAutoFit/>
          </a:bodyPr>
          <a:lstStyle/>
          <a:p>
            <a:pPr algn="l"/>
            <a:r>
              <a:rPr sz="2600" b="1" i="0">
                <a:solidFill>
                  <a:srgbClr val="C0392B"/>
                </a:solidFill>
                <a:latin typeface="Arial"/>
              </a:rPr>
              <a:t>rho 0.18</a:t>
            </a:r>
          </a:p>
        </p:txBody>
      </p:sp>
      <p:sp>
        <p:nvSpPr>
          <p:cNvPr id="10" name="TextBox 9"/>
          <p:cNvSpPr txBox="1"/>
          <p:nvPr/>
        </p:nvSpPr>
        <p:spPr>
          <a:xfrm>
            <a:off x="9098280" y="2899918"/>
            <a:ext cx="2359152" cy="337058"/>
          </a:xfrm>
          <a:prstGeom prst="rect">
            <a:avLst/>
          </a:prstGeom>
          <a:noFill/>
        </p:spPr>
        <p:txBody>
          <a:bodyPr wrap="square" lIns="0" rIns="0" tIns="0" bIns="0" anchor="t">
            <a:spAutoFit/>
          </a:bodyPr>
          <a:lstStyle/>
          <a:p>
            <a:pPr algn="l"/>
            <a:r>
              <a:rPr sz="1100" b="1" i="0">
                <a:solidFill>
                  <a:srgbClr val="1F3B57"/>
                </a:solidFill>
                <a:latin typeface="Arial"/>
              </a:rPr>
              <a:t>routine-only zero-dose vs NmDHS 2025-26, 37 states</a:t>
            </a:r>
          </a:p>
        </p:txBody>
      </p:sp>
      <p:sp>
        <p:nvSpPr>
          <p:cNvPr id="11" name="Rectangle 10"/>
          <p:cNvSpPr/>
          <p:nvPr/>
        </p:nvSpPr>
        <p:spPr>
          <a:xfrm>
            <a:off x="8915400" y="3520440"/>
            <a:ext cx="2724912" cy="1024128"/>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3630168"/>
            <a:ext cx="2359152" cy="566928"/>
          </a:xfrm>
          <a:prstGeom prst="rect">
            <a:avLst/>
          </a:prstGeom>
          <a:noFill/>
        </p:spPr>
        <p:txBody>
          <a:bodyPr wrap="square" lIns="0" rIns="0" tIns="0" bIns="0" anchor="t">
            <a:spAutoFit/>
          </a:bodyPr>
          <a:lstStyle/>
          <a:p>
            <a:pPr algn="l"/>
            <a:r>
              <a:rPr sz="2600" b="1" i="0">
                <a:solidFill>
                  <a:srgbClr val="D55E00"/>
                </a:solidFill>
                <a:latin typeface="Arial"/>
              </a:rPr>
              <a:t>rho 0.87</a:t>
            </a:r>
          </a:p>
        </p:txBody>
      </p:sp>
      <p:sp>
        <p:nvSpPr>
          <p:cNvPr id="13" name="TextBox 12"/>
          <p:cNvSpPr txBox="1"/>
          <p:nvPr/>
        </p:nvSpPr>
        <p:spPr>
          <a:xfrm>
            <a:off x="9098280" y="4042918"/>
            <a:ext cx="2359152" cy="337058"/>
          </a:xfrm>
          <a:prstGeom prst="rect">
            <a:avLst/>
          </a:prstGeom>
          <a:noFill/>
        </p:spPr>
        <p:txBody>
          <a:bodyPr wrap="square" lIns="0" rIns="0" tIns="0" bIns="0" anchor="t">
            <a:spAutoFit/>
          </a:bodyPr>
          <a:lstStyle/>
          <a:p>
            <a:pPr algn="l"/>
            <a:r>
              <a:rPr sz="1100" b="1" i="0">
                <a:solidFill>
                  <a:srgbClr val="1F3B57"/>
                </a:solidFill>
                <a:latin typeface="Arial"/>
              </a:rPr>
              <a:t>Method 2 vs NmDHS 2025-26, 37 states</a:t>
            </a:r>
          </a:p>
        </p:txBody>
      </p:sp>
      <p:sp>
        <p:nvSpPr>
          <p:cNvPr id="14" name="Rectangle 13"/>
          <p:cNvSpPr/>
          <p:nvPr/>
        </p:nvSpPr>
        <p:spPr>
          <a:xfrm>
            <a:off x="548640" y="4709160"/>
            <a:ext cx="11091672" cy="13258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800600"/>
            <a:ext cx="10799064" cy="1143000"/>
          </a:xfrm>
          <a:prstGeom prst="rect">
            <a:avLst/>
          </a:prstGeom>
          <a:noFill/>
        </p:spPr>
        <p:txBody>
          <a:bodyPr wrap="square" lIns="0" rIns="0" tIns="0" bIns="0" anchor="t">
            <a:spAutoFit/>
          </a:bodyPr>
          <a:lstStyle/>
          <a:p>
            <a:pPr algn="l"/>
            <a:r>
              <a:rPr sz="1250" b="1" i="0">
                <a:solidFill>
                  <a:srgbClr val="1F3B57"/>
                </a:solidFill>
                <a:latin typeface="Arial"/>
              </a:rPr>
              <a:t>What this means. </a:t>
            </a:r>
            <a:r>
              <a:rPr sz="1250" b="0" i="0">
                <a:solidFill>
                  <a:srgbClr val="22333F"/>
                </a:solidFill>
                <a:latin typeface="Arial"/>
              </a:rPr>
              <a:t>Administrative coverage divides doses given by an estimated target population. When the target population is too small, or doses include children from other LGAs, coverage exceeds 100 percent and cannot be read as a rate. Routine data remain essential for monitoring trends and data quality; for the level of zero-dose in each LGA, survey-anchored estimates are more reliable (routine-only state estimates differ from NmDHS by 27 points on average).</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DHIS2 Penta1 2023-2025 annual mean over the 2024 cohort projection (state under-five / 5, NPC 2022 shares). Sources: DHIS2; NmDHS 2025-26.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1 and Method 2 compared by zone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About half of zero-dose children are in the North-West under both methods; national totals differ by 2.4%.</a:t>
            </a:r>
          </a:p>
        </p:txBody>
      </p:sp>
      <p:graphicFrame>
        <p:nvGraphicFramePr>
          <p:cNvPr id="4" name="Table 3"/>
          <p:cNvGraphicFramePr>
            <a:graphicFrameLocks noGrp="1"/>
          </p:cNvGraphicFramePr>
          <p:nvPr/>
        </p:nvGraphicFramePr>
        <p:xfrm>
          <a:off x="548640" y="1207008"/>
          <a:ext cx="11000232" cy="3538728"/>
        </p:xfrm>
        <a:graphic>
          <a:graphicData uri="http://schemas.openxmlformats.org/drawingml/2006/table">
            <a:tbl>
              <a:tblPr firstRow="1" bandRow="0">
                <a:tableStyleId>{2D5ABB26-0587-4C30-8999-92F81FD0307C}</a:tableStyleId>
              </a:tblPr>
              <a:tblGrid>
                <a:gridCol w="1463040"/>
                <a:gridCol w="868680"/>
                <a:gridCol w="1143000"/>
                <a:gridCol w="2011680"/>
                <a:gridCol w="822960"/>
                <a:gridCol w="2011680"/>
                <a:gridCol w="822960"/>
                <a:gridCol w="960120"/>
                <a:gridCol w="896112"/>
              </a:tblGrid>
              <a:tr h="530352">
                <a:tc>
                  <a:txBody>
                    <a:bodyPr wrap="square"/>
                    <a:lstStyle/>
                    <a:p>
                      <a:pPr algn="l"/>
                      <a:r>
                        <a:rPr sz="1000" b="1">
                          <a:solidFill>
                            <a:srgbClr val="FFFFFF"/>
                          </a:solidFill>
                          <a:latin typeface="Arial"/>
                        </a:rPr>
                        <a:t>Zone</a:t>
                      </a:r>
                    </a:p>
                  </a:txBody>
                  <a:tcPr marL="64008" marR="64008" marT="22860" marB="22860" anchor="ctr">
                    <a:solidFill>
                      <a:srgbClr val="1F3B57"/>
                    </a:solidFill>
                  </a:tcPr>
                </a:tc>
                <a:tc>
                  <a:txBody>
                    <a:bodyPr wrap="square"/>
                    <a:lstStyle/>
                    <a:p>
                      <a:pPr algn="ctr"/>
                      <a:r>
                        <a:rPr sz="1000" b="1">
                          <a:solidFill>
                            <a:srgbClr val="FFFFFF"/>
                          </a:solidFill>
                          <a:latin typeface="Arial"/>
                        </a:rPr>
                        <a:t>LGAs</a:t>
                      </a:r>
                    </a:p>
                    <a:p>
                      <a:pPr algn="ctr"/>
                      <a:r>
                        <a:rPr sz="1000" b="1">
                          <a:solidFill>
                            <a:srgbClr val="FFFFFF"/>
                          </a:solidFill>
                          <a:latin typeface="Arial"/>
                        </a:rPr>
                        <a:t>(M1 / M2)</a:t>
                      </a:r>
                    </a:p>
                  </a:txBody>
                  <a:tcPr marL="64008" marR="64008" marT="22860" marB="22860" anchor="ctr">
                    <a:solidFill>
                      <a:srgbClr val="1F3B57"/>
                    </a:solidFill>
                  </a:tcPr>
                </a:tc>
                <a:tc>
                  <a:txBody>
                    <a:bodyPr wrap="square"/>
                    <a:lstStyle/>
                    <a:p>
                      <a:pPr algn="ctr"/>
                      <a:r>
                        <a:rPr sz="1000" b="1">
                          <a:solidFill>
                            <a:srgbClr val="FFFFFF"/>
                          </a:solidFill>
                          <a:latin typeface="Arial"/>
                        </a:rPr>
                        <a:t>Children</a:t>
                      </a:r>
                    </a:p>
                    <a:p>
                      <a:pPr algn="ctr"/>
                      <a:r>
                        <a:rPr sz="1000" b="1">
                          <a:solidFill>
                            <a:srgbClr val="FFFFFF"/>
                          </a:solidFill>
                          <a:latin typeface="Arial"/>
                        </a:rPr>
                        <a:t>12-23 months</a:t>
                      </a:r>
                    </a:p>
                  </a:txBody>
                  <a:tcPr marL="64008" marR="64008" marT="22860" marB="22860" anchor="ctr">
                    <a:solidFill>
                      <a:srgbClr val="1F3B57"/>
                    </a:solidFill>
                  </a:tcPr>
                </a:tc>
                <a:tc>
                  <a:txBody>
                    <a:bodyPr wrap="square"/>
                    <a:lstStyle/>
                    <a:p>
                      <a:pPr algn="ctr"/>
                      <a:r>
                        <a:rPr sz="1000" b="1">
                          <a:solidFill>
                            <a:srgbClr val="FFFFFF"/>
                          </a:solidFill>
                          <a:latin typeface="Arial"/>
                        </a:rPr>
                        <a:t>Method 1</a:t>
                      </a:r>
                    </a:p>
                    <a:p>
                      <a:pPr algn="ctr"/>
                      <a:r>
                        <a:rPr sz="1000" b="1">
                          <a:solidFill>
                            <a:srgbClr val="FFFFFF"/>
                          </a:solidFill>
                          <a:latin typeface="Arial"/>
                        </a:rPr>
                        <a:t>zero-dose children (95% interval)</a:t>
                      </a:r>
                    </a:p>
                  </a:txBody>
                  <a:tcPr marL="64008" marR="64008" marT="22860" marB="22860" anchor="ctr">
                    <a:solidFill>
                      <a:srgbClr val="1F3B57"/>
                    </a:solidFill>
                  </a:tcPr>
                </a:tc>
                <a:tc>
                  <a:txBody>
                    <a:bodyPr wrap="square"/>
                    <a:lstStyle/>
                    <a:p>
                      <a:pPr algn="ctr"/>
                      <a:r>
                        <a:rPr sz="1000" b="1">
                          <a:solidFill>
                            <a:srgbClr val="FFFFFF"/>
                          </a:solidFill>
                          <a:latin typeface="Arial"/>
                        </a:rPr>
                        <a:t>Method 1</a:t>
                      </a:r>
                    </a:p>
                    <a:p>
                      <a:pPr algn="ctr"/>
                      <a:r>
                        <a:rPr sz="1000" b="1">
                          <a:solidFill>
                            <a:srgbClr val="FFFFFF"/>
                          </a:solidFill>
                          <a:latin typeface="Arial"/>
                        </a:rPr>
                        <a:t>rate %</a:t>
                      </a:r>
                    </a:p>
                  </a:txBody>
                  <a:tcPr marL="64008" marR="64008" marT="22860" marB="22860" anchor="ctr">
                    <a:solidFill>
                      <a:srgbClr val="1F3B57"/>
                    </a:solidFill>
                  </a:tcPr>
                </a:tc>
                <a:tc>
                  <a:txBody>
                    <a:bodyPr wrap="square"/>
                    <a:lstStyle/>
                    <a:p>
                      <a:pPr algn="ctr"/>
                      <a:r>
                        <a:rPr sz="1000" b="1">
                          <a:solidFill>
                            <a:srgbClr val="FFFFFF"/>
                          </a:solidFill>
                          <a:latin typeface="Arial"/>
                        </a:rPr>
                        <a:t>Method 2</a:t>
                      </a:r>
                    </a:p>
                    <a:p>
                      <a:pPr algn="ctr"/>
                      <a:r>
                        <a:rPr sz="1000" b="1">
                          <a:solidFill>
                            <a:srgbClr val="FFFFFF"/>
                          </a:solidFill>
                          <a:latin typeface="Arial"/>
                        </a:rPr>
                        <a:t>zero-dose children (95% CrI)</a:t>
                      </a:r>
                    </a:p>
                  </a:txBody>
                  <a:tcPr marL="64008" marR="64008" marT="22860" marB="22860" anchor="ctr">
                    <a:solidFill>
                      <a:srgbClr val="1F3B57"/>
                    </a:solidFill>
                  </a:tcPr>
                </a:tc>
                <a:tc>
                  <a:txBody>
                    <a:bodyPr wrap="square"/>
                    <a:lstStyle/>
                    <a:p>
                      <a:pPr algn="ctr"/>
                      <a:r>
                        <a:rPr sz="1000" b="1">
                          <a:solidFill>
                            <a:srgbClr val="FFFFFF"/>
                          </a:solidFill>
                          <a:latin typeface="Arial"/>
                        </a:rPr>
                        <a:t>Method 2</a:t>
                      </a:r>
                    </a:p>
                    <a:p>
                      <a:pPr algn="ctr"/>
                      <a:r>
                        <a:rPr sz="1000" b="1">
                          <a:solidFill>
                            <a:srgbClr val="FFFFFF"/>
                          </a:solidFill>
                          <a:latin typeface="Arial"/>
                        </a:rPr>
                        <a:t>rate %</a:t>
                      </a:r>
                    </a:p>
                  </a:txBody>
                  <a:tcPr marL="64008" marR="64008" marT="22860" marB="22860" anchor="ctr">
                    <a:solidFill>
                      <a:srgbClr val="1F3B57"/>
                    </a:solidFill>
                  </a:tcPr>
                </a:tc>
                <a:tc>
                  <a:txBody>
                    <a:bodyPr wrap="square"/>
                    <a:lstStyle/>
                    <a:p>
                      <a:pPr algn="ctr"/>
                      <a:r>
                        <a:rPr sz="1000" b="1">
                          <a:solidFill>
                            <a:srgbClr val="FFFFFF"/>
                          </a:solidFill>
                          <a:latin typeface="Arial"/>
                        </a:rPr>
                        <a:t>Difference</a:t>
                      </a:r>
                    </a:p>
                    <a:p>
                      <a:pPr algn="ctr"/>
                      <a:r>
                        <a:rPr sz="1000" b="1">
                          <a:solidFill>
                            <a:srgbClr val="FFFFFF"/>
                          </a:solidFill>
                          <a:latin typeface="Arial"/>
                        </a:rPr>
                        <a:t>M2 vs M1</a:t>
                      </a:r>
                    </a:p>
                  </a:txBody>
                  <a:tcPr marL="64008" marR="64008" marT="22860" marB="22860" anchor="ctr">
                    <a:solidFill>
                      <a:srgbClr val="1F3B57"/>
                    </a:solidFill>
                  </a:tcPr>
                </a:tc>
                <a:tc>
                  <a:txBody>
                    <a:bodyPr wrap="square"/>
                    <a:lstStyle/>
                    <a:p>
                      <a:pPr algn="ctr"/>
                      <a:r>
                        <a:rPr sz="1000" b="1">
                          <a:solidFill>
                            <a:srgbClr val="FFFFFF"/>
                          </a:solidFill>
                          <a:latin typeface="Arial"/>
                        </a:rPr>
                        <a:t>NmDHS</a:t>
                      </a:r>
                    </a:p>
                    <a:p>
                      <a:pPr algn="ctr"/>
                      <a:r>
                        <a:rPr sz="1000" b="1">
                          <a:solidFill>
                            <a:srgbClr val="FFFFFF"/>
                          </a:solidFill>
                          <a:latin typeface="Arial"/>
                        </a:rPr>
                        <a:t>2025-26 %</a:t>
                      </a:r>
                    </a:p>
                  </a:txBody>
                  <a:tcPr marL="64008" marR="64008" marT="22860" marB="22860" anchor="ctr">
                    <a:solidFill>
                      <a:srgbClr val="1F3B57"/>
                    </a:solidFill>
                  </a:tcPr>
                </a:tc>
              </a:tr>
              <a:tr h="429768">
                <a:tc>
                  <a:txBody>
                    <a:bodyPr wrap="square"/>
                    <a:lstStyle/>
                    <a:p>
                      <a:pPr algn="l"/>
                      <a:r>
                        <a:rPr sz="1100" b="0">
                          <a:solidFill>
                            <a:srgbClr val="22333F"/>
                          </a:solidFill>
                          <a:latin typeface="Arial"/>
                        </a:rPr>
                        <a:t>North West</a:t>
                      </a:r>
                    </a:p>
                  </a:txBody>
                  <a:tcPr marL="64008" marR="64008" marT="22860" marB="22860" anchor="ctr">
                    <a:solidFill>
                      <a:srgbClr val="FFFFFF"/>
                    </a:solidFill>
                  </a:tcPr>
                </a:tc>
                <a:tc>
                  <a:txBody>
                    <a:bodyPr wrap="square"/>
                    <a:lstStyle/>
                    <a:p>
                      <a:pPr algn="r"/>
                      <a:r>
                        <a:rPr sz="1100" b="0">
                          <a:solidFill>
                            <a:srgbClr val="22333F"/>
                          </a:solidFill>
                          <a:latin typeface="Arial"/>
                        </a:rPr>
                        <a:t>186 / 186</a:t>
                      </a:r>
                    </a:p>
                  </a:txBody>
                  <a:tcPr marL="64008" marR="64008" marT="22860" marB="22860" anchor="ctr">
                    <a:solidFill>
                      <a:srgbClr val="FFFFFF"/>
                    </a:solidFill>
                  </a:tcPr>
                </a:tc>
                <a:tc>
                  <a:txBody>
                    <a:bodyPr wrap="square"/>
                    <a:lstStyle/>
                    <a:p>
                      <a:pPr algn="r"/>
                      <a:r>
                        <a:rPr sz="1100" b="0">
                          <a:solidFill>
                            <a:srgbClr val="22333F"/>
                          </a:solidFill>
                          <a:latin typeface="Arial"/>
                        </a:rPr>
                        <a:t>2,269,638</a:t>
                      </a:r>
                    </a:p>
                  </a:txBody>
                  <a:tcPr marL="64008" marR="64008" marT="22860" marB="22860" anchor="ctr">
                    <a:solidFill>
                      <a:srgbClr val="FFFFFF"/>
                    </a:solidFill>
                  </a:tcPr>
                </a:tc>
                <a:tc>
                  <a:txBody>
                    <a:bodyPr wrap="square"/>
                    <a:lstStyle/>
                    <a:p>
                      <a:pPr algn="r"/>
                      <a:r>
                        <a:rPr sz="1100" b="0">
                          <a:solidFill>
                            <a:srgbClr val="0072B2"/>
                          </a:solidFill>
                          <a:latin typeface="Arial"/>
                        </a:rPr>
                        <a:t>1,084,155</a:t>
                      </a:r>
                    </a:p>
                    <a:p>
                      <a:pPr algn="r"/>
                      <a:r>
                        <a:rPr sz="900" b="0">
                          <a:solidFill>
                            <a:srgbClr val="0072B2"/>
                          </a:solidFill>
                          <a:latin typeface="Arial"/>
                        </a:rPr>
                        <a:t>(961,608 - 1,201,516)</a:t>
                      </a:r>
                    </a:p>
                  </a:txBody>
                  <a:tcPr marL="64008" marR="64008" marT="22860" marB="22860" anchor="ctr">
                    <a:solidFill>
                      <a:srgbClr val="FFFFFF"/>
                    </a:solidFill>
                  </a:tcPr>
                </a:tc>
                <a:tc>
                  <a:txBody>
                    <a:bodyPr wrap="square"/>
                    <a:lstStyle/>
                    <a:p>
                      <a:pPr algn="r"/>
                      <a:r>
                        <a:rPr sz="1100" b="0">
                          <a:solidFill>
                            <a:srgbClr val="0072B2"/>
                          </a:solidFill>
                          <a:latin typeface="Arial"/>
                        </a:rPr>
                        <a:t>47.8</a:t>
                      </a:r>
                    </a:p>
                  </a:txBody>
                  <a:tcPr marL="64008" marR="64008" marT="22860" marB="22860" anchor="ctr">
                    <a:solidFill>
                      <a:srgbClr val="FFFFFF"/>
                    </a:solidFill>
                  </a:tcPr>
                </a:tc>
                <a:tc>
                  <a:txBody>
                    <a:bodyPr wrap="square"/>
                    <a:lstStyle/>
                    <a:p>
                      <a:pPr algn="r"/>
                      <a:r>
                        <a:rPr sz="1100" b="0">
                          <a:solidFill>
                            <a:srgbClr val="D55E00"/>
                          </a:solidFill>
                          <a:latin typeface="Arial"/>
                        </a:rPr>
                        <a:t>1,149,017</a:t>
                      </a:r>
                    </a:p>
                    <a:p>
                      <a:pPr algn="r"/>
                      <a:r>
                        <a:rPr sz="900" b="0">
                          <a:solidFill>
                            <a:srgbClr val="D55E00"/>
                          </a:solidFill>
                          <a:latin typeface="Arial"/>
                        </a:rPr>
                        <a:t>(923,311 - 1,371,914)</a:t>
                      </a:r>
                    </a:p>
                  </a:txBody>
                  <a:tcPr marL="64008" marR="64008" marT="22860" marB="22860" anchor="ctr">
                    <a:solidFill>
                      <a:srgbClr val="FFFFFF"/>
                    </a:solidFill>
                  </a:tcPr>
                </a:tc>
                <a:tc>
                  <a:txBody>
                    <a:bodyPr wrap="square"/>
                    <a:lstStyle/>
                    <a:p>
                      <a:pPr algn="r"/>
                      <a:r>
                        <a:rPr sz="1100" b="0">
                          <a:solidFill>
                            <a:srgbClr val="D55E00"/>
                          </a:solidFill>
                          <a:latin typeface="Arial"/>
                        </a:rPr>
                        <a:t>50.6</a:t>
                      </a:r>
                    </a:p>
                  </a:txBody>
                  <a:tcPr marL="64008" marR="64008" marT="22860" marB="22860" anchor="ctr">
                    <a:solidFill>
                      <a:srgbClr val="FFFFFF"/>
                    </a:solidFill>
                  </a:tcPr>
                </a:tc>
                <a:tc>
                  <a:txBody>
                    <a:bodyPr wrap="square"/>
                    <a:lstStyle/>
                    <a:p>
                      <a:pPr algn="r"/>
                      <a:r>
                        <a:rPr sz="1100" b="0">
                          <a:solidFill>
                            <a:srgbClr val="22333F"/>
                          </a:solidFill>
                          <a:latin typeface="Arial"/>
                        </a:rPr>
                        <a:t>+6.0%</a:t>
                      </a:r>
                    </a:p>
                  </a:txBody>
                  <a:tcPr marL="64008" marR="64008" marT="22860" marB="22860" anchor="ctr">
                    <a:solidFill>
                      <a:srgbClr val="FFFFFF"/>
                    </a:solidFill>
                  </a:tcPr>
                </a:tc>
                <a:tc>
                  <a:txBody>
                    <a:bodyPr wrap="square"/>
                    <a:lstStyle/>
                    <a:p>
                      <a:pPr algn="r"/>
                      <a:r>
                        <a:rPr sz="1100" b="0">
                          <a:solidFill>
                            <a:srgbClr val="22333F"/>
                          </a:solidFill>
                          <a:latin typeface="Arial"/>
                        </a:rPr>
                        <a:t>48.7</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North East</a:t>
                      </a:r>
                    </a:p>
                  </a:txBody>
                  <a:tcPr marL="64008" marR="64008" marT="22860" marB="22860" anchor="ctr">
                    <a:solidFill>
                      <a:srgbClr val="EEF2F6"/>
                    </a:solidFill>
                  </a:tcPr>
                </a:tc>
                <a:tc>
                  <a:txBody>
                    <a:bodyPr wrap="square"/>
                    <a:lstStyle/>
                    <a:p>
                      <a:pPr algn="r"/>
                      <a:r>
                        <a:rPr sz="1100" b="0">
                          <a:solidFill>
                            <a:srgbClr val="22333F"/>
                          </a:solidFill>
                          <a:latin typeface="Arial"/>
                        </a:rPr>
                        <a:t>111 / 112</a:t>
                      </a:r>
                    </a:p>
                  </a:txBody>
                  <a:tcPr marL="64008" marR="64008" marT="22860" marB="22860" anchor="ctr">
                    <a:solidFill>
                      <a:srgbClr val="EEF2F6"/>
                    </a:solidFill>
                  </a:tcPr>
                </a:tc>
                <a:tc>
                  <a:txBody>
                    <a:bodyPr wrap="square"/>
                    <a:lstStyle/>
                    <a:p>
                      <a:pPr algn="r"/>
                      <a:r>
                        <a:rPr sz="1100" b="0">
                          <a:solidFill>
                            <a:srgbClr val="22333F"/>
                          </a:solidFill>
                          <a:latin typeface="Arial"/>
                        </a:rPr>
                        <a:t>1,073,384</a:t>
                      </a:r>
                    </a:p>
                  </a:txBody>
                  <a:tcPr marL="64008" marR="64008" marT="22860" marB="22860" anchor="ctr">
                    <a:solidFill>
                      <a:srgbClr val="EEF2F6"/>
                    </a:solidFill>
                  </a:tcPr>
                </a:tc>
                <a:tc>
                  <a:txBody>
                    <a:bodyPr wrap="square"/>
                    <a:lstStyle/>
                    <a:p>
                      <a:pPr algn="r"/>
                      <a:r>
                        <a:rPr sz="1100" b="0">
                          <a:solidFill>
                            <a:srgbClr val="0072B2"/>
                          </a:solidFill>
                          <a:latin typeface="Arial"/>
                        </a:rPr>
                        <a:t>336,687</a:t>
                      </a:r>
                    </a:p>
                    <a:p>
                      <a:pPr algn="r"/>
                      <a:r>
                        <a:rPr sz="900" b="0">
                          <a:solidFill>
                            <a:srgbClr val="0072B2"/>
                          </a:solidFill>
                          <a:latin typeface="Arial"/>
                        </a:rPr>
                        <a:t>(255,921 - 417,822)</a:t>
                      </a:r>
                    </a:p>
                  </a:txBody>
                  <a:tcPr marL="64008" marR="64008" marT="22860" marB="22860" anchor="ctr">
                    <a:solidFill>
                      <a:srgbClr val="EEF2F6"/>
                    </a:solidFill>
                  </a:tcPr>
                </a:tc>
                <a:tc>
                  <a:txBody>
                    <a:bodyPr wrap="square"/>
                    <a:lstStyle/>
                    <a:p>
                      <a:pPr algn="r"/>
                      <a:r>
                        <a:rPr sz="1100" b="0">
                          <a:solidFill>
                            <a:srgbClr val="0072B2"/>
                          </a:solidFill>
                          <a:latin typeface="Arial"/>
                        </a:rPr>
                        <a:t>31.4</a:t>
                      </a:r>
                    </a:p>
                  </a:txBody>
                  <a:tcPr marL="64008" marR="64008" marT="22860" marB="22860" anchor="ctr">
                    <a:solidFill>
                      <a:srgbClr val="EEF2F6"/>
                    </a:solidFill>
                  </a:tcPr>
                </a:tc>
                <a:tc>
                  <a:txBody>
                    <a:bodyPr wrap="square"/>
                    <a:lstStyle/>
                    <a:p>
                      <a:pPr algn="r"/>
                      <a:r>
                        <a:rPr sz="1100" b="0">
                          <a:solidFill>
                            <a:srgbClr val="D55E00"/>
                          </a:solidFill>
                          <a:latin typeface="Arial"/>
                        </a:rPr>
                        <a:t>372,892</a:t>
                      </a:r>
                    </a:p>
                    <a:p>
                      <a:pPr algn="r"/>
                      <a:r>
                        <a:rPr sz="900" b="0">
                          <a:solidFill>
                            <a:srgbClr val="D55E00"/>
                          </a:solidFill>
                          <a:latin typeface="Arial"/>
                        </a:rPr>
                        <a:t>(265,189 - 495,882)</a:t>
                      </a:r>
                    </a:p>
                  </a:txBody>
                  <a:tcPr marL="64008" marR="64008" marT="22860" marB="22860" anchor="ctr">
                    <a:solidFill>
                      <a:srgbClr val="EEF2F6"/>
                    </a:solidFill>
                  </a:tcPr>
                </a:tc>
                <a:tc>
                  <a:txBody>
                    <a:bodyPr wrap="square"/>
                    <a:lstStyle/>
                    <a:p>
                      <a:pPr algn="r"/>
                      <a:r>
                        <a:rPr sz="1100" b="0">
                          <a:solidFill>
                            <a:srgbClr val="D55E00"/>
                          </a:solidFill>
                          <a:latin typeface="Arial"/>
                        </a:rPr>
                        <a:t>34.7</a:t>
                      </a:r>
                    </a:p>
                  </a:txBody>
                  <a:tcPr marL="64008" marR="64008" marT="22860" marB="22860" anchor="ctr">
                    <a:solidFill>
                      <a:srgbClr val="EEF2F6"/>
                    </a:solidFill>
                  </a:tcPr>
                </a:tc>
                <a:tc>
                  <a:txBody>
                    <a:bodyPr wrap="square"/>
                    <a:lstStyle/>
                    <a:p>
                      <a:pPr algn="r"/>
                      <a:r>
                        <a:rPr sz="1100" b="0">
                          <a:solidFill>
                            <a:srgbClr val="22333F"/>
                          </a:solidFill>
                          <a:latin typeface="Arial"/>
                        </a:rPr>
                        <a:t>+10.8%</a:t>
                      </a:r>
                    </a:p>
                  </a:txBody>
                  <a:tcPr marL="64008" marR="64008" marT="22860" marB="22860" anchor="ctr">
                    <a:solidFill>
                      <a:srgbClr val="EEF2F6"/>
                    </a:solidFill>
                  </a:tcPr>
                </a:tc>
                <a:tc>
                  <a:txBody>
                    <a:bodyPr wrap="square"/>
                    <a:lstStyle/>
                    <a:p>
                      <a:pPr algn="r"/>
                      <a:r>
                        <a:rPr sz="1100" b="0">
                          <a:solidFill>
                            <a:srgbClr val="22333F"/>
                          </a:solidFill>
                          <a:latin typeface="Arial"/>
                        </a:rPr>
                        <a:t>38.7</a:t>
                      </a:r>
                    </a:p>
                  </a:txBody>
                  <a:tcPr marL="64008" marR="64008" marT="22860" marB="22860" anchor="ctr">
                    <a:solidFill>
                      <a:srgbClr val="EEF2F6"/>
                    </a:solidFill>
                  </a:tcPr>
                </a:tc>
              </a:tr>
              <a:tr h="429768">
                <a:tc>
                  <a:txBody>
                    <a:bodyPr wrap="square"/>
                    <a:lstStyle/>
                    <a:p>
                      <a:pPr algn="l"/>
                      <a:r>
                        <a:rPr sz="1100" b="0">
                          <a:solidFill>
                            <a:srgbClr val="22333F"/>
                          </a:solidFill>
                          <a:latin typeface="Arial"/>
                        </a:rPr>
                        <a:t>North Central</a:t>
                      </a:r>
                    </a:p>
                  </a:txBody>
                  <a:tcPr marL="64008" marR="64008" marT="22860" marB="22860" anchor="ctr">
                    <a:solidFill>
                      <a:srgbClr val="FFFFFF"/>
                    </a:solidFill>
                  </a:tcPr>
                </a:tc>
                <a:tc>
                  <a:txBody>
                    <a:bodyPr wrap="square"/>
                    <a:lstStyle/>
                    <a:p>
                      <a:pPr algn="r"/>
                      <a:r>
                        <a:rPr sz="1100" b="0">
                          <a:solidFill>
                            <a:srgbClr val="22333F"/>
                          </a:solidFill>
                          <a:latin typeface="Arial"/>
                        </a:rPr>
                        <a:t>121 / 121</a:t>
                      </a:r>
                    </a:p>
                  </a:txBody>
                  <a:tcPr marL="64008" marR="64008" marT="22860" marB="22860" anchor="ctr">
                    <a:solidFill>
                      <a:srgbClr val="FFFFFF"/>
                    </a:solidFill>
                  </a:tcPr>
                </a:tc>
                <a:tc>
                  <a:txBody>
                    <a:bodyPr wrap="square"/>
                    <a:lstStyle/>
                    <a:p>
                      <a:pPr algn="r"/>
                      <a:r>
                        <a:rPr sz="1100" b="0">
                          <a:solidFill>
                            <a:srgbClr val="22333F"/>
                          </a:solidFill>
                          <a:latin typeface="Arial"/>
                        </a:rPr>
                        <a:t>1,039,371</a:t>
                      </a:r>
                    </a:p>
                  </a:txBody>
                  <a:tcPr marL="64008" marR="64008" marT="22860" marB="22860" anchor="ctr">
                    <a:solidFill>
                      <a:srgbClr val="FFFFFF"/>
                    </a:solidFill>
                  </a:tcPr>
                </a:tc>
                <a:tc>
                  <a:txBody>
                    <a:bodyPr wrap="square"/>
                    <a:lstStyle/>
                    <a:p>
                      <a:pPr algn="r"/>
                      <a:r>
                        <a:rPr sz="1100" b="0">
                          <a:solidFill>
                            <a:srgbClr val="0072B2"/>
                          </a:solidFill>
                          <a:latin typeface="Arial"/>
                        </a:rPr>
                        <a:t>343,731</a:t>
                      </a:r>
                    </a:p>
                    <a:p>
                      <a:pPr algn="r"/>
                      <a:r>
                        <a:rPr sz="900" b="0">
                          <a:solidFill>
                            <a:srgbClr val="0072B2"/>
                          </a:solidFill>
                          <a:latin typeface="Arial"/>
                        </a:rPr>
                        <a:t>(262,802 - 433,604)</a:t>
                      </a:r>
                    </a:p>
                  </a:txBody>
                  <a:tcPr marL="64008" marR="64008" marT="22860" marB="22860" anchor="ctr">
                    <a:solidFill>
                      <a:srgbClr val="FFFFFF"/>
                    </a:solidFill>
                  </a:tcPr>
                </a:tc>
                <a:tc>
                  <a:txBody>
                    <a:bodyPr wrap="square"/>
                    <a:lstStyle/>
                    <a:p>
                      <a:pPr algn="r"/>
                      <a:r>
                        <a:rPr sz="1100" b="0">
                          <a:solidFill>
                            <a:srgbClr val="0072B2"/>
                          </a:solidFill>
                          <a:latin typeface="Arial"/>
                        </a:rPr>
                        <a:t>33.1</a:t>
                      </a:r>
                    </a:p>
                  </a:txBody>
                  <a:tcPr marL="64008" marR="64008" marT="22860" marB="22860" anchor="ctr">
                    <a:solidFill>
                      <a:srgbClr val="FFFFFF"/>
                    </a:solidFill>
                  </a:tcPr>
                </a:tc>
                <a:tc>
                  <a:txBody>
                    <a:bodyPr wrap="square"/>
                    <a:lstStyle/>
                    <a:p>
                      <a:pPr algn="r"/>
                      <a:r>
                        <a:rPr sz="1100" b="0">
                          <a:solidFill>
                            <a:srgbClr val="D55E00"/>
                          </a:solidFill>
                          <a:latin typeface="Arial"/>
                        </a:rPr>
                        <a:t>324,138</a:t>
                      </a:r>
                    </a:p>
                    <a:p>
                      <a:pPr algn="r"/>
                      <a:r>
                        <a:rPr sz="900" b="0">
                          <a:solidFill>
                            <a:srgbClr val="D55E00"/>
                          </a:solidFill>
                          <a:latin typeface="Arial"/>
                        </a:rPr>
                        <a:t>(228,447 - 421,964)</a:t>
                      </a:r>
                    </a:p>
                  </a:txBody>
                  <a:tcPr marL="64008" marR="64008" marT="22860" marB="22860" anchor="ctr">
                    <a:solidFill>
                      <a:srgbClr val="FFFFFF"/>
                    </a:solidFill>
                  </a:tcPr>
                </a:tc>
                <a:tc>
                  <a:txBody>
                    <a:bodyPr wrap="square"/>
                    <a:lstStyle/>
                    <a:p>
                      <a:pPr algn="r"/>
                      <a:r>
                        <a:rPr sz="1100" b="0">
                          <a:solidFill>
                            <a:srgbClr val="D55E00"/>
                          </a:solidFill>
                          <a:latin typeface="Arial"/>
                        </a:rPr>
                        <a:t>31.2</a:t>
                      </a:r>
                    </a:p>
                  </a:txBody>
                  <a:tcPr marL="64008" marR="64008" marT="22860" marB="22860" anchor="ctr">
                    <a:solidFill>
                      <a:srgbClr val="FFFFFF"/>
                    </a:solidFill>
                  </a:tcPr>
                </a:tc>
                <a:tc>
                  <a:txBody>
                    <a:bodyPr wrap="square"/>
                    <a:lstStyle/>
                    <a:p>
                      <a:pPr algn="r"/>
                      <a:r>
                        <a:rPr sz="1100" b="0">
                          <a:solidFill>
                            <a:srgbClr val="22333F"/>
                          </a:solidFill>
                          <a:latin typeface="Arial"/>
                        </a:rPr>
                        <a:t>-5.7%</a:t>
                      </a:r>
                    </a:p>
                  </a:txBody>
                  <a:tcPr marL="64008" marR="64008" marT="22860" marB="22860" anchor="ctr">
                    <a:solidFill>
                      <a:srgbClr val="FFFFFF"/>
                    </a:solidFill>
                  </a:tcPr>
                </a:tc>
                <a:tc>
                  <a:txBody>
                    <a:bodyPr wrap="square"/>
                    <a:lstStyle/>
                    <a:p>
                      <a:pPr algn="r"/>
                      <a:r>
                        <a:rPr sz="1100" b="0">
                          <a:solidFill>
                            <a:srgbClr val="22333F"/>
                          </a:solidFill>
                          <a:latin typeface="Arial"/>
                        </a:rPr>
                        <a:t>34.2</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South West</a:t>
                      </a:r>
                    </a:p>
                  </a:txBody>
                  <a:tcPr marL="64008" marR="64008" marT="22860" marB="22860" anchor="ctr">
                    <a:solidFill>
                      <a:srgbClr val="EEF2F6"/>
                    </a:solidFill>
                  </a:tcPr>
                </a:tc>
                <a:tc>
                  <a:txBody>
                    <a:bodyPr wrap="square"/>
                    <a:lstStyle/>
                    <a:p>
                      <a:pPr algn="r"/>
                      <a:r>
                        <a:rPr sz="1100" b="0">
                          <a:solidFill>
                            <a:srgbClr val="22333F"/>
                          </a:solidFill>
                          <a:latin typeface="Arial"/>
                        </a:rPr>
                        <a:t>137 / 137</a:t>
                      </a:r>
                    </a:p>
                  </a:txBody>
                  <a:tcPr marL="64008" marR="64008" marT="22860" marB="22860" anchor="ctr">
                    <a:solidFill>
                      <a:srgbClr val="EEF2F6"/>
                    </a:solidFill>
                  </a:tcPr>
                </a:tc>
                <a:tc>
                  <a:txBody>
                    <a:bodyPr wrap="square"/>
                    <a:lstStyle/>
                    <a:p>
                      <a:pPr algn="r"/>
                      <a:r>
                        <a:rPr sz="1100" b="0">
                          <a:solidFill>
                            <a:srgbClr val="22333F"/>
                          </a:solidFill>
                          <a:latin typeface="Arial"/>
                        </a:rPr>
                        <a:t>1,068,159</a:t>
                      </a:r>
                    </a:p>
                  </a:txBody>
                  <a:tcPr marL="64008" marR="64008" marT="22860" marB="22860" anchor="ctr">
                    <a:solidFill>
                      <a:srgbClr val="EEF2F6"/>
                    </a:solidFill>
                  </a:tcPr>
                </a:tc>
                <a:tc>
                  <a:txBody>
                    <a:bodyPr wrap="square"/>
                    <a:lstStyle/>
                    <a:p>
                      <a:pPr algn="r"/>
                      <a:r>
                        <a:rPr sz="1100" b="0">
                          <a:solidFill>
                            <a:srgbClr val="0072B2"/>
                          </a:solidFill>
                          <a:latin typeface="Arial"/>
                        </a:rPr>
                        <a:t>154,451</a:t>
                      </a:r>
                    </a:p>
                    <a:p>
                      <a:pPr algn="r"/>
                      <a:r>
                        <a:rPr sz="900" b="0">
                          <a:solidFill>
                            <a:srgbClr val="0072B2"/>
                          </a:solidFill>
                          <a:latin typeface="Arial"/>
                        </a:rPr>
                        <a:t>(97,752 - 231,362)</a:t>
                      </a:r>
                    </a:p>
                  </a:txBody>
                  <a:tcPr marL="64008" marR="64008" marT="22860" marB="22860" anchor="ctr">
                    <a:solidFill>
                      <a:srgbClr val="EEF2F6"/>
                    </a:solidFill>
                  </a:tcPr>
                </a:tc>
                <a:tc>
                  <a:txBody>
                    <a:bodyPr wrap="square"/>
                    <a:lstStyle/>
                    <a:p>
                      <a:pPr algn="r"/>
                      <a:r>
                        <a:rPr sz="1100" b="0">
                          <a:solidFill>
                            <a:srgbClr val="0072B2"/>
                          </a:solidFill>
                          <a:latin typeface="Arial"/>
                        </a:rPr>
                        <a:t>14.5</a:t>
                      </a:r>
                    </a:p>
                  </a:txBody>
                  <a:tcPr marL="64008" marR="64008" marT="22860" marB="22860" anchor="ctr">
                    <a:solidFill>
                      <a:srgbClr val="EEF2F6"/>
                    </a:solidFill>
                  </a:tcPr>
                </a:tc>
                <a:tc>
                  <a:txBody>
                    <a:bodyPr wrap="square"/>
                    <a:lstStyle/>
                    <a:p>
                      <a:pPr algn="r"/>
                      <a:r>
                        <a:rPr sz="1100" b="0">
                          <a:solidFill>
                            <a:srgbClr val="D55E00"/>
                          </a:solidFill>
                          <a:latin typeface="Arial"/>
                        </a:rPr>
                        <a:t>141,155</a:t>
                      </a:r>
                    </a:p>
                    <a:p>
                      <a:pPr algn="r"/>
                      <a:r>
                        <a:rPr sz="900" b="0">
                          <a:solidFill>
                            <a:srgbClr val="D55E00"/>
                          </a:solidFill>
                          <a:latin typeface="Arial"/>
                        </a:rPr>
                        <a:t>(86,336 - 210,104)</a:t>
                      </a:r>
                    </a:p>
                  </a:txBody>
                  <a:tcPr marL="64008" marR="64008" marT="22860" marB="22860" anchor="ctr">
                    <a:solidFill>
                      <a:srgbClr val="EEF2F6"/>
                    </a:solidFill>
                  </a:tcPr>
                </a:tc>
                <a:tc>
                  <a:txBody>
                    <a:bodyPr wrap="square"/>
                    <a:lstStyle/>
                    <a:p>
                      <a:pPr algn="r"/>
                      <a:r>
                        <a:rPr sz="1100" b="0">
                          <a:solidFill>
                            <a:srgbClr val="D55E00"/>
                          </a:solidFill>
                          <a:latin typeface="Arial"/>
                        </a:rPr>
                        <a:t>13.2</a:t>
                      </a:r>
                    </a:p>
                  </a:txBody>
                  <a:tcPr marL="64008" marR="64008" marT="22860" marB="22860" anchor="ctr">
                    <a:solidFill>
                      <a:srgbClr val="EEF2F6"/>
                    </a:solidFill>
                  </a:tcPr>
                </a:tc>
                <a:tc>
                  <a:txBody>
                    <a:bodyPr wrap="square"/>
                    <a:lstStyle/>
                    <a:p>
                      <a:pPr algn="r"/>
                      <a:r>
                        <a:rPr sz="1100" b="0">
                          <a:solidFill>
                            <a:srgbClr val="22333F"/>
                          </a:solidFill>
                          <a:latin typeface="Arial"/>
                        </a:rPr>
                        <a:t>-8.6%</a:t>
                      </a:r>
                    </a:p>
                  </a:txBody>
                  <a:tcPr marL="64008" marR="64008" marT="22860" marB="22860" anchor="ctr">
                    <a:solidFill>
                      <a:srgbClr val="EEF2F6"/>
                    </a:solidFill>
                  </a:tcPr>
                </a:tc>
                <a:tc>
                  <a:txBody>
                    <a:bodyPr wrap="square"/>
                    <a:lstStyle/>
                    <a:p>
                      <a:pPr algn="r"/>
                      <a:r>
                        <a:rPr sz="1100" b="0">
                          <a:solidFill>
                            <a:srgbClr val="22333F"/>
                          </a:solidFill>
                          <a:latin typeface="Arial"/>
                        </a:rPr>
                        <a:t>14.4</a:t>
                      </a:r>
                    </a:p>
                  </a:txBody>
                  <a:tcPr marL="64008" marR="64008" marT="22860" marB="22860" anchor="ctr">
                    <a:solidFill>
                      <a:srgbClr val="EEF2F6"/>
                    </a:solidFill>
                  </a:tcPr>
                </a:tc>
              </a:tr>
              <a:tr h="429768">
                <a:tc>
                  <a:txBody>
                    <a:bodyPr wrap="square"/>
                    <a:lstStyle/>
                    <a:p>
                      <a:pPr algn="l"/>
                      <a:r>
                        <a:rPr sz="1100" b="0">
                          <a:solidFill>
                            <a:srgbClr val="22333F"/>
                          </a:solidFill>
                          <a:latin typeface="Arial"/>
                        </a:rPr>
                        <a:t>South South</a:t>
                      </a:r>
                    </a:p>
                  </a:txBody>
                  <a:tcPr marL="64008" marR="64008" marT="22860" marB="22860" anchor="ctr">
                    <a:solidFill>
                      <a:srgbClr val="FFFFFF"/>
                    </a:solidFill>
                  </a:tcPr>
                </a:tc>
                <a:tc>
                  <a:txBody>
                    <a:bodyPr wrap="square"/>
                    <a:lstStyle/>
                    <a:p>
                      <a:pPr algn="r"/>
                      <a:r>
                        <a:rPr sz="1100" b="0">
                          <a:solidFill>
                            <a:srgbClr val="22333F"/>
                          </a:solidFill>
                          <a:latin typeface="Arial"/>
                        </a:rPr>
                        <a:t>123 / 123</a:t>
                      </a:r>
                    </a:p>
                  </a:txBody>
                  <a:tcPr marL="64008" marR="64008" marT="22860" marB="22860" anchor="ctr">
                    <a:solidFill>
                      <a:srgbClr val="FFFFFF"/>
                    </a:solidFill>
                  </a:tcPr>
                </a:tc>
                <a:tc>
                  <a:txBody>
                    <a:bodyPr wrap="square"/>
                    <a:lstStyle/>
                    <a:p>
                      <a:pPr algn="r"/>
                      <a:r>
                        <a:rPr sz="1100" b="0">
                          <a:solidFill>
                            <a:srgbClr val="22333F"/>
                          </a:solidFill>
                          <a:latin typeface="Arial"/>
                        </a:rPr>
                        <a:t>821,850</a:t>
                      </a:r>
                    </a:p>
                  </a:txBody>
                  <a:tcPr marL="64008" marR="64008" marT="22860" marB="22860" anchor="ctr">
                    <a:solidFill>
                      <a:srgbClr val="FFFFFF"/>
                    </a:solidFill>
                  </a:tcPr>
                </a:tc>
                <a:tc>
                  <a:txBody>
                    <a:bodyPr wrap="square"/>
                    <a:lstStyle/>
                    <a:p>
                      <a:pPr algn="r"/>
                      <a:r>
                        <a:rPr sz="1100" b="0">
                          <a:solidFill>
                            <a:srgbClr val="0072B2"/>
                          </a:solidFill>
                          <a:latin typeface="Arial"/>
                        </a:rPr>
                        <a:t>112,309</a:t>
                      </a:r>
                    </a:p>
                    <a:p>
                      <a:pPr algn="r"/>
                      <a:r>
                        <a:rPr sz="900" b="0">
                          <a:solidFill>
                            <a:srgbClr val="0072B2"/>
                          </a:solidFill>
                          <a:latin typeface="Arial"/>
                        </a:rPr>
                        <a:t>(67,941 - 169,284)</a:t>
                      </a:r>
                    </a:p>
                  </a:txBody>
                  <a:tcPr marL="64008" marR="64008" marT="22860" marB="22860" anchor="ctr">
                    <a:solidFill>
                      <a:srgbClr val="FFFFFF"/>
                    </a:solidFill>
                  </a:tcPr>
                </a:tc>
                <a:tc>
                  <a:txBody>
                    <a:bodyPr wrap="square"/>
                    <a:lstStyle/>
                    <a:p>
                      <a:pPr algn="r"/>
                      <a:r>
                        <a:rPr sz="1100" b="0">
                          <a:solidFill>
                            <a:srgbClr val="0072B2"/>
                          </a:solidFill>
                          <a:latin typeface="Arial"/>
                        </a:rPr>
                        <a:t>13.7</a:t>
                      </a:r>
                    </a:p>
                  </a:txBody>
                  <a:tcPr marL="64008" marR="64008" marT="22860" marB="22860" anchor="ctr">
                    <a:solidFill>
                      <a:srgbClr val="FFFFFF"/>
                    </a:solidFill>
                  </a:tcPr>
                </a:tc>
                <a:tc>
                  <a:txBody>
                    <a:bodyPr wrap="square"/>
                    <a:lstStyle/>
                    <a:p>
                      <a:pPr algn="r"/>
                      <a:r>
                        <a:rPr sz="1100" b="0">
                          <a:solidFill>
                            <a:srgbClr val="D55E00"/>
                          </a:solidFill>
                          <a:latin typeface="Arial"/>
                        </a:rPr>
                        <a:t>110,354</a:t>
                      </a:r>
                    </a:p>
                    <a:p>
                      <a:pPr algn="r"/>
                      <a:r>
                        <a:rPr sz="900" b="0">
                          <a:solidFill>
                            <a:srgbClr val="D55E00"/>
                          </a:solidFill>
                          <a:latin typeface="Arial"/>
                        </a:rPr>
                        <a:t>(65,945 - 169,111)</a:t>
                      </a:r>
                    </a:p>
                  </a:txBody>
                  <a:tcPr marL="64008" marR="64008" marT="22860" marB="22860" anchor="ctr">
                    <a:solidFill>
                      <a:srgbClr val="FFFFFF"/>
                    </a:solidFill>
                  </a:tcPr>
                </a:tc>
                <a:tc>
                  <a:txBody>
                    <a:bodyPr wrap="square"/>
                    <a:lstStyle/>
                    <a:p>
                      <a:pPr algn="r"/>
                      <a:r>
                        <a:rPr sz="1100" b="0">
                          <a:solidFill>
                            <a:srgbClr val="D55E00"/>
                          </a:solidFill>
                          <a:latin typeface="Arial"/>
                        </a:rPr>
                        <a:t>13.4</a:t>
                      </a:r>
                    </a:p>
                  </a:txBody>
                  <a:tcPr marL="64008" marR="64008" marT="22860" marB="22860" anchor="ctr">
                    <a:solidFill>
                      <a:srgbClr val="FFFFFF"/>
                    </a:solidFill>
                  </a:tcPr>
                </a:tc>
                <a:tc>
                  <a:txBody>
                    <a:bodyPr wrap="square"/>
                    <a:lstStyle/>
                    <a:p>
                      <a:pPr algn="r"/>
                      <a:r>
                        <a:rPr sz="1100" b="0">
                          <a:solidFill>
                            <a:srgbClr val="22333F"/>
                          </a:solidFill>
                          <a:latin typeface="Arial"/>
                        </a:rPr>
                        <a:t>-1.7%</a:t>
                      </a:r>
                    </a:p>
                  </a:txBody>
                  <a:tcPr marL="64008" marR="64008" marT="22860" marB="22860" anchor="ctr">
                    <a:solidFill>
                      <a:srgbClr val="FFFFFF"/>
                    </a:solidFill>
                  </a:tcPr>
                </a:tc>
                <a:tc>
                  <a:txBody>
                    <a:bodyPr wrap="square"/>
                    <a:lstStyle/>
                    <a:p>
                      <a:pPr algn="r"/>
                      <a:r>
                        <a:rPr sz="1100" b="0">
                          <a:solidFill>
                            <a:srgbClr val="22333F"/>
                          </a:solidFill>
                          <a:latin typeface="Arial"/>
                        </a:rPr>
                        <a:t>8.8</a:t>
                      </a:r>
                    </a:p>
                  </a:txBody>
                  <a:tcPr marL="64008" marR="64008" marT="22860" marB="22860" anchor="ctr">
                    <a:solidFill>
                      <a:srgbClr val="FFFFFF"/>
                    </a:solidFill>
                  </a:tcPr>
                </a:tc>
              </a:tr>
              <a:tr h="429768">
                <a:tc>
                  <a:txBody>
                    <a:bodyPr wrap="square"/>
                    <a:lstStyle/>
                    <a:p>
                      <a:pPr algn="l"/>
                      <a:r>
                        <a:rPr sz="1100" b="0">
                          <a:solidFill>
                            <a:srgbClr val="22333F"/>
                          </a:solidFill>
                          <a:latin typeface="Arial"/>
                        </a:rPr>
                        <a:t>South East</a:t>
                      </a:r>
                    </a:p>
                  </a:txBody>
                  <a:tcPr marL="64008" marR="64008" marT="22860" marB="22860" anchor="ctr">
                    <a:solidFill>
                      <a:srgbClr val="EEF2F6"/>
                    </a:solidFill>
                  </a:tcPr>
                </a:tc>
                <a:tc>
                  <a:txBody>
                    <a:bodyPr wrap="square"/>
                    <a:lstStyle/>
                    <a:p>
                      <a:pPr algn="r"/>
                      <a:r>
                        <a:rPr sz="1100" b="0">
                          <a:solidFill>
                            <a:srgbClr val="22333F"/>
                          </a:solidFill>
                          <a:latin typeface="Arial"/>
                        </a:rPr>
                        <a:t>95 / 95</a:t>
                      </a:r>
                    </a:p>
                  </a:txBody>
                  <a:tcPr marL="64008" marR="64008" marT="22860" marB="22860" anchor="ctr">
                    <a:solidFill>
                      <a:srgbClr val="EEF2F6"/>
                    </a:solidFill>
                  </a:tcPr>
                </a:tc>
                <a:tc>
                  <a:txBody>
                    <a:bodyPr wrap="square"/>
                    <a:lstStyle/>
                    <a:p>
                      <a:pPr algn="r"/>
                      <a:r>
                        <a:rPr sz="1100" b="0">
                          <a:solidFill>
                            <a:srgbClr val="22333F"/>
                          </a:solidFill>
                          <a:latin typeface="Arial"/>
                        </a:rPr>
                        <a:t>746,305</a:t>
                      </a:r>
                    </a:p>
                  </a:txBody>
                  <a:tcPr marL="64008" marR="64008" marT="22860" marB="22860" anchor="ctr">
                    <a:solidFill>
                      <a:srgbClr val="EEF2F6"/>
                    </a:solidFill>
                  </a:tcPr>
                </a:tc>
                <a:tc>
                  <a:txBody>
                    <a:bodyPr wrap="square"/>
                    <a:lstStyle/>
                    <a:p>
                      <a:pPr algn="r"/>
                      <a:r>
                        <a:rPr sz="1100" b="0">
                          <a:solidFill>
                            <a:srgbClr val="0072B2"/>
                          </a:solidFill>
                          <a:latin typeface="Arial"/>
                        </a:rPr>
                        <a:t>67,871</a:t>
                      </a:r>
                    </a:p>
                    <a:p>
                      <a:pPr algn="r"/>
                      <a:r>
                        <a:rPr sz="900" b="0">
                          <a:solidFill>
                            <a:srgbClr val="0072B2"/>
                          </a:solidFill>
                          <a:latin typeface="Arial"/>
                        </a:rPr>
                        <a:t>(36,662 - 111,588)</a:t>
                      </a:r>
                    </a:p>
                  </a:txBody>
                  <a:tcPr marL="64008" marR="64008" marT="22860" marB="22860" anchor="ctr">
                    <a:solidFill>
                      <a:srgbClr val="EEF2F6"/>
                    </a:solidFill>
                  </a:tcPr>
                </a:tc>
                <a:tc>
                  <a:txBody>
                    <a:bodyPr wrap="square"/>
                    <a:lstStyle/>
                    <a:p>
                      <a:pPr algn="r"/>
                      <a:r>
                        <a:rPr sz="1100" b="0">
                          <a:solidFill>
                            <a:srgbClr val="0072B2"/>
                          </a:solidFill>
                          <a:latin typeface="Arial"/>
                        </a:rPr>
                        <a:t>9.1</a:t>
                      </a:r>
                    </a:p>
                  </a:txBody>
                  <a:tcPr marL="64008" marR="64008" marT="22860" marB="22860" anchor="ctr">
                    <a:solidFill>
                      <a:srgbClr val="EEF2F6"/>
                    </a:solidFill>
                  </a:tcPr>
                </a:tc>
                <a:tc>
                  <a:txBody>
                    <a:bodyPr wrap="square"/>
                    <a:lstStyle/>
                    <a:p>
                      <a:pPr algn="r"/>
                      <a:r>
                        <a:rPr sz="1100" b="0">
                          <a:solidFill>
                            <a:srgbClr val="D55E00"/>
                          </a:solidFill>
                          <a:latin typeface="Arial"/>
                        </a:rPr>
                        <a:t>52,005</a:t>
                      </a:r>
                    </a:p>
                    <a:p>
                      <a:pPr algn="r"/>
                      <a:r>
                        <a:rPr sz="900" b="0">
                          <a:solidFill>
                            <a:srgbClr val="D55E00"/>
                          </a:solidFill>
                          <a:latin typeface="Arial"/>
                        </a:rPr>
                        <a:t>(26,981 - 87,430)</a:t>
                      </a:r>
                    </a:p>
                  </a:txBody>
                  <a:tcPr marL="64008" marR="64008" marT="22860" marB="22860" anchor="ctr">
                    <a:solidFill>
                      <a:srgbClr val="EEF2F6"/>
                    </a:solidFill>
                  </a:tcPr>
                </a:tc>
                <a:tc>
                  <a:txBody>
                    <a:bodyPr wrap="square"/>
                    <a:lstStyle/>
                    <a:p>
                      <a:pPr algn="r"/>
                      <a:r>
                        <a:rPr sz="1100" b="0">
                          <a:solidFill>
                            <a:srgbClr val="D55E00"/>
                          </a:solidFill>
                          <a:latin typeface="Arial"/>
                        </a:rPr>
                        <a:t>7.0</a:t>
                      </a:r>
                    </a:p>
                  </a:txBody>
                  <a:tcPr marL="64008" marR="64008" marT="22860" marB="22860" anchor="ctr">
                    <a:solidFill>
                      <a:srgbClr val="EEF2F6"/>
                    </a:solidFill>
                  </a:tcPr>
                </a:tc>
                <a:tc>
                  <a:txBody>
                    <a:bodyPr wrap="square"/>
                    <a:lstStyle/>
                    <a:p>
                      <a:pPr algn="r"/>
                      <a:r>
                        <a:rPr sz="1100" b="0">
                          <a:solidFill>
                            <a:srgbClr val="22333F"/>
                          </a:solidFill>
                          <a:latin typeface="Arial"/>
                        </a:rPr>
                        <a:t>-23.4%</a:t>
                      </a:r>
                    </a:p>
                  </a:txBody>
                  <a:tcPr marL="64008" marR="64008" marT="22860" marB="22860" anchor="ctr">
                    <a:solidFill>
                      <a:srgbClr val="EEF2F6"/>
                    </a:solidFill>
                  </a:tcPr>
                </a:tc>
                <a:tc>
                  <a:txBody>
                    <a:bodyPr wrap="square"/>
                    <a:lstStyle/>
                    <a:p>
                      <a:pPr algn="r"/>
                      <a:r>
                        <a:rPr sz="1100" b="0">
                          <a:solidFill>
                            <a:srgbClr val="22333F"/>
                          </a:solidFill>
                          <a:latin typeface="Arial"/>
                        </a:rPr>
                        <a:t>11.2</a:t>
                      </a:r>
                    </a:p>
                  </a:txBody>
                  <a:tcPr marL="64008" marR="64008" marT="22860" marB="22860" anchor="ctr">
                    <a:solidFill>
                      <a:srgbClr val="EEF2F6"/>
                    </a:solidFill>
                  </a:tcPr>
                </a:tc>
              </a:tr>
              <a:tr h="429768">
                <a:tc>
                  <a:txBody>
                    <a:bodyPr wrap="square"/>
                    <a:lstStyle/>
                    <a:p>
                      <a:pPr algn="l"/>
                      <a:r>
                        <a:rPr sz="1100" b="1">
                          <a:solidFill>
                            <a:srgbClr val="22333F"/>
                          </a:solidFill>
                          <a:latin typeface="Arial"/>
                        </a:rPr>
                        <a:t>Nigeria</a:t>
                      </a:r>
                    </a:p>
                  </a:txBody>
                  <a:tcPr marL="64008" marR="64008" marT="22860" marB="22860" anchor="ctr">
                    <a:solidFill>
                      <a:srgbClr val="DCE6F0"/>
                    </a:solidFill>
                  </a:tcPr>
                </a:tc>
                <a:tc>
                  <a:txBody>
                    <a:bodyPr wrap="square"/>
                    <a:lstStyle/>
                    <a:p>
                      <a:pPr algn="r"/>
                      <a:r>
                        <a:rPr sz="1100" b="1">
                          <a:solidFill>
                            <a:srgbClr val="22333F"/>
                          </a:solidFill>
                          <a:latin typeface="Arial"/>
                        </a:rPr>
                        <a:t>773 / 774</a:t>
                      </a:r>
                    </a:p>
                  </a:txBody>
                  <a:tcPr marL="64008" marR="64008" marT="22860" marB="22860" anchor="ctr">
                    <a:solidFill>
                      <a:srgbClr val="DCE6F0"/>
                    </a:solidFill>
                  </a:tcPr>
                </a:tc>
                <a:tc>
                  <a:txBody>
                    <a:bodyPr wrap="square"/>
                    <a:lstStyle/>
                    <a:p>
                      <a:pPr algn="r"/>
                      <a:r>
                        <a:rPr sz="1100" b="1">
                          <a:solidFill>
                            <a:srgbClr val="22333F"/>
                          </a:solidFill>
                          <a:latin typeface="Arial"/>
                        </a:rPr>
                        <a:t>7,018,707</a:t>
                      </a:r>
                    </a:p>
                  </a:txBody>
                  <a:tcPr marL="64008" marR="64008" marT="22860" marB="22860" anchor="ctr">
                    <a:solidFill>
                      <a:srgbClr val="DCE6F0"/>
                    </a:solidFill>
                  </a:tcPr>
                </a:tc>
                <a:tc>
                  <a:txBody>
                    <a:bodyPr wrap="square"/>
                    <a:lstStyle/>
                    <a:p>
                      <a:pPr algn="r"/>
                      <a:r>
                        <a:rPr sz="1100" b="1">
                          <a:solidFill>
                            <a:srgbClr val="0072B2"/>
                          </a:solidFill>
                          <a:latin typeface="Arial"/>
                        </a:rPr>
                        <a:t>2,099,204</a:t>
                      </a:r>
                    </a:p>
                    <a:p>
                      <a:pPr algn="r"/>
                      <a:r>
                        <a:rPr sz="900" b="0">
                          <a:solidFill>
                            <a:srgbClr val="0072B2"/>
                          </a:solidFill>
                          <a:latin typeface="Arial"/>
                        </a:rPr>
                        <a:t>(1,898,902 - 2,308,432)</a:t>
                      </a:r>
                    </a:p>
                  </a:txBody>
                  <a:tcPr marL="64008" marR="64008" marT="22860" marB="22860" anchor="ctr">
                    <a:solidFill>
                      <a:srgbClr val="DCE6F0"/>
                    </a:solidFill>
                  </a:tcPr>
                </a:tc>
                <a:tc>
                  <a:txBody>
                    <a:bodyPr wrap="square"/>
                    <a:lstStyle/>
                    <a:p>
                      <a:pPr algn="r"/>
                      <a:r>
                        <a:rPr sz="1100" b="1">
                          <a:solidFill>
                            <a:srgbClr val="0072B2"/>
                          </a:solidFill>
                          <a:latin typeface="Arial"/>
                        </a:rPr>
                        <a:t>29.9</a:t>
                      </a:r>
                    </a:p>
                  </a:txBody>
                  <a:tcPr marL="64008" marR="64008" marT="22860" marB="22860" anchor="ctr">
                    <a:solidFill>
                      <a:srgbClr val="DCE6F0"/>
                    </a:solidFill>
                  </a:tcPr>
                </a:tc>
                <a:tc>
                  <a:txBody>
                    <a:bodyPr wrap="square"/>
                    <a:lstStyle/>
                    <a:p>
                      <a:pPr algn="r"/>
                      <a:r>
                        <a:rPr sz="1100" b="1">
                          <a:solidFill>
                            <a:srgbClr val="D55E00"/>
                          </a:solidFill>
                          <a:latin typeface="Arial"/>
                        </a:rPr>
                        <a:t>2,149,561</a:t>
                      </a:r>
                    </a:p>
                    <a:p>
                      <a:pPr algn="r"/>
                      <a:r>
                        <a:rPr sz="900" b="0">
                          <a:solidFill>
                            <a:srgbClr val="D55E00"/>
                          </a:solidFill>
                          <a:latin typeface="Arial"/>
                        </a:rPr>
                        <a:t>(1,856,459 - 2,455,411)</a:t>
                      </a:r>
                    </a:p>
                  </a:txBody>
                  <a:tcPr marL="64008" marR="64008" marT="22860" marB="22860" anchor="ctr">
                    <a:solidFill>
                      <a:srgbClr val="DCE6F0"/>
                    </a:solidFill>
                  </a:tcPr>
                </a:tc>
                <a:tc>
                  <a:txBody>
                    <a:bodyPr wrap="square"/>
                    <a:lstStyle/>
                    <a:p>
                      <a:pPr algn="r"/>
                      <a:r>
                        <a:rPr sz="1100" b="1">
                          <a:solidFill>
                            <a:srgbClr val="D55E00"/>
                          </a:solidFill>
                          <a:latin typeface="Arial"/>
                        </a:rPr>
                        <a:t>30.6</a:t>
                      </a:r>
                    </a:p>
                  </a:txBody>
                  <a:tcPr marL="64008" marR="64008" marT="22860" marB="22860" anchor="ctr">
                    <a:solidFill>
                      <a:srgbClr val="DCE6F0"/>
                    </a:solidFill>
                  </a:tcPr>
                </a:tc>
                <a:tc>
                  <a:txBody>
                    <a:bodyPr wrap="square"/>
                    <a:lstStyle/>
                    <a:p>
                      <a:pPr algn="r"/>
                      <a:r>
                        <a:rPr sz="1100" b="1">
                          <a:solidFill>
                            <a:srgbClr val="22333F"/>
                          </a:solidFill>
                          <a:latin typeface="Arial"/>
                        </a:rPr>
                        <a:t>+2.4%</a:t>
                      </a:r>
                    </a:p>
                  </a:txBody>
                  <a:tcPr marL="64008" marR="64008" marT="22860" marB="22860" anchor="ctr">
                    <a:solidFill>
                      <a:srgbClr val="DCE6F0"/>
                    </a:solidFill>
                  </a:tcPr>
                </a:tc>
                <a:tc>
                  <a:txBody>
                    <a:bodyPr wrap="square"/>
                    <a:lstStyle/>
                    <a:p>
                      <a:pPr algn="r"/>
                      <a:r>
                        <a:rPr sz="1100" b="1">
                          <a:solidFill>
                            <a:srgbClr val="22333F"/>
                          </a:solidFill>
                          <a:latin typeface="Arial"/>
                        </a:rPr>
                        <a:t>-</a:t>
                      </a:r>
                    </a:p>
                  </a:txBody>
                  <a:tcPr marL="64008" marR="64008" marT="22860" marB="22860" anchor="ctr">
                    <a:solidFill>
                      <a:srgbClr val="DCE6F0"/>
                    </a:solidFill>
                  </a:tcPr>
                </a:tc>
              </a:tr>
            </a:tbl>
          </a:graphicData>
        </a:graphic>
      </p:graphicFrame>
      <p:sp>
        <p:nvSpPr>
          <p:cNvPr id="5" name="Rectangle 4"/>
          <p:cNvSpPr/>
          <p:nvPr/>
        </p:nvSpPr>
        <p:spPr>
          <a:xfrm>
            <a:off x="54864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Same national picture. </a:t>
            </a:r>
            <a:r>
              <a:rPr sz="1200" b="0" i="0">
                <a:solidFill>
                  <a:srgbClr val="22333F"/>
                </a:solidFill>
                <a:latin typeface="Arial"/>
              </a:rPr>
              <a:t>2.10 million (Method 1) and 2.15 million (Method 2); the 95% intervals overlap in every zone.</a:t>
            </a:r>
          </a:p>
        </p:txBody>
      </p:sp>
      <p:sp>
        <p:nvSpPr>
          <p:cNvPr id="7" name="Rectangle 6"/>
          <p:cNvSpPr/>
          <p:nvPr/>
        </p:nvSpPr>
        <p:spPr>
          <a:xfrm>
            <a:off x="429768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4398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North-West first. </a:t>
            </a:r>
            <a:r>
              <a:rPr sz="1200" b="0" i="0">
                <a:solidFill>
                  <a:srgbClr val="22333F"/>
                </a:solidFill>
                <a:latin typeface="Arial"/>
              </a:rPr>
              <a:t>52% of zero-dose children under Method 1 and 53% under Method 2.</a:t>
            </a:r>
          </a:p>
        </p:txBody>
      </p:sp>
      <p:sp>
        <p:nvSpPr>
          <p:cNvPr id="9" name="Rectangle 8"/>
          <p:cNvSpPr/>
          <p:nvPr/>
        </p:nvSpPr>
        <p:spPr>
          <a:xfrm>
            <a:off x="8046720" y="5074920"/>
            <a:ext cx="3593592" cy="987552"/>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5166359"/>
            <a:ext cx="3300984" cy="804672"/>
          </a:xfrm>
          <a:prstGeom prst="rect">
            <a:avLst/>
          </a:prstGeom>
          <a:noFill/>
        </p:spPr>
        <p:txBody>
          <a:bodyPr wrap="square" lIns="0" rIns="0" tIns="0" bIns="0" anchor="t">
            <a:spAutoFit/>
          </a:bodyPr>
          <a:lstStyle/>
          <a:p>
            <a:pPr algn="l"/>
            <a:r>
              <a:rPr sz="1200" b="1" i="0">
                <a:solidFill>
                  <a:srgbClr val="1F3B57"/>
                </a:solidFill>
                <a:latin typeface="Arial"/>
              </a:rPr>
              <a:t>Largest gap: North-East. </a:t>
            </a:r>
            <a:r>
              <a:rPr sz="1200" b="0" i="0">
                <a:solidFill>
                  <a:srgbClr val="22333F"/>
                </a:solidFill>
                <a:latin typeface="Arial"/>
              </a:rPr>
              <a:t>Method 2 is 11% higher (34.7% vs 31.4%); NmDHS 2025-26 shows 38.7%.</a:t>
            </a:r>
          </a:p>
        </p:txBody>
      </p:sp>
      <p:sp>
        <p:nvSpPr>
          <p:cNvPr id="11" name="TextBox 10"/>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(773 LGAs); Method 2: Bayesian small-area estimation (SAE) (774 LGAs). NmDHS 2025-26 zone rates for reference (not used in fitting).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Method 1 and Method 2 compared by state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methods rank the 37 states almost identically (rho = 0.96); ordered by Method 1 burden.</a:t>
            </a:r>
          </a:p>
        </p:txBody>
      </p:sp>
      <p:graphicFrame>
        <p:nvGraphicFramePr>
          <p:cNvPr id="4" name="Table 3"/>
          <p:cNvGraphicFramePr>
            <a:graphicFrameLocks noGrp="1"/>
          </p:cNvGraphicFramePr>
          <p:nvPr/>
        </p:nvGraphicFramePr>
        <p:xfrm>
          <a:off x="548640" y="1207008"/>
          <a:ext cx="5349240" cy="4832604"/>
        </p:xfrm>
        <a:graphic>
          <a:graphicData uri="http://schemas.openxmlformats.org/drawingml/2006/table">
            <a:tbl>
              <a:tblPr firstRow="1" bandRow="0">
                <a:tableStyleId>{2D5ABB26-0587-4C30-8999-92F81FD0307C}</a:tableStyleId>
              </a:tblPr>
              <a:tblGrid>
                <a:gridCol w="1234440"/>
                <a:gridCol w="960120"/>
                <a:gridCol w="960120"/>
                <a:gridCol w="685800"/>
                <a:gridCol w="685800"/>
                <a:gridCol w="822960"/>
              </a:tblGrid>
              <a:tr h="402336">
                <a:tc>
                  <a:txBody>
                    <a:bodyPr wrap="square"/>
                    <a:lstStyle/>
                    <a:p>
                      <a:pPr algn="l"/>
                      <a:r>
                        <a:rPr sz="950" b="1">
                          <a:solidFill>
                            <a:srgbClr val="FFFFFF"/>
                          </a:solidFill>
                          <a:latin typeface="Arial"/>
                        </a:rPr>
                        <a:t>State</a:t>
                      </a:r>
                    </a:p>
                  </a:txBody>
                  <a:tcPr marL="64008" marR="64008" marT="22860" marB="22860" anchor="ctr">
                    <a:solidFill>
                      <a:srgbClr val="1F3B57"/>
                    </a:solidFill>
                  </a:tcPr>
                </a:tc>
                <a:tc>
                  <a:txBody>
                    <a:bodyPr wrap="square"/>
                    <a:lstStyle/>
                    <a:p>
                      <a:pPr algn="ctr"/>
                      <a:r>
                        <a:rPr sz="950" b="1">
                          <a:solidFill>
                            <a:srgbClr val="FFFFFF"/>
                          </a:solidFill>
                          <a:latin typeface="Arial"/>
                        </a:rPr>
                        <a:t>Method 1</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Method 2</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M1</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M2</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NmDHS</a:t>
                      </a:r>
                    </a:p>
                    <a:p>
                      <a:pPr algn="ctr"/>
                      <a:r>
                        <a:rPr sz="950" b="1">
                          <a:solidFill>
                            <a:srgbClr val="FFFFFF"/>
                          </a:solidFill>
                          <a:latin typeface="Arial"/>
                        </a:rPr>
                        <a:t>%</a:t>
                      </a:r>
                    </a:p>
                  </a:txBody>
                  <a:tcPr marL="64008" marR="64008" marT="22860" marB="22860" anchor="ctr">
                    <a:solidFill>
                      <a:srgbClr val="1F3B57"/>
                    </a:solidFill>
                  </a:tcPr>
                </a:tc>
              </a:tr>
              <a:tr h="233172">
                <a:tc>
                  <a:txBody>
                    <a:bodyPr wrap="square"/>
                    <a:lstStyle/>
                    <a:p>
                      <a:pPr algn="l"/>
                      <a:r>
                        <a:rPr sz="1000" b="0">
                          <a:solidFill>
                            <a:srgbClr val="22333F"/>
                          </a:solidFill>
                          <a:latin typeface="Arial"/>
                        </a:rPr>
                        <a:t>Kano</a:t>
                      </a:r>
                    </a:p>
                  </a:txBody>
                  <a:tcPr marL="64008" marR="64008" marT="22860" marB="22860" anchor="ctr">
                    <a:solidFill>
                      <a:srgbClr val="FFFFFF"/>
                    </a:solidFill>
                  </a:tcPr>
                </a:tc>
                <a:tc>
                  <a:txBody>
                    <a:bodyPr wrap="square"/>
                    <a:lstStyle/>
                    <a:p>
                      <a:pPr algn="r"/>
                      <a:r>
                        <a:rPr sz="1000" b="0">
                          <a:solidFill>
                            <a:srgbClr val="0072B2"/>
                          </a:solidFill>
                          <a:latin typeface="Arial"/>
                        </a:rPr>
                        <a:t>198,101</a:t>
                      </a:r>
                    </a:p>
                  </a:txBody>
                  <a:tcPr marL="64008" marR="64008" marT="22860" marB="22860" anchor="ctr">
                    <a:solidFill>
                      <a:srgbClr val="FFFFFF"/>
                    </a:solidFill>
                  </a:tcPr>
                </a:tc>
                <a:tc>
                  <a:txBody>
                    <a:bodyPr wrap="square"/>
                    <a:lstStyle/>
                    <a:p>
                      <a:pPr algn="r"/>
                      <a:r>
                        <a:rPr sz="1000" b="0">
                          <a:solidFill>
                            <a:srgbClr val="D55E00"/>
                          </a:solidFill>
                          <a:latin typeface="Arial"/>
                        </a:rPr>
                        <a:t>227,157</a:t>
                      </a:r>
                    </a:p>
                  </a:txBody>
                  <a:tcPr marL="64008" marR="64008" marT="22860" marB="22860" anchor="ctr">
                    <a:solidFill>
                      <a:srgbClr val="FFFFFF"/>
                    </a:solidFill>
                  </a:tcPr>
                </a:tc>
                <a:tc>
                  <a:txBody>
                    <a:bodyPr wrap="square"/>
                    <a:lstStyle/>
                    <a:p>
                      <a:pPr algn="r"/>
                      <a:r>
                        <a:rPr sz="1000" b="0">
                          <a:solidFill>
                            <a:srgbClr val="0072B2"/>
                          </a:solidFill>
                          <a:latin typeface="Arial"/>
                        </a:rPr>
                        <a:t>36.8</a:t>
                      </a:r>
                    </a:p>
                  </a:txBody>
                  <a:tcPr marL="64008" marR="64008" marT="22860" marB="22860" anchor="ctr">
                    <a:solidFill>
                      <a:srgbClr val="FFFFFF"/>
                    </a:solidFill>
                  </a:tcPr>
                </a:tc>
                <a:tc>
                  <a:txBody>
                    <a:bodyPr wrap="square"/>
                    <a:lstStyle/>
                    <a:p>
                      <a:pPr algn="r"/>
                      <a:r>
                        <a:rPr sz="1000" b="0">
                          <a:solidFill>
                            <a:srgbClr val="D55E00"/>
                          </a:solidFill>
                          <a:latin typeface="Arial"/>
                        </a:rPr>
                        <a:t>42.4</a:t>
                      </a:r>
                    </a:p>
                  </a:txBody>
                  <a:tcPr marL="64008" marR="64008" marT="22860" marB="22860" anchor="ctr">
                    <a:solidFill>
                      <a:srgbClr val="FFFFFF"/>
                    </a:solidFill>
                  </a:tcPr>
                </a:tc>
                <a:tc>
                  <a:txBody>
                    <a:bodyPr wrap="square"/>
                    <a:lstStyle/>
                    <a:p>
                      <a:pPr algn="r"/>
                      <a:r>
                        <a:rPr sz="1000" b="0">
                          <a:solidFill>
                            <a:srgbClr val="22333F"/>
                          </a:solidFill>
                          <a:latin typeface="Arial"/>
                        </a:rPr>
                        <a:t>38.7</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Katsina</a:t>
                      </a:r>
                    </a:p>
                  </a:txBody>
                  <a:tcPr marL="64008" marR="64008" marT="22860" marB="22860" anchor="ctr">
                    <a:solidFill>
                      <a:srgbClr val="EEF2F6"/>
                    </a:solidFill>
                  </a:tcPr>
                </a:tc>
                <a:tc>
                  <a:txBody>
                    <a:bodyPr wrap="square"/>
                    <a:lstStyle/>
                    <a:p>
                      <a:pPr algn="r"/>
                      <a:r>
                        <a:rPr sz="1000" b="0">
                          <a:solidFill>
                            <a:srgbClr val="0072B2"/>
                          </a:solidFill>
                          <a:latin typeface="Arial"/>
                        </a:rPr>
                        <a:t>169,685</a:t>
                      </a:r>
                    </a:p>
                  </a:txBody>
                  <a:tcPr marL="64008" marR="64008" marT="22860" marB="22860" anchor="ctr">
                    <a:solidFill>
                      <a:srgbClr val="EEF2F6"/>
                    </a:solidFill>
                  </a:tcPr>
                </a:tc>
                <a:tc>
                  <a:txBody>
                    <a:bodyPr wrap="square"/>
                    <a:lstStyle/>
                    <a:p>
                      <a:pPr algn="r"/>
                      <a:r>
                        <a:rPr sz="1000" b="0">
                          <a:solidFill>
                            <a:srgbClr val="D55E00"/>
                          </a:solidFill>
                          <a:latin typeface="Arial"/>
                        </a:rPr>
                        <a:t>211,744</a:t>
                      </a:r>
                    </a:p>
                  </a:txBody>
                  <a:tcPr marL="64008" marR="64008" marT="22860" marB="22860" anchor="ctr">
                    <a:solidFill>
                      <a:srgbClr val="EEF2F6"/>
                    </a:solidFill>
                  </a:tcPr>
                </a:tc>
                <a:tc>
                  <a:txBody>
                    <a:bodyPr wrap="square"/>
                    <a:lstStyle/>
                    <a:p>
                      <a:pPr algn="r"/>
                      <a:r>
                        <a:rPr sz="1000" b="0">
                          <a:solidFill>
                            <a:srgbClr val="0072B2"/>
                          </a:solidFill>
                          <a:latin typeface="Arial"/>
                        </a:rPr>
                        <a:t>39.0</a:t>
                      </a:r>
                    </a:p>
                  </a:txBody>
                  <a:tcPr marL="64008" marR="64008" marT="22860" marB="22860" anchor="ctr">
                    <a:solidFill>
                      <a:srgbClr val="EEF2F6"/>
                    </a:solidFill>
                  </a:tcPr>
                </a:tc>
                <a:tc>
                  <a:txBody>
                    <a:bodyPr wrap="square"/>
                    <a:lstStyle/>
                    <a:p>
                      <a:pPr algn="r"/>
                      <a:r>
                        <a:rPr sz="1000" b="0">
                          <a:solidFill>
                            <a:srgbClr val="D55E00"/>
                          </a:solidFill>
                          <a:latin typeface="Arial"/>
                        </a:rPr>
                        <a:t>48.6</a:t>
                      </a:r>
                    </a:p>
                  </a:txBody>
                  <a:tcPr marL="64008" marR="64008" marT="22860" marB="22860" anchor="ctr">
                    <a:solidFill>
                      <a:srgbClr val="EEF2F6"/>
                    </a:solidFill>
                  </a:tcPr>
                </a:tc>
                <a:tc>
                  <a:txBody>
                    <a:bodyPr wrap="square"/>
                    <a:lstStyle/>
                    <a:p>
                      <a:pPr algn="r"/>
                      <a:r>
                        <a:rPr sz="1000" b="0">
                          <a:solidFill>
                            <a:srgbClr val="22333F"/>
                          </a:solidFill>
                          <a:latin typeface="Arial"/>
                        </a:rPr>
                        <a:t>48.2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Sokoto</a:t>
                      </a:r>
                    </a:p>
                  </a:txBody>
                  <a:tcPr marL="64008" marR="64008" marT="22860" marB="22860" anchor="ctr">
                    <a:solidFill>
                      <a:srgbClr val="FFFFFF"/>
                    </a:solidFill>
                  </a:tcPr>
                </a:tc>
                <a:tc>
                  <a:txBody>
                    <a:bodyPr wrap="square"/>
                    <a:lstStyle/>
                    <a:p>
                      <a:pPr algn="r"/>
                      <a:r>
                        <a:rPr sz="1000" b="0">
                          <a:solidFill>
                            <a:srgbClr val="0072B2"/>
                          </a:solidFill>
                          <a:latin typeface="Arial"/>
                        </a:rPr>
                        <a:t>166,648</a:t>
                      </a:r>
                    </a:p>
                  </a:txBody>
                  <a:tcPr marL="64008" marR="64008" marT="22860" marB="22860" anchor="ctr">
                    <a:solidFill>
                      <a:srgbClr val="FFFFFF"/>
                    </a:solidFill>
                  </a:tcPr>
                </a:tc>
                <a:tc>
                  <a:txBody>
                    <a:bodyPr wrap="square"/>
                    <a:lstStyle/>
                    <a:p>
                      <a:pPr algn="r"/>
                      <a:r>
                        <a:rPr sz="1000" b="0">
                          <a:solidFill>
                            <a:srgbClr val="D55E00"/>
                          </a:solidFill>
                          <a:latin typeface="Arial"/>
                        </a:rPr>
                        <a:t>167,720</a:t>
                      </a:r>
                    </a:p>
                  </a:txBody>
                  <a:tcPr marL="64008" marR="64008" marT="22860" marB="22860" anchor="ctr">
                    <a:solidFill>
                      <a:srgbClr val="FFFFFF"/>
                    </a:solidFill>
                  </a:tcPr>
                </a:tc>
                <a:tc>
                  <a:txBody>
                    <a:bodyPr wrap="square"/>
                    <a:lstStyle/>
                    <a:p>
                      <a:pPr algn="r"/>
                      <a:r>
                        <a:rPr sz="1000" b="0">
                          <a:solidFill>
                            <a:srgbClr val="0072B2"/>
                          </a:solidFill>
                          <a:latin typeface="Arial"/>
                        </a:rPr>
                        <a:t>72.7</a:t>
                      </a:r>
                    </a:p>
                  </a:txBody>
                  <a:tcPr marL="64008" marR="64008" marT="22860" marB="22860" anchor="ctr">
                    <a:solidFill>
                      <a:srgbClr val="FFFFFF"/>
                    </a:solidFill>
                  </a:tcPr>
                </a:tc>
                <a:tc>
                  <a:txBody>
                    <a:bodyPr wrap="square"/>
                    <a:lstStyle/>
                    <a:p>
                      <a:pPr algn="r"/>
                      <a:r>
                        <a:rPr sz="1000" b="0">
                          <a:solidFill>
                            <a:srgbClr val="D55E00"/>
                          </a:solidFill>
                          <a:latin typeface="Arial"/>
                        </a:rPr>
                        <a:t>71.4</a:t>
                      </a:r>
                    </a:p>
                  </a:txBody>
                  <a:tcPr marL="64008" marR="64008" marT="22860" marB="22860" anchor="ctr">
                    <a:solidFill>
                      <a:srgbClr val="FFFFFF"/>
                    </a:solidFill>
                  </a:tcPr>
                </a:tc>
                <a:tc>
                  <a:txBody>
                    <a:bodyPr wrap="square"/>
                    <a:lstStyle/>
                    <a:p>
                      <a:pPr algn="r"/>
                      <a:r>
                        <a:rPr sz="1000" b="0">
                          <a:solidFill>
                            <a:srgbClr val="22333F"/>
                          </a:solidFill>
                          <a:latin typeface="Arial"/>
                        </a:rPr>
                        <a:t>76.5</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Kebbi</a:t>
                      </a:r>
                    </a:p>
                  </a:txBody>
                  <a:tcPr marL="64008" marR="64008" marT="22860" marB="22860" anchor="ctr">
                    <a:solidFill>
                      <a:srgbClr val="EEF2F6"/>
                    </a:solidFill>
                  </a:tcPr>
                </a:tc>
                <a:tc>
                  <a:txBody>
                    <a:bodyPr wrap="square"/>
                    <a:lstStyle/>
                    <a:p>
                      <a:pPr algn="r"/>
                      <a:r>
                        <a:rPr sz="1000" b="0">
                          <a:solidFill>
                            <a:srgbClr val="0072B2"/>
                          </a:solidFill>
                          <a:latin typeface="Arial"/>
                        </a:rPr>
                        <a:t>153,659</a:t>
                      </a:r>
                    </a:p>
                  </a:txBody>
                  <a:tcPr marL="64008" marR="64008" marT="22860" marB="22860" anchor="ctr">
                    <a:solidFill>
                      <a:srgbClr val="EEF2F6"/>
                    </a:solidFill>
                  </a:tcPr>
                </a:tc>
                <a:tc>
                  <a:txBody>
                    <a:bodyPr wrap="square"/>
                    <a:lstStyle/>
                    <a:p>
                      <a:pPr algn="r"/>
                      <a:r>
                        <a:rPr sz="1000" b="0">
                          <a:solidFill>
                            <a:srgbClr val="D55E00"/>
                          </a:solidFill>
                          <a:latin typeface="Arial"/>
                        </a:rPr>
                        <a:t>162,123</a:t>
                      </a:r>
                    </a:p>
                  </a:txBody>
                  <a:tcPr marL="64008" marR="64008" marT="22860" marB="22860" anchor="ctr">
                    <a:solidFill>
                      <a:srgbClr val="EEF2F6"/>
                    </a:solidFill>
                  </a:tcPr>
                </a:tc>
                <a:tc>
                  <a:txBody>
                    <a:bodyPr wrap="square"/>
                    <a:lstStyle/>
                    <a:p>
                      <a:pPr algn="r"/>
                      <a:r>
                        <a:rPr sz="1000" b="0">
                          <a:solidFill>
                            <a:srgbClr val="0072B2"/>
                          </a:solidFill>
                          <a:latin typeface="Arial"/>
                        </a:rPr>
                        <a:t>69.0</a:t>
                      </a:r>
                    </a:p>
                  </a:txBody>
                  <a:tcPr marL="64008" marR="64008" marT="22860" marB="22860" anchor="ctr">
                    <a:solidFill>
                      <a:srgbClr val="EEF2F6"/>
                    </a:solidFill>
                  </a:tcPr>
                </a:tc>
                <a:tc>
                  <a:txBody>
                    <a:bodyPr wrap="square"/>
                    <a:lstStyle/>
                    <a:p>
                      <a:pPr algn="r"/>
                      <a:r>
                        <a:rPr sz="1000" b="0">
                          <a:solidFill>
                            <a:srgbClr val="D55E00"/>
                          </a:solidFill>
                          <a:latin typeface="Arial"/>
                        </a:rPr>
                        <a:t>71.8</a:t>
                      </a:r>
                    </a:p>
                  </a:txBody>
                  <a:tcPr marL="64008" marR="64008" marT="22860" marB="22860" anchor="ctr">
                    <a:solidFill>
                      <a:srgbClr val="EEF2F6"/>
                    </a:solidFill>
                  </a:tcPr>
                </a:tc>
                <a:tc>
                  <a:txBody>
                    <a:bodyPr wrap="square"/>
                    <a:lstStyle/>
                    <a:p>
                      <a:pPr algn="r"/>
                      <a:r>
                        <a:rPr sz="1000" b="0">
                          <a:solidFill>
                            <a:srgbClr val="22333F"/>
                          </a:solidFill>
                          <a:latin typeface="Arial"/>
                        </a:rPr>
                        <a:t>72.4</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Zamfara</a:t>
                      </a:r>
                    </a:p>
                  </a:txBody>
                  <a:tcPr marL="64008" marR="64008" marT="22860" marB="22860" anchor="ctr">
                    <a:solidFill>
                      <a:srgbClr val="FFFFFF"/>
                    </a:solidFill>
                  </a:tcPr>
                </a:tc>
                <a:tc>
                  <a:txBody>
                    <a:bodyPr wrap="square"/>
                    <a:lstStyle/>
                    <a:p>
                      <a:pPr algn="r"/>
                      <a:r>
                        <a:rPr sz="1000" b="0">
                          <a:solidFill>
                            <a:srgbClr val="0072B2"/>
                          </a:solidFill>
                          <a:latin typeface="Arial"/>
                        </a:rPr>
                        <a:t>150,220</a:t>
                      </a:r>
                    </a:p>
                  </a:txBody>
                  <a:tcPr marL="64008" marR="64008" marT="22860" marB="22860" anchor="ctr">
                    <a:solidFill>
                      <a:srgbClr val="FFFFFF"/>
                    </a:solidFill>
                  </a:tcPr>
                </a:tc>
                <a:tc>
                  <a:txBody>
                    <a:bodyPr wrap="square"/>
                    <a:lstStyle/>
                    <a:p>
                      <a:pPr algn="r"/>
                      <a:r>
                        <a:rPr sz="1000" b="0">
                          <a:solidFill>
                            <a:srgbClr val="D55E00"/>
                          </a:solidFill>
                          <a:latin typeface="Arial"/>
                        </a:rPr>
                        <a:t>143,697</a:t>
                      </a:r>
                    </a:p>
                  </a:txBody>
                  <a:tcPr marL="64008" marR="64008" marT="22860" marB="22860" anchor="ctr">
                    <a:solidFill>
                      <a:srgbClr val="FFFFFF"/>
                    </a:solidFill>
                  </a:tcPr>
                </a:tc>
                <a:tc>
                  <a:txBody>
                    <a:bodyPr wrap="square"/>
                    <a:lstStyle/>
                    <a:p>
                      <a:pPr algn="r"/>
                      <a:r>
                        <a:rPr sz="1000" b="0">
                          <a:solidFill>
                            <a:srgbClr val="0072B2"/>
                          </a:solidFill>
                          <a:latin typeface="Arial"/>
                        </a:rPr>
                        <a:t>70.9</a:t>
                      </a:r>
                    </a:p>
                  </a:txBody>
                  <a:tcPr marL="64008" marR="64008" marT="22860" marB="22860" anchor="ctr">
                    <a:solidFill>
                      <a:srgbClr val="FFFFFF"/>
                    </a:solidFill>
                  </a:tcPr>
                </a:tc>
                <a:tc>
                  <a:txBody>
                    <a:bodyPr wrap="square"/>
                    <a:lstStyle/>
                    <a:p>
                      <a:pPr algn="r"/>
                      <a:r>
                        <a:rPr sz="1000" b="0">
                          <a:solidFill>
                            <a:srgbClr val="D55E00"/>
                          </a:solidFill>
                          <a:latin typeface="Arial"/>
                        </a:rPr>
                        <a:t>67.2</a:t>
                      </a:r>
                    </a:p>
                  </a:txBody>
                  <a:tcPr marL="64008" marR="64008" marT="22860" marB="22860" anchor="ctr">
                    <a:solidFill>
                      <a:srgbClr val="FFFFFF"/>
                    </a:solidFill>
                  </a:tcPr>
                </a:tc>
                <a:tc>
                  <a:txBody>
                    <a:bodyPr wrap="square"/>
                    <a:lstStyle/>
                    <a:p>
                      <a:pPr algn="r"/>
                      <a:r>
                        <a:rPr sz="1000" b="0">
                          <a:solidFill>
                            <a:srgbClr val="22333F"/>
                          </a:solidFill>
                          <a:latin typeface="Arial"/>
                        </a:rPr>
                        <a:t>49.6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Kaduna</a:t>
                      </a:r>
                    </a:p>
                  </a:txBody>
                  <a:tcPr marL="64008" marR="64008" marT="22860" marB="22860" anchor="ctr">
                    <a:solidFill>
                      <a:srgbClr val="EEF2F6"/>
                    </a:solidFill>
                  </a:tcPr>
                </a:tc>
                <a:tc>
                  <a:txBody>
                    <a:bodyPr wrap="square"/>
                    <a:lstStyle/>
                    <a:p>
                      <a:pPr algn="r"/>
                      <a:r>
                        <a:rPr sz="1000" b="0">
                          <a:solidFill>
                            <a:srgbClr val="0072B2"/>
                          </a:solidFill>
                          <a:latin typeface="Arial"/>
                        </a:rPr>
                        <a:t>139,578</a:t>
                      </a:r>
                    </a:p>
                  </a:txBody>
                  <a:tcPr marL="64008" marR="64008" marT="22860" marB="22860" anchor="ctr">
                    <a:solidFill>
                      <a:srgbClr val="EEF2F6"/>
                    </a:solidFill>
                  </a:tcPr>
                </a:tc>
                <a:tc>
                  <a:txBody>
                    <a:bodyPr wrap="square"/>
                    <a:lstStyle/>
                    <a:p>
                      <a:pPr algn="r"/>
                      <a:r>
                        <a:rPr sz="1000" b="0">
                          <a:solidFill>
                            <a:srgbClr val="D55E00"/>
                          </a:solidFill>
                          <a:latin typeface="Arial"/>
                        </a:rPr>
                        <a:t>119,060</a:t>
                      </a:r>
                    </a:p>
                  </a:txBody>
                  <a:tcPr marL="64008" marR="64008" marT="22860" marB="22860" anchor="ctr">
                    <a:solidFill>
                      <a:srgbClr val="EEF2F6"/>
                    </a:solidFill>
                  </a:tcPr>
                </a:tc>
                <a:tc>
                  <a:txBody>
                    <a:bodyPr wrap="square"/>
                    <a:lstStyle/>
                    <a:p>
                      <a:pPr algn="r"/>
                      <a:r>
                        <a:rPr sz="1000" b="0">
                          <a:solidFill>
                            <a:srgbClr val="0072B2"/>
                          </a:solidFill>
                          <a:latin typeface="Arial"/>
                        </a:rPr>
                        <a:t>42.0</a:t>
                      </a:r>
                    </a:p>
                  </a:txBody>
                  <a:tcPr marL="64008" marR="64008" marT="22860" marB="22860" anchor="ctr">
                    <a:solidFill>
                      <a:srgbClr val="EEF2F6"/>
                    </a:solidFill>
                  </a:tcPr>
                </a:tc>
                <a:tc>
                  <a:txBody>
                    <a:bodyPr wrap="square"/>
                    <a:lstStyle/>
                    <a:p>
                      <a:pPr algn="r"/>
                      <a:r>
                        <a:rPr sz="1000" b="0">
                          <a:solidFill>
                            <a:srgbClr val="D55E00"/>
                          </a:solidFill>
                          <a:latin typeface="Arial"/>
                        </a:rPr>
                        <a:t>37.3</a:t>
                      </a:r>
                    </a:p>
                  </a:txBody>
                  <a:tcPr marL="64008" marR="64008" marT="22860" marB="22860" anchor="ctr">
                    <a:solidFill>
                      <a:srgbClr val="EEF2F6"/>
                    </a:solidFill>
                  </a:tcPr>
                </a:tc>
                <a:tc>
                  <a:txBody>
                    <a:bodyPr wrap="square"/>
                    <a:lstStyle/>
                    <a:p>
                      <a:pPr algn="r"/>
                      <a:r>
                        <a:rPr sz="1000" b="0">
                          <a:solidFill>
                            <a:srgbClr val="22333F"/>
                          </a:solidFill>
                          <a:latin typeface="Arial"/>
                        </a:rPr>
                        <a:t>45.2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Bauchi</a:t>
                      </a:r>
                    </a:p>
                  </a:txBody>
                  <a:tcPr marL="64008" marR="64008" marT="22860" marB="22860" anchor="ctr">
                    <a:solidFill>
                      <a:srgbClr val="FFFFFF"/>
                    </a:solidFill>
                  </a:tcPr>
                </a:tc>
                <a:tc>
                  <a:txBody>
                    <a:bodyPr wrap="square"/>
                    <a:lstStyle/>
                    <a:p>
                      <a:pPr algn="r"/>
                      <a:r>
                        <a:rPr sz="1000" b="0">
                          <a:solidFill>
                            <a:srgbClr val="0072B2"/>
                          </a:solidFill>
                          <a:latin typeface="Arial"/>
                        </a:rPr>
                        <a:t>111,948</a:t>
                      </a:r>
                    </a:p>
                  </a:txBody>
                  <a:tcPr marL="64008" marR="64008" marT="22860" marB="22860" anchor="ctr">
                    <a:solidFill>
                      <a:srgbClr val="FFFFFF"/>
                    </a:solidFill>
                  </a:tcPr>
                </a:tc>
                <a:tc>
                  <a:txBody>
                    <a:bodyPr wrap="square"/>
                    <a:lstStyle/>
                    <a:p>
                      <a:pPr algn="r"/>
                      <a:r>
                        <a:rPr sz="1000" b="0">
                          <a:solidFill>
                            <a:srgbClr val="D55E00"/>
                          </a:solidFill>
                          <a:latin typeface="Arial"/>
                        </a:rPr>
                        <a:t>118,781</a:t>
                      </a:r>
                    </a:p>
                  </a:txBody>
                  <a:tcPr marL="64008" marR="64008" marT="22860" marB="22860" anchor="ctr">
                    <a:solidFill>
                      <a:srgbClr val="FFFFFF"/>
                    </a:solidFill>
                  </a:tcPr>
                </a:tc>
                <a:tc>
                  <a:txBody>
                    <a:bodyPr wrap="square"/>
                    <a:lstStyle/>
                    <a:p>
                      <a:pPr algn="r"/>
                      <a:r>
                        <a:rPr sz="1000" b="0">
                          <a:solidFill>
                            <a:srgbClr val="0072B2"/>
                          </a:solidFill>
                          <a:latin typeface="Arial"/>
                        </a:rPr>
                        <a:t>33.3</a:t>
                      </a:r>
                    </a:p>
                  </a:txBody>
                  <a:tcPr marL="64008" marR="64008" marT="22860" marB="22860" anchor="ctr">
                    <a:solidFill>
                      <a:srgbClr val="FFFFFF"/>
                    </a:solidFill>
                  </a:tcPr>
                </a:tc>
                <a:tc>
                  <a:txBody>
                    <a:bodyPr wrap="square"/>
                    <a:lstStyle/>
                    <a:p>
                      <a:pPr algn="r"/>
                      <a:r>
                        <a:rPr sz="1000" b="0">
                          <a:solidFill>
                            <a:srgbClr val="D55E00"/>
                          </a:solidFill>
                          <a:latin typeface="Arial"/>
                        </a:rPr>
                        <a:t>36.2</a:t>
                      </a:r>
                    </a:p>
                  </a:txBody>
                  <a:tcPr marL="64008" marR="64008" marT="22860" marB="22860" anchor="ctr">
                    <a:solidFill>
                      <a:srgbClr val="FFFFFF"/>
                    </a:solidFill>
                  </a:tcPr>
                </a:tc>
                <a:tc>
                  <a:txBody>
                    <a:bodyPr wrap="square"/>
                    <a:lstStyle/>
                    <a:p>
                      <a:pPr algn="r"/>
                      <a:r>
                        <a:rPr sz="1000" b="0">
                          <a:solidFill>
                            <a:srgbClr val="22333F"/>
                          </a:solidFill>
                          <a:latin typeface="Arial"/>
                        </a:rPr>
                        <a:t>45.3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Jigawa</a:t>
                      </a:r>
                    </a:p>
                  </a:txBody>
                  <a:tcPr marL="64008" marR="64008" marT="22860" marB="22860" anchor="ctr">
                    <a:solidFill>
                      <a:srgbClr val="EEF2F6"/>
                    </a:solidFill>
                  </a:tcPr>
                </a:tc>
                <a:tc>
                  <a:txBody>
                    <a:bodyPr wrap="square"/>
                    <a:lstStyle/>
                    <a:p>
                      <a:pPr algn="r"/>
                      <a:r>
                        <a:rPr sz="1000" b="0">
                          <a:solidFill>
                            <a:srgbClr val="0072B2"/>
                          </a:solidFill>
                          <a:latin typeface="Arial"/>
                        </a:rPr>
                        <a:t>106,264</a:t>
                      </a:r>
                    </a:p>
                  </a:txBody>
                  <a:tcPr marL="64008" marR="64008" marT="22860" marB="22860" anchor="ctr">
                    <a:solidFill>
                      <a:srgbClr val="EEF2F6"/>
                    </a:solidFill>
                  </a:tcPr>
                </a:tc>
                <a:tc>
                  <a:txBody>
                    <a:bodyPr wrap="square"/>
                    <a:lstStyle/>
                    <a:p>
                      <a:pPr algn="r"/>
                      <a:r>
                        <a:rPr sz="1000" b="0">
                          <a:solidFill>
                            <a:srgbClr val="D55E00"/>
                          </a:solidFill>
                          <a:latin typeface="Arial"/>
                        </a:rPr>
                        <a:t>117,518</a:t>
                      </a:r>
                    </a:p>
                  </a:txBody>
                  <a:tcPr marL="64008" marR="64008" marT="22860" marB="22860" anchor="ctr">
                    <a:solidFill>
                      <a:srgbClr val="EEF2F6"/>
                    </a:solidFill>
                  </a:tcPr>
                </a:tc>
                <a:tc>
                  <a:txBody>
                    <a:bodyPr wrap="square"/>
                    <a:lstStyle/>
                    <a:p>
                      <a:pPr algn="r"/>
                      <a:r>
                        <a:rPr sz="1000" b="0">
                          <a:solidFill>
                            <a:srgbClr val="0072B2"/>
                          </a:solidFill>
                          <a:latin typeface="Arial"/>
                        </a:rPr>
                        <a:t>34.8</a:t>
                      </a:r>
                    </a:p>
                  </a:txBody>
                  <a:tcPr marL="64008" marR="64008" marT="22860" marB="22860" anchor="ctr">
                    <a:solidFill>
                      <a:srgbClr val="EEF2F6"/>
                    </a:solidFill>
                  </a:tcPr>
                </a:tc>
                <a:tc>
                  <a:txBody>
                    <a:bodyPr wrap="square"/>
                    <a:lstStyle/>
                    <a:p>
                      <a:pPr algn="r"/>
                      <a:r>
                        <a:rPr sz="1000" b="0">
                          <a:solidFill>
                            <a:srgbClr val="D55E00"/>
                          </a:solidFill>
                          <a:latin typeface="Arial"/>
                        </a:rPr>
                        <a:t>38.5</a:t>
                      </a:r>
                    </a:p>
                  </a:txBody>
                  <a:tcPr marL="64008" marR="64008" marT="22860" marB="22860" anchor="ctr">
                    <a:solidFill>
                      <a:srgbClr val="EEF2F6"/>
                    </a:solidFill>
                  </a:tcPr>
                </a:tc>
                <a:tc>
                  <a:txBody>
                    <a:bodyPr wrap="square"/>
                    <a:lstStyle/>
                    <a:p>
                      <a:pPr algn="r"/>
                      <a:r>
                        <a:rPr sz="1000" b="0">
                          <a:solidFill>
                            <a:srgbClr val="22333F"/>
                          </a:solidFill>
                          <a:latin typeface="Arial"/>
                        </a:rPr>
                        <a:t>29.2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Niger</a:t>
                      </a:r>
                    </a:p>
                  </a:txBody>
                  <a:tcPr marL="64008" marR="64008" marT="22860" marB="22860" anchor="ctr">
                    <a:solidFill>
                      <a:srgbClr val="FFFFFF"/>
                    </a:solidFill>
                  </a:tcPr>
                </a:tc>
                <a:tc>
                  <a:txBody>
                    <a:bodyPr wrap="square"/>
                    <a:lstStyle/>
                    <a:p>
                      <a:pPr algn="r"/>
                      <a:r>
                        <a:rPr sz="1000" b="0">
                          <a:solidFill>
                            <a:srgbClr val="0072B2"/>
                          </a:solidFill>
                          <a:latin typeface="Arial"/>
                        </a:rPr>
                        <a:t>104,030</a:t>
                      </a:r>
                    </a:p>
                  </a:txBody>
                  <a:tcPr marL="64008" marR="64008" marT="22860" marB="22860" anchor="ctr">
                    <a:solidFill>
                      <a:srgbClr val="FFFFFF"/>
                    </a:solidFill>
                  </a:tcPr>
                </a:tc>
                <a:tc>
                  <a:txBody>
                    <a:bodyPr wrap="square"/>
                    <a:lstStyle/>
                    <a:p>
                      <a:pPr algn="r"/>
                      <a:r>
                        <a:rPr sz="1000" b="0">
                          <a:solidFill>
                            <a:srgbClr val="D55E00"/>
                          </a:solidFill>
                          <a:latin typeface="Arial"/>
                        </a:rPr>
                        <a:t>104,633</a:t>
                      </a:r>
                    </a:p>
                  </a:txBody>
                  <a:tcPr marL="64008" marR="64008" marT="22860" marB="22860" anchor="ctr">
                    <a:solidFill>
                      <a:srgbClr val="FFFFFF"/>
                    </a:solidFill>
                  </a:tcPr>
                </a:tc>
                <a:tc>
                  <a:txBody>
                    <a:bodyPr wrap="square"/>
                    <a:lstStyle/>
                    <a:p>
                      <a:pPr algn="r"/>
                      <a:r>
                        <a:rPr sz="1000" b="0">
                          <a:solidFill>
                            <a:srgbClr val="0072B2"/>
                          </a:solidFill>
                          <a:latin typeface="Arial"/>
                        </a:rPr>
                        <a:t>45.0</a:t>
                      </a:r>
                    </a:p>
                  </a:txBody>
                  <a:tcPr marL="64008" marR="64008" marT="22860" marB="22860" anchor="ctr">
                    <a:solidFill>
                      <a:srgbClr val="FFFFFF"/>
                    </a:solidFill>
                  </a:tcPr>
                </a:tc>
                <a:tc>
                  <a:txBody>
                    <a:bodyPr wrap="square"/>
                    <a:lstStyle/>
                    <a:p>
                      <a:pPr algn="r"/>
                      <a:r>
                        <a:rPr sz="1000" b="0">
                          <a:solidFill>
                            <a:srgbClr val="D55E00"/>
                          </a:solidFill>
                          <a:latin typeface="Arial"/>
                        </a:rPr>
                        <a:t>45.2</a:t>
                      </a:r>
                    </a:p>
                  </a:txBody>
                  <a:tcPr marL="64008" marR="64008" marT="22860" marB="22860" anchor="ctr">
                    <a:solidFill>
                      <a:srgbClr val="FFFFFF"/>
                    </a:solidFill>
                  </a:tcPr>
                </a:tc>
                <a:tc>
                  <a:txBody>
                    <a:bodyPr wrap="square"/>
                    <a:lstStyle/>
                    <a:p>
                      <a:pPr algn="r"/>
                      <a:r>
                        <a:rPr sz="1000" b="0">
                          <a:solidFill>
                            <a:srgbClr val="22333F"/>
                          </a:solidFill>
                          <a:latin typeface="Arial"/>
                        </a:rPr>
                        <a:t>56.8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Borno</a:t>
                      </a:r>
                    </a:p>
                  </a:txBody>
                  <a:tcPr marL="64008" marR="64008" marT="22860" marB="22860" anchor="ctr">
                    <a:solidFill>
                      <a:srgbClr val="EEF2F6"/>
                    </a:solidFill>
                  </a:tcPr>
                </a:tc>
                <a:tc>
                  <a:txBody>
                    <a:bodyPr wrap="square"/>
                    <a:lstStyle/>
                    <a:p>
                      <a:pPr algn="r"/>
                      <a:r>
                        <a:rPr sz="1000" b="0">
                          <a:solidFill>
                            <a:srgbClr val="0072B2"/>
                          </a:solidFill>
                          <a:latin typeface="Arial"/>
                        </a:rPr>
                        <a:t>60,604</a:t>
                      </a:r>
                    </a:p>
                  </a:txBody>
                  <a:tcPr marL="64008" marR="64008" marT="22860" marB="22860" anchor="ctr">
                    <a:solidFill>
                      <a:srgbClr val="EEF2F6"/>
                    </a:solidFill>
                  </a:tcPr>
                </a:tc>
                <a:tc>
                  <a:txBody>
                    <a:bodyPr wrap="square"/>
                    <a:lstStyle/>
                    <a:p>
                      <a:pPr algn="r"/>
                      <a:r>
                        <a:rPr sz="1000" b="0">
                          <a:solidFill>
                            <a:srgbClr val="D55E00"/>
                          </a:solidFill>
                          <a:latin typeface="Arial"/>
                        </a:rPr>
                        <a:t>70,746</a:t>
                      </a:r>
                    </a:p>
                  </a:txBody>
                  <a:tcPr marL="64008" marR="64008" marT="22860" marB="22860" anchor="ctr">
                    <a:solidFill>
                      <a:srgbClr val="EEF2F6"/>
                    </a:solidFill>
                  </a:tcPr>
                </a:tc>
                <a:tc>
                  <a:txBody>
                    <a:bodyPr wrap="square"/>
                    <a:lstStyle/>
                    <a:p>
                      <a:pPr algn="r"/>
                      <a:r>
                        <a:rPr sz="1000" b="0">
                          <a:solidFill>
                            <a:srgbClr val="0072B2"/>
                          </a:solidFill>
                          <a:latin typeface="Arial"/>
                        </a:rPr>
                        <a:t>30.3</a:t>
                      </a:r>
                    </a:p>
                  </a:txBody>
                  <a:tcPr marL="64008" marR="64008" marT="22860" marB="22860" anchor="ctr">
                    <a:solidFill>
                      <a:srgbClr val="EEF2F6"/>
                    </a:solidFill>
                  </a:tcPr>
                </a:tc>
                <a:tc>
                  <a:txBody>
                    <a:bodyPr wrap="square"/>
                    <a:lstStyle/>
                    <a:p>
                      <a:pPr algn="r"/>
                      <a:r>
                        <a:rPr sz="1000" b="0">
                          <a:solidFill>
                            <a:srgbClr val="D55E00"/>
                          </a:solidFill>
                          <a:latin typeface="Arial"/>
                        </a:rPr>
                        <a:t>39.1</a:t>
                      </a:r>
                    </a:p>
                  </a:txBody>
                  <a:tcPr marL="64008" marR="64008" marT="22860" marB="22860" anchor="ctr">
                    <a:solidFill>
                      <a:srgbClr val="EEF2F6"/>
                    </a:solidFill>
                  </a:tcPr>
                </a:tc>
                <a:tc>
                  <a:txBody>
                    <a:bodyPr wrap="square"/>
                    <a:lstStyle/>
                    <a:p>
                      <a:pPr algn="r"/>
                      <a:r>
                        <a:rPr sz="1000" b="0">
                          <a:solidFill>
                            <a:srgbClr val="22333F"/>
                          </a:solidFill>
                          <a:latin typeface="Arial"/>
                        </a:rPr>
                        <a:t>41.2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Benue</a:t>
                      </a:r>
                    </a:p>
                  </a:txBody>
                  <a:tcPr marL="64008" marR="64008" marT="22860" marB="22860" anchor="ctr">
                    <a:solidFill>
                      <a:srgbClr val="FFFFFF"/>
                    </a:solidFill>
                  </a:tcPr>
                </a:tc>
                <a:tc>
                  <a:txBody>
                    <a:bodyPr wrap="square"/>
                    <a:lstStyle/>
                    <a:p>
                      <a:pPr algn="r"/>
                      <a:r>
                        <a:rPr sz="1000" b="0">
                          <a:solidFill>
                            <a:srgbClr val="0072B2"/>
                          </a:solidFill>
                          <a:latin typeface="Arial"/>
                        </a:rPr>
                        <a:t>52,312</a:t>
                      </a:r>
                    </a:p>
                  </a:txBody>
                  <a:tcPr marL="64008" marR="64008" marT="22860" marB="22860" anchor="ctr">
                    <a:solidFill>
                      <a:srgbClr val="FFFFFF"/>
                    </a:solidFill>
                  </a:tcPr>
                </a:tc>
                <a:tc>
                  <a:txBody>
                    <a:bodyPr wrap="square"/>
                    <a:lstStyle/>
                    <a:p>
                      <a:pPr algn="r"/>
                      <a:r>
                        <a:rPr sz="1000" b="0">
                          <a:solidFill>
                            <a:srgbClr val="D55E00"/>
                          </a:solidFill>
                          <a:latin typeface="Arial"/>
                        </a:rPr>
                        <a:t>42,277</a:t>
                      </a:r>
                    </a:p>
                  </a:txBody>
                  <a:tcPr marL="64008" marR="64008" marT="22860" marB="22860" anchor="ctr">
                    <a:solidFill>
                      <a:srgbClr val="FFFFFF"/>
                    </a:solidFill>
                  </a:tcPr>
                </a:tc>
                <a:tc>
                  <a:txBody>
                    <a:bodyPr wrap="square"/>
                    <a:lstStyle/>
                    <a:p>
                      <a:pPr algn="r"/>
                      <a:r>
                        <a:rPr sz="1000" b="0">
                          <a:solidFill>
                            <a:srgbClr val="0072B2"/>
                          </a:solidFill>
                          <a:latin typeface="Arial"/>
                        </a:rPr>
                        <a:t>28.9</a:t>
                      </a:r>
                    </a:p>
                  </a:txBody>
                  <a:tcPr marL="64008" marR="64008" marT="22860" marB="22860" anchor="ctr">
                    <a:solidFill>
                      <a:srgbClr val="FFFFFF"/>
                    </a:solidFill>
                  </a:tcPr>
                </a:tc>
                <a:tc>
                  <a:txBody>
                    <a:bodyPr wrap="square"/>
                    <a:lstStyle/>
                    <a:p>
                      <a:pPr algn="r"/>
                      <a:r>
                        <a:rPr sz="1000" b="0">
                          <a:solidFill>
                            <a:srgbClr val="D55E00"/>
                          </a:solidFill>
                          <a:latin typeface="Arial"/>
                        </a:rPr>
                        <a:t>23.6</a:t>
                      </a:r>
                    </a:p>
                  </a:txBody>
                  <a:tcPr marL="64008" marR="64008" marT="22860" marB="22860" anchor="ctr">
                    <a:solidFill>
                      <a:srgbClr val="FFFFFF"/>
                    </a:solidFill>
                  </a:tcPr>
                </a:tc>
                <a:tc>
                  <a:txBody>
                    <a:bodyPr wrap="square"/>
                    <a:lstStyle/>
                    <a:p>
                      <a:pPr algn="r"/>
                      <a:r>
                        <a:rPr sz="1000" b="0">
                          <a:solidFill>
                            <a:srgbClr val="22333F"/>
                          </a:solidFill>
                          <a:latin typeface="Arial"/>
                        </a:rPr>
                        <a:t>18.7</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Gombe</a:t>
                      </a:r>
                    </a:p>
                  </a:txBody>
                  <a:tcPr marL="64008" marR="64008" marT="22860" marB="22860" anchor="ctr">
                    <a:solidFill>
                      <a:srgbClr val="EEF2F6"/>
                    </a:solidFill>
                  </a:tcPr>
                </a:tc>
                <a:tc>
                  <a:txBody>
                    <a:bodyPr wrap="square"/>
                    <a:lstStyle/>
                    <a:p>
                      <a:pPr algn="r"/>
                      <a:r>
                        <a:rPr sz="1000" b="0">
                          <a:solidFill>
                            <a:srgbClr val="0072B2"/>
                          </a:solidFill>
                          <a:latin typeface="Arial"/>
                        </a:rPr>
                        <a:t>50,128</a:t>
                      </a:r>
                    </a:p>
                  </a:txBody>
                  <a:tcPr marL="64008" marR="64008" marT="22860" marB="22860" anchor="ctr">
                    <a:solidFill>
                      <a:srgbClr val="EEF2F6"/>
                    </a:solidFill>
                  </a:tcPr>
                </a:tc>
                <a:tc>
                  <a:txBody>
                    <a:bodyPr wrap="square"/>
                    <a:lstStyle/>
                    <a:p>
                      <a:pPr algn="r"/>
                      <a:r>
                        <a:rPr sz="1000" b="0">
                          <a:solidFill>
                            <a:srgbClr val="D55E00"/>
                          </a:solidFill>
                          <a:latin typeface="Arial"/>
                        </a:rPr>
                        <a:t>57,947</a:t>
                      </a:r>
                    </a:p>
                  </a:txBody>
                  <a:tcPr marL="64008" marR="64008" marT="22860" marB="22860" anchor="ctr">
                    <a:solidFill>
                      <a:srgbClr val="EEF2F6"/>
                    </a:solidFill>
                  </a:tcPr>
                </a:tc>
                <a:tc>
                  <a:txBody>
                    <a:bodyPr wrap="square"/>
                    <a:lstStyle/>
                    <a:p>
                      <a:pPr algn="r"/>
                      <a:r>
                        <a:rPr sz="1000" b="0">
                          <a:solidFill>
                            <a:srgbClr val="0072B2"/>
                          </a:solidFill>
                          <a:latin typeface="Arial"/>
                        </a:rPr>
                        <a:t>34.2</a:t>
                      </a:r>
                    </a:p>
                  </a:txBody>
                  <a:tcPr marL="64008" marR="64008" marT="22860" marB="22860" anchor="ctr">
                    <a:solidFill>
                      <a:srgbClr val="EEF2F6"/>
                    </a:solidFill>
                  </a:tcPr>
                </a:tc>
                <a:tc>
                  <a:txBody>
                    <a:bodyPr wrap="square"/>
                    <a:lstStyle/>
                    <a:p>
                      <a:pPr algn="r"/>
                      <a:r>
                        <a:rPr sz="1000" b="0">
                          <a:solidFill>
                            <a:srgbClr val="D55E00"/>
                          </a:solidFill>
                          <a:latin typeface="Arial"/>
                        </a:rPr>
                        <a:t>39.6</a:t>
                      </a:r>
                    </a:p>
                  </a:txBody>
                  <a:tcPr marL="64008" marR="64008" marT="22860" marB="22860" anchor="ctr">
                    <a:solidFill>
                      <a:srgbClr val="EEF2F6"/>
                    </a:solidFill>
                  </a:tcPr>
                </a:tc>
                <a:tc>
                  <a:txBody>
                    <a:bodyPr wrap="square"/>
                    <a:lstStyle/>
                    <a:p>
                      <a:pPr algn="r"/>
                      <a:r>
                        <a:rPr sz="1000" b="0">
                          <a:solidFill>
                            <a:srgbClr val="22333F"/>
                          </a:solidFill>
                          <a:latin typeface="Arial"/>
                        </a:rPr>
                        <a:t>29.2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Kogi</a:t>
                      </a:r>
                    </a:p>
                  </a:txBody>
                  <a:tcPr marL="64008" marR="64008" marT="22860" marB="22860" anchor="ctr">
                    <a:solidFill>
                      <a:srgbClr val="FFFFFF"/>
                    </a:solidFill>
                  </a:tcPr>
                </a:tc>
                <a:tc>
                  <a:txBody>
                    <a:bodyPr wrap="square"/>
                    <a:lstStyle/>
                    <a:p>
                      <a:pPr algn="r"/>
                      <a:r>
                        <a:rPr sz="1000" b="0">
                          <a:solidFill>
                            <a:srgbClr val="0072B2"/>
                          </a:solidFill>
                          <a:latin typeface="Arial"/>
                        </a:rPr>
                        <a:t>48,476</a:t>
                      </a:r>
                    </a:p>
                  </a:txBody>
                  <a:tcPr marL="64008" marR="64008" marT="22860" marB="22860" anchor="ctr">
                    <a:solidFill>
                      <a:srgbClr val="FFFFFF"/>
                    </a:solidFill>
                  </a:tcPr>
                </a:tc>
                <a:tc>
                  <a:txBody>
                    <a:bodyPr wrap="square"/>
                    <a:lstStyle/>
                    <a:p>
                      <a:pPr algn="r"/>
                      <a:r>
                        <a:rPr sz="1000" b="0">
                          <a:solidFill>
                            <a:srgbClr val="D55E00"/>
                          </a:solidFill>
                          <a:latin typeface="Arial"/>
                        </a:rPr>
                        <a:t>41,779</a:t>
                      </a:r>
                    </a:p>
                  </a:txBody>
                  <a:tcPr marL="64008" marR="64008" marT="22860" marB="22860" anchor="ctr">
                    <a:solidFill>
                      <a:srgbClr val="FFFFFF"/>
                    </a:solidFill>
                  </a:tcPr>
                </a:tc>
                <a:tc>
                  <a:txBody>
                    <a:bodyPr wrap="square"/>
                    <a:lstStyle/>
                    <a:p>
                      <a:pPr algn="r"/>
                      <a:r>
                        <a:rPr sz="1000" b="0">
                          <a:solidFill>
                            <a:srgbClr val="0072B2"/>
                          </a:solidFill>
                          <a:latin typeface="Arial"/>
                        </a:rPr>
                        <a:t>31.3</a:t>
                      </a:r>
                    </a:p>
                  </a:txBody>
                  <a:tcPr marL="64008" marR="64008" marT="22860" marB="22860" anchor="ctr">
                    <a:solidFill>
                      <a:srgbClr val="FFFFFF"/>
                    </a:solidFill>
                  </a:tcPr>
                </a:tc>
                <a:tc>
                  <a:txBody>
                    <a:bodyPr wrap="square"/>
                    <a:lstStyle/>
                    <a:p>
                      <a:pPr algn="r"/>
                      <a:r>
                        <a:rPr sz="1000" b="0">
                          <a:solidFill>
                            <a:srgbClr val="D55E00"/>
                          </a:solidFill>
                          <a:latin typeface="Arial"/>
                        </a:rPr>
                        <a:t>27.5</a:t>
                      </a:r>
                    </a:p>
                  </a:txBody>
                  <a:tcPr marL="64008" marR="64008" marT="22860" marB="22860" anchor="ctr">
                    <a:solidFill>
                      <a:srgbClr val="FFFFFF"/>
                    </a:solidFill>
                  </a:tcPr>
                </a:tc>
                <a:tc>
                  <a:txBody>
                    <a:bodyPr wrap="square"/>
                    <a:lstStyle/>
                    <a:p>
                      <a:pPr algn="r"/>
                      <a:r>
                        <a:rPr sz="1000" b="0">
                          <a:solidFill>
                            <a:srgbClr val="22333F"/>
                          </a:solidFill>
                          <a:latin typeface="Arial"/>
                        </a:rPr>
                        <a:t>20.2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Kwara</a:t>
                      </a:r>
                    </a:p>
                  </a:txBody>
                  <a:tcPr marL="64008" marR="64008" marT="22860" marB="22860" anchor="ctr">
                    <a:solidFill>
                      <a:srgbClr val="EEF2F6"/>
                    </a:solidFill>
                  </a:tcPr>
                </a:tc>
                <a:tc>
                  <a:txBody>
                    <a:bodyPr wrap="square"/>
                    <a:lstStyle/>
                    <a:p>
                      <a:pPr algn="r"/>
                      <a:r>
                        <a:rPr sz="1000" b="0">
                          <a:solidFill>
                            <a:srgbClr val="0072B2"/>
                          </a:solidFill>
                          <a:latin typeface="Arial"/>
                        </a:rPr>
                        <a:t>47,518</a:t>
                      </a:r>
                    </a:p>
                  </a:txBody>
                  <a:tcPr marL="64008" marR="64008" marT="22860" marB="22860" anchor="ctr">
                    <a:solidFill>
                      <a:srgbClr val="EEF2F6"/>
                    </a:solidFill>
                  </a:tcPr>
                </a:tc>
                <a:tc>
                  <a:txBody>
                    <a:bodyPr wrap="square"/>
                    <a:lstStyle/>
                    <a:p>
                      <a:pPr algn="r"/>
                      <a:r>
                        <a:rPr sz="1000" b="0">
                          <a:solidFill>
                            <a:srgbClr val="D55E00"/>
                          </a:solidFill>
                          <a:latin typeface="Arial"/>
                        </a:rPr>
                        <a:t>42,528</a:t>
                      </a:r>
                    </a:p>
                  </a:txBody>
                  <a:tcPr marL="64008" marR="64008" marT="22860" marB="22860" anchor="ctr">
                    <a:solidFill>
                      <a:srgbClr val="EEF2F6"/>
                    </a:solidFill>
                  </a:tcPr>
                </a:tc>
                <a:tc>
                  <a:txBody>
                    <a:bodyPr wrap="square"/>
                    <a:lstStyle/>
                    <a:p>
                      <a:pPr algn="r"/>
                      <a:r>
                        <a:rPr sz="1000" b="0">
                          <a:solidFill>
                            <a:srgbClr val="0072B2"/>
                          </a:solidFill>
                          <a:latin typeface="Arial"/>
                        </a:rPr>
                        <a:t>36.6</a:t>
                      </a:r>
                    </a:p>
                  </a:txBody>
                  <a:tcPr marL="64008" marR="64008" marT="22860" marB="22860" anchor="ctr">
                    <a:solidFill>
                      <a:srgbClr val="EEF2F6"/>
                    </a:solidFill>
                  </a:tcPr>
                </a:tc>
                <a:tc>
                  <a:txBody>
                    <a:bodyPr wrap="square"/>
                    <a:lstStyle/>
                    <a:p>
                      <a:pPr algn="r"/>
                      <a:r>
                        <a:rPr sz="1000" b="0">
                          <a:solidFill>
                            <a:srgbClr val="D55E00"/>
                          </a:solidFill>
                          <a:latin typeface="Arial"/>
                        </a:rPr>
                        <a:t>33.8</a:t>
                      </a:r>
                    </a:p>
                  </a:txBody>
                  <a:tcPr marL="64008" marR="64008" marT="22860" marB="22860" anchor="ctr">
                    <a:solidFill>
                      <a:srgbClr val="EEF2F6"/>
                    </a:solidFill>
                  </a:tcPr>
                </a:tc>
                <a:tc>
                  <a:txBody>
                    <a:bodyPr wrap="square"/>
                    <a:lstStyle/>
                    <a:p>
                      <a:pPr algn="r"/>
                      <a:r>
                        <a:rPr sz="1000" b="0">
                          <a:solidFill>
                            <a:srgbClr val="22333F"/>
                          </a:solidFill>
                          <a:latin typeface="Arial"/>
                        </a:rPr>
                        <a:t>36.6</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Oyo</a:t>
                      </a:r>
                    </a:p>
                  </a:txBody>
                  <a:tcPr marL="64008" marR="64008" marT="22860" marB="22860" anchor="ctr">
                    <a:solidFill>
                      <a:srgbClr val="FFFFFF"/>
                    </a:solidFill>
                  </a:tcPr>
                </a:tc>
                <a:tc>
                  <a:txBody>
                    <a:bodyPr wrap="square"/>
                    <a:lstStyle/>
                    <a:p>
                      <a:pPr algn="r"/>
                      <a:r>
                        <a:rPr sz="1000" b="0">
                          <a:solidFill>
                            <a:srgbClr val="0072B2"/>
                          </a:solidFill>
                          <a:latin typeface="Arial"/>
                        </a:rPr>
                        <a:t>45,265</a:t>
                      </a:r>
                    </a:p>
                  </a:txBody>
                  <a:tcPr marL="64008" marR="64008" marT="22860" marB="22860" anchor="ctr">
                    <a:solidFill>
                      <a:srgbClr val="FFFFFF"/>
                    </a:solidFill>
                  </a:tcPr>
                </a:tc>
                <a:tc>
                  <a:txBody>
                    <a:bodyPr wrap="square"/>
                    <a:lstStyle/>
                    <a:p>
                      <a:pPr algn="r"/>
                      <a:r>
                        <a:rPr sz="1000" b="0">
                          <a:solidFill>
                            <a:srgbClr val="D55E00"/>
                          </a:solidFill>
                          <a:latin typeface="Arial"/>
                        </a:rPr>
                        <a:t>42,253</a:t>
                      </a:r>
                    </a:p>
                  </a:txBody>
                  <a:tcPr marL="64008" marR="64008" marT="22860" marB="22860" anchor="ctr">
                    <a:solidFill>
                      <a:srgbClr val="FFFFFF"/>
                    </a:solidFill>
                  </a:tcPr>
                </a:tc>
                <a:tc>
                  <a:txBody>
                    <a:bodyPr wrap="square"/>
                    <a:lstStyle/>
                    <a:p>
                      <a:pPr algn="r"/>
                      <a:r>
                        <a:rPr sz="1000" b="0">
                          <a:solidFill>
                            <a:srgbClr val="0072B2"/>
                          </a:solidFill>
                          <a:latin typeface="Arial"/>
                        </a:rPr>
                        <a:t>19.3</a:t>
                      </a:r>
                    </a:p>
                  </a:txBody>
                  <a:tcPr marL="64008" marR="64008" marT="22860" marB="22860" anchor="ctr">
                    <a:solidFill>
                      <a:srgbClr val="FFFFFF"/>
                    </a:solidFill>
                  </a:tcPr>
                </a:tc>
                <a:tc>
                  <a:txBody>
                    <a:bodyPr wrap="square"/>
                    <a:lstStyle/>
                    <a:p>
                      <a:pPr algn="r"/>
                      <a:r>
                        <a:rPr sz="1000" b="0">
                          <a:solidFill>
                            <a:srgbClr val="D55E00"/>
                          </a:solidFill>
                          <a:latin typeface="Arial"/>
                        </a:rPr>
                        <a:t>18.1</a:t>
                      </a:r>
                    </a:p>
                  </a:txBody>
                  <a:tcPr marL="64008" marR="64008" marT="22860" marB="22860" anchor="ctr">
                    <a:solidFill>
                      <a:srgbClr val="FFFFFF"/>
                    </a:solidFill>
                  </a:tcPr>
                </a:tc>
                <a:tc>
                  <a:txBody>
                    <a:bodyPr wrap="square"/>
                    <a:lstStyle/>
                    <a:p>
                      <a:pPr algn="r"/>
                      <a:r>
                        <a:rPr sz="1000" b="0">
                          <a:solidFill>
                            <a:srgbClr val="22333F"/>
                          </a:solidFill>
                          <a:latin typeface="Arial"/>
                        </a:rPr>
                        <a:t>28.0</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Yobe</a:t>
                      </a:r>
                    </a:p>
                  </a:txBody>
                  <a:tcPr marL="64008" marR="64008" marT="22860" marB="22860" anchor="ctr">
                    <a:solidFill>
                      <a:srgbClr val="EEF2F6"/>
                    </a:solidFill>
                  </a:tcPr>
                </a:tc>
                <a:tc>
                  <a:txBody>
                    <a:bodyPr wrap="square"/>
                    <a:lstStyle/>
                    <a:p>
                      <a:pPr algn="r"/>
                      <a:r>
                        <a:rPr sz="1000" b="0">
                          <a:solidFill>
                            <a:srgbClr val="0072B2"/>
                          </a:solidFill>
                          <a:latin typeface="Arial"/>
                        </a:rPr>
                        <a:t>43,282</a:t>
                      </a:r>
                    </a:p>
                  </a:txBody>
                  <a:tcPr marL="64008" marR="64008" marT="22860" marB="22860" anchor="ctr">
                    <a:solidFill>
                      <a:srgbClr val="EEF2F6"/>
                    </a:solidFill>
                  </a:tcPr>
                </a:tc>
                <a:tc>
                  <a:txBody>
                    <a:bodyPr wrap="square"/>
                    <a:lstStyle/>
                    <a:p>
                      <a:pPr algn="r"/>
                      <a:r>
                        <a:rPr sz="1000" b="0">
                          <a:solidFill>
                            <a:srgbClr val="D55E00"/>
                          </a:solidFill>
                          <a:latin typeface="Arial"/>
                        </a:rPr>
                        <a:t>53,059</a:t>
                      </a:r>
                    </a:p>
                  </a:txBody>
                  <a:tcPr marL="64008" marR="64008" marT="22860" marB="22860" anchor="ctr">
                    <a:solidFill>
                      <a:srgbClr val="EEF2F6"/>
                    </a:solidFill>
                  </a:tcPr>
                </a:tc>
                <a:tc>
                  <a:txBody>
                    <a:bodyPr wrap="square"/>
                    <a:lstStyle/>
                    <a:p>
                      <a:pPr algn="r"/>
                      <a:r>
                        <a:rPr sz="1000" b="0">
                          <a:solidFill>
                            <a:srgbClr val="0072B2"/>
                          </a:solidFill>
                          <a:latin typeface="Arial"/>
                        </a:rPr>
                        <a:t>35.3</a:t>
                      </a:r>
                    </a:p>
                  </a:txBody>
                  <a:tcPr marL="64008" marR="64008" marT="22860" marB="22860" anchor="ctr">
                    <a:solidFill>
                      <a:srgbClr val="EEF2F6"/>
                    </a:solidFill>
                  </a:tcPr>
                </a:tc>
                <a:tc>
                  <a:txBody>
                    <a:bodyPr wrap="square"/>
                    <a:lstStyle/>
                    <a:p>
                      <a:pPr algn="r"/>
                      <a:r>
                        <a:rPr sz="1000" b="0">
                          <a:solidFill>
                            <a:srgbClr val="D55E00"/>
                          </a:solidFill>
                          <a:latin typeface="Arial"/>
                        </a:rPr>
                        <a:t>43.8</a:t>
                      </a:r>
                    </a:p>
                  </a:txBody>
                  <a:tcPr marL="64008" marR="64008" marT="22860" marB="22860" anchor="ctr">
                    <a:solidFill>
                      <a:srgbClr val="EEF2F6"/>
                    </a:solidFill>
                  </a:tcPr>
                </a:tc>
                <a:tc>
                  <a:txBody>
                    <a:bodyPr wrap="square"/>
                    <a:lstStyle/>
                    <a:p>
                      <a:pPr algn="r"/>
                      <a:r>
                        <a:rPr sz="1000" b="0">
                          <a:solidFill>
                            <a:srgbClr val="22333F"/>
                          </a:solidFill>
                          <a:latin typeface="Arial"/>
                        </a:rPr>
                        <a:t>42.1</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Plateau</a:t>
                      </a:r>
                    </a:p>
                  </a:txBody>
                  <a:tcPr marL="64008" marR="64008" marT="22860" marB="22860" anchor="ctr">
                    <a:solidFill>
                      <a:srgbClr val="FFFFFF"/>
                    </a:solidFill>
                  </a:tcPr>
                </a:tc>
                <a:tc>
                  <a:txBody>
                    <a:bodyPr wrap="square"/>
                    <a:lstStyle/>
                    <a:p>
                      <a:pPr algn="r"/>
                      <a:r>
                        <a:rPr sz="1000" b="0">
                          <a:solidFill>
                            <a:srgbClr val="0072B2"/>
                          </a:solidFill>
                          <a:latin typeface="Arial"/>
                        </a:rPr>
                        <a:t>42,309</a:t>
                      </a:r>
                    </a:p>
                  </a:txBody>
                  <a:tcPr marL="64008" marR="64008" marT="22860" marB="22860" anchor="ctr">
                    <a:solidFill>
                      <a:srgbClr val="FFFFFF"/>
                    </a:solidFill>
                  </a:tcPr>
                </a:tc>
                <a:tc>
                  <a:txBody>
                    <a:bodyPr wrap="square"/>
                    <a:lstStyle/>
                    <a:p>
                      <a:pPr algn="r"/>
                      <a:r>
                        <a:rPr sz="1000" b="0">
                          <a:solidFill>
                            <a:srgbClr val="D55E00"/>
                          </a:solidFill>
                          <a:latin typeface="Arial"/>
                        </a:rPr>
                        <a:t>44,941</a:t>
                      </a:r>
                    </a:p>
                  </a:txBody>
                  <a:tcPr marL="64008" marR="64008" marT="22860" marB="22860" anchor="ctr">
                    <a:solidFill>
                      <a:srgbClr val="FFFFFF"/>
                    </a:solidFill>
                  </a:tcPr>
                </a:tc>
                <a:tc>
                  <a:txBody>
                    <a:bodyPr wrap="square"/>
                    <a:lstStyle/>
                    <a:p>
                      <a:pPr algn="r"/>
                      <a:r>
                        <a:rPr sz="1000" b="0">
                          <a:solidFill>
                            <a:srgbClr val="0072B2"/>
                          </a:solidFill>
                          <a:latin typeface="Arial"/>
                        </a:rPr>
                        <a:t>27.9</a:t>
                      </a:r>
                    </a:p>
                  </a:txBody>
                  <a:tcPr marL="64008" marR="64008" marT="22860" marB="22860" anchor="ctr">
                    <a:solidFill>
                      <a:srgbClr val="FFFFFF"/>
                    </a:solidFill>
                  </a:tcPr>
                </a:tc>
                <a:tc>
                  <a:txBody>
                    <a:bodyPr wrap="square"/>
                    <a:lstStyle/>
                    <a:p>
                      <a:pPr algn="r"/>
                      <a:r>
                        <a:rPr sz="1000" b="0">
                          <a:solidFill>
                            <a:srgbClr val="D55E00"/>
                          </a:solidFill>
                          <a:latin typeface="Arial"/>
                        </a:rPr>
                        <a:t>30.2</a:t>
                      </a:r>
                    </a:p>
                  </a:txBody>
                  <a:tcPr marL="64008" marR="64008" marT="22860" marB="22860" anchor="ctr">
                    <a:solidFill>
                      <a:srgbClr val="FFFFFF"/>
                    </a:solidFill>
                  </a:tcPr>
                </a:tc>
                <a:tc>
                  <a:txBody>
                    <a:bodyPr wrap="square"/>
                    <a:lstStyle/>
                    <a:p>
                      <a:pPr algn="r"/>
                      <a:r>
                        <a:rPr sz="1000" b="0">
                          <a:solidFill>
                            <a:srgbClr val="22333F"/>
                          </a:solidFill>
                          <a:latin typeface="Arial"/>
                        </a:rPr>
                        <a:t>35.2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Taraba</a:t>
                      </a:r>
                    </a:p>
                  </a:txBody>
                  <a:tcPr marL="64008" marR="64008" marT="22860" marB="22860" anchor="ctr">
                    <a:solidFill>
                      <a:srgbClr val="EEF2F6"/>
                    </a:solidFill>
                  </a:tcPr>
                </a:tc>
                <a:tc>
                  <a:txBody>
                    <a:bodyPr wrap="square"/>
                    <a:lstStyle/>
                    <a:p>
                      <a:pPr algn="r"/>
                      <a:r>
                        <a:rPr sz="1000" b="0">
                          <a:solidFill>
                            <a:srgbClr val="0072B2"/>
                          </a:solidFill>
                          <a:latin typeface="Arial"/>
                        </a:rPr>
                        <a:t>35,731</a:t>
                      </a:r>
                    </a:p>
                  </a:txBody>
                  <a:tcPr marL="64008" marR="64008" marT="22860" marB="22860" anchor="ctr">
                    <a:solidFill>
                      <a:srgbClr val="EEF2F6"/>
                    </a:solidFill>
                  </a:tcPr>
                </a:tc>
                <a:tc>
                  <a:txBody>
                    <a:bodyPr wrap="square"/>
                    <a:lstStyle/>
                    <a:p>
                      <a:pPr algn="r"/>
                      <a:r>
                        <a:rPr sz="1000" b="0">
                          <a:solidFill>
                            <a:srgbClr val="D55E00"/>
                          </a:solidFill>
                          <a:latin typeface="Arial"/>
                        </a:rPr>
                        <a:t>34,085</a:t>
                      </a:r>
                    </a:p>
                  </a:txBody>
                  <a:tcPr marL="64008" marR="64008" marT="22860" marB="22860" anchor="ctr">
                    <a:solidFill>
                      <a:srgbClr val="EEF2F6"/>
                    </a:solidFill>
                  </a:tcPr>
                </a:tc>
                <a:tc>
                  <a:txBody>
                    <a:bodyPr wrap="square"/>
                    <a:lstStyle/>
                    <a:p>
                      <a:pPr algn="r"/>
                      <a:r>
                        <a:rPr sz="1000" b="0">
                          <a:solidFill>
                            <a:srgbClr val="0072B2"/>
                          </a:solidFill>
                          <a:latin typeface="Arial"/>
                        </a:rPr>
                        <a:t>29.2</a:t>
                      </a:r>
                    </a:p>
                  </a:txBody>
                  <a:tcPr marL="64008" marR="64008" marT="22860" marB="22860" anchor="ctr">
                    <a:solidFill>
                      <a:srgbClr val="EEF2F6"/>
                    </a:solidFill>
                  </a:tcPr>
                </a:tc>
                <a:tc>
                  <a:txBody>
                    <a:bodyPr wrap="square"/>
                    <a:lstStyle/>
                    <a:p>
                      <a:pPr algn="r"/>
                      <a:r>
                        <a:rPr sz="1000" b="0">
                          <a:solidFill>
                            <a:srgbClr val="D55E00"/>
                          </a:solidFill>
                          <a:latin typeface="Arial"/>
                        </a:rPr>
                        <a:t>27.9</a:t>
                      </a:r>
                    </a:p>
                  </a:txBody>
                  <a:tcPr marL="64008" marR="64008" marT="22860" marB="22860" anchor="ctr">
                    <a:solidFill>
                      <a:srgbClr val="EEF2F6"/>
                    </a:solidFill>
                  </a:tcPr>
                </a:tc>
                <a:tc>
                  <a:txBody>
                    <a:bodyPr wrap="square"/>
                    <a:lstStyle/>
                    <a:p>
                      <a:pPr algn="r"/>
                      <a:r>
                        <a:rPr sz="1000" b="0">
                          <a:solidFill>
                            <a:srgbClr val="22333F"/>
                          </a:solidFill>
                          <a:latin typeface="Arial"/>
                        </a:rPr>
                        <a:t>38.2</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Adamawa</a:t>
                      </a:r>
                    </a:p>
                  </a:txBody>
                  <a:tcPr marL="64008" marR="64008" marT="22860" marB="22860" anchor="ctr">
                    <a:solidFill>
                      <a:srgbClr val="FFFFFF"/>
                    </a:solidFill>
                  </a:tcPr>
                </a:tc>
                <a:tc>
                  <a:txBody>
                    <a:bodyPr wrap="square"/>
                    <a:lstStyle/>
                    <a:p>
                      <a:pPr algn="r"/>
                      <a:r>
                        <a:rPr sz="1000" b="0">
                          <a:solidFill>
                            <a:srgbClr val="0072B2"/>
                          </a:solidFill>
                          <a:latin typeface="Arial"/>
                        </a:rPr>
                        <a:t>34,994</a:t>
                      </a:r>
                    </a:p>
                  </a:txBody>
                  <a:tcPr marL="64008" marR="64008" marT="22860" marB="22860" anchor="ctr">
                    <a:solidFill>
                      <a:srgbClr val="FFFFFF"/>
                    </a:solidFill>
                  </a:tcPr>
                </a:tc>
                <a:tc>
                  <a:txBody>
                    <a:bodyPr wrap="square"/>
                    <a:lstStyle/>
                    <a:p>
                      <a:pPr algn="r"/>
                      <a:r>
                        <a:rPr sz="1000" b="0">
                          <a:solidFill>
                            <a:srgbClr val="D55E00"/>
                          </a:solidFill>
                          <a:latin typeface="Arial"/>
                        </a:rPr>
                        <a:t>38,275</a:t>
                      </a:r>
                    </a:p>
                  </a:txBody>
                  <a:tcPr marL="64008" marR="64008" marT="22860" marB="22860" anchor="ctr">
                    <a:solidFill>
                      <a:srgbClr val="FFFFFF"/>
                    </a:solidFill>
                  </a:tcPr>
                </a:tc>
                <a:tc>
                  <a:txBody>
                    <a:bodyPr wrap="square"/>
                    <a:lstStyle/>
                    <a:p>
                      <a:pPr algn="r"/>
                      <a:r>
                        <a:rPr sz="1000" b="0">
                          <a:solidFill>
                            <a:srgbClr val="0072B2"/>
                          </a:solidFill>
                          <a:latin typeface="Arial"/>
                        </a:rPr>
                        <a:t>20.1</a:t>
                      </a:r>
                    </a:p>
                  </a:txBody>
                  <a:tcPr marL="64008" marR="64008" marT="22860" marB="22860" anchor="ctr">
                    <a:solidFill>
                      <a:srgbClr val="FFFFFF"/>
                    </a:solidFill>
                  </a:tcPr>
                </a:tc>
                <a:tc>
                  <a:txBody>
                    <a:bodyPr wrap="square"/>
                    <a:lstStyle/>
                    <a:p>
                      <a:pPr algn="r"/>
                      <a:r>
                        <a:rPr sz="1000" b="0">
                          <a:solidFill>
                            <a:srgbClr val="D55E00"/>
                          </a:solidFill>
                          <a:latin typeface="Arial"/>
                        </a:rPr>
                        <a:t>22.0</a:t>
                      </a:r>
                    </a:p>
                  </a:txBody>
                  <a:tcPr marL="64008" marR="64008" marT="22860" marB="22860" anchor="ctr">
                    <a:solidFill>
                      <a:srgbClr val="FFFFFF"/>
                    </a:solidFill>
                  </a:tcPr>
                </a:tc>
                <a:tc>
                  <a:txBody>
                    <a:bodyPr wrap="square"/>
                    <a:lstStyle/>
                    <a:p>
                      <a:pPr algn="r"/>
                      <a:r>
                        <a:rPr sz="1000" b="0">
                          <a:solidFill>
                            <a:srgbClr val="22333F"/>
                          </a:solidFill>
                          <a:latin typeface="Arial"/>
                        </a:rPr>
                        <a:t>26.7</a:t>
                      </a:r>
                    </a:p>
                  </a:txBody>
                  <a:tcPr marL="64008" marR="64008" marT="22860" marB="22860" anchor="ctr">
                    <a:solidFill>
                      <a:srgbClr val="FFFFFF"/>
                    </a:solidFill>
                  </a:tcPr>
                </a:tc>
              </a:tr>
            </a:tbl>
          </a:graphicData>
        </a:graphic>
      </p:graphicFrame>
      <p:graphicFrame>
        <p:nvGraphicFramePr>
          <p:cNvPr id="5" name="Table 4"/>
          <p:cNvGraphicFramePr>
            <a:graphicFrameLocks noGrp="1"/>
          </p:cNvGraphicFramePr>
          <p:nvPr/>
        </p:nvGraphicFramePr>
        <p:xfrm>
          <a:off x="6245352" y="1207008"/>
          <a:ext cx="5349240" cy="4599432"/>
        </p:xfrm>
        <a:graphic>
          <a:graphicData uri="http://schemas.openxmlformats.org/drawingml/2006/table">
            <a:tbl>
              <a:tblPr firstRow="1" bandRow="0">
                <a:tableStyleId>{2D5ABB26-0587-4C30-8999-92F81FD0307C}</a:tableStyleId>
              </a:tblPr>
              <a:tblGrid>
                <a:gridCol w="1234440"/>
                <a:gridCol w="960120"/>
                <a:gridCol w="960120"/>
                <a:gridCol w="685800"/>
                <a:gridCol w="685800"/>
                <a:gridCol w="822960"/>
              </a:tblGrid>
              <a:tr h="402336">
                <a:tc>
                  <a:txBody>
                    <a:bodyPr wrap="square"/>
                    <a:lstStyle/>
                    <a:p>
                      <a:pPr algn="l"/>
                      <a:r>
                        <a:rPr sz="950" b="1">
                          <a:solidFill>
                            <a:srgbClr val="FFFFFF"/>
                          </a:solidFill>
                          <a:latin typeface="Arial"/>
                        </a:rPr>
                        <a:t>State</a:t>
                      </a:r>
                    </a:p>
                  </a:txBody>
                  <a:tcPr marL="64008" marR="64008" marT="22860" marB="22860" anchor="ctr">
                    <a:solidFill>
                      <a:srgbClr val="1F3B57"/>
                    </a:solidFill>
                  </a:tcPr>
                </a:tc>
                <a:tc>
                  <a:txBody>
                    <a:bodyPr wrap="square"/>
                    <a:lstStyle/>
                    <a:p>
                      <a:pPr algn="ctr"/>
                      <a:r>
                        <a:rPr sz="950" b="1">
                          <a:solidFill>
                            <a:srgbClr val="FFFFFF"/>
                          </a:solidFill>
                          <a:latin typeface="Arial"/>
                        </a:rPr>
                        <a:t>Method 1</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Method 2</a:t>
                      </a:r>
                    </a:p>
                    <a:p>
                      <a:pPr algn="ctr"/>
                      <a:r>
                        <a:rPr sz="950" b="1">
                          <a:solidFill>
                            <a:srgbClr val="FFFFFF"/>
                          </a:solidFill>
                          <a:latin typeface="Arial"/>
                        </a:rPr>
                        <a:t>children</a:t>
                      </a:r>
                    </a:p>
                  </a:txBody>
                  <a:tcPr marL="64008" marR="64008" marT="22860" marB="22860" anchor="ctr">
                    <a:solidFill>
                      <a:srgbClr val="1F3B57"/>
                    </a:solidFill>
                  </a:tcPr>
                </a:tc>
                <a:tc>
                  <a:txBody>
                    <a:bodyPr wrap="square"/>
                    <a:lstStyle/>
                    <a:p>
                      <a:pPr algn="ctr"/>
                      <a:r>
                        <a:rPr sz="950" b="1">
                          <a:solidFill>
                            <a:srgbClr val="FFFFFF"/>
                          </a:solidFill>
                          <a:latin typeface="Arial"/>
                        </a:rPr>
                        <a:t>M1</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M2</a:t>
                      </a:r>
                    </a:p>
                    <a:p>
                      <a:pPr algn="ctr"/>
                      <a:r>
                        <a:rPr sz="950" b="1">
                          <a:solidFill>
                            <a:srgbClr val="FFFFFF"/>
                          </a:solidFill>
                          <a:latin typeface="Arial"/>
                        </a:rPr>
                        <a:t>rate %</a:t>
                      </a:r>
                    </a:p>
                  </a:txBody>
                  <a:tcPr marL="64008" marR="64008" marT="22860" marB="22860" anchor="ctr">
                    <a:solidFill>
                      <a:srgbClr val="1F3B57"/>
                    </a:solidFill>
                  </a:tcPr>
                </a:tc>
                <a:tc>
                  <a:txBody>
                    <a:bodyPr wrap="square"/>
                    <a:lstStyle/>
                    <a:p>
                      <a:pPr algn="ctr"/>
                      <a:r>
                        <a:rPr sz="950" b="1">
                          <a:solidFill>
                            <a:srgbClr val="FFFFFF"/>
                          </a:solidFill>
                          <a:latin typeface="Arial"/>
                        </a:rPr>
                        <a:t>NmDHS</a:t>
                      </a:r>
                    </a:p>
                    <a:p>
                      <a:pPr algn="ctr"/>
                      <a:r>
                        <a:rPr sz="950" b="1">
                          <a:solidFill>
                            <a:srgbClr val="FFFFFF"/>
                          </a:solidFill>
                          <a:latin typeface="Arial"/>
                        </a:rPr>
                        <a:t>%</a:t>
                      </a:r>
                    </a:p>
                  </a:txBody>
                  <a:tcPr marL="64008" marR="64008" marT="22860" marB="22860" anchor="ctr">
                    <a:solidFill>
                      <a:srgbClr val="1F3B57"/>
                    </a:solidFill>
                  </a:tcPr>
                </a:tc>
              </a:tr>
              <a:tr h="233172">
                <a:tc>
                  <a:txBody>
                    <a:bodyPr wrap="square"/>
                    <a:lstStyle/>
                    <a:p>
                      <a:pPr algn="l"/>
                      <a:r>
                        <a:rPr sz="1000" b="0">
                          <a:solidFill>
                            <a:srgbClr val="22333F"/>
                          </a:solidFill>
                          <a:latin typeface="Arial"/>
                        </a:rPr>
                        <a:t>Ogun</a:t>
                      </a:r>
                    </a:p>
                  </a:txBody>
                  <a:tcPr marL="64008" marR="64008" marT="22860" marB="22860" anchor="ctr">
                    <a:solidFill>
                      <a:srgbClr val="FFFFFF"/>
                    </a:solidFill>
                  </a:tcPr>
                </a:tc>
                <a:tc>
                  <a:txBody>
                    <a:bodyPr wrap="square"/>
                    <a:lstStyle/>
                    <a:p>
                      <a:pPr algn="r"/>
                      <a:r>
                        <a:rPr sz="1000" b="0">
                          <a:solidFill>
                            <a:srgbClr val="0072B2"/>
                          </a:solidFill>
                          <a:latin typeface="Arial"/>
                        </a:rPr>
                        <a:t>32,123</a:t>
                      </a:r>
                    </a:p>
                  </a:txBody>
                  <a:tcPr marL="64008" marR="64008" marT="22860" marB="22860" anchor="ctr">
                    <a:solidFill>
                      <a:srgbClr val="FFFFFF"/>
                    </a:solidFill>
                  </a:tcPr>
                </a:tc>
                <a:tc>
                  <a:txBody>
                    <a:bodyPr wrap="square"/>
                    <a:lstStyle/>
                    <a:p>
                      <a:pPr algn="r"/>
                      <a:r>
                        <a:rPr sz="1000" b="0">
                          <a:solidFill>
                            <a:srgbClr val="D55E00"/>
                          </a:solidFill>
                          <a:latin typeface="Arial"/>
                        </a:rPr>
                        <a:t>22,819</a:t>
                      </a:r>
                    </a:p>
                  </a:txBody>
                  <a:tcPr marL="64008" marR="64008" marT="22860" marB="22860" anchor="ctr">
                    <a:solidFill>
                      <a:srgbClr val="FFFFFF"/>
                    </a:solidFill>
                  </a:tcPr>
                </a:tc>
                <a:tc>
                  <a:txBody>
                    <a:bodyPr wrap="square"/>
                    <a:lstStyle/>
                    <a:p>
                      <a:pPr algn="r"/>
                      <a:r>
                        <a:rPr sz="1000" b="0">
                          <a:solidFill>
                            <a:srgbClr val="0072B2"/>
                          </a:solidFill>
                          <a:latin typeface="Arial"/>
                        </a:rPr>
                        <a:t>18.9</a:t>
                      </a:r>
                    </a:p>
                  </a:txBody>
                  <a:tcPr marL="64008" marR="64008" marT="22860" marB="22860" anchor="ctr">
                    <a:solidFill>
                      <a:srgbClr val="FFFFFF"/>
                    </a:solidFill>
                  </a:tcPr>
                </a:tc>
                <a:tc>
                  <a:txBody>
                    <a:bodyPr wrap="square"/>
                    <a:lstStyle/>
                    <a:p>
                      <a:pPr algn="r"/>
                      <a:r>
                        <a:rPr sz="1000" b="0">
                          <a:solidFill>
                            <a:srgbClr val="D55E00"/>
                          </a:solidFill>
                          <a:latin typeface="Arial"/>
                        </a:rPr>
                        <a:t>14.7</a:t>
                      </a:r>
                    </a:p>
                  </a:txBody>
                  <a:tcPr marL="64008" marR="64008" marT="22860" marB="22860" anchor="ctr">
                    <a:solidFill>
                      <a:srgbClr val="FFFFFF"/>
                    </a:solidFill>
                  </a:tcPr>
                </a:tc>
                <a:tc>
                  <a:txBody>
                    <a:bodyPr wrap="square"/>
                    <a:lstStyle/>
                    <a:p>
                      <a:pPr algn="r"/>
                      <a:r>
                        <a:rPr sz="1000" b="0">
                          <a:solidFill>
                            <a:srgbClr val="22333F"/>
                          </a:solidFill>
                          <a:latin typeface="Arial"/>
                        </a:rPr>
                        <a:t>16.2</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Rivers</a:t>
                      </a:r>
                    </a:p>
                  </a:txBody>
                  <a:tcPr marL="64008" marR="64008" marT="22860" marB="22860" anchor="ctr">
                    <a:solidFill>
                      <a:srgbClr val="EEF2F6"/>
                    </a:solidFill>
                  </a:tcPr>
                </a:tc>
                <a:tc>
                  <a:txBody>
                    <a:bodyPr wrap="square"/>
                    <a:lstStyle/>
                    <a:p>
                      <a:pPr algn="r"/>
                      <a:r>
                        <a:rPr sz="1000" b="0">
                          <a:solidFill>
                            <a:srgbClr val="0072B2"/>
                          </a:solidFill>
                          <a:latin typeface="Arial"/>
                        </a:rPr>
                        <a:t>30,795</a:t>
                      </a:r>
                    </a:p>
                  </a:txBody>
                  <a:tcPr marL="64008" marR="64008" marT="22860" marB="22860" anchor="ctr">
                    <a:solidFill>
                      <a:srgbClr val="EEF2F6"/>
                    </a:solidFill>
                  </a:tcPr>
                </a:tc>
                <a:tc>
                  <a:txBody>
                    <a:bodyPr wrap="square"/>
                    <a:lstStyle/>
                    <a:p>
                      <a:pPr algn="r"/>
                      <a:r>
                        <a:rPr sz="1000" b="0">
                          <a:solidFill>
                            <a:srgbClr val="D55E00"/>
                          </a:solidFill>
                          <a:latin typeface="Arial"/>
                        </a:rPr>
                        <a:t>26,122</a:t>
                      </a:r>
                    </a:p>
                  </a:txBody>
                  <a:tcPr marL="64008" marR="64008" marT="22860" marB="22860" anchor="ctr">
                    <a:solidFill>
                      <a:srgbClr val="EEF2F6"/>
                    </a:solidFill>
                  </a:tcPr>
                </a:tc>
                <a:tc>
                  <a:txBody>
                    <a:bodyPr wrap="square"/>
                    <a:lstStyle/>
                    <a:p>
                      <a:pPr algn="r"/>
                      <a:r>
                        <a:rPr sz="1000" b="0">
                          <a:solidFill>
                            <a:srgbClr val="0072B2"/>
                          </a:solidFill>
                          <a:latin typeface="Arial"/>
                        </a:rPr>
                        <a:t>14.7</a:t>
                      </a:r>
                    </a:p>
                  </a:txBody>
                  <a:tcPr marL="64008" marR="64008" marT="22860" marB="22860" anchor="ctr">
                    <a:solidFill>
                      <a:srgbClr val="EEF2F6"/>
                    </a:solidFill>
                  </a:tcPr>
                </a:tc>
                <a:tc>
                  <a:txBody>
                    <a:bodyPr wrap="square"/>
                    <a:lstStyle/>
                    <a:p>
                      <a:pPr algn="r"/>
                      <a:r>
                        <a:rPr sz="1000" b="0">
                          <a:solidFill>
                            <a:srgbClr val="D55E00"/>
                          </a:solidFill>
                          <a:latin typeface="Arial"/>
                        </a:rPr>
                        <a:t>13.0</a:t>
                      </a:r>
                    </a:p>
                  </a:txBody>
                  <a:tcPr marL="64008" marR="64008" marT="22860" marB="22860" anchor="ctr">
                    <a:solidFill>
                      <a:srgbClr val="EEF2F6"/>
                    </a:solidFill>
                  </a:tcPr>
                </a:tc>
                <a:tc>
                  <a:txBody>
                    <a:bodyPr wrap="square"/>
                    <a:lstStyle/>
                    <a:p>
                      <a:pPr algn="r"/>
                      <a:r>
                        <a:rPr sz="1000" b="0">
                          <a:solidFill>
                            <a:srgbClr val="22333F"/>
                          </a:solidFill>
                          <a:latin typeface="Arial"/>
                        </a:rPr>
                        <a:t>9.5</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Nasarawa</a:t>
                      </a:r>
                    </a:p>
                  </a:txBody>
                  <a:tcPr marL="64008" marR="64008" marT="22860" marB="22860" anchor="ctr">
                    <a:solidFill>
                      <a:srgbClr val="FFFFFF"/>
                    </a:solidFill>
                  </a:tcPr>
                </a:tc>
                <a:tc>
                  <a:txBody>
                    <a:bodyPr wrap="square"/>
                    <a:lstStyle/>
                    <a:p>
                      <a:pPr algn="r"/>
                      <a:r>
                        <a:rPr sz="1000" b="0">
                          <a:solidFill>
                            <a:srgbClr val="0072B2"/>
                          </a:solidFill>
                          <a:latin typeface="Arial"/>
                        </a:rPr>
                        <a:t>28,735</a:t>
                      </a:r>
                    </a:p>
                  </a:txBody>
                  <a:tcPr marL="64008" marR="64008" marT="22860" marB="22860" anchor="ctr">
                    <a:solidFill>
                      <a:srgbClr val="FFFFFF"/>
                    </a:solidFill>
                  </a:tcPr>
                </a:tc>
                <a:tc>
                  <a:txBody>
                    <a:bodyPr wrap="square"/>
                    <a:lstStyle/>
                    <a:p>
                      <a:pPr algn="r"/>
                      <a:r>
                        <a:rPr sz="1000" b="0">
                          <a:solidFill>
                            <a:srgbClr val="D55E00"/>
                          </a:solidFill>
                          <a:latin typeface="Arial"/>
                        </a:rPr>
                        <a:t>29,256</a:t>
                      </a:r>
                    </a:p>
                  </a:txBody>
                  <a:tcPr marL="64008" marR="64008" marT="22860" marB="22860" anchor="ctr">
                    <a:solidFill>
                      <a:srgbClr val="FFFFFF"/>
                    </a:solidFill>
                  </a:tcPr>
                </a:tc>
                <a:tc>
                  <a:txBody>
                    <a:bodyPr wrap="square"/>
                    <a:lstStyle/>
                    <a:p>
                      <a:pPr algn="r"/>
                      <a:r>
                        <a:rPr sz="1000" b="0">
                          <a:solidFill>
                            <a:srgbClr val="0072B2"/>
                          </a:solidFill>
                          <a:latin typeface="Arial"/>
                        </a:rPr>
                        <a:t>25.6</a:t>
                      </a:r>
                    </a:p>
                  </a:txBody>
                  <a:tcPr marL="64008" marR="64008" marT="22860" marB="22860" anchor="ctr">
                    <a:solidFill>
                      <a:srgbClr val="FFFFFF"/>
                    </a:solidFill>
                  </a:tcPr>
                </a:tc>
                <a:tc>
                  <a:txBody>
                    <a:bodyPr wrap="square"/>
                    <a:lstStyle/>
                    <a:p>
                      <a:pPr algn="r"/>
                      <a:r>
                        <a:rPr sz="1000" b="0">
                          <a:solidFill>
                            <a:srgbClr val="D55E00"/>
                          </a:solidFill>
                          <a:latin typeface="Arial"/>
                        </a:rPr>
                        <a:t>27.8</a:t>
                      </a:r>
                    </a:p>
                  </a:txBody>
                  <a:tcPr marL="64008" marR="64008" marT="22860" marB="22860" anchor="ctr">
                    <a:solidFill>
                      <a:srgbClr val="FFFFFF"/>
                    </a:solidFill>
                  </a:tcPr>
                </a:tc>
                <a:tc>
                  <a:txBody>
                    <a:bodyPr wrap="square"/>
                    <a:lstStyle/>
                    <a:p>
                      <a:pPr algn="r"/>
                      <a:r>
                        <a:rPr sz="1000" b="0">
                          <a:solidFill>
                            <a:srgbClr val="22333F"/>
                          </a:solidFill>
                          <a:latin typeface="Arial"/>
                        </a:rPr>
                        <a:t>32.5</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Ondo</a:t>
                      </a:r>
                    </a:p>
                  </a:txBody>
                  <a:tcPr marL="64008" marR="64008" marT="22860" marB="22860" anchor="ctr">
                    <a:solidFill>
                      <a:srgbClr val="EEF2F6"/>
                    </a:solidFill>
                  </a:tcPr>
                </a:tc>
                <a:tc>
                  <a:txBody>
                    <a:bodyPr wrap="square"/>
                    <a:lstStyle/>
                    <a:p>
                      <a:pPr algn="r"/>
                      <a:r>
                        <a:rPr sz="1000" b="0">
                          <a:solidFill>
                            <a:srgbClr val="0072B2"/>
                          </a:solidFill>
                          <a:latin typeface="Arial"/>
                        </a:rPr>
                        <a:t>28,122</a:t>
                      </a:r>
                    </a:p>
                  </a:txBody>
                  <a:tcPr marL="64008" marR="64008" marT="22860" marB="22860" anchor="ctr">
                    <a:solidFill>
                      <a:srgbClr val="EEF2F6"/>
                    </a:solidFill>
                  </a:tcPr>
                </a:tc>
                <a:tc>
                  <a:txBody>
                    <a:bodyPr wrap="square"/>
                    <a:lstStyle/>
                    <a:p>
                      <a:pPr algn="r"/>
                      <a:r>
                        <a:rPr sz="1000" b="0">
                          <a:solidFill>
                            <a:srgbClr val="D55E00"/>
                          </a:solidFill>
                          <a:latin typeface="Arial"/>
                        </a:rPr>
                        <a:t>32,119</a:t>
                      </a:r>
                    </a:p>
                  </a:txBody>
                  <a:tcPr marL="64008" marR="64008" marT="22860" marB="22860" anchor="ctr">
                    <a:solidFill>
                      <a:srgbClr val="EEF2F6"/>
                    </a:solidFill>
                  </a:tcPr>
                </a:tc>
                <a:tc>
                  <a:txBody>
                    <a:bodyPr wrap="square"/>
                    <a:lstStyle/>
                    <a:p>
                      <a:pPr algn="r"/>
                      <a:r>
                        <a:rPr sz="1000" b="0">
                          <a:solidFill>
                            <a:srgbClr val="0072B2"/>
                          </a:solidFill>
                          <a:latin typeface="Arial"/>
                        </a:rPr>
                        <a:t>18.7</a:t>
                      </a:r>
                    </a:p>
                  </a:txBody>
                  <a:tcPr marL="64008" marR="64008" marT="22860" marB="22860" anchor="ctr">
                    <a:solidFill>
                      <a:srgbClr val="EEF2F6"/>
                    </a:solidFill>
                  </a:tcPr>
                </a:tc>
                <a:tc>
                  <a:txBody>
                    <a:bodyPr wrap="square"/>
                    <a:lstStyle/>
                    <a:p>
                      <a:pPr algn="r"/>
                      <a:r>
                        <a:rPr sz="1000" b="0">
                          <a:solidFill>
                            <a:srgbClr val="D55E00"/>
                          </a:solidFill>
                          <a:latin typeface="Arial"/>
                        </a:rPr>
                        <a:t>21.7</a:t>
                      </a:r>
                    </a:p>
                  </a:txBody>
                  <a:tcPr marL="64008" marR="64008" marT="22860" marB="22860" anchor="ctr">
                    <a:solidFill>
                      <a:srgbClr val="EEF2F6"/>
                    </a:solidFill>
                  </a:tcPr>
                </a:tc>
                <a:tc>
                  <a:txBody>
                    <a:bodyPr wrap="square"/>
                    <a:lstStyle/>
                    <a:p>
                      <a:pPr algn="r"/>
                      <a:r>
                        <a:rPr sz="1000" b="0">
                          <a:solidFill>
                            <a:srgbClr val="22333F"/>
                          </a:solidFill>
                          <a:latin typeface="Arial"/>
                        </a:rPr>
                        <a:t>10.3</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Lagos</a:t>
                      </a:r>
                    </a:p>
                  </a:txBody>
                  <a:tcPr marL="64008" marR="64008" marT="22860" marB="22860" anchor="ctr">
                    <a:solidFill>
                      <a:srgbClr val="FFFFFF"/>
                    </a:solidFill>
                  </a:tcPr>
                </a:tc>
                <a:tc>
                  <a:txBody>
                    <a:bodyPr wrap="square"/>
                    <a:lstStyle/>
                    <a:p>
                      <a:pPr algn="r"/>
                      <a:r>
                        <a:rPr sz="1000" b="0">
                          <a:solidFill>
                            <a:srgbClr val="0072B2"/>
                          </a:solidFill>
                          <a:latin typeface="Arial"/>
                        </a:rPr>
                        <a:t>22,095</a:t>
                      </a:r>
                    </a:p>
                  </a:txBody>
                  <a:tcPr marL="64008" marR="64008" marT="22860" marB="22860" anchor="ctr">
                    <a:solidFill>
                      <a:srgbClr val="FFFFFF"/>
                    </a:solidFill>
                  </a:tcPr>
                </a:tc>
                <a:tc>
                  <a:txBody>
                    <a:bodyPr wrap="square"/>
                    <a:lstStyle/>
                    <a:p>
                      <a:pPr algn="r"/>
                      <a:r>
                        <a:rPr sz="1000" b="0">
                          <a:solidFill>
                            <a:srgbClr val="D55E00"/>
                          </a:solidFill>
                          <a:latin typeface="Arial"/>
                        </a:rPr>
                        <a:t>18,709</a:t>
                      </a:r>
                    </a:p>
                  </a:txBody>
                  <a:tcPr marL="64008" marR="64008" marT="22860" marB="22860" anchor="ctr">
                    <a:solidFill>
                      <a:srgbClr val="FFFFFF"/>
                    </a:solidFill>
                  </a:tcPr>
                </a:tc>
                <a:tc>
                  <a:txBody>
                    <a:bodyPr wrap="square"/>
                    <a:lstStyle/>
                    <a:p>
                      <a:pPr algn="r"/>
                      <a:r>
                        <a:rPr sz="1000" b="0">
                          <a:solidFill>
                            <a:srgbClr val="0072B2"/>
                          </a:solidFill>
                          <a:latin typeface="Arial"/>
                        </a:rPr>
                        <a:t>7.1</a:t>
                      </a:r>
                    </a:p>
                  </a:txBody>
                  <a:tcPr marL="64008" marR="64008" marT="22860" marB="22860" anchor="ctr">
                    <a:solidFill>
                      <a:srgbClr val="FFFFFF"/>
                    </a:solidFill>
                  </a:tcPr>
                </a:tc>
                <a:tc>
                  <a:txBody>
                    <a:bodyPr wrap="square"/>
                    <a:lstStyle/>
                    <a:p>
                      <a:pPr algn="r"/>
                      <a:r>
                        <a:rPr sz="1000" b="0">
                          <a:solidFill>
                            <a:srgbClr val="D55E00"/>
                          </a:solidFill>
                          <a:latin typeface="Arial"/>
                        </a:rPr>
                        <a:t>6.2</a:t>
                      </a:r>
                    </a:p>
                  </a:txBody>
                  <a:tcPr marL="64008" marR="64008" marT="22860" marB="22860" anchor="ctr">
                    <a:solidFill>
                      <a:srgbClr val="FFFFFF"/>
                    </a:solidFill>
                  </a:tcPr>
                </a:tc>
                <a:tc>
                  <a:txBody>
                    <a:bodyPr wrap="square"/>
                    <a:lstStyle/>
                    <a:p>
                      <a:pPr algn="r"/>
                      <a:r>
                        <a:rPr sz="1000" b="0">
                          <a:solidFill>
                            <a:srgbClr val="22333F"/>
                          </a:solidFill>
                          <a:latin typeface="Arial"/>
                        </a:rPr>
                        <a:t>7.1</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Delta</a:t>
                      </a:r>
                    </a:p>
                  </a:txBody>
                  <a:tcPr marL="64008" marR="64008" marT="22860" marB="22860" anchor="ctr">
                    <a:solidFill>
                      <a:srgbClr val="EEF2F6"/>
                    </a:solidFill>
                  </a:tcPr>
                </a:tc>
                <a:tc>
                  <a:txBody>
                    <a:bodyPr wrap="square"/>
                    <a:lstStyle/>
                    <a:p>
                      <a:pPr algn="r"/>
                      <a:r>
                        <a:rPr sz="1000" b="0">
                          <a:solidFill>
                            <a:srgbClr val="0072B2"/>
                          </a:solidFill>
                          <a:latin typeface="Arial"/>
                        </a:rPr>
                        <a:t>21,940</a:t>
                      </a:r>
                    </a:p>
                  </a:txBody>
                  <a:tcPr marL="64008" marR="64008" marT="22860" marB="22860" anchor="ctr">
                    <a:solidFill>
                      <a:srgbClr val="EEF2F6"/>
                    </a:solidFill>
                  </a:tcPr>
                </a:tc>
                <a:tc>
                  <a:txBody>
                    <a:bodyPr wrap="square"/>
                    <a:lstStyle/>
                    <a:p>
                      <a:pPr algn="r"/>
                      <a:r>
                        <a:rPr sz="1000" b="0">
                          <a:solidFill>
                            <a:srgbClr val="D55E00"/>
                          </a:solidFill>
                          <a:latin typeface="Arial"/>
                        </a:rPr>
                        <a:t>23,510</a:t>
                      </a:r>
                    </a:p>
                  </a:txBody>
                  <a:tcPr marL="64008" marR="64008" marT="22860" marB="22860" anchor="ctr">
                    <a:solidFill>
                      <a:srgbClr val="EEF2F6"/>
                    </a:solidFill>
                  </a:tcPr>
                </a:tc>
                <a:tc>
                  <a:txBody>
                    <a:bodyPr wrap="square"/>
                    <a:lstStyle/>
                    <a:p>
                      <a:pPr algn="r"/>
                      <a:r>
                        <a:rPr sz="1000" b="0">
                          <a:solidFill>
                            <a:srgbClr val="0072B2"/>
                          </a:solidFill>
                          <a:latin typeface="Arial"/>
                        </a:rPr>
                        <a:t>12.9</a:t>
                      </a:r>
                    </a:p>
                  </a:txBody>
                  <a:tcPr marL="64008" marR="64008" marT="22860" marB="22860" anchor="ctr">
                    <a:solidFill>
                      <a:srgbClr val="EEF2F6"/>
                    </a:solidFill>
                  </a:tcPr>
                </a:tc>
                <a:tc>
                  <a:txBody>
                    <a:bodyPr wrap="square"/>
                    <a:lstStyle/>
                    <a:p>
                      <a:pPr algn="r"/>
                      <a:r>
                        <a:rPr sz="1000" b="0">
                          <a:solidFill>
                            <a:srgbClr val="D55E00"/>
                          </a:solidFill>
                          <a:latin typeface="Arial"/>
                        </a:rPr>
                        <a:t>13.9</a:t>
                      </a:r>
                    </a:p>
                  </a:txBody>
                  <a:tcPr marL="64008" marR="64008" marT="22860" marB="22860" anchor="ctr">
                    <a:solidFill>
                      <a:srgbClr val="EEF2F6"/>
                    </a:solidFill>
                  </a:tcPr>
                </a:tc>
                <a:tc>
                  <a:txBody>
                    <a:bodyPr wrap="square"/>
                    <a:lstStyle/>
                    <a:p>
                      <a:pPr algn="r"/>
                      <a:r>
                        <a:rPr sz="1000" b="0">
                          <a:solidFill>
                            <a:srgbClr val="22333F"/>
                          </a:solidFill>
                          <a:latin typeface="Arial"/>
                        </a:rPr>
                        <a:t>7.4</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FCT</a:t>
                      </a:r>
                    </a:p>
                  </a:txBody>
                  <a:tcPr marL="64008" marR="64008" marT="22860" marB="22860" anchor="ctr">
                    <a:solidFill>
                      <a:srgbClr val="FFFFFF"/>
                    </a:solidFill>
                  </a:tcPr>
                </a:tc>
                <a:tc>
                  <a:txBody>
                    <a:bodyPr wrap="square"/>
                    <a:lstStyle/>
                    <a:p>
                      <a:pPr algn="r"/>
                      <a:r>
                        <a:rPr sz="1000" b="0">
                          <a:solidFill>
                            <a:srgbClr val="0072B2"/>
                          </a:solidFill>
                          <a:latin typeface="Arial"/>
                        </a:rPr>
                        <a:t>20,351</a:t>
                      </a:r>
                    </a:p>
                  </a:txBody>
                  <a:tcPr marL="64008" marR="64008" marT="22860" marB="22860" anchor="ctr">
                    <a:solidFill>
                      <a:srgbClr val="FFFFFF"/>
                    </a:solidFill>
                  </a:tcPr>
                </a:tc>
                <a:tc>
                  <a:txBody>
                    <a:bodyPr wrap="square"/>
                    <a:lstStyle/>
                    <a:p>
                      <a:pPr algn="r"/>
                      <a:r>
                        <a:rPr sz="1000" b="0">
                          <a:solidFill>
                            <a:srgbClr val="D55E00"/>
                          </a:solidFill>
                          <a:latin typeface="Arial"/>
                        </a:rPr>
                        <a:t>18,725</a:t>
                      </a:r>
                    </a:p>
                  </a:txBody>
                  <a:tcPr marL="64008" marR="64008" marT="22860" marB="22860" anchor="ctr">
                    <a:solidFill>
                      <a:srgbClr val="FFFFFF"/>
                    </a:solidFill>
                  </a:tcPr>
                </a:tc>
                <a:tc>
                  <a:txBody>
                    <a:bodyPr wrap="square"/>
                    <a:lstStyle/>
                    <a:p>
                      <a:pPr algn="r"/>
                      <a:r>
                        <a:rPr sz="1000" b="0">
                          <a:solidFill>
                            <a:srgbClr val="0072B2"/>
                          </a:solidFill>
                          <a:latin typeface="Arial"/>
                        </a:rPr>
                        <a:t>18.5</a:t>
                      </a:r>
                    </a:p>
                  </a:txBody>
                  <a:tcPr marL="64008" marR="64008" marT="22860" marB="22860" anchor="ctr">
                    <a:solidFill>
                      <a:srgbClr val="FFFFFF"/>
                    </a:solidFill>
                  </a:tcPr>
                </a:tc>
                <a:tc>
                  <a:txBody>
                    <a:bodyPr wrap="square"/>
                    <a:lstStyle/>
                    <a:p>
                      <a:pPr algn="r"/>
                      <a:r>
                        <a:rPr sz="1000" b="0">
                          <a:solidFill>
                            <a:srgbClr val="D55E00"/>
                          </a:solidFill>
                          <a:latin typeface="Arial"/>
                        </a:rPr>
                        <a:t>19.3</a:t>
                      </a:r>
                    </a:p>
                  </a:txBody>
                  <a:tcPr marL="64008" marR="64008" marT="22860" marB="22860" anchor="ctr">
                    <a:solidFill>
                      <a:srgbClr val="FFFFFF"/>
                    </a:solidFill>
                  </a:tcPr>
                </a:tc>
                <a:tc>
                  <a:txBody>
                    <a:bodyPr wrap="square"/>
                    <a:lstStyle/>
                    <a:p>
                      <a:pPr algn="r"/>
                      <a:r>
                        <a:rPr sz="1000" b="0">
                          <a:solidFill>
                            <a:srgbClr val="22333F"/>
                          </a:solidFill>
                          <a:latin typeface="Arial"/>
                        </a:rPr>
                        <a:t>18.6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Akwa Ibom</a:t>
                      </a:r>
                    </a:p>
                  </a:txBody>
                  <a:tcPr marL="64008" marR="64008" marT="22860" marB="22860" anchor="ctr">
                    <a:solidFill>
                      <a:srgbClr val="EEF2F6"/>
                    </a:solidFill>
                  </a:tcPr>
                </a:tc>
                <a:tc>
                  <a:txBody>
                    <a:bodyPr wrap="square"/>
                    <a:lstStyle/>
                    <a:p>
                      <a:pPr algn="r"/>
                      <a:r>
                        <a:rPr sz="1000" b="0">
                          <a:solidFill>
                            <a:srgbClr val="0072B2"/>
                          </a:solidFill>
                          <a:latin typeface="Arial"/>
                        </a:rPr>
                        <a:t>19,144</a:t>
                      </a:r>
                    </a:p>
                  </a:txBody>
                  <a:tcPr marL="64008" marR="64008" marT="22860" marB="22860" anchor="ctr">
                    <a:solidFill>
                      <a:srgbClr val="EEF2F6"/>
                    </a:solidFill>
                  </a:tcPr>
                </a:tc>
                <a:tc>
                  <a:txBody>
                    <a:bodyPr wrap="square"/>
                    <a:lstStyle/>
                    <a:p>
                      <a:pPr algn="r"/>
                      <a:r>
                        <a:rPr sz="1000" b="0">
                          <a:solidFill>
                            <a:srgbClr val="D55E00"/>
                          </a:solidFill>
                          <a:latin typeface="Arial"/>
                        </a:rPr>
                        <a:t>13,242</a:t>
                      </a:r>
                    </a:p>
                  </a:txBody>
                  <a:tcPr marL="64008" marR="64008" marT="22860" marB="22860" anchor="ctr">
                    <a:solidFill>
                      <a:srgbClr val="EEF2F6"/>
                    </a:solidFill>
                  </a:tcPr>
                </a:tc>
                <a:tc>
                  <a:txBody>
                    <a:bodyPr wrap="square"/>
                    <a:lstStyle/>
                    <a:p>
                      <a:pPr algn="r"/>
                      <a:r>
                        <a:rPr sz="1000" b="0">
                          <a:solidFill>
                            <a:srgbClr val="0072B2"/>
                          </a:solidFill>
                          <a:latin typeface="Arial"/>
                        </a:rPr>
                        <a:t>13.1</a:t>
                      </a:r>
                    </a:p>
                  </a:txBody>
                  <a:tcPr marL="64008" marR="64008" marT="22860" marB="22860" anchor="ctr">
                    <a:solidFill>
                      <a:srgbClr val="EEF2F6"/>
                    </a:solidFill>
                  </a:tcPr>
                </a:tc>
                <a:tc>
                  <a:txBody>
                    <a:bodyPr wrap="square"/>
                    <a:lstStyle/>
                    <a:p>
                      <a:pPr algn="r"/>
                      <a:r>
                        <a:rPr sz="1000" b="0">
                          <a:solidFill>
                            <a:srgbClr val="D55E00"/>
                          </a:solidFill>
                          <a:latin typeface="Arial"/>
                        </a:rPr>
                        <a:t>10.5</a:t>
                      </a:r>
                    </a:p>
                  </a:txBody>
                  <a:tcPr marL="64008" marR="64008" marT="22860" marB="22860" anchor="ctr">
                    <a:solidFill>
                      <a:srgbClr val="EEF2F6"/>
                    </a:solidFill>
                  </a:tcPr>
                </a:tc>
                <a:tc>
                  <a:txBody>
                    <a:bodyPr wrap="square"/>
                    <a:lstStyle/>
                    <a:p>
                      <a:pPr algn="r"/>
                      <a:r>
                        <a:rPr sz="1000" b="0">
                          <a:solidFill>
                            <a:srgbClr val="22333F"/>
                          </a:solidFill>
                          <a:latin typeface="Arial"/>
                        </a:rPr>
                        <a:t>11.8</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Anambra</a:t>
                      </a:r>
                    </a:p>
                  </a:txBody>
                  <a:tcPr marL="64008" marR="64008" marT="22860" marB="22860" anchor="ctr">
                    <a:solidFill>
                      <a:srgbClr val="FFFFFF"/>
                    </a:solidFill>
                  </a:tcPr>
                </a:tc>
                <a:tc>
                  <a:txBody>
                    <a:bodyPr wrap="square"/>
                    <a:lstStyle/>
                    <a:p>
                      <a:pPr algn="r"/>
                      <a:r>
                        <a:rPr sz="1000" b="0">
                          <a:solidFill>
                            <a:srgbClr val="0072B2"/>
                          </a:solidFill>
                          <a:latin typeface="Arial"/>
                        </a:rPr>
                        <a:t>18,507</a:t>
                      </a:r>
                    </a:p>
                  </a:txBody>
                  <a:tcPr marL="64008" marR="64008" marT="22860" marB="22860" anchor="ctr">
                    <a:solidFill>
                      <a:srgbClr val="FFFFFF"/>
                    </a:solidFill>
                  </a:tcPr>
                </a:tc>
                <a:tc>
                  <a:txBody>
                    <a:bodyPr wrap="square"/>
                    <a:lstStyle/>
                    <a:p>
                      <a:pPr algn="r"/>
                      <a:r>
                        <a:rPr sz="1000" b="0">
                          <a:solidFill>
                            <a:srgbClr val="D55E00"/>
                          </a:solidFill>
                          <a:latin typeface="Arial"/>
                        </a:rPr>
                        <a:t>14,459</a:t>
                      </a:r>
                    </a:p>
                  </a:txBody>
                  <a:tcPr marL="64008" marR="64008" marT="22860" marB="22860" anchor="ctr">
                    <a:solidFill>
                      <a:srgbClr val="FFFFFF"/>
                    </a:solidFill>
                  </a:tcPr>
                </a:tc>
                <a:tc>
                  <a:txBody>
                    <a:bodyPr wrap="square"/>
                    <a:lstStyle/>
                    <a:p>
                      <a:pPr algn="r"/>
                      <a:r>
                        <a:rPr sz="1000" b="0">
                          <a:solidFill>
                            <a:srgbClr val="0072B2"/>
                          </a:solidFill>
                          <a:latin typeface="Arial"/>
                        </a:rPr>
                        <a:t>9.8</a:t>
                      </a:r>
                    </a:p>
                  </a:txBody>
                  <a:tcPr marL="64008" marR="64008" marT="22860" marB="22860" anchor="ctr">
                    <a:solidFill>
                      <a:srgbClr val="FFFFFF"/>
                    </a:solidFill>
                  </a:tcPr>
                </a:tc>
                <a:tc>
                  <a:txBody>
                    <a:bodyPr wrap="square"/>
                    <a:lstStyle/>
                    <a:p>
                      <a:pPr algn="r"/>
                      <a:r>
                        <a:rPr sz="1000" b="0">
                          <a:solidFill>
                            <a:srgbClr val="D55E00"/>
                          </a:solidFill>
                          <a:latin typeface="Arial"/>
                        </a:rPr>
                        <a:t>7.9</a:t>
                      </a:r>
                    </a:p>
                  </a:txBody>
                  <a:tcPr marL="64008" marR="64008" marT="22860" marB="22860" anchor="ctr">
                    <a:solidFill>
                      <a:srgbClr val="FFFFFF"/>
                    </a:solidFill>
                  </a:tcPr>
                </a:tc>
                <a:tc>
                  <a:txBody>
                    <a:bodyPr wrap="square"/>
                    <a:lstStyle/>
                    <a:p>
                      <a:pPr algn="r"/>
                      <a:r>
                        <a:rPr sz="1000" b="0">
                          <a:solidFill>
                            <a:srgbClr val="22333F"/>
                          </a:solidFill>
                          <a:latin typeface="Arial"/>
                        </a:rPr>
                        <a:t>7.3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Edo</a:t>
                      </a:r>
                    </a:p>
                  </a:txBody>
                  <a:tcPr marL="64008" marR="64008" marT="22860" marB="22860" anchor="ctr">
                    <a:solidFill>
                      <a:srgbClr val="EEF2F6"/>
                    </a:solidFill>
                  </a:tcPr>
                </a:tc>
                <a:tc>
                  <a:txBody>
                    <a:bodyPr wrap="square"/>
                    <a:lstStyle/>
                    <a:p>
                      <a:pPr algn="r"/>
                      <a:r>
                        <a:rPr sz="1000" b="0">
                          <a:solidFill>
                            <a:srgbClr val="0072B2"/>
                          </a:solidFill>
                          <a:latin typeface="Arial"/>
                        </a:rPr>
                        <a:t>15,905</a:t>
                      </a:r>
                    </a:p>
                  </a:txBody>
                  <a:tcPr marL="64008" marR="64008" marT="22860" marB="22860" anchor="ctr">
                    <a:solidFill>
                      <a:srgbClr val="EEF2F6"/>
                    </a:solidFill>
                  </a:tcPr>
                </a:tc>
                <a:tc>
                  <a:txBody>
                    <a:bodyPr wrap="square"/>
                    <a:lstStyle/>
                    <a:p>
                      <a:pPr algn="r"/>
                      <a:r>
                        <a:rPr sz="1000" b="0">
                          <a:solidFill>
                            <a:srgbClr val="D55E00"/>
                          </a:solidFill>
                          <a:latin typeface="Arial"/>
                        </a:rPr>
                        <a:t>12,516</a:t>
                      </a:r>
                    </a:p>
                  </a:txBody>
                  <a:tcPr marL="64008" marR="64008" marT="22860" marB="22860" anchor="ctr">
                    <a:solidFill>
                      <a:srgbClr val="EEF2F6"/>
                    </a:solidFill>
                  </a:tcPr>
                </a:tc>
                <a:tc>
                  <a:txBody>
                    <a:bodyPr wrap="square"/>
                    <a:lstStyle/>
                    <a:p>
                      <a:pPr algn="r"/>
                      <a:r>
                        <a:rPr sz="1000" b="0">
                          <a:solidFill>
                            <a:srgbClr val="0072B2"/>
                          </a:solidFill>
                          <a:latin typeface="Arial"/>
                        </a:rPr>
                        <a:t>10.0</a:t>
                      </a:r>
                    </a:p>
                  </a:txBody>
                  <a:tcPr marL="64008" marR="64008" marT="22860" marB="22860" anchor="ctr">
                    <a:solidFill>
                      <a:srgbClr val="EEF2F6"/>
                    </a:solidFill>
                  </a:tcPr>
                </a:tc>
                <a:tc>
                  <a:txBody>
                    <a:bodyPr wrap="square"/>
                    <a:lstStyle/>
                    <a:p>
                      <a:pPr algn="r"/>
                      <a:r>
                        <a:rPr sz="1000" b="0">
                          <a:solidFill>
                            <a:srgbClr val="D55E00"/>
                          </a:solidFill>
                          <a:latin typeface="Arial"/>
                        </a:rPr>
                        <a:t>8.5</a:t>
                      </a:r>
                    </a:p>
                  </a:txBody>
                  <a:tcPr marL="64008" marR="64008" marT="22860" marB="22860" anchor="ctr">
                    <a:solidFill>
                      <a:srgbClr val="EEF2F6"/>
                    </a:solidFill>
                  </a:tcPr>
                </a:tc>
                <a:tc>
                  <a:txBody>
                    <a:bodyPr wrap="square"/>
                    <a:lstStyle/>
                    <a:p>
                      <a:pPr algn="r"/>
                      <a:r>
                        <a:rPr sz="1000" b="0">
                          <a:solidFill>
                            <a:srgbClr val="22333F"/>
                          </a:solidFill>
                          <a:latin typeface="Arial"/>
                        </a:rPr>
                        <a:t>9.0</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Enugu</a:t>
                      </a:r>
                    </a:p>
                  </a:txBody>
                  <a:tcPr marL="64008" marR="64008" marT="22860" marB="22860" anchor="ctr">
                    <a:solidFill>
                      <a:srgbClr val="FFFFFF"/>
                    </a:solidFill>
                  </a:tcPr>
                </a:tc>
                <a:tc>
                  <a:txBody>
                    <a:bodyPr wrap="square"/>
                    <a:lstStyle/>
                    <a:p>
                      <a:pPr algn="r"/>
                      <a:r>
                        <a:rPr sz="1000" b="0">
                          <a:solidFill>
                            <a:srgbClr val="0072B2"/>
                          </a:solidFill>
                          <a:latin typeface="Arial"/>
                        </a:rPr>
                        <a:t>14,715</a:t>
                      </a:r>
                    </a:p>
                  </a:txBody>
                  <a:tcPr marL="64008" marR="64008" marT="22860" marB="22860" anchor="ctr">
                    <a:solidFill>
                      <a:srgbClr val="FFFFFF"/>
                    </a:solidFill>
                  </a:tcPr>
                </a:tc>
                <a:tc>
                  <a:txBody>
                    <a:bodyPr wrap="square"/>
                    <a:lstStyle/>
                    <a:p>
                      <a:pPr algn="r"/>
                      <a:r>
                        <a:rPr sz="1000" b="0">
                          <a:solidFill>
                            <a:srgbClr val="D55E00"/>
                          </a:solidFill>
                          <a:latin typeface="Arial"/>
                        </a:rPr>
                        <a:t>10,442</a:t>
                      </a:r>
                    </a:p>
                  </a:txBody>
                  <a:tcPr marL="64008" marR="64008" marT="22860" marB="22860" anchor="ctr">
                    <a:solidFill>
                      <a:srgbClr val="FFFFFF"/>
                    </a:solidFill>
                  </a:tcPr>
                </a:tc>
                <a:tc>
                  <a:txBody>
                    <a:bodyPr wrap="square"/>
                    <a:lstStyle/>
                    <a:p>
                      <a:pPr algn="r"/>
                      <a:r>
                        <a:rPr sz="1000" b="0">
                          <a:solidFill>
                            <a:srgbClr val="0072B2"/>
                          </a:solidFill>
                          <a:latin typeface="Arial"/>
                        </a:rPr>
                        <a:t>9.9</a:t>
                      </a:r>
                    </a:p>
                  </a:txBody>
                  <a:tcPr marL="64008" marR="64008" marT="22860" marB="22860" anchor="ctr">
                    <a:solidFill>
                      <a:srgbClr val="FFFFFF"/>
                    </a:solidFill>
                  </a:tcPr>
                </a:tc>
                <a:tc>
                  <a:txBody>
                    <a:bodyPr wrap="square"/>
                    <a:lstStyle/>
                    <a:p>
                      <a:pPr algn="r"/>
                      <a:r>
                        <a:rPr sz="1000" b="0">
                          <a:solidFill>
                            <a:srgbClr val="D55E00"/>
                          </a:solidFill>
                          <a:latin typeface="Arial"/>
                        </a:rPr>
                        <a:t>7.0</a:t>
                      </a:r>
                    </a:p>
                  </a:txBody>
                  <a:tcPr marL="64008" marR="64008" marT="22860" marB="22860" anchor="ctr">
                    <a:solidFill>
                      <a:srgbClr val="FFFFFF"/>
                    </a:solidFill>
                  </a:tcPr>
                </a:tc>
                <a:tc>
                  <a:txBody>
                    <a:bodyPr wrap="square"/>
                    <a:lstStyle/>
                    <a:p>
                      <a:pPr algn="r"/>
                      <a:r>
                        <a:rPr sz="1000" b="0">
                          <a:solidFill>
                            <a:srgbClr val="22333F"/>
                          </a:solidFill>
                          <a:latin typeface="Arial"/>
                        </a:rPr>
                        <a:t>7.8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Osun</a:t>
                      </a:r>
                    </a:p>
                  </a:txBody>
                  <a:tcPr marL="64008" marR="64008" marT="22860" marB="22860" anchor="ctr">
                    <a:solidFill>
                      <a:srgbClr val="EEF2F6"/>
                    </a:solidFill>
                  </a:tcPr>
                </a:tc>
                <a:tc>
                  <a:txBody>
                    <a:bodyPr wrap="square"/>
                    <a:lstStyle/>
                    <a:p>
                      <a:pPr algn="r"/>
                      <a:r>
                        <a:rPr sz="1000" b="0">
                          <a:solidFill>
                            <a:srgbClr val="0072B2"/>
                          </a:solidFill>
                          <a:latin typeface="Arial"/>
                        </a:rPr>
                        <a:t>14,337</a:t>
                      </a:r>
                    </a:p>
                  </a:txBody>
                  <a:tcPr marL="64008" marR="64008" marT="22860" marB="22860" anchor="ctr">
                    <a:solidFill>
                      <a:srgbClr val="EEF2F6"/>
                    </a:solidFill>
                  </a:tcPr>
                </a:tc>
                <a:tc>
                  <a:txBody>
                    <a:bodyPr wrap="square"/>
                    <a:lstStyle/>
                    <a:p>
                      <a:pPr algn="r"/>
                      <a:r>
                        <a:rPr sz="1000" b="0">
                          <a:solidFill>
                            <a:srgbClr val="D55E00"/>
                          </a:solidFill>
                          <a:latin typeface="Arial"/>
                        </a:rPr>
                        <a:t>12,763</a:t>
                      </a:r>
                    </a:p>
                  </a:txBody>
                  <a:tcPr marL="64008" marR="64008" marT="22860" marB="22860" anchor="ctr">
                    <a:solidFill>
                      <a:srgbClr val="EEF2F6"/>
                    </a:solidFill>
                  </a:tcPr>
                </a:tc>
                <a:tc>
                  <a:txBody>
                    <a:bodyPr wrap="square"/>
                    <a:lstStyle/>
                    <a:p>
                      <a:pPr algn="r"/>
                      <a:r>
                        <a:rPr sz="1000" b="0">
                          <a:solidFill>
                            <a:srgbClr val="0072B2"/>
                          </a:solidFill>
                          <a:latin typeface="Arial"/>
                        </a:rPr>
                        <a:t>12.1</a:t>
                      </a:r>
                    </a:p>
                  </a:txBody>
                  <a:tcPr marL="64008" marR="64008" marT="22860" marB="22860" anchor="ctr">
                    <a:solidFill>
                      <a:srgbClr val="EEF2F6"/>
                    </a:solidFill>
                  </a:tcPr>
                </a:tc>
                <a:tc>
                  <a:txBody>
                    <a:bodyPr wrap="square"/>
                    <a:lstStyle/>
                    <a:p>
                      <a:pPr algn="r"/>
                      <a:r>
                        <a:rPr sz="1000" b="0">
                          <a:solidFill>
                            <a:srgbClr val="D55E00"/>
                          </a:solidFill>
                          <a:latin typeface="Arial"/>
                        </a:rPr>
                        <a:t>10.7</a:t>
                      </a:r>
                    </a:p>
                  </a:txBody>
                  <a:tcPr marL="64008" marR="64008" marT="22860" marB="22860" anchor="ctr">
                    <a:solidFill>
                      <a:srgbClr val="EEF2F6"/>
                    </a:solidFill>
                  </a:tcPr>
                </a:tc>
                <a:tc>
                  <a:txBody>
                    <a:bodyPr wrap="square"/>
                    <a:lstStyle/>
                    <a:p>
                      <a:pPr algn="r"/>
                      <a:r>
                        <a:rPr sz="1000" b="0">
                          <a:solidFill>
                            <a:srgbClr val="22333F"/>
                          </a:solidFill>
                          <a:latin typeface="Arial"/>
                        </a:rPr>
                        <a:t>10.8</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Imo</a:t>
                      </a:r>
                    </a:p>
                  </a:txBody>
                  <a:tcPr marL="64008" marR="64008" marT="22860" marB="22860" anchor="ctr">
                    <a:solidFill>
                      <a:srgbClr val="FFFFFF"/>
                    </a:solidFill>
                  </a:tcPr>
                </a:tc>
                <a:tc>
                  <a:txBody>
                    <a:bodyPr wrap="square"/>
                    <a:lstStyle/>
                    <a:p>
                      <a:pPr algn="r"/>
                      <a:r>
                        <a:rPr sz="1000" b="0">
                          <a:solidFill>
                            <a:srgbClr val="0072B2"/>
                          </a:solidFill>
                          <a:latin typeface="Arial"/>
                        </a:rPr>
                        <a:t>14,271</a:t>
                      </a:r>
                    </a:p>
                  </a:txBody>
                  <a:tcPr marL="64008" marR="64008" marT="22860" marB="22860" anchor="ctr">
                    <a:solidFill>
                      <a:srgbClr val="FFFFFF"/>
                    </a:solidFill>
                  </a:tcPr>
                </a:tc>
                <a:tc>
                  <a:txBody>
                    <a:bodyPr wrap="square"/>
                    <a:lstStyle/>
                    <a:p>
                      <a:pPr algn="r"/>
                      <a:r>
                        <a:rPr sz="1000" b="0">
                          <a:solidFill>
                            <a:srgbClr val="D55E00"/>
                          </a:solidFill>
                          <a:latin typeface="Arial"/>
                        </a:rPr>
                        <a:t>9,100</a:t>
                      </a:r>
                    </a:p>
                  </a:txBody>
                  <a:tcPr marL="64008" marR="64008" marT="22860" marB="22860" anchor="ctr">
                    <a:solidFill>
                      <a:srgbClr val="FFFFFF"/>
                    </a:solidFill>
                  </a:tcPr>
                </a:tc>
                <a:tc>
                  <a:txBody>
                    <a:bodyPr wrap="square"/>
                    <a:lstStyle/>
                    <a:p>
                      <a:pPr algn="r"/>
                      <a:r>
                        <a:rPr sz="1000" b="0">
                          <a:solidFill>
                            <a:srgbClr val="0072B2"/>
                          </a:solidFill>
                          <a:latin typeface="Arial"/>
                        </a:rPr>
                        <a:t>8.5</a:t>
                      </a:r>
                    </a:p>
                  </a:txBody>
                  <a:tcPr marL="64008" marR="64008" marT="22860" marB="22860" anchor="ctr">
                    <a:solidFill>
                      <a:srgbClr val="FFFFFF"/>
                    </a:solidFill>
                  </a:tcPr>
                </a:tc>
                <a:tc>
                  <a:txBody>
                    <a:bodyPr wrap="square"/>
                    <a:lstStyle/>
                    <a:p>
                      <a:pPr algn="r"/>
                      <a:r>
                        <a:rPr sz="1000" b="0">
                          <a:solidFill>
                            <a:srgbClr val="D55E00"/>
                          </a:solidFill>
                          <a:latin typeface="Arial"/>
                        </a:rPr>
                        <a:t>5.6</a:t>
                      </a:r>
                    </a:p>
                  </a:txBody>
                  <a:tcPr marL="64008" marR="64008" marT="22860" marB="22860" anchor="ctr">
                    <a:solidFill>
                      <a:srgbClr val="FFFFFF"/>
                    </a:solidFill>
                  </a:tcPr>
                </a:tc>
                <a:tc>
                  <a:txBody>
                    <a:bodyPr wrap="square"/>
                    <a:lstStyle/>
                    <a:p>
                      <a:pPr algn="r"/>
                      <a:r>
                        <a:rPr sz="1000" b="0">
                          <a:solidFill>
                            <a:srgbClr val="22333F"/>
                          </a:solidFill>
                          <a:latin typeface="Arial"/>
                        </a:rPr>
                        <a:t>4.8</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Abia</a:t>
                      </a:r>
                    </a:p>
                  </a:txBody>
                  <a:tcPr marL="64008" marR="64008" marT="22860" marB="22860" anchor="ctr">
                    <a:solidFill>
                      <a:srgbClr val="EEF2F6"/>
                    </a:solidFill>
                  </a:tcPr>
                </a:tc>
                <a:tc>
                  <a:txBody>
                    <a:bodyPr wrap="square"/>
                    <a:lstStyle/>
                    <a:p>
                      <a:pPr algn="r"/>
                      <a:r>
                        <a:rPr sz="1000" b="0">
                          <a:solidFill>
                            <a:srgbClr val="0072B2"/>
                          </a:solidFill>
                          <a:latin typeface="Arial"/>
                        </a:rPr>
                        <a:t>12,741</a:t>
                      </a:r>
                    </a:p>
                  </a:txBody>
                  <a:tcPr marL="64008" marR="64008" marT="22860" marB="22860" anchor="ctr">
                    <a:solidFill>
                      <a:srgbClr val="EEF2F6"/>
                    </a:solidFill>
                  </a:tcPr>
                </a:tc>
                <a:tc>
                  <a:txBody>
                    <a:bodyPr wrap="square"/>
                    <a:lstStyle/>
                    <a:p>
                      <a:pPr algn="r"/>
                      <a:r>
                        <a:rPr sz="1000" b="0">
                          <a:solidFill>
                            <a:srgbClr val="D55E00"/>
                          </a:solidFill>
                          <a:latin typeface="Arial"/>
                        </a:rPr>
                        <a:t>10,508</a:t>
                      </a:r>
                    </a:p>
                  </a:txBody>
                  <a:tcPr marL="64008" marR="64008" marT="22860" marB="22860" anchor="ctr">
                    <a:solidFill>
                      <a:srgbClr val="EEF2F6"/>
                    </a:solidFill>
                  </a:tcPr>
                </a:tc>
                <a:tc>
                  <a:txBody>
                    <a:bodyPr wrap="square"/>
                    <a:lstStyle/>
                    <a:p>
                      <a:pPr algn="r"/>
                      <a:r>
                        <a:rPr sz="1000" b="0">
                          <a:solidFill>
                            <a:srgbClr val="0072B2"/>
                          </a:solidFill>
                          <a:latin typeface="Arial"/>
                        </a:rPr>
                        <a:t>8.9</a:t>
                      </a:r>
                    </a:p>
                  </a:txBody>
                  <a:tcPr marL="64008" marR="64008" marT="22860" marB="22860" anchor="ctr">
                    <a:solidFill>
                      <a:srgbClr val="EEF2F6"/>
                    </a:solidFill>
                  </a:tcPr>
                </a:tc>
                <a:tc>
                  <a:txBody>
                    <a:bodyPr wrap="square"/>
                    <a:lstStyle/>
                    <a:p>
                      <a:pPr algn="r"/>
                      <a:r>
                        <a:rPr sz="1000" b="0">
                          <a:solidFill>
                            <a:srgbClr val="D55E00"/>
                          </a:solidFill>
                          <a:latin typeface="Arial"/>
                        </a:rPr>
                        <a:t>7.5</a:t>
                      </a:r>
                    </a:p>
                  </a:txBody>
                  <a:tcPr marL="64008" marR="64008" marT="22860" marB="22860" anchor="ctr">
                    <a:solidFill>
                      <a:srgbClr val="EEF2F6"/>
                    </a:solidFill>
                  </a:tcPr>
                </a:tc>
                <a:tc>
                  <a:txBody>
                    <a:bodyPr wrap="square"/>
                    <a:lstStyle/>
                    <a:p>
                      <a:pPr algn="r"/>
                      <a:r>
                        <a:rPr sz="1000" b="0">
                          <a:solidFill>
                            <a:srgbClr val="22333F"/>
                          </a:solidFill>
                          <a:latin typeface="Arial"/>
                        </a:rPr>
                        <a:t>31.9</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Ekiti</a:t>
                      </a:r>
                    </a:p>
                  </a:txBody>
                  <a:tcPr marL="64008" marR="64008" marT="22860" marB="22860" anchor="ctr">
                    <a:solidFill>
                      <a:srgbClr val="FFFFFF"/>
                    </a:solidFill>
                  </a:tcPr>
                </a:tc>
                <a:tc>
                  <a:txBody>
                    <a:bodyPr wrap="square"/>
                    <a:lstStyle/>
                    <a:p>
                      <a:pPr algn="r"/>
                      <a:r>
                        <a:rPr sz="1000" b="0">
                          <a:solidFill>
                            <a:srgbClr val="0072B2"/>
                          </a:solidFill>
                          <a:latin typeface="Arial"/>
                        </a:rPr>
                        <a:t>12,509</a:t>
                      </a:r>
                    </a:p>
                  </a:txBody>
                  <a:tcPr marL="64008" marR="64008" marT="22860" marB="22860" anchor="ctr">
                    <a:solidFill>
                      <a:srgbClr val="FFFFFF"/>
                    </a:solidFill>
                  </a:tcPr>
                </a:tc>
                <a:tc>
                  <a:txBody>
                    <a:bodyPr wrap="square"/>
                    <a:lstStyle/>
                    <a:p>
                      <a:pPr algn="r"/>
                      <a:r>
                        <a:rPr sz="1000" b="0">
                          <a:solidFill>
                            <a:srgbClr val="D55E00"/>
                          </a:solidFill>
                          <a:latin typeface="Arial"/>
                        </a:rPr>
                        <a:t>12,492</a:t>
                      </a:r>
                    </a:p>
                  </a:txBody>
                  <a:tcPr marL="64008" marR="64008" marT="22860" marB="22860" anchor="ctr">
                    <a:solidFill>
                      <a:srgbClr val="FFFFFF"/>
                    </a:solidFill>
                  </a:tcPr>
                </a:tc>
                <a:tc>
                  <a:txBody>
                    <a:bodyPr wrap="square"/>
                    <a:lstStyle/>
                    <a:p>
                      <a:pPr algn="r"/>
                      <a:r>
                        <a:rPr sz="1000" b="0">
                          <a:solidFill>
                            <a:srgbClr val="0072B2"/>
                          </a:solidFill>
                          <a:latin typeface="Arial"/>
                        </a:rPr>
                        <a:t>11.2</a:t>
                      </a:r>
                    </a:p>
                  </a:txBody>
                  <a:tcPr marL="64008" marR="64008" marT="22860" marB="22860" anchor="ctr">
                    <a:solidFill>
                      <a:srgbClr val="FFFFFF"/>
                    </a:solidFill>
                  </a:tcPr>
                </a:tc>
                <a:tc>
                  <a:txBody>
                    <a:bodyPr wrap="square"/>
                    <a:lstStyle/>
                    <a:p>
                      <a:pPr algn="r"/>
                      <a:r>
                        <a:rPr sz="1000" b="0">
                          <a:solidFill>
                            <a:srgbClr val="D55E00"/>
                          </a:solidFill>
                          <a:latin typeface="Arial"/>
                        </a:rPr>
                        <a:t>11.2</a:t>
                      </a:r>
                    </a:p>
                  </a:txBody>
                  <a:tcPr marL="64008" marR="64008" marT="22860" marB="22860" anchor="ctr">
                    <a:solidFill>
                      <a:srgbClr val="FFFFFF"/>
                    </a:solidFill>
                  </a:tcPr>
                </a:tc>
                <a:tc>
                  <a:txBody>
                    <a:bodyPr wrap="square"/>
                    <a:lstStyle/>
                    <a:p>
                      <a:pPr algn="r"/>
                      <a:r>
                        <a:rPr sz="1000" b="0">
                          <a:solidFill>
                            <a:srgbClr val="22333F"/>
                          </a:solidFill>
                          <a:latin typeface="Arial"/>
                        </a:rPr>
                        <a:t>6.6</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Bayelsa</a:t>
                      </a:r>
                    </a:p>
                  </a:txBody>
                  <a:tcPr marL="64008" marR="64008" marT="22860" marB="22860" anchor="ctr">
                    <a:solidFill>
                      <a:srgbClr val="EEF2F6"/>
                    </a:solidFill>
                  </a:tcPr>
                </a:tc>
                <a:tc>
                  <a:txBody>
                    <a:bodyPr wrap="square"/>
                    <a:lstStyle/>
                    <a:p>
                      <a:pPr algn="r"/>
                      <a:r>
                        <a:rPr sz="1000" b="0">
                          <a:solidFill>
                            <a:srgbClr val="0072B2"/>
                          </a:solidFill>
                          <a:latin typeface="Arial"/>
                        </a:rPr>
                        <a:t>12,434</a:t>
                      </a:r>
                    </a:p>
                  </a:txBody>
                  <a:tcPr marL="64008" marR="64008" marT="22860" marB="22860" anchor="ctr">
                    <a:solidFill>
                      <a:srgbClr val="EEF2F6"/>
                    </a:solidFill>
                  </a:tcPr>
                </a:tc>
                <a:tc>
                  <a:txBody>
                    <a:bodyPr wrap="square"/>
                    <a:lstStyle/>
                    <a:p>
                      <a:pPr algn="r"/>
                      <a:r>
                        <a:rPr sz="1000" b="0">
                          <a:solidFill>
                            <a:srgbClr val="D55E00"/>
                          </a:solidFill>
                          <a:latin typeface="Arial"/>
                        </a:rPr>
                        <a:t>20,938</a:t>
                      </a:r>
                    </a:p>
                  </a:txBody>
                  <a:tcPr marL="64008" marR="64008" marT="22860" marB="22860" anchor="ctr">
                    <a:solidFill>
                      <a:srgbClr val="EEF2F6"/>
                    </a:solidFill>
                  </a:tcPr>
                </a:tc>
                <a:tc>
                  <a:txBody>
                    <a:bodyPr wrap="square"/>
                    <a:lstStyle/>
                    <a:p>
                      <a:pPr algn="r"/>
                      <a:r>
                        <a:rPr sz="1000" b="0">
                          <a:solidFill>
                            <a:srgbClr val="0072B2"/>
                          </a:solidFill>
                          <a:latin typeface="Arial"/>
                        </a:rPr>
                        <a:t>18.0</a:t>
                      </a:r>
                    </a:p>
                  </a:txBody>
                  <a:tcPr marL="64008" marR="64008" marT="22860" marB="22860" anchor="ctr">
                    <a:solidFill>
                      <a:srgbClr val="EEF2F6"/>
                    </a:solidFill>
                  </a:tcPr>
                </a:tc>
                <a:tc>
                  <a:txBody>
                    <a:bodyPr wrap="square"/>
                    <a:lstStyle/>
                    <a:p>
                      <a:pPr algn="r"/>
                      <a:r>
                        <a:rPr sz="1000" b="0">
                          <a:solidFill>
                            <a:srgbClr val="D55E00"/>
                          </a:solidFill>
                          <a:latin typeface="Arial"/>
                        </a:rPr>
                        <a:t>30.3</a:t>
                      </a:r>
                    </a:p>
                  </a:txBody>
                  <a:tcPr marL="64008" marR="64008" marT="22860" marB="22860" anchor="ctr">
                    <a:solidFill>
                      <a:srgbClr val="EEF2F6"/>
                    </a:solidFill>
                  </a:tcPr>
                </a:tc>
                <a:tc>
                  <a:txBody>
                    <a:bodyPr wrap="square"/>
                    <a:lstStyle/>
                    <a:p>
                      <a:pPr algn="r"/>
                      <a:r>
                        <a:rPr sz="1000" b="0">
                          <a:solidFill>
                            <a:srgbClr val="22333F"/>
                          </a:solidFill>
                          <a:latin typeface="Arial"/>
                        </a:rPr>
                        <a:t>10.9</a:t>
                      </a:r>
                    </a:p>
                  </a:txBody>
                  <a:tcPr marL="64008" marR="64008" marT="22860" marB="22860" anchor="ctr">
                    <a:solidFill>
                      <a:srgbClr val="EEF2F6"/>
                    </a:solidFill>
                  </a:tcPr>
                </a:tc>
              </a:tr>
              <a:tr h="233172">
                <a:tc>
                  <a:txBody>
                    <a:bodyPr wrap="square"/>
                    <a:lstStyle/>
                    <a:p>
                      <a:pPr algn="l"/>
                      <a:r>
                        <a:rPr sz="1000" b="0">
                          <a:solidFill>
                            <a:srgbClr val="22333F"/>
                          </a:solidFill>
                          <a:latin typeface="Arial"/>
                        </a:rPr>
                        <a:t>Cross River</a:t>
                      </a:r>
                    </a:p>
                  </a:txBody>
                  <a:tcPr marL="64008" marR="64008" marT="22860" marB="22860" anchor="ctr">
                    <a:solidFill>
                      <a:srgbClr val="FFFFFF"/>
                    </a:solidFill>
                  </a:tcPr>
                </a:tc>
                <a:tc>
                  <a:txBody>
                    <a:bodyPr wrap="square"/>
                    <a:lstStyle/>
                    <a:p>
                      <a:pPr algn="r"/>
                      <a:r>
                        <a:rPr sz="1000" b="0">
                          <a:solidFill>
                            <a:srgbClr val="0072B2"/>
                          </a:solidFill>
                          <a:latin typeface="Arial"/>
                        </a:rPr>
                        <a:t>12,091</a:t>
                      </a:r>
                    </a:p>
                  </a:txBody>
                  <a:tcPr marL="64008" marR="64008" marT="22860" marB="22860" anchor="ctr">
                    <a:solidFill>
                      <a:srgbClr val="FFFFFF"/>
                    </a:solidFill>
                  </a:tcPr>
                </a:tc>
                <a:tc>
                  <a:txBody>
                    <a:bodyPr wrap="square"/>
                    <a:lstStyle/>
                    <a:p>
                      <a:pPr algn="r"/>
                      <a:r>
                        <a:rPr sz="1000" b="0">
                          <a:solidFill>
                            <a:srgbClr val="D55E00"/>
                          </a:solidFill>
                          <a:latin typeface="Arial"/>
                        </a:rPr>
                        <a:t>14,026</a:t>
                      </a:r>
                    </a:p>
                  </a:txBody>
                  <a:tcPr marL="64008" marR="64008" marT="22860" marB="22860" anchor="ctr">
                    <a:solidFill>
                      <a:srgbClr val="FFFFFF"/>
                    </a:solidFill>
                  </a:tcPr>
                </a:tc>
                <a:tc>
                  <a:txBody>
                    <a:bodyPr wrap="square"/>
                    <a:lstStyle/>
                    <a:p>
                      <a:pPr algn="r"/>
                      <a:r>
                        <a:rPr sz="1000" b="0">
                          <a:solidFill>
                            <a:srgbClr val="0072B2"/>
                          </a:solidFill>
                          <a:latin typeface="Arial"/>
                        </a:rPr>
                        <a:t>11.2</a:t>
                      </a:r>
                    </a:p>
                  </a:txBody>
                  <a:tcPr marL="64008" marR="64008" marT="22860" marB="22860" anchor="ctr">
                    <a:solidFill>
                      <a:srgbClr val="FFFFFF"/>
                    </a:solidFill>
                  </a:tcPr>
                </a:tc>
                <a:tc>
                  <a:txBody>
                    <a:bodyPr wrap="square"/>
                    <a:lstStyle/>
                    <a:p>
                      <a:pPr algn="r"/>
                      <a:r>
                        <a:rPr sz="1000" b="0">
                          <a:solidFill>
                            <a:srgbClr val="D55E00"/>
                          </a:solidFill>
                          <a:latin typeface="Arial"/>
                        </a:rPr>
                        <a:t>13.0</a:t>
                      </a:r>
                    </a:p>
                  </a:txBody>
                  <a:tcPr marL="64008" marR="64008" marT="22860" marB="22860" anchor="ctr">
                    <a:solidFill>
                      <a:srgbClr val="FFFFFF"/>
                    </a:solidFill>
                  </a:tcPr>
                </a:tc>
                <a:tc>
                  <a:txBody>
                    <a:bodyPr wrap="square"/>
                    <a:lstStyle/>
                    <a:p>
                      <a:pPr algn="r"/>
                      <a:r>
                        <a:rPr sz="1000" b="0">
                          <a:solidFill>
                            <a:srgbClr val="22333F"/>
                          </a:solidFill>
                          <a:latin typeface="Arial"/>
                        </a:rPr>
                        <a:t>5.3</a:t>
                      </a:r>
                    </a:p>
                  </a:txBody>
                  <a:tcPr marL="64008" marR="64008" marT="22860" marB="22860" anchor="ctr">
                    <a:solidFill>
                      <a:srgbClr val="FFFFFF"/>
                    </a:solidFill>
                  </a:tcPr>
                </a:tc>
              </a:tr>
              <a:tr h="233172">
                <a:tc>
                  <a:txBody>
                    <a:bodyPr wrap="square"/>
                    <a:lstStyle/>
                    <a:p>
                      <a:pPr algn="l"/>
                      <a:r>
                        <a:rPr sz="1000" b="0">
                          <a:solidFill>
                            <a:srgbClr val="22333F"/>
                          </a:solidFill>
                          <a:latin typeface="Arial"/>
                        </a:rPr>
                        <a:t>Ebonyi</a:t>
                      </a:r>
                    </a:p>
                  </a:txBody>
                  <a:tcPr marL="64008" marR="64008" marT="22860" marB="22860" anchor="ctr">
                    <a:solidFill>
                      <a:srgbClr val="EEF2F6"/>
                    </a:solidFill>
                  </a:tcPr>
                </a:tc>
                <a:tc>
                  <a:txBody>
                    <a:bodyPr wrap="square"/>
                    <a:lstStyle/>
                    <a:p>
                      <a:pPr algn="r"/>
                      <a:r>
                        <a:rPr sz="1000" b="0">
                          <a:solidFill>
                            <a:srgbClr val="0072B2"/>
                          </a:solidFill>
                          <a:latin typeface="Arial"/>
                        </a:rPr>
                        <a:t>7,637</a:t>
                      </a:r>
                    </a:p>
                  </a:txBody>
                  <a:tcPr marL="64008" marR="64008" marT="22860" marB="22860" anchor="ctr">
                    <a:solidFill>
                      <a:srgbClr val="EEF2F6"/>
                    </a:solidFill>
                  </a:tcPr>
                </a:tc>
                <a:tc>
                  <a:txBody>
                    <a:bodyPr wrap="square"/>
                    <a:lstStyle/>
                    <a:p>
                      <a:pPr algn="r"/>
                      <a:r>
                        <a:rPr sz="1000" b="0">
                          <a:solidFill>
                            <a:srgbClr val="D55E00"/>
                          </a:solidFill>
                          <a:latin typeface="Arial"/>
                        </a:rPr>
                        <a:t>7,496</a:t>
                      </a:r>
                    </a:p>
                  </a:txBody>
                  <a:tcPr marL="64008" marR="64008" marT="22860" marB="22860" anchor="ctr">
                    <a:solidFill>
                      <a:srgbClr val="EEF2F6"/>
                    </a:solidFill>
                  </a:tcPr>
                </a:tc>
                <a:tc>
                  <a:txBody>
                    <a:bodyPr wrap="square"/>
                    <a:lstStyle/>
                    <a:p>
                      <a:pPr algn="r"/>
                      <a:r>
                        <a:rPr sz="1000" b="0">
                          <a:solidFill>
                            <a:srgbClr val="0072B2"/>
                          </a:solidFill>
                          <a:latin typeface="Arial"/>
                        </a:rPr>
                        <a:t>6.7</a:t>
                      </a:r>
                    </a:p>
                  </a:txBody>
                  <a:tcPr marL="64008" marR="64008" marT="22860" marB="22860" anchor="ctr">
                    <a:solidFill>
                      <a:srgbClr val="EEF2F6"/>
                    </a:solidFill>
                  </a:tcPr>
                </a:tc>
                <a:tc>
                  <a:txBody>
                    <a:bodyPr wrap="square"/>
                    <a:lstStyle/>
                    <a:p>
                      <a:pPr algn="r"/>
                      <a:r>
                        <a:rPr sz="1000" b="0">
                          <a:solidFill>
                            <a:srgbClr val="D55E00"/>
                          </a:solidFill>
                          <a:latin typeface="Arial"/>
                        </a:rPr>
                        <a:t>6.6</a:t>
                      </a:r>
                    </a:p>
                  </a:txBody>
                  <a:tcPr marL="64008" marR="64008" marT="22860" marB="22860" anchor="ctr">
                    <a:solidFill>
                      <a:srgbClr val="EEF2F6"/>
                    </a:solidFill>
                  </a:tcPr>
                </a:tc>
                <a:tc>
                  <a:txBody>
                    <a:bodyPr wrap="square"/>
                    <a:lstStyle/>
                    <a:p>
                      <a:pPr algn="r"/>
                      <a:r>
                        <a:rPr sz="1000" b="0">
                          <a:solidFill>
                            <a:srgbClr val="22333F"/>
                          </a:solidFill>
                          <a:latin typeface="Arial"/>
                        </a:rPr>
                        <a:t>10.8</a:t>
                      </a:r>
                    </a:p>
                  </a:txBody>
                  <a:tcPr marL="64008" marR="64008" marT="22860" marB="22860" anchor="ctr">
                    <a:solidFill>
                      <a:srgbClr val="EEF2F6"/>
                    </a:solidFill>
                  </a:tcPr>
                </a:tc>
              </a:tr>
            </a:tbl>
          </a:graphicData>
        </a:graphic>
      </p:graphicFrame>
      <p:sp>
        <p:nvSpPr>
          <p:cNvPr id="6" name="TextBox 5"/>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Method 2: Bayesian small-area estimation (SAE). Children = modelled zero-dose children aged 12-23 months. NmDHS 2025-26 for reference.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National comparison and agreement with independent data</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Both methods match the new national survey; Method 2 agrees more closely with the independent IHME LGA map.</a:t>
            </a:r>
          </a:p>
        </p:txBody>
      </p:sp>
      <p:graphicFrame>
        <p:nvGraphicFramePr>
          <p:cNvPr id="4" name="Table 3"/>
          <p:cNvGraphicFramePr>
            <a:graphicFrameLocks noGrp="1"/>
          </p:cNvGraphicFramePr>
          <p:nvPr/>
        </p:nvGraphicFramePr>
        <p:xfrm>
          <a:off x="548640" y="1234440"/>
          <a:ext cx="6355078" cy="4480560"/>
        </p:xfrm>
        <a:graphic>
          <a:graphicData uri="http://schemas.openxmlformats.org/drawingml/2006/table">
            <a:tbl>
              <a:tblPr firstRow="1" bandRow="0">
                <a:tableStyleId>{2D5ABB26-0587-4C30-8999-92F81FD0307C}</a:tableStyleId>
              </a:tblPr>
              <a:tblGrid>
                <a:gridCol w="2606040"/>
                <a:gridCol w="1874519"/>
                <a:gridCol w="1874519"/>
              </a:tblGrid>
              <a:tr h="384048">
                <a:tc>
                  <a:txBody>
                    <a:bodyPr wrap="square"/>
                    <a:lstStyle/>
                    <a:p>
                      <a:pPr algn="l"/>
                      <a:r>
                        <a:rPr sz="1200" b="1">
                          <a:solidFill>
                            <a:srgbClr val="FFFFFF"/>
                          </a:solidFill>
                          <a:latin typeface="Arial"/>
                        </a:rPr>
                        <a:t>Measure</a:t>
                      </a:r>
                    </a:p>
                  </a:txBody>
                  <a:tcPr marL="64008" marR="64008" marT="22860" marB="22860" anchor="ctr">
                    <a:solidFill>
                      <a:srgbClr val="1F3B57"/>
                    </a:solidFill>
                  </a:tcPr>
                </a:tc>
                <a:tc>
                  <a:txBody>
                    <a:bodyPr wrap="square"/>
                    <a:lstStyle/>
                    <a:p>
                      <a:pPr algn="ctr"/>
                      <a:r>
                        <a:rPr sz="1200" b="1">
                          <a:solidFill>
                            <a:srgbClr val="FFFFFF"/>
                          </a:solidFill>
                          <a:latin typeface="Arial"/>
                        </a:rPr>
                        <a:t>Method 1</a:t>
                      </a:r>
                    </a:p>
                  </a:txBody>
                  <a:tcPr marL="64008" marR="64008" marT="22860" marB="22860" anchor="ctr">
                    <a:solidFill>
                      <a:srgbClr val="1F3B57"/>
                    </a:solidFill>
                  </a:tcPr>
                </a:tc>
                <a:tc>
                  <a:txBody>
                    <a:bodyPr wrap="square"/>
                    <a:lstStyle/>
                    <a:p>
                      <a:pPr algn="ctr"/>
                      <a:r>
                        <a:rPr sz="1200" b="1">
                          <a:solidFill>
                            <a:srgbClr val="FFFFFF"/>
                          </a:solidFill>
                          <a:latin typeface="Arial"/>
                        </a:rPr>
                        <a:t>Method 2 (SAE)</a:t>
                      </a:r>
                    </a:p>
                  </a:txBody>
                  <a:tcPr marL="64008" marR="64008" marT="22860" marB="22860" anchor="ctr">
                    <a:solidFill>
                      <a:srgbClr val="1F3B57"/>
                    </a:solidFill>
                  </a:tcPr>
                </a:tc>
              </a:tr>
              <a:tr h="512064">
                <a:tc>
                  <a:txBody>
                    <a:bodyPr wrap="square"/>
                    <a:lstStyle/>
                    <a:p>
                      <a:pPr algn="l"/>
                      <a:r>
                        <a:rPr sz="1200" b="0">
                          <a:solidFill>
                            <a:srgbClr val="22333F"/>
                          </a:solidFill>
                          <a:latin typeface="Arial"/>
                        </a:rPr>
                        <a:t>LGAs estimated</a:t>
                      </a:r>
                    </a:p>
                  </a:txBody>
                  <a:tcPr marL="64008" marR="64008" marT="22860" marB="22860" anchor="ctr">
                    <a:solidFill>
                      <a:srgbClr val="FFFFFF"/>
                    </a:solidFill>
                  </a:tcPr>
                </a:tc>
                <a:tc>
                  <a:txBody>
                    <a:bodyPr wrap="square"/>
                    <a:lstStyle/>
                    <a:p>
                      <a:pPr algn="ctr"/>
                      <a:r>
                        <a:rPr sz="1200" b="0">
                          <a:solidFill>
                            <a:srgbClr val="0072B2"/>
                          </a:solidFill>
                          <a:latin typeface="Arial"/>
                        </a:rPr>
                        <a:t>773</a:t>
                      </a:r>
                    </a:p>
                  </a:txBody>
                  <a:tcPr marL="64008" marR="64008" marT="22860" marB="22860" anchor="ctr">
                    <a:solidFill>
                      <a:srgbClr val="FFFFFF"/>
                    </a:solidFill>
                  </a:tcPr>
                </a:tc>
                <a:tc>
                  <a:txBody>
                    <a:bodyPr wrap="square"/>
                    <a:lstStyle/>
                    <a:p>
                      <a:pPr algn="ctr"/>
                      <a:r>
                        <a:rPr sz="1200" b="0">
                          <a:solidFill>
                            <a:srgbClr val="D55E00"/>
                          </a:solidFill>
                          <a:latin typeface="Arial"/>
                        </a:rPr>
                        <a:t>774</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Zero-dose children, 2026</a:t>
                      </a:r>
                    </a:p>
                    <a:p>
                      <a:pPr algn="l"/>
                      <a:r>
                        <a:rPr sz="1000" b="0">
                          <a:solidFill>
                            <a:srgbClr val="5C6B78"/>
                          </a:solidFill>
                          <a:latin typeface="Arial"/>
                        </a:rPr>
                        <a:t>(95% interval)</a:t>
                      </a:r>
                    </a:p>
                  </a:txBody>
                  <a:tcPr marL="64008" marR="64008" marT="22860" marB="22860" anchor="ctr">
                    <a:solidFill>
                      <a:srgbClr val="EEF2F6"/>
                    </a:solidFill>
                  </a:tcPr>
                </a:tc>
                <a:tc>
                  <a:txBody>
                    <a:bodyPr wrap="square"/>
                    <a:lstStyle/>
                    <a:p>
                      <a:pPr algn="ctr"/>
                      <a:r>
                        <a:rPr sz="1200" b="0">
                          <a:solidFill>
                            <a:srgbClr val="0072B2"/>
                          </a:solidFill>
                          <a:latin typeface="Arial"/>
                        </a:rPr>
                        <a:t>2.10 million</a:t>
                      </a:r>
                    </a:p>
                    <a:p>
                      <a:pPr algn="ctr"/>
                      <a:r>
                        <a:rPr sz="1000" b="0">
                          <a:solidFill>
                            <a:srgbClr val="0072B2"/>
                          </a:solidFill>
                          <a:latin typeface="Arial"/>
                        </a:rPr>
                        <a:t>(1.90 - 2.31)</a:t>
                      </a:r>
                    </a:p>
                  </a:txBody>
                  <a:tcPr marL="64008" marR="64008" marT="22860" marB="22860" anchor="ctr">
                    <a:solidFill>
                      <a:srgbClr val="EEF2F6"/>
                    </a:solidFill>
                  </a:tcPr>
                </a:tc>
                <a:tc>
                  <a:txBody>
                    <a:bodyPr wrap="square"/>
                    <a:lstStyle/>
                    <a:p>
                      <a:pPr algn="ctr"/>
                      <a:r>
                        <a:rPr sz="1200" b="0">
                          <a:solidFill>
                            <a:srgbClr val="D55E00"/>
                          </a:solidFill>
                          <a:latin typeface="Arial"/>
                        </a:rPr>
                        <a:t>2.15 million</a:t>
                      </a:r>
                    </a:p>
                    <a:p>
                      <a:pPr algn="ctr"/>
                      <a:r>
                        <a:rPr sz="1000" b="0">
                          <a:solidFill>
                            <a:srgbClr val="D55E00"/>
                          </a:solidFill>
                          <a:latin typeface="Arial"/>
                        </a:rPr>
                        <a:t>(1.86 - 2.46)</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National zero-dose rate</a:t>
                      </a:r>
                    </a:p>
                  </a:txBody>
                  <a:tcPr marL="64008" marR="64008" marT="22860" marB="22860" anchor="ctr">
                    <a:solidFill>
                      <a:srgbClr val="FFFFFF"/>
                    </a:solidFill>
                  </a:tcPr>
                </a:tc>
                <a:tc>
                  <a:txBody>
                    <a:bodyPr wrap="square"/>
                    <a:lstStyle/>
                    <a:p>
                      <a:pPr algn="ctr"/>
                      <a:r>
                        <a:rPr sz="1200" b="0">
                          <a:solidFill>
                            <a:srgbClr val="0072B2"/>
                          </a:solidFill>
                          <a:latin typeface="Arial"/>
                        </a:rPr>
                        <a:t>29.9%</a:t>
                      </a:r>
                    </a:p>
                  </a:txBody>
                  <a:tcPr marL="64008" marR="64008" marT="22860" marB="22860" anchor="ctr">
                    <a:solidFill>
                      <a:srgbClr val="FFFFFF"/>
                    </a:solidFill>
                  </a:tcPr>
                </a:tc>
                <a:tc>
                  <a:txBody>
                    <a:bodyPr wrap="square"/>
                    <a:lstStyle/>
                    <a:p>
                      <a:pPr algn="ctr"/>
                      <a:r>
                        <a:rPr sz="1200" b="0">
                          <a:solidFill>
                            <a:srgbClr val="D55E00"/>
                          </a:solidFill>
                          <a:latin typeface="Arial"/>
                        </a:rPr>
                        <a:t>30.6%</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NmDHS 2025-26, 37 states:</a:t>
                      </a:r>
                    </a:p>
                    <a:p>
                      <a:pPr algn="l"/>
                      <a:r>
                        <a:rPr sz="1000" b="0">
                          <a:solidFill>
                            <a:srgbClr val="5C6B78"/>
                          </a:solidFill>
                          <a:latin typeface="Arial"/>
                        </a:rPr>
                        <a:t>Spearman rho (95% CI)</a:t>
                      </a:r>
                    </a:p>
                  </a:txBody>
                  <a:tcPr marL="64008" marR="64008" marT="22860" marB="22860" anchor="ctr">
                    <a:solidFill>
                      <a:srgbClr val="EEF2F6"/>
                    </a:solidFill>
                  </a:tcPr>
                </a:tc>
                <a:tc>
                  <a:txBody>
                    <a:bodyPr wrap="square"/>
                    <a:lstStyle/>
                    <a:p>
                      <a:pPr algn="ctr"/>
                      <a:r>
                        <a:rPr sz="1200" b="0">
                          <a:solidFill>
                            <a:srgbClr val="0072B2"/>
                          </a:solidFill>
                          <a:latin typeface="Arial"/>
                        </a:rPr>
                        <a:t>0.89 (0.74 to 0.96)</a:t>
                      </a:r>
                    </a:p>
                  </a:txBody>
                  <a:tcPr marL="64008" marR="64008" marT="22860" marB="22860" anchor="ctr">
                    <a:solidFill>
                      <a:srgbClr val="EEF2F6"/>
                    </a:solidFill>
                  </a:tcPr>
                </a:tc>
                <a:tc>
                  <a:txBody>
                    <a:bodyPr wrap="square"/>
                    <a:lstStyle/>
                    <a:p>
                      <a:pPr algn="ctr"/>
                      <a:r>
                        <a:rPr sz="1200" b="0">
                          <a:solidFill>
                            <a:srgbClr val="D55E00"/>
                          </a:solidFill>
                          <a:latin typeface="Arial"/>
                        </a:rPr>
                        <a:t>0.87 (0.71 to 0.95)</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NmDHS 2025-26: mean absolute</a:t>
                      </a:r>
                    </a:p>
                    <a:p>
                      <a:pPr algn="l"/>
                      <a:r>
                        <a:rPr sz="1000" b="0">
                          <a:solidFill>
                            <a:srgbClr val="5C6B78"/>
                          </a:solidFill>
                          <a:latin typeface="Arial"/>
                        </a:rPr>
                        <a:t>error / bias, points</a:t>
                      </a:r>
                    </a:p>
                  </a:txBody>
                  <a:tcPr marL="64008" marR="64008" marT="22860" marB="22860" anchor="ctr">
                    <a:solidFill>
                      <a:srgbClr val="FFFFFF"/>
                    </a:solidFill>
                  </a:tcPr>
                </a:tc>
                <a:tc>
                  <a:txBody>
                    <a:bodyPr wrap="square"/>
                    <a:lstStyle/>
                    <a:p>
                      <a:pPr algn="ctr"/>
                      <a:r>
                        <a:rPr sz="1200" b="0">
                          <a:solidFill>
                            <a:srgbClr val="0072B2"/>
                          </a:solidFill>
                          <a:latin typeface="Arial"/>
                        </a:rPr>
                        <a:t>6.3 / -0.7</a:t>
                      </a:r>
                    </a:p>
                  </a:txBody>
                  <a:tcPr marL="64008" marR="64008" marT="22860" marB="22860" anchor="ctr">
                    <a:solidFill>
                      <a:srgbClr val="FFFFFF"/>
                    </a:solidFill>
                  </a:tcPr>
                </a:tc>
                <a:tc>
                  <a:txBody>
                    <a:bodyPr wrap="square"/>
                    <a:lstStyle/>
                    <a:p>
                      <a:pPr algn="ctr"/>
                      <a:r>
                        <a:rPr sz="1200" b="0">
                          <a:solidFill>
                            <a:srgbClr val="D55E00"/>
                          </a:solidFill>
                          <a:latin typeface="Arial"/>
                        </a:rPr>
                        <a:t>5.9 / +0.1</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IHME DTP1 2018, 743 LGAs:</a:t>
                      </a:r>
                    </a:p>
                    <a:p>
                      <a:pPr algn="l"/>
                      <a:r>
                        <a:rPr sz="1000" b="0">
                          <a:solidFill>
                            <a:srgbClr val="5C6B78"/>
                          </a:solidFill>
                          <a:latin typeface="Arial"/>
                        </a:rPr>
                        <a:t>Spearman rho (95% CI)</a:t>
                      </a:r>
                    </a:p>
                  </a:txBody>
                  <a:tcPr marL="64008" marR="64008" marT="22860" marB="22860" anchor="ctr">
                    <a:solidFill>
                      <a:srgbClr val="EEF2F6"/>
                    </a:solidFill>
                  </a:tcPr>
                </a:tc>
                <a:tc>
                  <a:txBody>
                    <a:bodyPr wrap="square"/>
                    <a:lstStyle/>
                    <a:p>
                      <a:pPr algn="ctr"/>
                      <a:r>
                        <a:rPr sz="1200" b="0">
                          <a:solidFill>
                            <a:srgbClr val="0072B2"/>
                          </a:solidFill>
                          <a:latin typeface="Arial"/>
                        </a:rPr>
                        <a:t>0.65 (0.60 to 0.70)</a:t>
                      </a:r>
                    </a:p>
                  </a:txBody>
                  <a:tcPr marL="64008" marR="64008" marT="22860" marB="22860" anchor="ctr">
                    <a:solidFill>
                      <a:srgbClr val="EEF2F6"/>
                    </a:solidFill>
                  </a:tcPr>
                </a:tc>
                <a:tc>
                  <a:txBody>
                    <a:bodyPr wrap="square"/>
                    <a:lstStyle/>
                    <a:p>
                      <a:pPr algn="ctr"/>
                      <a:r>
                        <a:rPr sz="1200" b="0">
                          <a:solidFill>
                            <a:srgbClr val="D55E00"/>
                          </a:solidFill>
                          <a:latin typeface="Arial"/>
                        </a:rPr>
                        <a:t>0.89 (0.87 to 0.90)</a:t>
                      </a:r>
                    </a:p>
                  </a:txBody>
                  <a:tcPr marL="64008" marR="64008" marT="22860" marB="22860" anchor="ctr">
                    <a:solidFill>
                      <a:srgbClr val="EEF2F6"/>
                    </a:solidFill>
                  </a:tcPr>
                </a:tc>
              </a:tr>
              <a:tr h="512064">
                <a:tc>
                  <a:txBody>
                    <a:bodyPr wrap="square"/>
                    <a:lstStyle/>
                    <a:p>
                      <a:pPr algn="l"/>
                      <a:r>
                        <a:rPr sz="1200" b="0">
                          <a:solidFill>
                            <a:srgbClr val="22333F"/>
                          </a:solidFill>
                          <a:latin typeface="Arial"/>
                        </a:rPr>
                        <a:t>IHME within states:</a:t>
                      </a:r>
                    </a:p>
                    <a:p>
                      <a:pPr algn="l"/>
                      <a:r>
                        <a:rPr sz="1000" b="0">
                          <a:solidFill>
                            <a:srgbClr val="5C6B78"/>
                          </a:solidFill>
                          <a:latin typeface="Arial"/>
                        </a:rPr>
                        <a:t>Spearman rho (95% CI)</a:t>
                      </a:r>
                    </a:p>
                  </a:txBody>
                  <a:tcPr marL="64008" marR="64008" marT="22860" marB="22860" anchor="ctr">
                    <a:solidFill>
                      <a:srgbClr val="FFFFFF"/>
                    </a:solidFill>
                  </a:tcPr>
                </a:tc>
                <a:tc>
                  <a:txBody>
                    <a:bodyPr wrap="square"/>
                    <a:lstStyle/>
                    <a:p>
                      <a:pPr algn="ctr"/>
                      <a:r>
                        <a:rPr sz="1200" b="0">
                          <a:solidFill>
                            <a:srgbClr val="0072B2"/>
                          </a:solidFill>
                          <a:latin typeface="Arial"/>
                        </a:rPr>
                        <a:t>0.08 (0.00 to 0.15)</a:t>
                      </a:r>
                    </a:p>
                  </a:txBody>
                  <a:tcPr marL="64008" marR="64008" marT="22860" marB="22860" anchor="ctr">
                    <a:solidFill>
                      <a:srgbClr val="FFFFFF"/>
                    </a:solidFill>
                  </a:tcPr>
                </a:tc>
                <a:tc>
                  <a:txBody>
                    <a:bodyPr wrap="square"/>
                    <a:lstStyle/>
                    <a:p>
                      <a:pPr algn="ctr"/>
                      <a:r>
                        <a:rPr sz="1200" b="0">
                          <a:solidFill>
                            <a:srgbClr val="D55E00"/>
                          </a:solidFill>
                          <a:latin typeface="Arial"/>
                        </a:rPr>
                        <a:t>0.54 (0.48 to 0.59)</a:t>
                      </a:r>
                    </a:p>
                  </a:txBody>
                  <a:tcPr marL="64008" marR="64008" marT="22860" marB="22860" anchor="ctr">
                    <a:solidFill>
                      <a:srgbClr val="FFFFFF"/>
                    </a:solidFill>
                  </a:tcPr>
                </a:tc>
              </a:tr>
              <a:tr h="512064">
                <a:tc>
                  <a:txBody>
                    <a:bodyPr wrap="square"/>
                    <a:lstStyle/>
                    <a:p>
                      <a:pPr algn="l"/>
                      <a:r>
                        <a:rPr sz="1200" b="0">
                          <a:solidFill>
                            <a:srgbClr val="22333F"/>
                          </a:solidFill>
                          <a:latin typeface="Arial"/>
                        </a:rPr>
                        <a:t>States with positive</a:t>
                      </a:r>
                    </a:p>
                    <a:p>
                      <a:pPr algn="l"/>
                      <a:r>
                        <a:rPr sz="1000" b="0">
                          <a:solidFill>
                            <a:srgbClr val="5C6B78"/>
                          </a:solidFill>
                          <a:latin typeface="Arial"/>
                        </a:rPr>
                        <a:t>within-state agreement</a:t>
                      </a:r>
                    </a:p>
                  </a:txBody>
                  <a:tcPr marL="64008" marR="64008" marT="22860" marB="22860" anchor="ctr">
                    <a:solidFill>
                      <a:srgbClr val="EEF2F6"/>
                    </a:solidFill>
                  </a:tcPr>
                </a:tc>
                <a:tc>
                  <a:txBody>
                    <a:bodyPr wrap="square"/>
                    <a:lstStyle/>
                    <a:p>
                      <a:pPr algn="ctr"/>
                      <a:r>
                        <a:rPr sz="1200" b="0">
                          <a:solidFill>
                            <a:srgbClr val="0072B2"/>
                          </a:solidFill>
                          <a:latin typeface="Arial"/>
                        </a:rPr>
                        <a:t>22 of 37</a:t>
                      </a:r>
                    </a:p>
                  </a:txBody>
                  <a:tcPr marL="64008" marR="64008" marT="22860" marB="22860" anchor="ctr">
                    <a:solidFill>
                      <a:srgbClr val="EEF2F6"/>
                    </a:solidFill>
                  </a:tcPr>
                </a:tc>
                <a:tc>
                  <a:txBody>
                    <a:bodyPr wrap="square"/>
                    <a:lstStyle/>
                    <a:p>
                      <a:pPr algn="ctr"/>
                      <a:r>
                        <a:rPr sz="1200" b="0">
                          <a:solidFill>
                            <a:srgbClr val="D55E00"/>
                          </a:solidFill>
                          <a:latin typeface="Arial"/>
                        </a:rPr>
                        <a:t>36 of 37</a:t>
                      </a:r>
                    </a:p>
                  </a:txBody>
                  <a:tcPr marL="64008" marR="64008" marT="22860" marB="22860" anchor="ctr">
                    <a:solidFill>
                      <a:srgbClr val="EEF2F6"/>
                    </a:solidFill>
                  </a:tcPr>
                </a:tc>
              </a:tr>
            </a:tbl>
          </a:graphicData>
        </a:graphic>
      </p:graphicFrame>
      <p:pic>
        <p:nvPicPr>
          <p:cNvPr id="5" name="Picture 4" descr="C_03_agreement_independent_data.png"/>
          <p:cNvPicPr>
            <a:picLocks noChangeAspect="1"/>
          </p:cNvPicPr>
          <p:nvPr/>
        </p:nvPicPr>
        <p:blipFill>
          <a:blip r:embed="rId2"/>
          <a:stretch>
            <a:fillRect/>
          </a:stretch>
        </p:blipFill>
        <p:spPr>
          <a:xfrm>
            <a:off x="7132320" y="1234440"/>
            <a:ext cx="4507992" cy="1862751"/>
          </a:xfrm>
          <a:prstGeom prst="rect">
            <a:avLst/>
          </a:prstGeom>
        </p:spPr>
      </p:pic>
      <p:sp>
        <p:nvSpPr>
          <p:cNvPr id="6" name="Rectangle 5"/>
          <p:cNvSpPr/>
          <p:nvPr/>
        </p:nvSpPr>
        <p:spPr>
          <a:xfrm>
            <a:off x="7132320" y="3794760"/>
            <a:ext cx="4507992" cy="22402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78624" y="3886200"/>
            <a:ext cx="4215383" cy="2057400"/>
          </a:xfrm>
          <a:prstGeom prst="rect">
            <a:avLst/>
          </a:prstGeom>
          <a:noFill/>
        </p:spPr>
        <p:txBody>
          <a:bodyPr wrap="square" lIns="0" rIns="0" tIns="0" bIns="0" anchor="t">
            <a:spAutoFit/>
          </a:bodyPr>
          <a:lstStyle/>
          <a:p>
            <a:pPr algn="l"/>
            <a:r>
              <a:rPr sz="1200" b="1" i="0">
                <a:solidFill>
                  <a:srgbClr val="1F3B57"/>
                </a:solidFill>
                <a:latin typeface="Arial"/>
              </a:rPr>
              <a:t>How to read this. </a:t>
            </a:r>
            <a:r>
              <a:rPr sz="1200" b="0" i="0">
                <a:solidFill>
                  <a:srgbClr val="22333F"/>
                </a:solidFill>
                <a:latin typeface="Arial"/>
              </a:rPr>
              <a:t>Both methods rank states almost identically against NmDHS 2025-26, which neither model used. At LGA level, Method 2 agrees far more closely with the independent IHME map, above all within states, where Method 1 follows routine reporting patterns. 107 of the top 155 LGAs are shared by both methods.</a:t>
            </a:r>
          </a:p>
        </p:txBody>
      </p:sp>
      <p:sp>
        <p:nvSpPr>
          <p:cNvPr id="8" name="TextBox 7"/>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rho = Spearman rank correlation; 95% CI from 2,000 bootstrap resamples. All p &lt; 0.001 except Method 1 within states (p = 0.03). IHME = Institute for Health Metrics and Evaluation Local Burden of Disease DTP1, 2018 (zero-dose = 100 - DTP1).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LGAs needed to reach 50, 60 and 80 percent of the burden</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Burden concentration under both methods, ranking LGAs from highest to lowest modelled burden.</a:t>
            </a:r>
          </a:p>
        </p:txBody>
      </p:sp>
      <p:pic>
        <p:nvPicPr>
          <p:cNvPr id="4" name="Picture 3" descr="C_04_pareto_both_methods.png"/>
          <p:cNvPicPr>
            <a:picLocks noChangeAspect="1"/>
          </p:cNvPicPr>
          <p:nvPr/>
        </p:nvPicPr>
        <p:blipFill>
          <a:blip r:embed="rId2"/>
          <a:stretch>
            <a:fillRect/>
          </a:stretch>
        </p:blipFill>
        <p:spPr>
          <a:xfrm>
            <a:off x="548640" y="1234440"/>
            <a:ext cx="6720840" cy="4051058"/>
          </a:xfrm>
          <a:prstGeom prst="rect">
            <a:avLst/>
          </a:prstGeom>
        </p:spPr>
      </p:pic>
      <p:graphicFrame>
        <p:nvGraphicFramePr>
          <p:cNvPr id="5" name="Table 4"/>
          <p:cNvGraphicFramePr>
            <a:graphicFrameLocks noGrp="1"/>
          </p:cNvGraphicFramePr>
          <p:nvPr/>
        </p:nvGraphicFramePr>
        <p:xfrm>
          <a:off x="7406640" y="1234440"/>
          <a:ext cx="4261104" cy="2487168"/>
        </p:xfrm>
        <a:graphic>
          <a:graphicData uri="http://schemas.openxmlformats.org/drawingml/2006/table">
            <a:tbl>
              <a:tblPr firstRow="1" bandRow="0">
                <a:tableStyleId>{2D5ABB26-0587-4C30-8999-92F81FD0307C}</a:tableStyleId>
              </a:tblPr>
              <a:tblGrid>
                <a:gridCol w="1481328"/>
                <a:gridCol w="1389888"/>
                <a:gridCol w="1389888"/>
              </a:tblGrid>
              <a:tr h="566928">
                <a:tc>
                  <a:txBody>
                    <a:bodyPr wrap="square"/>
                    <a:lstStyle/>
                    <a:p>
                      <a:pPr algn="l"/>
                      <a:r>
                        <a:rPr sz="1050" b="1">
                          <a:solidFill>
                            <a:srgbClr val="FFFFFF"/>
                          </a:solidFill>
                          <a:latin typeface="Arial"/>
                        </a:rPr>
                        <a:t>Share of</a:t>
                      </a:r>
                    </a:p>
                    <a:p>
                      <a:pPr algn="l"/>
                      <a:r>
                        <a:rPr sz="1050" b="1">
                          <a:solidFill>
                            <a:srgbClr val="FFFFFF"/>
                          </a:solidFill>
                          <a:latin typeface="Arial"/>
                        </a:rPr>
                        <a:t>zero-dose children</a:t>
                      </a:r>
                    </a:p>
                  </a:txBody>
                  <a:tcPr marL="64008" marR="64008" marT="22860" marB="22860" anchor="ctr">
                    <a:solidFill>
                      <a:srgbClr val="1F3B57"/>
                    </a:solidFill>
                  </a:tcPr>
                </a:tc>
                <a:tc>
                  <a:txBody>
                    <a:bodyPr wrap="square"/>
                    <a:lstStyle/>
                    <a:p>
                      <a:pPr algn="ctr"/>
                      <a:r>
                        <a:rPr sz="1050" b="1">
                          <a:solidFill>
                            <a:srgbClr val="FFFFFF"/>
                          </a:solidFill>
                          <a:latin typeface="Arial"/>
                        </a:rPr>
                        <a:t>Method 1</a:t>
                      </a:r>
                    </a:p>
                    <a:p>
                      <a:pPr algn="ctr"/>
                      <a:r>
                        <a:rPr sz="1050" b="1">
                          <a:solidFill>
                            <a:srgbClr val="FFFFFF"/>
                          </a:solidFill>
                          <a:latin typeface="Arial"/>
                        </a:rPr>
                        <a:t>LGAs (% of LGAs)</a:t>
                      </a:r>
                    </a:p>
                  </a:txBody>
                  <a:tcPr marL="64008" marR="64008" marT="22860" marB="22860" anchor="ctr">
                    <a:solidFill>
                      <a:srgbClr val="1F3B57"/>
                    </a:solidFill>
                  </a:tcPr>
                </a:tc>
                <a:tc>
                  <a:txBody>
                    <a:bodyPr wrap="square"/>
                    <a:lstStyle/>
                    <a:p>
                      <a:pPr algn="ctr"/>
                      <a:r>
                        <a:rPr sz="1050" b="1">
                          <a:solidFill>
                            <a:srgbClr val="FFFFFF"/>
                          </a:solidFill>
                          <a:latin typeface="Arial"/>
                        </a:rPr>
                        <a:t>Method 2</a:t>
                      </a:r>
                    </a:p>
                    <a:p>
                      <a:pPr algn="ctr"/>
                      <a:r>
                        <a:rPr sz="1050" b="1">
                          <a:solidFill>
                            <a:srgbClr val="FFFFFF"/>
                          </a:solidFill>
                          <a:latin typeface="Arial"/>
                        </a:rPr>
                        <a:t>LGAs (% of LGAs)</a:t>
                      </a:r>
                    </a:p>
                  </a:txBody>
                  <a:tcPr marL="64008" marR="64008" marT="22860" marB="22860" anchor="ctr">
                    <a:solidFill>
                      <a:srgbClr val="1F3B57"/>
                    </a:solidFill>
                  </a:tcPr>
                </a:tc>
              </a:tr>
              <a:tr h="438912">
                <a:tc>
                  <a:txBody>
                    <a:bodyPr wrap="square"/>
                    <a:lstStyle/>
                    <a:p>
                      <a:pPr algn="l"/>
                      <a:r>
                        <a:rPr sz="1300" b="1">
                          <a:solidFill>
                            <a:srgbClr val="22333F"/>
                          </a:solidFill>
                          <a:latin typeface="Arial"/>
                        </a:rPr>
                        <a:t>50%</a:t>
                      </a:r>
                    </a:p>
                  </a:txBody>
                  <a:tcPr marL="64008" marR="64008" marT="22860" marB="22860" anchor="ctr">
                    <a:solidFill>
                      <a:srgbClr val="FFFFFF"/>
                    </a:solidFill>
                  </a:tcPr>
                </a:tc>
                <a:tc>
                  <a:txBody>
                    <a:bodyPr wrap="square"/>
                    <a:lstStyle/>
                    <a:p>
                      <a:pPr algn="ctr"/>
                      <a:r>
                        <a:rPr sz="1300" b="1">
                          <a:solidFill>
                            <a:srgbClr val="0072B2"/>
                          </a:solidFill>
                          <a:latin typeface="Arial"/>
                        </a:rPr>
                        <a:t>151 (20%)</a:t>
                      </a:r>
                    </a:p>
                  </a:txBody>
                  <a:tcPr marL="64008" marR="64008" marT="22860" marB="22860" anchor="ctr">
                    <a:solidFill>
                      <a:srgbClr val="FFFFFF"/>
                    </a:solidFill>
                  </a:tcPr>
                </a:tc>
                <a:tc>
                  <a:txBody>
                    <a:bodyPr wrap="square"/>
                    <a:lstStyle/>
                    <a:p>
                      <a:pPr algn="ctr"/>
                      <a:r>
                        <a:rPr sz="1300" b="1">
                          <a:solidFill>
                            <a:srgbClr val="D55E00"/>
                          </a:solidFill>
                          <a:latin typeface="Arial"/>
                        </a:rPr>
                        <a:t>138 (18%)</a:t>
                      </a:r>
                    </a:p>
                  </a:txBody>
                  <a:tcPr marL="64008" marR="64008" marT="22860" marB="22860" anchor="ctr">
                    <a:solidFill>
                      <a:srgbClr val="FFFFFF"/>
                    </a:solidFill>
                  </a:tcPr>
                </a:tc>
              </a:tr>
              <a:tr h="438912">
                <a:tc>
                  <a:txBody>
                    <a:bodyPr wrap="square"/>
                    <a:lstStyle/>
                    <a:p>
                      <a:pPr algn="l"/>
                      <a:r>
                        <a:rPr sz="1300" b="1">
                          <a:solidFill>
                            <a:srgbClr val="22333F"/>
                          </a:solidFill>
                          <a:latin typeface="Arial"/>
                        </a:rPr>
                        <a:t>60%</a:t>
                      </a:r>
                    </a:p>
                  </a:txBody>
                  <a:tcPr marL="64008" marR="64008" marT="22860" marB="22860" anchor="ctr">
                    <a:solidFill>
                      <a:srgbClr val="EEF2F6"/>
                    </a:solidFill>
                  </a:tcPr>
                </a:tc>
                <a:tc>
                  <a:txBody>
                    <a:bodyPr wrap="square"/>
                    <a:lstStyle/>
                    <a:p>
                      <a:pPr algn="ctr"/>
                      <a:r>
                        <a:rPr sz="1300" b="1">
                          <a:solidFill>
                            <a:srgbClr val="0072B2"/>
                          </a:solidFill>
                          <a:latin typeface="Arial"/>
                        </a:rPr>
                        <a:t>199 (26%)</a:t>
                      </a:r>
                    </a:p>
                  </a:txBody>
                  <a:tcPr marL="64008" marR="64008" marT="22860" marB="22860" anchor="ctr">
                    <a:solidFill>
                      <a:srgbClr val="EEF2F6"/>
                    </a:solidFill>
                  </a:tcPr>
                </a:tc>
                <a:tc>
                  <a:txBody>
                    <a:bodyPr wrap="square"/>
                    <a:lstStyle/>
                    <a:p>
                      <a:pPr algn="ctr"/>
                      <a:r>
                        <a:rPr sz="1300" b="1">
                          <a:solidFill>
                            <a:srgbClr val="D55E00"/>
                          </a:solidFill>
                          <a:latin typeface="Arial"/>
                        </a:rPr>
                        <a:t>181 (23%)</a:t>
                      </a:r>
                    </a:p>
                  </a:txBody>
                  <a:tcPr marL="64008" marR="64008" marT="22860" marB="22860" anchor="ctr">
                    <a:solidFill>
                      <a:srgbClr val="EEF2F6"/>
                    </a:solidFill>
                  </a:tcPr>
                </a:tc>
              </a:tr>
              <a:tr h="438912">
                <a:tc>
                  <a:txBody>
                    <a:bodyPr wrap="square"/>
                    <a:lstStyle/>
                    <a:p>
                      <a:pPr algn="l"/>
                      <a:r>
                        <a:rPr sz="1300" b="1">
                          <a:solidFill>
                            <a:srgbClr val="22333F"/>
                          </a:solidFill>
                          <a:latin typeface="Arial"/>
                        </a:rPr>
                        <a:t>80%</a:t>
                      </a:r>
                    </a:p>
                  </a:txBody>
                  <a:tcPr marL="64008" marR="64008" marT="22860" marB="22860" anchor="ctr">
                    <a:solidFill>
                      <a:srgbClr val="FFFFFF"/>
                    </a:solidFill>
                  </a:tcPr>
                </a:tc>
                <a:tc>
                  <a:txBody>
                    <a:bodyPr wrap="square"/>
                    <a:lstStyle/>
                    <a:p>
                      <a:pPr algn="ctr"/>
                      <a:r>
                        <a:rPr sz="1300" b="1">
                          <a:solidFill>
                            <a:srgbClr val="0072B2"/>
                          </a:solidFill>
                          <a:latin typeface="Arial"/>
                        </a:rPr>
                        <a:t>342 (44%)</a:t>
                      </a:r>
                    </a:p>
                  </a:txBody>
                  <a:tcPr marL="64008" marR="64008" marT="22860" marB="22860" anchor="ctr">
                    <a:solidFill>
                      <a:srgbClr val="FFFFFF"/>
                    </a:solidFill>
                  </a:tcPr>
                </a:tc>
                <a:tc>
                  <a:txBody>
                    <a:bodyPr wrap="square"/>
                    <a:lstStyle/>
                    <a:p>
                      <a:pPr algn="ctr"/>
                      <a:r>
                        <a:rPr sz="1300" b="1">
                          <a:solidFill>
                            <a:srgbClr val="D55E00"/>
                          </a:solidFill>
                          <a:latin typeface="Arial"/>
                        </a:rPr>
                        <a:t>319 (41%)</a:t>
                      </a:r>
                    </a:p>
                  </a:txBody>
                  <a:tcPr marL="64008" marR="64008" marT="22860" marB="22860" anchor="ctr">
                    <a:solidFill>
                      <a:srgbClr val="FFFFFF"/>
                    </a:solidFill>
                  </a:tcPr>
                </a:tc>
              </a:tr>
              <a:tr h="603504">
                <a:tc>
                  <a:txBody>
                    <a:bodyPr wrap="square"/>
                    <a:lstStyle/>
                    <a:p>
                      <a:pPr algn="l"/>
                      <a:r>
                        <a:rPr sz="1300" b="0">
                          <a:solidFill>
                            <a:srgbClr val="22333F"/>
                          </a:solidFill>
                          <a:latin typeface="Arial"/>
                        </a:rPr>
                        <a:t>Held by top 155</a:t>
                      </a:r>
                    </a:p>
                    <a:p>
                      <a:pPr algn="l"/>
                      <a:r>
                        <a:rPr sz="1100" b="0">
                          <a:solidFill>
                            <a:srgbClr val="5C6B78"/>
                          </a:solidFill>
                          <a:latin typeface="Arial"/>
                        </a:rPr>
                        <a:t>(20% of LGAs)</a:t>
                      </a:r>
                    </a:p>
                  </a:txBody>
                  <a:tcPr marL="64008" marR="64008" marT="22860" marB="22860" anchor="ctr">
                    <a:solidFill>
                      <a:srgbClr val="EEF2F6"/>
                    </a:solidFill>
                  </a:tcPr>
                </a:tc>
                <a:tc>
                  <a:txBody>
                    <a:bodyPr wrap="square"/>
                    <a:lstStyle/>
                    <a:p>
                      <a:pPr algn="ctr"/>
                      <a:r>
                        <a:rPr sz="1300" b="0">
                          <a:solidFill>
                            <a:srgbClr val="0072B2"/>
                          </a:solidFill>
                          <a:latin typeface="Arial"/>
                        </a:rPr>
                        <a:t>50.9%</a:t>
                      </a:r>
                    </a:p>
                    <a:p>
                      <a:pPr algn="ctr"/>
                      <a:r>
                        <a:rPr sz="1100" b="0">
                          <a:solidFill>
                            <a:srgbClr val="0072B2"/>
                          </a:solidFill>
                          <a:latin typeface="Arial"/>
                        </a:rPr>
                        <a:t>(46.9 - 54.7)</a:t>
                      </a:r>
                    </a:p>
                  </a:txBody>
                  <a:tcPr marL="64008" marR="64008" marT="22860" marB="22860" anchor="ctr">
                    <a:solidFill>
                      <a:srgbClr val="EEF2F6"/>
                    </a:solidFill>
                  </a:tcPr>
                </a:tc>
                <a:tc>
                  <a:txBody>
                    <a:bodyPr wrap="square"/>
                    <a:lstStyle/>
                    <a:p>
                      <a:pPr algn="ctr"/>
                      <a:r>
                        <a:rPr sz="1300" b="0">
                          <a:solidFill>
                            <a:srgbClr val="D55E00"/>
                          </a:solidFill>
                          <a:latin typeface="Arial"/>
                        </a:rPr>
                        <a:t>54.2%</a:t>
                      </a:r>
                    </a:p>
                    <a:p>
                      <a:pPr algn="ctr"/>
                      <a:r>
                        <a:rPr sz="1100" b="0">
                          <a:solidFill>
                            <a:srgbClr val="D55E00"/>
                          </a:solidFill>
                          <a:latin typeface="Arial"/>
                        </a:rPr>
                        <a:t>(49.6 - 58.6)</a:t>
                      </a:r>
                    </a:p>
                  </a:txBody>
                  <a:tcPr marL="64008" marR="64008" marT="22860" marB="22860" anchor="ctr">
                    <a:solidFill>
                      <a:srgbClr val="EEF2F6"/>
                    </a:solidFill>
                  </a:tcPr>
                </a:tc>
              </a:tr>
            </a:tbl>
          </a:graphicData>
        </a:graphic>
      </p:graphicFrame>
      <p:sp>
        <p:nvSpPr>
          <p:cNvPr id="6" name="Rectangle 5"/>
          <p:cNvSpPr/>
          <p:nvPr/>
        </p:nvSpPr>
        <p:spPr>
          <a:xfrm>
            <a:off x="7406640" y="3977639"/>
            <a:ext cx="4233672" cy="205740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52944" y="4069079"/>
            <a:ext cx="3941063" cy="1874519"/>
          </a:xfrm>
          <a:prstGeom prst="rect">
            <a:avLst/>
          </a:prstGeom>
          <a:noFill/>
        </p:spPr>
        <p:txBody>
          <a:bodyPr wrap="square" lIns="0" rIns="0" tIns="0" bIns="0" anchor="t">
            <a:spAutoFit/>
          </a:bodyPr>
          <a:lstStyle/>
          <a:p>
            <a:pPr algn="l"/>
            <a:r>
              <a:rPr sz="1250" b="1" i="0">
                <a:solidFill>
                  <a:srgbClr val="1F3B57"/>
                </a:solidFill>
                <a:latin typeface="Arial"/>
              </a:rPr>
              <a:t>Planning rule of thumb. </a:t>
            </a:r>
            <a:r>
              <a:rPr sz="1250" b="0" i="0">
                <a:solidFill>
                  <a:srgbClr val="22333F"/>
                </a:solidFill>
                <a:latin typeface="Arial"/>
              </a:rPr>
              <a:t>About 140 to 150 LGAs reach half of all zero-dose children, about 180 to 200 reach 60 percent, and 320 to 340 reach 80 percent, whichever method is used. Method 2 is slightly more concentrated.</a:t>
            </a:r>
          </a:p>
        </p:txBody>
      </p:sp>
      <p:sp>
        <p:nvSpPr>
          <p:cNvPr id="8" name="TextBox 7"/>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(773 LGAs); Method 2: Bayesian small-area estimation (SAE) (774 LGAs). Method 2 band = 95% credible interval of the cumulative share.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Where the two methods agree and differ at LGA level</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Strong agreement overall; differences where routine reporting is out of line with population.</a:t>
            </a:r>
          </a:p>
        </p:txBody>
      </p:sp>
      <p:pic>
        <p:nvPicPr>
          <p:cNvPr id="4" name="Picture 3" descr="C_05_lga_scatter.png"/>
          <p:cNvPicPr>
            <a:picLocks noChangeAspect="1"/>
          </p:cNvPicPr>
          <p:nvPr/>
        </p:nvPicPr>
        <p:blipFill>
          <a:blip r:embed="rId2"/>
          <a:stretch>
            <a:fillRect/>
          </a:stretch>
        </p:blipFill>
        <p:spPr>
          <a:xfrm>
            <a:off x="548640" y="1234440"/>
            <a:ext cx="7589520" cy="3499772"/>
          </a:xfrm>
          <a:prstGeom prst="rect">
            <a:avLst/>
          </a:prstGeom>
        </p:spPr>
      </p:pic>
      <p:sp>
        <p:nvSpPr>
          <p:cNvPr id="5" name="Rectangle 4"/>
          <p:cNvSpPr/>
          <p:nvPr/>
        </p:nvSpPr>
        <p:spPr>
          <a:xfrm>
            <a:off x="8366760" y="1234440"/>
            <a:ext cx="3273552" cy="16916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344168"/>
            <a:ext cx="2907792" cy="566928"/>
          </a:xfrm>
          <a:prstGeom prst="rect">
            <a:avLst/>
          </a:prstGeom>
          <a:noFill/>
        </p:spPr>
        <p:txBody>
          <a:bodyPr wrap="square" lIns="0" rIns="0" tIns="0" bIns="0" anchor="t">
            <a:spAutoFit/>
          </a:bodyPr>
          <a:lstStyle/>
          <a:p>
            <a:pPr algn="l"/>
            <a:r>
              <a:rPr sz="3000" b="1" i="0">
                <a:solidFill>
                  <a:srgbClr val="1F3B57"/>
                </a:solidFill>
                <a:latin typeface="Arial"/>
              </a:rPr>
              <a:t>rho = 0.75</a:t>
            </a:r>
          </a:p>
        </p:txBody>
      </p:sp>
      <p:sp>
        <p:nvSpPr>
          <p:cNvPr id="7" name="TextBox 6"/>
          <p:cNvSpPr txBox="1"/>
          <p:nvPr/>
        </p:nvSpPr>
        <p:spPr>
          <a:xfrm>
            <a:off x="8549640" y="1820418"/>
            <a:ext cx="2907792" cy="941070"/>
          </a:xfrm>
          <a:prstGeom prst="rect">
            <a:avLst/>
          </a:prstGeom>
          <a:noFill/>
        </p:spPr>
        <p:txBody>
          <a:bodyPr wrap="square" lIns="0" rIns="0" tIns="0" bIns="0" anchor="t">
            <a:spAutoFit/>
          </a:bodyPr>
          <a:lstStyle/>
          <a:p>
            <a:pPr algn="l"/>
            <a:r>
              <a:rPr sz="1200" b="1" i="0">
                <a:solidFill>
                  <a:srgbClr val="1F3B57"/>
                </a:solidFill>
                <a:latin typeface="Arial"/>
              </a:rPr>
              <a:t>rank agreement in zero-dose children across 773 LGAs</a:t>
            </a:r>
          </a:p>
        </p:txBody>
      </p:sp>
      <p:sp>
        <p:nvSpPr>
          <p:cNvPr id="8" name="Rectangle 7"/>
          <p:cNvSpPr/>
          <p:nvPr/>
        </p:nvSpPr>
        <p:spPr>
          <a:xfrm>
            <a:off x="8366760" y="3063240"/>
            <a:ext cx="3273552" cy="16916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9640" y="3172968"/>
            <a:ext cx="2907792" cy="566928"/>
          </a:xfrm>
          <a:prstGeom prst="rect">
            <a:avLst/>
          </a:prstGeom>
          <a:noFill/>
        </p:spPr>
        <p:txBody>
          <a:bodyPr wrap="square" lIns="0" rIns="0" tIns="0" bIns="0" anchor="t">
            <a:spAutoFit/>
          </a:bodyPr>
          <a:lstStyle/>
          <a:p>
            <a:pPr algn="l"/>
            <a:r>
              <a:rPr sz="3000" b="1" i="0">
                <a:solidFill>
                  <a:srgbClr val="1C7A3D"/>
                </a:solidFill>
                <a:latin typeface="Arial"/>
              </a:rPr>
              <a:t>107 of 155</a:t>
            </a:r>
          </a:p>
        </p:txBody>
      </p:sp>
      <p:sp>
        <p:nvSpPr>
          <p:cNvPr id="10" name="TextBox 9"/>
          <p:cNvSpPr txBox="1"/>
          <p:nvPr/>
        </p:nvSpPr>
        <p:spPr>
          <a:xfrm>
            <a:off x="8549640" y="3649218"/>
            <a:ext cx="2907792" cy="941070"/>
          </a:xfrm>
          <a:prstGeom prst="rect">
            <a:avLst/>
          </a:prstGeom>
          <a:noFill/>
        </p:spPr>
        <p:txBody>
          <a:bodyPr wrap="square" lIns="0" rIns="0" tIns="0" bIns="0" anchor="t">
            <a:spAutoFit/>
          </a:bodyPr>
          <a:lstStyle/>
          <a:p>
            <a:pPr algn="l"/>
            <a:r>
              <a:rPr sz="1200" b="1" i="0">
                <a:solidFill>
                  <a:srgbClr val="1F3B57"/>
                </a:solidFill>
                <a:latin typeface="Arial"/>
              </a:rPr>
              <a:t>top-20% LGAs shared by both methods: the most robust priorities</a:t>
            </a:r>
          </a:p>
        </p:txBody>
      </p:sp>
      <p:sp>
        <p:nvSpPr>
          <p:cNvPr id="11" name="Rectangle 10"/>
          <p:cNvSpPr/>
          <p:nvPr/>
        </p:nvSpPr>
        <p:spPr>
          <a:xfrm>
            <a:off x="548640" y="4892040"/>
            <a:ext cx="11091672" cy="114300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4983479"/>
            <a:ext cx="10799064" cy="960120"/>
          </a:xfrm>
          <a:prstGeom prst="rect">
            <a:avLst/>
          </a:prstGeom>
          <a:noFill/>
        </p:spPr>
        <p:txBody>
          <a:bodyPr wrap="square" lIns="0" rIns="0" tIns="0" bIns="0" anchor="t">
            <a:spAutoFit/>
          </a:bodyPr>
          <a:lstStyle/>
          <a:p>
            <a:pPr algn="l"/>
            <a:r>
              <a:rPr sz="1250" b="1" i="0">
                <a:solidFill>
                  <a:srgbClr val="1F3B57"/>
                </a:solidFill>
                <a:latin typeface="Arial"/>
              </a:rPr>
              <a:t>Where they differ. </a:t>
            </a:r>
            <a:r>
              <a:rPr sz="1250" b="0" i="0">
                <a:solidFill>
                  <a:srgbClr val="22333F"/>
                </a:solidFill>
                <a:latin typeface="Arial"/>
              </a:rPr>
              <a:t>Method 1 follows each LGA's share of reported Penta1 doses: very high reported doses push its rate toward the 1% floor (for example Rabah and Goronyo, Sokoto) and low reported doses push it up (for example Sokoto North). Method 2 is not affected by reporting volumes. LGAs with large gaps are priorities for data-quality review.</a:t>
            </a:r>
          </a:p>
        </p:txBody>
      </p:sp>
      <p:sp>
        <p:nvSpPr>
          <p:cNvPr id="13" name="TextBox 12"/>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Model estimate, 2026. Method 1: Bayesian hierarchical model with DHIS2-calibrated LGA allocation; Method 2: Bayesian small-area estimation (SAE). Spearman rank correlation of modelled zero-dose children.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3000" b="1" i="0">
                <a:solidFill>
                  <a:srgbClr val="1F3B57"/>
                </a:solidFill>
                <a:latin typeface="Arial"/>
              </a:rPr>
              <a:t>Which estimate for which decision</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700" b="0" i="0">
                <a:solidFill>
                  <a:srgbClr val="45596B"/>
                </a:solidFill>
                <a:latin typeface="Arial"/>
              </a:rPr>
              <a:t>The two methods answer the same question in different ways; each has a role.</a:t>
            </a:r>
          </a:p>
        </p:txBody>
      </p:sp>
      <p:graphicFrame>
        <p:nvGraphicFramePr>
          <p:cNvPr id="4" name="Table 3"/>
          <p:cNvGraphicFramePr>
            <a:graphicFrameLocks noGrp="1"/>
          </p:cNvGraphicFramePr>
          <p:nvPr/>
        </p:nvGraphicFramePr>
        <p:xfrm>
          <a:off x="548640" y="1280160"/>
          <a:ext cx="11091672" cy="4297680"/>
        </p:xfrm>
        <a:graphic>
          <a:graphicData uri="http://schemas.openxmlformats.org/drawingml/2006/table">
            <a:tbl>
              <a:tblPr firstRow="1" bandRow="0">
                <a:tableStyleId>{2D5ABB26-0587-4C30-8999-92F81FD0307C}</a:tableStyleId>
              </a:tblPr>
              <a:tblGrid>
                <a:gridCol w="2834640"/>
                <a:gridCol w="3566160"/>
                <a:gridCol w="4690872"/>
              </a:tblGrid>
              <a:tr h="411480">
                <a:tc>
                  <a:txBody>
                    <a:bodyPr wrap="square"/>
                    <a:lstStyle/>
                    <a:p>
                      <a:pPr algn="l"/>
                      <a:r>
                        <a:rPr sz="1300" b="1">
                          <a:solidFill>
                            <a:srgbClr val="FFFFFF"/>
                          </a:solidFill>
                          <a:latin typeface="Arial"/>
                        </a:rPr>
                        <a:t>Decision</a:t>
                      </a:r>
                    </a:p>
                  </a:txBody>
                  <a:tcPr marL="64008" marR="64008" marT="22860" marB="22860" anchor="ctr">
                    <a:solidFill>
                      <a:srgbClr val="1F3B57"/>
                    </a:solidFill>
                  </a:tcPr>
                </a:tc>
                <a:tc>
                  <a:txBody>
                    <a:bodyPr wrap="square"/>
                    <a:lstStyle/>
                    <a:p>
                      <a:pPr algn="ctr"/>
                      <a:r>
                        <a:rPr sz="1300" b="1">
                          <a:solidFill>
                            <a:srgbClr val="FFFFFF"/>
                          </a:solidFill>
                          <a:latin typeface="Arial"/>
                        </a:rPr>
                        <a:t>Recommended estimate</a:t>
                      </a:r>
                    </a:p>
                  </a:txBody>
                  <a:tcPr marL="64008" marR="64008" marT="22860" marB="22860" anchor="ctr">
                    <a:solidFill>
                      <a:srgbClr val="1F3B57"/>
                    </a:solidFill>
                  </a:tcPr>
                </a:tc>
                <a:tc>
                  <a:txBody>
                    <a:bodyPr wrap="square"/>
                    <a:lstStyle/>
                    <a:p>
                      <a:pPr algn="ctr"/>
                      <a:r>
                        <a:rPr sz="1300" b="1">
                          <a:solidFill>
                            <a:srgbClr val="FFFFFF"/>
                          </a:solidFill>
                          <a:latin typeface="Arial"/>
                        </a:rPr>
                        <a:t>Why</a:t>
                      </a:r>
                    </a:p>
                  </a:txBody>
                  <a:tcPr marL="64008" marR="64008" marT="22860" marB="22860" anchor="ctr">
                    <a:solidFill>
                      <a:srgbClr val="1F3B57"/>
                    </a:solidFill>
                  </a:tcPr>
                </a:tc>
              </a:tr>
              <a:tr h="777240">
                <a:tc>
                  <a:txBody>
                    <a:bodyPr wrap="square"/>
                    <a:lstStyle/>
                    <a:p>
                      <a:pPr algn="l"/>
                      <a:r>
                        <a:rPr sz="1300" b="1">
                          <a:solidFill>
                            <a:srgbClr val="22333F"/>
                          </a:solidFill>
                          <a:latin typeface="Arial"/>
                        </a:rPr>
                        <a:t>National, zone and state totals</a:t>
                      </a:r>
                    </a:p>
                  </a:txBody>
                  <a:tcPr marL="64008" marR="64008" marT="22860" marB="22860" anchor="ctr">
                    <a:solidFill>
                      <a:srgbClr val="FFFFFF"/>
                    </a:solidFill>
                  </a:tcPr>
                </a:tc>
                <a:tc>
                  <a:txBody>
                    <a:bodyPr wrap="square"/>
                    <a:lstStyle/>
                    <a:p>
                      <a:pPr algn="l"/>
                      <a:r>
                        <a:rPr sz="1300" b="1">
                          <a:solidFill>
                            <a:srgbClr val="1F3B57"/>
                          </a:solidFill>
                          <a:latin typeface="Arial"/>
                        </a:rPr>
                        <a:t>Either; report Method 1 with Method 2 as the sensitivity range</a:t>
                      </a:r>
                    </a:p>
                  </a:txBody>
                  <a:tcPr marL="64008" marR="64008" marT="22860" marB="22860" anchor="ctr">
                    <a:solidFill>
                      <a:srgbClr val="FFFFFF"/>
                    </a:solidFill>
                  </a:tcPr>
                </a:tc>
                <a:tc>
                  <a:txBody>
                    <a:bodyPr wrap="square"/>
                    <a:lstStyle/>
                    <a:p>
                      <a:pPr algn="l"/>
                      <a:r>
                        <a:rPr sz="1300" b="0">
                          <a:solidFill>
                            <a:srgbClr val="22333F"/>
                          </a:solidFill>
                          <a:latin typeface="Arial"/>
                        </a:rPr>
                        <a:t>Totals agree within 2.4% nationally; state rank agreement rho = 0.96; both match NmDHS 2025-26</a:t>
                      </a:r>
                    </a:p>
                  </a:txBody>
                  <a:tcPr marL="64008" marR="64008" marT="22860" marB="22860" anchor="ctr">
                    <a:solidFill>
                      <a:srgbClr val="FFFFFF"/>
                    </a:solidFill>
                  </a:tcPr>
                </a:tc>
              </a:tr>
              <a:tr h="777240">
                <a:tc>
                  <a:txBody>
                    <a:bodyPr wrap="square"/>
                    <a:lstStyle/>
                    <a:p>
                      <a:pPr algn="l"/>
                      <a:r>
                        <a:rPr sz="1300" b="1">
                          <a:solidFill>
                            <a:srgbClr val="22333F"/>
                          </a:solidFill>
                          <a:latin typeface="Arial"/>
                        </a:rPr>
                        <a:t>Ranking LGAs within a state</a:t>
                      </a:r>
                    </a:p>
                  </a:txBody>
                  <a:tcPr marL="64008" marR="64008" marT="22860" marB="22860" anchor="ctr">
                    <a:solidFill>
                      <a:srgbClr val="EEF2F6"/>
                    </a:solidFill>
                  </a:tcPr>
                </a:tc>
                <a:tc>
                  <a:txBody>
                    <a:bodyPr wrap="square"/>
                    <a:lstStyle/>
                    <a:p>
                      <a:pPr algn="l"/>
                      <a:r>
                        <a:rPr sz="1300" b="1">
                          <a:solidFill>
                            <a:srgbClr val="1F3B57"/>
                          </a:solidFill>
                          <a:latin typeface="Arial"/>
                        </a:rPr>
                        <a:t>Method 2 (SAE)</a:t>
                      </a:r>
                    </a:p>
                  </a:txBody>
                  <a:tcPr marL="64008" marR="64008" marT="22860" marB="22860" anchor="ctr">
                    <a:solidFill>
                      <a:srgbClr val="EEF2F6"/>
                    </a:solidFill>
                  </a:tcPr>
                </a:tc>
                <a:tc>
                  <a:txBody>
                    <a:bodyPr wrap="square"/>
                    <a:lstStyle/>
                    <a:p>
                      <a:pPr algn="l"/>
                      <a:r>
                        <a:rPr sz="1300" b="0">
                          <a:solidFill>
                            <a:srgbClr val="22333F"/>
                          </a:solidFill>
                          <a:latin typeface="Arial"/>
                        </a:rPr>
                        <a:t>Covers all 774 LGAs; full uncertainty for each LGA; within-state agreement with IHME rho = 0.54 vs 0.08</a:t>
                      </a:r>
                    </a:p>
                  </a:txBody>
                  <a:tcPr marL="64008" marR="64008" marT="22860" marB="22860" anchor="ctr">
                    <a:solidFill>
                      <a:srgbClr val="EEF2F6"/>
                    </a:solidFill>
                  </a:tcPr>
                </a:tc>
              </a:tr>
              <a:tr h="777240">
                <a:tc>
                  <a:txBody>
                    <a:bodyPr wrap="square"/>
                    <a:lstStyle/>
                    <a:p>
                      <a:pPr algn="l"/>
                      <a:r>
                        <a:rPr sz="1300" b="1">
                          <a:solidFill>
                            <a:srgbClr val="22333F"/>
                          </a:solidFill>
                          <a:latin typeface="Arial"/>
                        </a:rPr>
                        <a:t>Selecting priority LGAs for funding</a:t>
                      </a:r>
                    </a:p>
                  </a:txBody>
                  <a:tcPr marL="64008" marR="64008" marT="22860" marB="22860" anchor="ctr">
                    <a:solidFill>
                      <a:srgbClr val="FFFFFF"/>
                    </a:solidFill>
                  </a:tcPr>
                </a:tc>
                <a:tc>
                  <a:txBody>
                    <a:bodyPr wrap="square"/>
                    <a:lstStyle/>
                    <a:p>
                      <a:pPr algn="l"/>
                      <a:r>
                        <a:rPr sz="1300" b="1">
                          <a:solidFill>
                            <a:srgbClr val="1F3B57"/>
                          </a:solidFill>
                          <a:latin typeface="Arial"/>
                        </a:rPr>
                        <a:t>The 107 LGAs in the top 155 under both methods first</a:t>
                      </a:r>
                    </a:p>
                  </a:txBody>
                  <a:tcPr marL="64008" marR="64008" marT="22860" marB="22860" anchor="ctr">
                    <a:solidFill>
                      <a:srgbClr val="FFFFFF"/>
                    </a:solidFill>
                  </a:tcPr>
                </a:tc>
                <a:tc>
                  <a:txBody>
                    <a:bodyPr wrap="square"/>
                    <a:lstStyle/>
                    <a:p>
                      <a:pPr algn="l"/>
                      <a:r>
                        <a:rPr sz="1300" b="0">
                          <a:solidFill>
                            <a:srgbClr val="22333F"/>
                          </a:solidFill>
                          <a:latin typeface="Arial"/>
                        </a:rPr>
                        <a:t>Robust to the choice of method; then add LGAs with high Method 2 priority probability</a:t>
                      </a:r>
                    </a:p>
                  </a:txBody>
                  <a:tcPr marL="64008" marR="64008" marT="22860" marB="22860" anchor="ctr">
                    <a:solidFill>
                      <a:srgbClr val="FFFFFF"/>
                    </a:solidFill>
                  </a:tcPr>
                </a:tc>
              </a:tr>
              <a:tr h="777240">
                <a:tc>
                  <a:txBody>
                    <a:bodyPr wrap="square"/>
                    <a:lstStyle/>
                    <a:p>
                      <a:pPr algn="l"/>
                      <a:r>
                        <a:rPr sz="1300" b="1">
                          <a:solidFill>
                            <a:srgbClr val="22333F"/>
                          </a:solidFill>
                          <a:latin typeface="Arial"/>
                        </a:rPr>
                        <a:t>Tracking change and early warning</a:t>
                      </a:r>
                    </a:p>
                  </a:txBody>
                  <a:tcPr marL="64008" marR="64008" marT="22860" marB="22860" anchor="ctr">
                    <a:solidFill>
                      <a:srgbClr val="EEF2F6"/>
                    </a:solidFill>
                  </a:tcPr>
                </a:tc>
                <a:tc>
                  <a:txBody>
                    <a:bodyPr wrap="square"/>
                    <a:lstStyle/>
                    <a:p>
                      <a:pPr algn="l"/>
                      <a:r>
                        <a:rPr sz="1300" b="1">
                          <a:solidFill>
                            <a:srgbClr val="1F3B57"/>
                          </a:solidFill>
                          <a:latin typeface="Arial"/>
                        </a:rPr>
                        <a:t>Method 1</a:t>
                      </a:r>
                    </a:p>
                  </a:txBody>
                  <a:tcPr marL="64008" marR="64008" marT="22860" marB="22860" anchor="ctr">
                    <a:solidFill>
                      <a:srgbClr val="EEF2F6"/>
                    </a:solidFill>
                  </a:tcPr>
                </a:tc>
                <a:tc>
                  <a:txBody>
                    <a:bodyPr wrap="square"/>
                    <a:lstStyle/>
                    <a:p>
                      <a:pPr algn="l"/>
                      <a:r>
                        <a:rPr sz="1300" b="0">
                          <a:solidFill>
                            <a:srgbClr val="22333F"/>
                          </a:solidFill>
                          <a:latin typeface="Arial"/>
                        </a:rPr>
                        <a:t>Uses the DHIS2 trend and updates with monthly routine data</a:t>
                      </a:r>
                    </a:p>
                  </a:txBody>
                  <a:tcPr marL="64008" marR="64008" marT="22860" marB="22860" anchor="ctr">
                    <a:solidFill>
                      <a:srgbClr val="EEF2F6"/>
                    </a:solidFill>
                  </a:tcPr>
                </a:tc>
              </a:tr>
              <a:tr h="777240">
                <a:tc>
                  <a:txBody>
                    <a:bodyPr wrap="square"/>
                    <a:lstStyle/>
                    <a:p>
                      <a:pPr algn="l"/>
                      <a:r>
                        <a:rPr sz="1300" b="1">
                          <a:solidFill>
                            <a:srgbClr val="22333F"/>
                          </a:solidFill>
                          <a:latin typeface="Arial"/>
                        </a:rPr>
                        <a:t>Data-quality review</a:t>
                      </a:r>
                    </a:p>
                  </a:txBody>
                  <a:tcPr marL="64008" marR="64008" marT="22860" marB="22860" anchor="ctr">
                    <a:solidFill>
                      <a:srgbClr val="FFFFFF"/>
                    </a:solidFill>
                  </a:tcPr>
                </a:tc>
                <a:tc>
                  <a:txBody>
                    <a:bodyPr wrap="square"/>
                    <a:lstStyle/>
                    <a:p>
                      <a:pPr algn="l"/>
                      <a:r>
                        <a:rPr sz="1300" b="1">
                          <a:solidFill>
                            <a:srgbClr val="1F3B57"/>
                          </a:solidFill>
                          <a:latin typeface="Arial"/>
                        </a:rPr>
                        <a:t>LGAs where the methods differ most</a:t>
                      </a:r>
                    </a:p>
                  </a:txBody>
                  <a:tcPr marL="64008" marR="64008" marT="22860" marB="22860" anchor="ctr">
                    <a:solidFill>
                      <a:srgbClr val="FFFFFF"/>
                    </a:solidFill>
                  </a:tcPr>
                </a:tc>
                <a:tc>
                  <a:txBody>
                    <a:bodyPr wrap="square"/>
                    <a:lstStyle/>
                    <a:p>
                      <a:pPr algn="l"/>
                      <a:r>
                        <a:rPr sz="1300" b="0">
                          <a:solidFill>
                            <a:srgbClr val="22333F"/>
                          </a:solidFill>
                          <a:latin typeface="Arial"/>
                        </a:rPr>
                        <a:t>Large gaps flag reported doses out of line with population</a:t>
                      </a:r>
                    </a:p>
                  </a:txBody>
                  <a:tcPr marL="64008" marR="64008" marT="22860" marB="22860" anchor="ctr">
                    <a:solidFill>
                      <a:srgbClr val="FFFFFF"/>
                    </a:solidFill>
                  </a:tcPr>
                </a:tc>
              </a:tr>
            </a:tbl>
          </a:graphicData>
        </a:graphic>
      </p:graphicFrame>
      <p:sp>
        <p:nvSpPr>
          <p:cNvPr id="5" name="TextBox 4"/>
          <p:cNvSpPr txBox="1"/>
          <p:nvPr/>
        </p:nvSpPr>
        <p:spPr>
          <a:xfrm>
            <a:off x="548640" y="6217920"/>
            <a:ext cx="11091672" cy="411480"/>
          </a:xfrm>
          <a:prstGeom prst="rect">
            <a:avLst/>
          </a:prstGeom>
          <a:noFill/>
        </p:spPr>
        <p:txBody>
          <a:bodyPr wrap="square" lIns="0" rIns="0" tIns="0" bIns="0" anchor="t">
            <a:spAutoFit/>
          </a:bodyPr>
          <a:lstStyle/>
          <a:p>
            <a:pPr algn="l"/>
            <a:r>
              <a:rPr sz="1100" b="0" i="1">
                <a:solidFill>
                  <a:srgbClr val="5C6B78"/>
                </a:solidFill>
                <a:latin typeface="Arial"/>
              </a:rPr>
              <a:t>Method 1: Bayesian hierarchical model with DHIS2-calibrated LGA allocation; Method 2: Bayesian small-area estimation (SAE). IHME = Institute for Health Metrics and Evaluation; NmDHS = Nigeria mini Demographic and Health Survey.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Method 2 is the most accurate approach tested</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Independent state-level check against the NmDHS 2025-26 (37 states); the survey was not used to fit any model.</a:t>
            </a:r>
          </a:p>
        </p:txBody>
      </p:sp>
      <p:pic>
        <p:nvPicPr>
          <p:cNvPr id="4" name="Picture 3" descr="Figure_A2_comparative_performance.png"/>
          <p:cNvPicPr>
            <a:picLocks noChangeAspect="1"/>
          </p:cNvPicPr>
          <p:nvPr/>
        </p:nvPicPr>
        <p:blipFill>
          <a:blip r:embed="rId2"/>
          <a:stretch>
            <a:fillRect/>
          </a:stretch>
        </p:blipFill>
        <p:spPr>
          <a:xfrm>
            <a:off x="548640" y="1234440"/>
            <a:ext cx="11091672" cy="3369150"/>
          </a:xfrm>
          <a:prstGeom prst="rect">
            <a:avLst/>
          </a:prstGeom>
        </p:spPr>
      </p:pic>
      <p:sp>
        <p:nvSpPr>
          <p:cNvPr id="5" name="Rectangle 4"/>
          <p:cNvSpPr/>
          <p:nvPr/>
        </p:nvSpPr>
        <p:spPr>
          <a:xfrm>
            <a:off x="548640" y="4754880"/>
            <a:ext cx="3575304" cy="13258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4846320"/>
            <a:ext cx="3246120" cy="457200"/>
          </a:xfrm>
          <a:prstGeom prst="rect">
            <a:avLst/>
          </a:prstGeom>
          <a:noFill/>
        </p:spPr>
        <p:txBody>
          <a:bodyPr wrap="square" lIns="0" rIns="0" tIns="0" bIns="0" anchor="t">
            <a:spAutoFit/>
          </a:bodyPr>
          <a:lstStyle/>
          <a:p>
            <a:pPr algn="l"/>
            <a:r>
              <a:rPr sz="2600" b="1" i="0">
                <a:solidFill>
                  <a:srgbClr val="1C7A3D"/>
                </a:solidFill>
                <a:latin typeface="Arial"/>
              </a:rPr>
              <a:t>5.9 points</a:t>
            </a:r>
          </a:p>
        </p:txBody>
      </p:sp>
      <p:sp>
        <p:nvSpPr>
          <p:cNvPr id="7" name="TextBox 6"/>
          <p:cNvSpPr txBox="1"/>
          <p:nvPr/>
        </p:nvSpPr>
        <p:spPr>
          <a:xfrm>
            <a:off x="713232" y="5275579"/>
            <a:ext cx="3246120" cy="668020"/>
          </a:xfrm>
          <a:prstGeom prst="rect">
            <a:avLst/>
          </a:prstGeom>
          <a:noFill/>
        </p:spPr>
        <p:txBody>
          <a:bodyPr wrap="square" lIns="0" rIns="0" tIns="0" bIns="0" anchor="t">
            <a:spAutoFit/>
          </a:bodyPr>
          <a:lstStyle/>
          <a:p>
            <a:pPr algn="l"/>
            <a:r>
              <a:rPr sz="1200" b="1" i="0">
                <a:solidFill>
                  <a:srgbClr val="1F3B57"/>
                </a:solidFill>
                <a:latin typeface="Arial"/>
              </a:rPr>
              <a:t>mean absolute error (MAE), lowest of six approaches; bias +0.1</a:t>
            </a:r>
          </a:p>
        </p:txBody>
      </p:sp>
      <p:sp>
        <p:nvSpPr>
          <p:cNvPr id="8" name="Rectangle 7"/>
          <p:cNvSpPr/>
          <p:nvPr/>
        </p:nvSpPr>
        <p:spPr>
          <a:xfrm>
            <a:off x="4306824" y="4754880"/>
            <a:ext cx="3575304" cy="13258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4846320"/>
            <a:ext cx="3246120" cy="457200"/>
          </a:xfrm>
          <a:prstGeom prst="rect">
            <a:avLst/>
          </a:prstGeom>
          <a:noFill/>
        </p:spPr>
        <p:txBody>
          <a:bodyPr wrap="square" lIns="0" rIns="0" tIns="0" bIns="0" anchor="t">
            <a:spAutoFit/>
          </a:bodyPr>
          <a:lstStyle/>
          <a:p>
            <a:pPr algn="l"/>
            <a:r>
              <a:rPr sz="2600" b="1" i="0">
                <a:solidFill>
                  <a:srgbClr val="1C7A3D"/>
                </a:solidFill>
                <a:latin typeface="Arial"/>
              </a:rPr>
              <a:t>0.87</a:t>
            </a:r>
          </a:p>
        </p:txBody>
      </p:sp>
      <p:sp>
        <p:nvSpPr>
          <p:cNvPr id="10" name="TextBox 9"/>
          <p:cNvSpPr txBox="1"/>
          <p:nvPr/>
        </p:nvSpPr>
        <p:spPr>
          <a:xfrm>
            <a:off x="4471416" y="5275579"/>
            <a:ext cx="3246120" cy="668020"/>
          </a:xfrm>
          <a:prstGeom prst="rect">
            <a:avLst/>
          </a:prstGeom>
          <a:noFill/>
        </p:spPr>
        <p:txBody>
          <a:bodyPr wrap="square" lIns="0" rIns="0" tIns="0" bIns="0" anchor="t">
            <a:spAutoFit/>
          </a:bodyPr>
          <a:lstStyle/>
          <a:p>
            <a:pPr algn="l"/>
            <a:r>
              <a:rPr sz="1200" b="1" i="0">
                <a:solidFill>
                  <a:srgbClr val="1F3B57"/>
                </a:solidFill>
                <a:latin typeface="Arial"/>
              </a:rPr>
              <a:t>rank correlation with the survey (95% CI 0.73 to 0.95)</a:t>
            </a:r>
          </a:p>
        </p:txBody>
      </p:sp>
      <p:sp>
        <p:nvSpPr>
          <p:cNvPr id="11" name="Rectangle 10"/>
          <p:cNvSpPr/>
          <p:nvPr/>
        </p:nvSpPr>
        <p:spPr>
          <a:xfrm>
            <a:off x="8065008" y="4754880"/>
            <a:ext cx="3575304" cy="13258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4846320"/>
            <a:ext cx="3246120" cy="457200"/>
          </a:xfrm>
          <a:prstGeom prst="rect">
            <a:avLst/>
          </a:prstGeom>
          <a:noFill/>
        </p:spPr>
        <p:txBody>
          <a:bodyPr wrap="square" lIns="0" rIns="0" tIns="0" bIns="0" anchor="t">
            <a:spAutoFit/>
          </a:bodyPr>
          <a:lstStyle/>
          <a:p>
            <a:pPr algn="l"/>
            <a:r>
              <a:rPr sz="2600" b="1" i="0">
                <a:solidFill>
                  <a:srgbClr val="1C7A3D"/>
                </a:solidFill>
                <a:latin typeface="Arial"/>
              </a:rPr>
              <a:t>+0.4 points</a:t>
            </a:r>
          </a:p>
        </p:txBody>
      </p:sp>
      <p:sp>
        <p:nvSpPr>
          <p:cNvPr id="13" name="TextBox 12"/>
          <p:cNvSpPr txBox="1"/>
          <p:nvPr/>
        </p:nvSpPr>
        <p:spPr>
          <a:xfrm>
            <a:off x="8229600" y="5275579"/>
            <a:ext cx="3246120" cy="668020"/>
          </a:xfrm>
          <a:prstGeom prst="rect">
            <a:avLst/>
          </a:prstGeom>
          <a:noFill/>
        </p:spPr>
        <p:txBody>
          <a:bodyPr wrap="square" lIns="0" rIns="0" tIns="0" bIns="0" anchor="t">
            <a:spAutoFit/>
          </a:bodyPr>
          <a:lstStyle/>
          <a:p>
            <a:pPr algn="l"/>
            <a:r>
              <a:rPr sz="1200" b="1" i="0">
                <a:solidFill>
                  <a:srgbClr val="1F3B57"/>
                </a:solidFill>
                <a:latin typeface="Arial"/>
              </a:rPr>
              <a:t>Method 1 difference (95% CI -0.8 to 1.6): statistically equivalent</a:t>
            </a:r>
          </a:p>
        </p:txBody>
      </p:sp>
      <p:sp>
        <p:nvSpPr>
          <p:cNvPr id="14" name="TextBox 13"/>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MAE in percentage points; CI = bootstrap confidence interval over states. Comparators: Method 1 (6.3), gradient boosting (7.5), Fay-Herriot area-level model (7.9), latest survey carried forward (8.2), routine data only (26.5).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Honest uncertainty; forecasting ahead is the weak link</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Intervals cover the survey as intended; projecting trends forward is harder than describing the present.</a:t>
            </a:r>
          </a:p>
        </p:txBody>
      </p:sp>
      <p:pic>
        <p:nvPicPr>
          <p:cNvPr id="4" name="Picture 3" descr="Figure_A4_calibration.png"/>
          <p:cNvPicPr>
            <a:picLocks noChangeAspect="1"/>
          </p:cNvPicPr>
          <p:nvPr/>
        </p:nvPicPr>
        <p:blipFill>
          <a:blip r:embed="rId2"/>
          <a:stretch>
            <a:fillRect/>
          </a:stretch>
        </p:blipFill>
        <p:spPr>
          <a:xfrm>
            <a:off x="548640" y="1234440"/>
            <a:ext cx="5440680" cy="2153395"/>
          </a:xfrm>
          <a:prstGeom prst="rect">
            <a:avLst/>
          </a:prstGeom>
        </p:spPr>
      </p:pic>
      <p:pic>
        <p:nvPicPr>
          <p:cNvPr id="5" name="Picture 4" descr="Figure_A5_temporal_extrapolation.png"/>
          <p:cNvPicPr>
            <a:picLocks noChangeAspect="1"/>
          </p:cNvPicPr>
          <p:nvPr/>
        </p:nvPicPr>
        <p:blipFill>
          <a:blip r:embed="rId3"/>
          <a:stretch>
            <a:fillRect/>
          </a:stretch>
        </p:blipFill>
        <p:spPr>
          <a:xfrm>
            <a:off x="6199632" y="1234440"/>
            <a:ext cx="5440680" cy="2106540"/>
          </a:xfrm>
          <a:prstGeom prst="rect">
            <a:avLst/>
          </a:prstGeom>
        </p:spPr>
      </p:pic>
      <p:sp>
        <p:nvSpPr>
          <p:cNvPr id="6" name="Rectangle 5"/>
          <p:cNvSpPr/>
          <p:nvPr/>
        </p:nvSpPr>
        <p:spPr>
          <a:xfrm>
            <a:off x="548640" y="3611880"/>
            <a:ext cx="5440680" cy="14630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694176"/>
            <a:ext cx="5166360" cy="1298448"/>
          </a:xfrm>
          <a:prstGeom prst="rect">
            <a:avLst/>
          </a:prstGeom>
          <a:noFill/>
        </p:spPr>
        <p:txBody>
          <a:bodyPr wrap="square" lIns="0" rIns="0" tIns="0" bIns="0" anchor="t">
            <a:spAutoFit/>
          </a:bodyPr>
          <a:lstStyle/>
          <a:p>
            <a:pPr algn="l"/>
            <a:r>
              <a:rPr sz="1200" b="1" i="0">
                <a:solidFill>
                  <a:srgbClr val="1F3B57"/>
                </a:solidFill>
                <a:latin typeface="Arial"/>
              </a:rPr>
              <a:t>Calibrated. </a:t>
            </a:r>
            <a:r>
              <a:rPr sz="1200" b="0" i="0">
                <a:solidFill>
                  <a:srgbClr val="22333F"/>
                </a:solidFill>
                <a:latin typeface="Arial"/>
              </a:rPr>
              <a:t>With design effect 2, the 95% predictive interval contained the NmDHS value in 37 of 37 states and the 50% interval in 24 of 37, as expected (p = 0.10 and 0.26). Continuous ranked probability score (CRPS) 4.4, against 4.5 for Method 1.</a:t>
            </a:r>
          </a:p>
        </p:txBody>
      </p:sp>
      <p:sp>
        <p:nvSpPr>
          <p:cNvPr id="8" name="Rectangle 7"/>
          <p:cNvSpPr/>
          <p:nvPr/>
        </p:nvSpPr>
        <p:spPr>
          <a:xfrm>
            <a:off x="6199632" y="3611880"/>
            <a:ext cx="5440680" cy="146304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36792" y="3694176"/>
            <a:ext cx="5166360" cy="1298448"/>
          </a:xfrm>
          <a:prstGeom prst="rect">
            <a:avLst/>
          </a:prstGeom>
          <a:noFill/>
        </p:spPr>
        <p:txBody>
          <a:bodyPr wrap="square" lIns="0" rIns="0" tIns="0" bIns="0" anchor="t">
            <a:spAutoFit/>
          </a:bodyPr>
          <a:lstStyle/>
          <a:p>
            <a:pPr algn="l"/>
            <a:r>
              <a:rPr sz="1200" b="1" i="0">
                <a:solidFill>
                  <a:srgbClr val="1F3B57"/>
                </a:solidFill>
                <a:latin typeface="Arial"/>
              </a:rPr>
              <a:t>Trend breaks. </a:t>
            </a:r>
            <a:r>
              <a:rPr sz="1200" b="0" i="0">
                <a:solidFill>
                  <a:srgbClr val="22333F"/>
                </a:solidFill>
                <a:latin typeface="Arial"/>
              </a:rPr>
              <a:t>With survey rounds held out, Method 2 beat carry-forward for 2018 (MAE 10.1 vs 12.0) but not for 2024 (10.9 vs 8.9). In 18 states the projected direction was wrong, with errors nearly twice as large (14.3 vs 7.7).</a:t>
            </a:r>
          </a:p>
        </p:txBody>
      </p:sp>
      <p:sp>
        <p:nvSpPr>
          <p:cNvPr id="10" name="Rectangle 9"/>
          <p:cNvSpPr/>
          <p:nvPr/>
        </p:nvSpPr>
        <p:spPr>
          <a:xfrm>
            <a:off x="548640" y="5212080"/>
            <a:ext cx="11091672" cy="86868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294376"/>
            <a:ext cx="10817352" cy="704088"/>
          </a:xfrm>
          <a:prstGeom prst="rect">
            <a:avLst/>
          </a:prstGeom>
          <a:noFill/>
        </p:spPr>
        <p:txBody>
          <a:bodyPr wrap="square" lIns="0" rIns="0" tIns="0" bIns="0" anchor="t">
            <a:spAutoFit/>
          </a:bodyPr>
          <a:lstStyle/>
          <a:p>
            <a:pPr algn="l"/>
            <a:r>
              <a:rPr sz="1300" b="1" i="0">
                <a:solidFill>
                  <a:srgbClr val="1F3B57"/>
                </a:solidFill>
                <a:latin typeface="Arial"/>
              </a:rPr>
              <a:t>What it means. </a:t>
            </a:r>
            <a:r>
              <a:rPr sz="1300" b="0" i="0">
                <a:solidFill>
                  <a:srgbClr val="22333F"/>
                </a:solidFill>
                <a:latin typeface="Arial"/>
              </a:rPr>
              <a:t>Use the intervals, not only the point estimates, and refresh the model with every new survey round: the 2026 estimates carry real trend uncertainty.</a:t>
            </a:r>
          </a:p>
        </p:txBody>
      </p:sp>
      <p:sp>
        <p:nvSpPr>
          <p:cNvPr id="12" name="TextBox 11"/>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Design effect 2 allows for survey sampling error. MAE = mean absolute error, percentage points.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Prioritizing under uncertainty</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Fund near-certain priorities first; verify uncertain LGAs through microplanning.</a:t>
            </a:r>
          </a:p>
        </p:txBody>
      </p:sp>
      <p:pic>
        <p:nvPicPr>
          <p:cNvPr id="4" name="Picture 3" descr="Figure_A6_targeting_capture_curves.png"/>
          <p:cNvPicPr>
            <a:picLocks noChangeAspect="1"/>
          </p:cNvPicPr>
          <p:nvPr/>
        </p:nvPicPr>
        <p:blipFill>
          <a:blip r:embed="rId2"/>
          <a:stretch>
            <a:fillRect/>
          </a:stretch>
        </p:blipFill>
        <p:spPr>
          <a:xfrm>
            <a:off x="548640" y="1234440"/>
            <a:ext cx="6949440" cy="2775964"/>
          </a:xfrm>
          <a:prstGeom prst="rect">
            <a:avLst/>
          </a:prstGeom>
        </p:spPr>
      </p:pic>
      <p:sp>
        <p:nvSpPr>
          <p:cNvPr id="5" name="Rectangle 4"/>
          <p:cNvSpPr/>
          <p:nvPr/>
        </p:nvSpPr>
        <p:spPr>
          <a:xfrm>
            <a:off x="7772400" y="1234440"/>
            <a:ext cx="3867912" cy="128016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36992" y="1325880"/>
            <a:ext cx="3538728" cy="457200"/>
          </a:xfrm>
          <a:prstGeom prst="rect">
            <a:avLst/>
          </a:prstGeom>
          <a:noFill/>
        </p:spPr>
        <p:txBody>
          <a:bodyPr wrap="square" lIns="0" rIns="0" tIns="0" bIns="0" anchor="t">
            <a:spAutoFit/>
          </a:bodyPr>
          <a:lstStyle/>
          <a:p>
            <a:pPr algn="l"/>
            <a:r>
              <a:rPr sz="2600" b="1" i="0">
                <a:solidFill>
                  <a:srgbClr val="1C7A3D"/>
                </a:solidFill>
                <a:latin typeface="Arial"/>
              </a:rPr>
              <a:t>40 LGAs</a:t>
            </a:r>
          </a:p>
        </p:txBody>
      </p:sp>
      <p:sp>
        <p:nvSpPr>
          <p:cNvPr id="7" name="TextBox 6"/>
          <p:cNvSpPr txBox="1"/>
          <p:nvPr/>
        </p:nvSpPr>
        <p:spPr>
          <a:xfrm>
            <a:off x="7936992" y="1755140"/>
            <a:ext cx="3538728" cy="622299"/>
          </a:xfrm>
          <a:prstGeom prst="rect">
            <a:avLst/>
          </a:prstGeom>
          <a:noFill/>
        </p:spPr>
        <p:txBody>
          <a:bodyPr wrap="square" lIns="0" rIns="0" tIns="0" bIns="0" anchor="t">
            <a:spAutoFit/>
          </a:bodyPr>
          <a:lstStyle/>
          <a:p>
            <a:pPr algn="l"/>
            <a:r>
              <a:rPr sz="1200" b="1" i="0">
                <a:solidFill>
                  <a:srgbClr val="1F3B57"/>
                </a:solidFill>
                <a:latin typeface="Arial"/>
              </a:rPr>
              <a:t>near-certain to be in the top 155 (probability 0.9 or more)</a:t>
            </a:r>
          </a:p>
        </p:txBody>
      </p:sp>
      <p:sp>
        <p:nvSpPr>
          <p:cNvPr id="8" name="Rectangle 7"/>
          <p:cNvSpPr/>
          <p:nvPr/>
        </p:nvSpPr>
        <p:spPr>
          <a:xfrm>
            <a:off x="7772400" y="2606040"/>
            <a:ext cx="3867912" cy="128016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2697480"/>
            <a:ext cx="3538728" cy="457200"/>
          </a:xfrm>
          <a:prstGeom prst="rect">
            <a:avLst/>
          </a:prstGeom>
          <a:noFill/>
        </p:spPr>
        <p:txBody>
          <a:bodyPr wrap="square" lIns="0" rIns="0" tIns="0" bIns="0" anchor="t">
            <a:spAutoFit/>
          </a:bodyPr>
          <a:lstStyle/>
          <a:p>
            <a:pPr algn="l"/>
            <a:r>
              <a:rPr sz="2600" b="1" i="0">
                <a:solidFill>
                  <a:srgbClr val="1C7A3D"/>
                </a:solidFill>
                <a:latin typeface="Arial"/>
              </a:rPr>
              <a:t>217 LGAs</a:t>
            </a:r>
          </a:p>
        </p:txBody>
      </p:sp>
      <p:sp>
        <p:nvSpPr>
          <p:cNvPr id="10" name="TextBox 9"/>
          <p:cNvSpPr txBox="1"/>
          <p:nvPr/>
        </p:nvSpPr>
        <p:spPr>
          <a:xfrm>
            <a:off x="7936992" y="3126740"/>
            <a:ext cx="3538728" cy="622299"/>
          </a:xfrm>
          <a:prstGeom prst="rect">
            <a:avLst/>
          </a:prstGeom>
          <a:noFill/>
        </p:spPr>
        <p:txBody>
          <a:bodyPr wrap="square" lIns="0" rIns="0" tIns="0" bIns="0" anchor="t">
            <a:spAutoFit/>
          </a:bodyPr>
          <a:lstStyle/>
          <a:p>
            <a:pPr algn="l"/>
            <a:r>
              <a:rPr sz="1200" b="1" i="0">
                <a:solidFill>
                  <a:srgbClr val="1F3B57"/>
                </a:solidFill>
                <a:latin typeface="Arial"/>
              </a:rPr>
              <a:t>uncertain; 102 of them fall outside the ranked list of 155</a:t>
            </a:r>
          </a:p>
        </p:txBody>
      </p:sp>
      <p:sp>
        <p:nvSpPr>
          <p:cNvPr id="11" name="Rectangle 10"/>
          <p:cNvSpPr/>
          <p:nvPr/>
        </p:nvSpPr>
        <p:spPr>
          <a:xfrm>
            <a:off x="7772400" y="3977639"/>
            <a:ext cx="3867912" cy="128016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36992" y="4069079"/>
            <a:ext cx="3538728" cy="457200"/>
          </a:xfrm>
          <a:prstGeom prst="rect">
            <a:avLst/>
          </a:prstGeom>
          <a:noFill/>
        </p:spPr>
        <p:txBody>
          <a:bodyPr wrap="square" lIns="0" rIns="0" tIns="0" bIns="0" anchor="t">
            <a:spAutoFit/>
          </a:bodyPr>
          <a:lstStyle/>
          <a:p>
            <a:pPr algn="l"/>
            <a:r>
              <a:rPr sz="2600" b="1" i="0">
                <a:solidFill>
                  <a:srgbClr val="1C7A3D"/>
                </a:solidFill>
                <a:latin typeface="Arial"/>
              </a:rPr>
              <a:t>54%</a:t>
            </a:r>
          </a:p>
        </p:txBody>
      </p:sp>
      <p:sp>
        <p:nvSpPr>
          <p:cNvPr id="13" name="TextBox 12"/>
          <p:cNvSpPr txBox="1"/>
          <p:nvPr/>
        </p:nvSpPr>
        <p:spPr>
          <a:xfrm>
            <a:off x="7936992" y="4498339"/>
            <a:ext cx="3538728" cy="622299"/>
          </a:xfrm>
          <a:prstGeom prst="rect">
            <a:avLst/>
          </a:prstGeom>
          <a:noFill/>
        </p:spPr>
        <p:txBody>
          <a:bodyPr wrap="square" lIns="0" rIns="0" tIns="0" bIns="0" anchor="t">
            <a:spAutoFit/>
          </a:bodyPr>
          <a:lstStyle/>
          <a:p>
            <a:pPr algn="l"/>
            <a:r>
              <a:rPr sz="1200" b="1" i="0">
                <a:solidFill>
                  <a:srgbClr val="1F3B57"/>
                </a:solidFill>
                <a:latin typeface="Arial"/>
              </a:rPr>
              <a:t>of modelled zero-dose children in the 155 LGAs ranked by Method 2 expected burden</a:t>
            </a:r>
          </a:p>
        </p:txBody>
      </p:sp>
      <p:sp>
        <p:nvSpPr>
          <p:cNvPr id="14" name="Rectangle 13"/>
          <p:cNvSpPr/>
          <p:nvPr/>
        </p:nvSpPr>
        <p:spPr>
          <a:xfrm>
            <a:off x="548640" y="4160520"/>
            <a:ext cx="6949440" cy="1097280"/>
          </a:xfrm>
          <a:prstGeom prst="rect">
            <a:avLst/>
          </a:prstGeom>
          <a:solidFill>
            <a:srgbClr val="EEF2F6"/>
          </a:solidFill>
          <a:ln w="9525">
            <a:solidFill>
              <a:srgbClr val="D6DE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42816"/>
            <a:ext cx="6675120" cy="932688"/>
          </a:xfrm>
          <a:prstGeom prst="rect">
            <a:avLst/>
          </a:prstGeom>
          <a:noFill/>
        </p:spPr>
        <p:txBody>
          <a:bodyPr wrap="square" lIns="0" rIns="0" tIns="0" bIns="0" anchor="t">
            <a:spAutoFit/>
          </a:bodyPr>
          <a:lstStyle/>
          <a:p>
            <a:pPr algn="l"/>
            <a:r>
              <a:rPr sz="1200" b="1" i="0">
                <a:solidFill>
                  <a:srgbClr val="1F3B57"/>
                </a:solidFill>
                <a:latin typeface="Arial"/>
              </a:rPr>
              <a:t>Capture. </a:t>
            </a:r>
            <a:r>
              <a:rPr sz="1200" b="0" i="0">
                <a:solidFill>
                  <a:srgbClr val="22333F"/>
                </a:solidFill>
                <a:latin typeface="Arial"/>
              </a:rPr>
              <a:t>Ranking by rate alone captures 48%, and ranking by routine administrative coverage 30-34%. Each model favours its own list, so these are model-based, not observed.</a:t>
            </a:r>
          </a:p>
        </p:txBody>
      </p:sp>
      <p:sp>
        <p:nvSpPr>
          <p:cNvPr id="16" name="Rectangle 15"/>
          <p:cNvSpPr/>
          <p:nvPr/>
        </p:nvSpPr>
        <p:spPr>
          <a:xfrm>
            <a:off x="548640" y="5349240"/>
            <a:ext cx="11091672" cy="7772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5431536"/>
            <a:ext cx="10817352" cy="612647"/>
          </a:xfrm>
          <a:prstGeom prst="rect">
            <a:avLst/>
          </a:prstGeom>
          <a:noFill/>
        </p:spPr>
        <p:txBody>
          <a:bodyPr wrap="square" lIns="0" rIns="0" tIns="0" bIns="0" anchor="t">
            <a:spAutoFit/>
          </a:bodyPr>
          <a:lstStyle/>
          <a:p>
            <a:pPr algn="l"/>
            <a:r>
              <a:rPr sz="1250" b="1" i="0">
                <a:solidFill>
                  <a:srgbClr val="1F3B57"/>
                </a:solidFill>
                <a:latin typeface="Arial"/>
              </a:rPr>
              <a:t>Robust. </a:t>
            </a:r>
            <a:r>
              <a:rPr sz="1250" b="0" i="0">
                <a:solidFill>
                  <a:srgbClr val="22333F"/>
                </a:solidFill>
                <a:latin typeface="Arial"/>
              </a:rPr>
              <a:t>State MAE stays at 5.86-6.02 across design-effect, prior and spatial choices; the 2025 population projection raises the total by 12.7% but changes only 4 of the 155 priority LGAs.</a:t>
            </a:r>
          </a:p>
        </p:txBody>
      </p:sp>
      <p:sp>
        <p:nvSpPr>
          <p:cNvPr id="18" name="TextBox 17"/>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Method 2: Bayesian small-area estimation (SAE), 4,000 posterior draws. MAE = mean absolute error.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Where is polio-detection risk highest?</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One cluster on the north-east border, and six states that have not yet reached the three-year mark.</a:t>
            </a:r>
            <a:endParaRPr lang="en-US" sz="1800" dirty="0"/>
          </a:p>
        </p:txBody>
      </p:sp>
      <p:pic>
        <p:nvPicPr>
          <p:cNvPr id="4" name="Image 0" descr="/home/claude/d1/ppt/media/image18.png"/>
          <p:cNvPicPr>
            <a:picLocks noChangeAspect="1"/>
          </p:cNvPicPr>
          <p:nvPr/>
        </p:nvPicPr>
        <p:blipFill>
          <a:blip r:embed="rId3"/>
          <a:stretch>
            <a:fillRect/>
          </a:stretch>
        </p:blipFill>
        <p:spPr>
          <a:xfrm>
            <a:off x="33623" y="1296636"/>
            <a:ext cx="5343049" cy="4498847"/>
          </a:xfrm>
          <a:prstGeom prst="rect">
            <a:avLst/>
          </a:prstGeom>
        </p:spPr>
      </p:pic>
      <p:sp>
        <p:nvSpPr>
          <p:cNvPr id="5" name="Shape 2"/>
          <p:cNvSpPr/>
          <p:nvPr/>
        </p:nvSpPr>
        <p:spPr>
          <a:xfrm>
            <a:off x="5577840" y="1495044"/>
            <a:ext cx="6062472" cy="1657350"/>
          </a:xfrm>
          <a:prstGeom prst="rect">
            <a:avLst/>
          </a:prstGeom>
          <a:solidFill>
            <a:srgbClr val="EEF2F6"/>
          </a:solidFill>
          <a:ln w="9525">
            <a:solidFill>
              <a:srgbClr val="C9D6E2"/>
            </a:solidFill>
            <a:prstDash val="solid"/>
          </a:ln>
        </p:spPr>
        <p:txBody>
          <a:bodyPr/>
          <a:lstStyle/>
          <a:p>
            <a:endParaRPr lang="LID4096"/>
          </a:p>
        </p:txBody>
      </p:sp>
      <p:sp>
        <p:nvSpPr>
          <p:cNvPr id="6" name="Text 3"/>
          <p:cNvSpPr/>
          <p:nvPr/>
        </p:nvSpPr>
        <p:spPr>
          <a:xfrm>
            <a:off x="5779008" y="1641348"/>
            <a:ext cx="5660136" cy="729234"/>
          </a:xfrm>
          <a:prstGeom prst="rect">
            <a:avLst/>
          </a:prstGeom>
          <a:noFill/>
          <a:ln/>
        </p:spPr>
        <p:txBody>
          <a:bodyPr wrap="square" lIns="0" tIns="0" rIns="0" bIns="0" rtlCol="0" anchor="t"/>
          <a:lstStyle/>
          <a:p>
            <a:pPr marL="0" indent="0">
              <a:buNone/>
            </a:pPr>
            <a:r>
              <a:rPr lang="en-US" sz="4600" b="1" dirty="0">
                <a:solidFill>
                  <a:srgbClr val="1F3B57"/>
                </a:solidFill>
                <a:latin typeface="Arial" pitchFamily="34" charset="0"/>
                <a:ea typeface="Arial" pitchFamily="34" charset="-122"/>
                <a:cs typeface="Arial" pitchFamily="34" charset="-120"/>
              </a:rPr>
              <a:t>RR = 10.5</a:t>
            </a:r>
            <a:endParaRPr lang="en-US" sz="4600" dirty="0"/>
          </a:p>
        </p:txBody>
      </p:sp>
      <p:sp>
        <p:nvSpPr>
          <p:cNvPr id="7" name="Text 4"/>
          <p:cNvSpPr/>
          <p:nvPr/>
        </p:nvSpPr>
        <p:spPr>
          <a:xfrm>
            <a:off x="5779008" y="2407158"/>
            <a:ext cx="5660136" cy="580644"/>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highlighted border area needs closer surveillance and response</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5577840" y="3280410"/>
            <a:ext cx="6062472"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Meaning: </a:t>
            </a:r>
            <a:r>
              <a:rPr lang="en-US" sz="1800" dirty="0">
                <a:solidFill>
                  <a:srgbClr val="1F3B57"/>
                </a:solidFill>
                <a:latin typeface="Arial" pitchFamily="34" charset="0"/>
                <a:ea typeface="Arial" pitchFamily="34" charset="-122"/>
                <a:cs typeface="Arial" pitchFamily="34" charset="-120"/>
              </a:rPr>
              <a:t>the highlighted area should remain a priority for surveillance, investigation and response.</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9" name="Text 6"/>
          <p:cNvSpPr/>
          <p:nvPr/>
        </p:nvSpPr>
        <p:spPr>
          <a:xfrm>
            <a:off x="5577840" y="4070909"/>
            <a:ext cx="606247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Programme meaning: </a:t>
            </a:r>
            <a:r>
              <a:rPr lang="en-US" sz="1800" dirty="0">
                <a:solidFill>
                  <a:srgbClr val="1F3B57"/>
                </a:solidFill>
                <a:latin typeface="Arial" pitchFamily="34" charset="0"/>
                <a:ea typeface="Arial" pitchFamily="34" charset="-122"/>
                <a:cs typeface="Arial" pitchFamily="34" charset="-120"/>
              </a:rPr>
              <a:t>Taraba, Kogi, Adamawa, Borno, Gombe and Kano require continued attention.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0" name="Text 7"/>
          <p:cNvSpPr/>
          <p:nvPr/>
        </p:nvSpPr>
        <p:spPr>
          <a:xfrm>
            <a:off x="5577840" y="5040972"/>
            <a:ext cx="6062472" cy="952919"/>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Action: </a:t>
            </a:r>
            <a:r>
              <a:rPr lang="en-US" sz="1800" dirty="0">
                <a:solidFill>
                  <a:srgbClr val="1F3B57"/>
                </a:solidFill>
                <a:latin typeface="Arial" pitchFamily="34" charset="0"/>
                <a:ea typeface="Arial" pitchFamily="34" charset="-122"/>
                <a:cs typeface="Arial" pitchFamily="34" charset="-120"/>
              </a:rPr>
              <a:t>maintain strong campaign quality, AFP surveillance, environmental surveillance and timely investigation.</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6 spatial scan on the national acute flaccid paralysis line list (about 103,000 records, 2015 to 2025); survival analysis against the WHO three-year certification rule.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Domain 7: outbreak risk and the link to child deaths</a:t>
            </a:r>
            <a:endParaRPr lang="en-US" sz="3200" dirty="0"/>
          </a:p>
        </p:txBody>
      </p:sp>
      <p:sp>
        <p:nvSpPr>
          <p:cNvPr id="3" name="Text 1"/>
          <p:cNvSpPr/>
          <p:nvPr/>
        </p:nvSpPr>
        <p:spPr>
          <a:xfrm>
            <a:off x="548640" y="68401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Places with lower vaccination coverage also show higher risk of child deaths from vaccine-preventable diseases.</a:t>
            </a:r>
          </a:p>
          <a:p>
            <a:pPr marL="0" indent="0">
              <a:buNone/>
            </a:pPr>
            <a:endParaRPr lang="en-US" sz="1800" dirty="0">
              <a:solidFill>
                <a:srgbClr val="45596B"/>
              </a:solidFill>
              <a:latin typeface="Arial" pitchFamily="34" charset="0"/>
              <a:ea typeface="Arial" pitchFamily="34" charset="-122"/>
              <a:cs typeface="Arial" pitchFamily="34" charset="-120"/>
            </a:endParaRPr>
          </a:p>
        </p:txBody>
      </p:sp>
      <p:pic>
        <p:nvPicPr>
          <p:cNvPr id="4" name="Image 0" descr="/home/claude/d1/ppt/media/image22.png"/>
          <p:cNvPicPr>
            <a:picLocks noChangeAspect="1"/>
          </p:cNvPicPr>
          <p:nvPr/>
        </p:nvPicPr>
        <p:blipFill>
          <a:blip r:embed="rId3"/>
          <a:stretch>
            <a:fillRect/>
          </a:stretch>
        </p:blipFill>
        <p:spPr>
          <a:xfrm>
            <a:off x="548640" y="1227582"/>
            <a:ext cx="6355080" cy="3310128"/>
          </a:xfrm>
          <a:prstGeom prst="rect">
            <a:avLst/>
          </a:prstGeom>
        </p:spPr>
      </p:pic>
      <p:sp>
        <p:nvSpPr>
          <p:cNvPr id="5" name="Shape 2"/>
          <p:cNvSpPr/>
          <p:nvPr/>
        </p:nvSpPr>
        <p:spPr>
          <a:xfrm>
            <a:off x="7498080" y="1227582"/>
            <a:ext cx="4142232" cy="1924812"/>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99248" y="1373886"/>
            <a:ext cx="3739896" cy="729234"/>
          </a:xfrm>
          <a:prstGeom prst="rect">
            <a:avLst/>
          </a:prstGeom>
          <a:noFill/>
          <a:ln/>
        </p:spPr>
        <p:txBody>
          <a:bodyPr wrap="square" lIns="0" tIns="0" rIns="0" bIns="0" rtlCol="0" anchor="t"/>
          <a:lstStyle/>
          <a:p>
            <a:pPr marL="0" indent="0">
              <a:buNone/>
            </a:pPr>
            <a:r>
              <a:rPr lang="en-US" sz="4600" b="1" dirty="0">
                <a:solidFill>
                  <a:srgbClr val="1C7A3D"/>
                </a:solidFill>
                <a:latin typeface="Arial" pitchFamily="34" charset="0"/>
                <a:ea typeface="Arial" pitchFamily="34" charset="-122"/>
                <a:cs typeface="Arial" pitchFamily="34" charset="-120"/>
              </a:rPr>
              <a:t>7 of 8</a:t>
            </a:r>
            <a:endParaRPr lang="en-US" sz="4600" dirty="0"/>
          </a:p>
        </p:txBody>
      </p:sp>
      <p:sp>
        <p:nvSpPr>
          <p:cNvPr id="7" name="Text 4"/>
          <p:cNvSpPr/>
          <p:nvPr/>
        </p:nvSpPr>
        <p:spPr>
          <a:xfrm>
            <a:off x="7699248" y="2139696"/>
            <a:ext cx="373989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pre-specified coverage-to-mortality links hold after correction for multiple testing</a:t>
            </a:r>
            <a:endParaRPr lang="en-US" sz="1800" dirty="0"/>
          </a:p>
        </p:txBody>
      </p:sp>
      <p:sp>
        <p:nvSpPr>
          <p:cNvPr id="8" name="Text 5"/>
          <p:cNvSpPr/>
          <p:nvPr/>
        </p:nvSpPr>
        <p:spPr>
          <a:xfrm>
            <a:off x="7498080" y="3280410"/>
            <a:ext cx="4142232" cy="201156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Strongest for measles. </a:t>
            </a:r>
            <a:r>
              <a:rPr lang="en-US" sz="1800" dirty="0">
                <a:solidFill>
                  <a:srgbClr val="22333F"/>
                </a:solidFill>
                <a:latin typeface="Arial" pitchFamily="34" charset="0"/>
                <a:ea typeface="Arial" pitchFamily="34" charset="-122"/>
                <a:cs typeface="Arial" pitchFamily="34" charset="-120"/>
              </a:rPr>
              <a:t>The strongest link was for measles. Improving measles coverage in high-risk areas can protect more children.</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9" name="Shape 6"/>
          <p:cNvSpPr/>
          <p:nvPr/>
        </p:nvSpPr>
        <p:spPr>
          <a:xfrm>
            <a:off x="548640" y="4592574"/>
            <a:ext cx="6766560" cy="1443380"/>
          </a:xfrm>
          <a:prstGeom prst="rect">
            <a:avLst/>
          </a:prstGeom>
          <a:solidFill>
            <a:srgbClr val="E7F1EB"/>
          </a:solidFill>
          <a:ln w="9525">
            <a:solidFill>
              <a:srgbClr val="C9D6E2"/>
            </a:solidFill>
            <a:prstDash val="solid"/>
          </a:ln>
        </p:spPr>
        <p:txBody>
          <a:bodyPr/>
          <a:lstStyle/>
          <a:p>
            <a:endParaRPr lang="LID4096"/>
          </a:p>
        </p:txBody>
      </p:sp>
      <p:sp>
        <p:nvSpPr>
          <p:cNvPr id="10" name="Text 7"/>
          <p:cNvSpPr/>
          <p:nvPr/>
        </p:nvSpPr>
        <p:spPr>
          <a:xfrm>
            <a:off x="749808" y="4729734"/>
            <a:ext cx="6364224"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it matters: </a:t>
            </a:r>
            <a:r>
              <a:rPr lang="en-US" sz="1800" dirty="0">
                <a:solidFill>
                  <a:srgbClr val="1F3B57"/>
                </a:solidFill>
                <a:latin typeface="Arial" pitchFamily="34" charset="0"/>
                <a:ea typeface="Arial" pitchFamily="34" charset="-122"/>
                <a:cs typeface="Arial" pitchFamily="34" charset="-120"/>
              </a:rPr>
              <a:t>reaching missed children is not just about percentages; it is about preventing illness and death.</a:t>
            </a:r>
          </a:p>
          <a:p>
            <a:pPr marL="0" indent="0">
              <a:lnSpc>
                <a:spcPct val="105000"/>
              </a:lnSpc>
              <a:buNone/>
            </a:pPr>
            <a:endParaRPr lang="en-US" sz="1800" b="1" dirty="0">
              <a:solidFill>
                <a:srgbClr val="1F3B57"/>
              </a:solidFill>
              <a:latin typeface="Arial" pitchFamily="34" charset="0"/>
              <a:ea typeface="Arial" pitchFamily="34" charset="-122"/>
              <a:cs typeface="Arial" pitchFamily="34" charset="-120"/>
            </a:endParaRPr>
          </a:p>
        </p:txBody>
      </p:sp>
      <p:sp>
        <p:nvSpPr>
          <p:cNvPr id="11" name="Text 8"/>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7, eight pre-specified false-discovery-rate-corrected tests against IHME Global Burden of Disease 2023 cause fractions, a validated proxy while the national surveillance line-lists are pending.</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state level</a:t>
            </a:r>
            <a:endParaRPr lang="en-US" sz="3200" dirty="0"/>
          </a:p>
        </p:txBody>
      </p:sp>
      <p:sp>
        <p:nvSpPr>
          <p:cNvPr id="3" name="Text 1"/>
          <p:cNvSpPr/>
          <p:nvPr/>
        </p:nvSpPr>
        <p:spPr>
          <a:xfrm>
            <a:off x="548640" y="795528"/>
            <a:ext cx="11091672" cy="580644"/>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Model estimate against out-of-sample data. The NmDHS 2025-26 survey was released after this work concluded.</a:t>
            </a:r>
            <a:endParaRPr lang="en-US" sz="1800" dirty="0"/>
          </a:p>
        </p:txBody>
      </p:sp>
      <p:pic>
        <p:nvPicPr>
          <p:cNvPr id="15" name="Picture 14" descr="M1_04_nmdhs_validation.png"/>
          <p:cNvPicPr>
            <a:picLocks noChangeAspect="1"/>
          </p:cNvPicPr>
          <p:nvPr/>
        </p:nvPicPr>
        <p:blipFill>
          <a:blip r:embed="rId4"/>
          <a:stretch>
            <a:fillRect/>
          </a:stretch>
        </p:blipFill>
        <p:spPr>
          <a:xfrm>
            <a:off x="502920" y="1754825"/>
            <a:ext cx="6629400" cy="2708268"/>
          </a:xfrm>
          <a:prstGeom prst="rect">
            <a:avLst/>
          </a:prstGeom>
        </p:spPr>
      </p:pic>
      <p:sp>
        <p:nvSpPr>
          <p:cNvPr id="5" name="Shape 2"/>
          <p:cNvSpPr/>
          <p:nvPr/>
        </p:nvSpPr>
        <p:spPr>
          <a:xfrm>
            <a:off x="7406640" y="1495044"/>
            <a:ext cx="423367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607808" y="1641348"/>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0.89</a:t>
            </a:r>
            <a:endParaRPr lang="en-US" sz="4000" dirty="0"/>
          </a:p>
        </p:txBody>
      </p:sp>
      <p:sp>
        <p:nvSpPr>
          <p:cNvPr id="7" name="Text 4"/>
          <p:cNvSpPr/>
          <p:nvPr/>
        </p:nvSpPr>
        <p:spPr>
          <a:xfrm>
            <a:off x="7607808" y="2318004"/>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forecast and the new survey rank the 37 states in almost the same order.</a:t>
            </a:r>
            <a:endParaRPr lang="en-US" sz="1800" dirty="0"/>
          </a:p>
        </p:txBody>
      </p:sp>
      <p:sp>
        <p:nvSpPr>
          <p:cNvPr id="8" name="Shape 5"/>
          <p:cNvSpPr/>
          <p:nvPr/>
        </p:nvSpPr>
        <p:spPr>
          <a:xfrm>
            <a:off x="7406640" y="3458718"/>
            <a:ext cx="4233672" cy="1835658"/>
          </a:xfrm>
          <a:prstGeom prst="rect">
            <a:avLst/>
          </a:prstGeom>
          <a:solidFill>
            <a:srgbClr val="E7F1EB"/>
          </a:solidFill>
          <a:ln w="9525">
            <a:solidFill>
              <a:srgbClr val="C9D6E2"/>
            </a:solidFill>
            <a:prstDash val="solid"/>
          </a:ln>
        </p:spPr>
        <p:txBody>
          <a:bodyPr/>
          <a:lstStyle/>
          <a:p>
            <a:endParaRPr lang="LID4096"/>
          </a:p>
        </p:txBody>
      </p:sp>
      <p:sp>
        <p:nvSpPr>
          <p:cNvPr id="9" name="Text 6"/>
          <p:cNvSpPr/>
          <p:nvPr/>
        </p:nvSpPr>
        <p:spPr>
          <a:xfrm>
            <a:off x="7607808" y="3605022"/>
            <a:ext cx="383133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48% vs 49%</a:t>
            </a:r>
            <a:endParaRPr lang="en-US" sz="4000" dirty="0"/>
          </a:p>
        </p:txBody>
      </p:sp>
      <p:sp>
        <p:nvSpPr>
          <p:cNvPr id="10" name="Text 7"/>
          <p:cNvSpPr/>
          <p:nvPr/>
        </p:nvSpPr>
        <p:spPr>
          <a:xfrm>
            <a:off x="7607808" y="4281678"/>
            <a:ext cx="383133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North-West forecast against the new survey - within one point</a:t>
            </a:r>
            <a:endParaRPr lang="en-US" sz="1800" dirty="0"/>
          </a:p>
        </p:txBody>
      </p:sp>
      <p:sp>
        <p:nvSpPr>
          <p:cNvPr id="11" name="Text 8"/>
          <p:cNvSpPr/>
          <p:nvPr/>
        </p:nvSpPr>
        <p:spPr>
          <a:xfrm>
            <a:off x="7406640" y="5422392"/>
            <a:ext cx="4233672" cy="607390"/>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pattern also matched independent child-death data.</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
        <p:nvSpPr>
          <p:cNvPr id="12" name="Shape 9"/>
          <p:cNvSpPr/>
          <p:nvPr/>
        </p:nvSpPr>
        <p:spPr>
          <a:xfrm>
            <a:off x="548640" y="4878324"/>
            <a:ext cx="6309360" cy="1162545"/>
          </a:xfrm>
          <a:prstGeom prst="rect">
            <a:avLst/>
          </a:prstGeom>
          <a:solidFill>
            <a:srgbClr val="EEF2F6"/>
          </a:solidFill>
          <a:ln w="9525">
            <a:solidFill>
              <a:srgbClr val="C9D6E2"/>
            </a:solidFill>
            <a:prstDash val="solid"/>
          </a:ln>
        </p:spPr>
        <p:txBody>
          <a:bodyPr/>
          <a:lstStyle/>
          <a:p>
            <a:endParaRPr lang="LID4096"/>
          </a:p>
        </p:txBody>
      </p:sp>
      <p:sp>
        <p:nvSpPr>
          <p:cNvPr id="13" name="Text 10"/>
          <p:cNvSpPr/>
          <p:nvPr/>
        </p:nvSpPr>
        <p:spPr>
          <a:xfrm>
            <a:off x="749808" y="5015484"/>
            <a:ext cx="5907024" cy="888225"/>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this is the strongest evidence. </a:t>
            </a:r>
            <a:r>
              <a:rPr lang="en-US" sz="1800" dirty="0">
                <a:solidFill>
                  <a:srgbClr val="22333F"/>
                </a:solidFill>
                <a:latin typeface="Arial" pitchFamily="34" charset="0"/>
                <a:ea typeface="Arial" pitchFamily="34" charset="-122"/>
                <a:cs typeface="Arial" pitchFamily="34" charset="-120"/>
              </a:rPr>
              <a:t>The NmDHS 2025-26 did not exist when the model was built - a true out-of-sample test.</a:t>
            </a:r>
            <a:endParaRPr lang="en-US" sz="1800" dirty="0"/>
          </a:p>
        </p:txBody>
      </p:sp>
      <p:sp>
        <p:nvSpPr>
          <p:cNvPr id="14" name="Text 1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rho = Spearman rank correlation, where 1.00 is a perfect match of the ordering. Sources: Nigeria mini Demographic and Health Survey (NmDHS) 2025-26; consortium forecast; IHME Global Burden of Disease 2023. Out-of-sample check.</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External check, local-government level</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Independent data, built another way, puts the same areas in the same order.</a:t>
            </a:r>
            <a:endParaRPr lang="en-US" sz="1800" dirty="0"/>
          </a:p>
        </p:txBody>
      </p:sp>
      <p:pic>
        <p:nvPicPr>
          <p:cNvPr id="11" name="Picture 10" descr="M1_05_ihme_concordance.png"/>
          <p:cNvPicPr>
            <a:picLocks noChangeAspect="1"/>
          </p:cNvPicPr>
          <p:nvPr/>
        </p:nvPicPr>
        <p:blipFill>
          <a:blip r:embed="rId4"/>
          <a:stretch>
            <a:fillRect/>
          </a:stretch>
        </p:blipFill>
        <p:spPr>
          <a:xfrm>
            <a:off x="548640" y="1577520"/>
            <a:ext cx="6949440" cy="3204611"/>
          </a:xfrm>
          <a:prstGeom prst="rect">
            <a:avLst/>
          </a:prstGeom>
        </p:spPr>
      </p:pic>
      <p:sp>
        <p:nvSpPr>
          <p:cNvPr id="5" name="Shape 2"/>
          <p:cNvSpPr/>
          <p:nvPr/>
        </p:nvSpPr>
        <p:spPr>
          <a:xfrm>
            <a:off x="7680960" y="1227582"/>
            <a:ext cx="3959352" cy="1835658"/>
          </a:xfrm>
          <a:prstGeom prst="rect">
            <a:avLst/>
          </a:prstGeom>
          <a:solidFill>
            <a:srgbClr val="E7F1EB"/>
          </a:solidFill>
          <a:ln w="9525">
            <a:solidFill>
              <a:srgbClr val="C9D6E2"/>
            </a:solidFill>
            <a:prstDash val="solid"/>
          </a:ln>
        </p:spPr>
        <p:txBody>
          <a:bodyPr/>
          <a:lstStyle/>
          <a:p>
            <a:endParaRPr lang="LID4096"/>
          </a:p>
        </p:txBody>
      </p:sp>
      <p:sp>
        <p:nvSpPr>
          <p:cNvPr id="6" name="Text 3"/>
          <p:cNvSpPr/>
          <p:nvPr/>
        </p:nvSpPr>
        <p:spPr>
          <a:xfrm>
            <a:off x="7882128" y="1373886"/>
            <a:ext cx="3557016" cy="640080"/>
          </a:xfrm>
          <a:prstGeom prst="rect">
            <a:avLst/>
          </a:prstGeom>
          <a:noFill/>
          <a:ln/>
        </p:spPr>
        <p:txBody>
          <a:bodyPr wrap="square" lIns="0" tIns="0" rIns="0" bIns="0" rtlCol="0" anchor="t"/>
          <a:lstStyle/>
          <a:p>
            <a:pPr marL="0" indent="0">
              <a:buNone/>
            </a:pPr>
            <a:r>
              <a:rPr lang="en-US" sz="4000" b="1" dirty="0">
                <a:solidFill>
                  <a:srgbClr val="1C7A3D"/>
                </a:solidFill>
                <a:latin typeface="Arial" pitchFamily="34" charset="0"/>
                <a:ea typeface="Arial" pitchFamily="34" charset="-122"/>
                <a:cs typeface="Arial" pitchFamily="34" charset="-120"/>
              </a:rPr>
              <a:t>rho = 0.65</a:t>
            </a:r>
            <a:endParaRPr lang="en-US" sz="4000" dirty="0"/>
          </a:p>
        </p:txBody>
      </p:sp>
      <p:sp>
        <p:nvSpPr>
          <p:cNvPr id="7" name="Text 4"/>
          <p:cNvSpPr/>
          <p:nvPr/>
        </p:nvSpPr>
        <p:spPr>
          <a:xfrm>
            <a:off x="7882128" y="2050542"/>
            <a:ext cx="3557016" cy="848106"/>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Our LGA ranking and the independent map show similar priority patterns.</a:t>
            </a:r>
          </a:p>
          <a:p>
            <a:pPr marL="0" indent="0">
              <a:buNone/>
            </a:pPr>
            <a:endParaRPr lang="en-US" sz="1800" b="1" dirty="0">
              <a:solidFill>
                <a:srgbClr val="1F3B57"/>
              </a:solidFill>
              <a:latin typeface="Arial" pitchFamily="34" charset="0"/>
              <a:ea typeface="Arial" pitchFamily="34" charset="-122"/>
              <a:cs typeface="Arial" pitchFamily="34" charset="-120"/>
            </a:endParaRPr>
          </a:p>
        </p:txBody>
      </p:sp>
      <p:sp>
        <p:nvSpPr>
          <p:cNvPr id="8" name="Text 5"/>
          <p:cNvSpPr/>
          <p:nvPr/>
        </p:nvSpPr>
        <p:spPr>
          <a:xfrm>
            <a:off x="7680960" y="3191256"/>
            <a:ext cx="3959352"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Most LGAs were placed in the same or a neighbouring priority third. Only 36 were in opposite thirds and should be reviewed.</a:t>
            </a:r>
          </a:p>
        </p:txBody>
      </p:sp>
      <p:sp>
        <p:nvSpPr>
          <p:cNvPr id="9" name="Text 6"/>
          <p:cNvSpPr/>
          <p:nvPr/>
        </p:nvSpPr>
        <p:spPr>
          <a:xfrm>
            <a:off x="7680960" y="4741736"/>
            <a:ext cx="3959352" cy="1169060"/>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Why the levels differ. </a:t>
            </a:r>
            <a:r>
              <a:rPr lang="en-US" sz="1800" dirty="0">
                <a:solidFill>
                  <a:srgbClr val="22333F"/>
                </a:solidFill>
                <a:latin typeface="Arial" pitchFamily="34" charset="0"/>
                <a:ea typeface="Arial" pitchFamily="34" charset="-122"/>
                <a:cs typeface="Arial" pitchFamily="34" charset="-120"/>
              </a:rPr>
              <a:t>The IHME surface ends in 2018 and ours is for 2026. Eight years shift the levels, but the geography still agrees.</a:t>
            </a:r>
            <a:endParaRPr lang="en-US" sz="1800" dirty="0"/>
          </a:p>
        </p:txBody>
      </p:sp>
      <p:sp>
        <p:nvSpPr>
          <p:cNvPr id="10" name="Text 7"/>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Method 1 local-government estimate as DTP1 coverage (100 minus zero-dose), against the IHME Local Burden of Disease DTP1 admin-2 surface, 2000 to 2018. rho = Spearman rank correlation, 743 matched LGAs.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How the RI team uses this</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Each output maps to a decision the programme already makes.</a:t>
            </a:r>
            <a:endParaRPr lang="en-US" sz="1800" dirty="0"/>
          </a:p>
        </p:txBody>
      </p:sp>
      <p:pic>
        <p:nvPicPr>
          <p:cNvPr id="25" name="Picture 24" descr="M1_03_pareto.png"/>
          <p:cNvPicPr>
            <a:picLocks noChangeAspect="1"/>
          </p:cNvPicPr>
          <p:nvPr/>
        </p:nvPicPr>
        <p:blipFill>
          <a:blip r:embed="rId4"/>
          <a:stretch>
            <a:fillRect/>
          </a:stretch>
        </p:blipFill>
        <p:spPr>
          <a:xfrm>
            <a:off x="7247234" y="1227582"/>
            <a:ext cx="3820963" cy="2194560"/>
          </a:xfrm>
          <a:prstGeom prst="rect">
            <a:avLst/>
          </a:prstGeom>
        </p:spPr>
      </p:pic>
      <p:sp>
        <p:nvSpPr>
          <p:cNvPr id="5" name="Text 2"/>
          <p:cNvSpPr/>
          <p:nvPr/>
        </p:nvSpPr>
        <p:spPr>
          <a:xfrm>
            <a:off x="6675120" y="3424374"/>
            <a:ext cx="4965192" cy="888225"/>
          </a:xfrm>
          <a:prstGeom prst="rect">
            <a:avLst/>
          </a:prstGeom>
          <a:noFill/>
          <a:ln/>
        </p:spPr>
        <p:txBody>
          <a:bodyPr wrap="square" lIns="0" tIns="0" rIns="0" bIns="0" rtlCol="0" anchor="t"/>
          <a:lstStyle/>
          <a:p>
            <a:pPr marL="0" indent="0">
              <a:lnSpc>
                <a:spcPct val="105000"/>
              </a:lnSpc>
              <a:buNone/>
            </a:pPr>
            <a:r>
              <a:rPr lang="en-US" sz="1800" dirty="0">
                <a:solidFill>
                  <a:srgbClr val="45596B"/>
                </a:solidFill>
                <a:latin typeface="Arial" pitchFamily="34" charset="0"/>
                <a:ea typeface="Arial" pitchFamily="34" charset="-122"/>
                <a:cs typeface="Arial" pitchFamily="34" charset="-120"/>
              </a:rPr>
              <a:t>The tool ranks LGAs by estimated missed children and shows how much of the burden each group contains.</a:t>
            </a:r>
          </a:p>
          <a:p>
            <a:pPr marL="0" indent="0">
              <a:lnSpc>
                <a:spcPct val="105000"/>
              </a:lnSpc>
              <a:buNone/>
            </a:pPr>
            <a:endParaRPr lang="en-US" sz="1800" dirty="0">
              <a:solidFill>
                <a:srgbClr val="45596B"/>
              </a:solidFill>
              <a:latin typeface="Arial" pitchFamily="34" charset="0"/>
              <a:ea typeface="Arial" pitchFamily="34" charset="-122"/>
              <a:cs typeface="Arial" pitchFamily="34" charset="-120"/>
            </a:endParaRPr>
          </a:p>
        </p:txBody>
      </p:sp>
      <p:sp>
        <p:nvSpPr>
          <p:cNvPr id="6" name="Shape 3"/>
          <p:cNvSpPr/>
          <p:nvPr/>
        </p:nvSpPr>
        <p:spPr>
          <a:xfrm>
            <a:off x="548640" y="1245870"/>
            <a:ext cx="384048" cy="384048"/>
          </a:xfrm>
          <a:prstGeom prst="ellipse">
            <a:avLst/>
          </a:prstGeom>
          <a:solidFill>
            <a:srgbClr val="1F3B57"/>
          </a:solidFill>
          <a:ln/>
        </p:spPr>
        <p:txBody>
          <a:bodyPr/>
          <a:lstStyle/>
          <a:p>
            <a:endParaRPr lang="LID4096"/>
          </a:p>
        </p:txBody>
      </p:sp>
      <p:sp>
        <p:nvSpPr>
          <p:cNvPr id="7" name="Text 4"/>
          <p:cNvSpPr/>
          <p:nvPr/>
        </p:nvSpPr>
        <p:spPr>
          <a:xfrm>
            <a:off x="548640" y="1245870"/>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5"/>
          <p:cNvSpPr/>
          <p:nvPr/>
        </p:nvSpPr>
        <p:spPr>
          <a:xfrm>
            <a:off x="1078992" y="1227582"/>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Microplanning</a:t>
            </a:r>
            <a:endParaRPr lang="en-US" sz="1800" dirty="0"/>
          </a:p>
        </p:txBody>
      </p:sp>
      <p:sp>
        <p:nvSpPr>
          <p:cNvPr id="9" name="Text 6"/>
          <p:cNvSpPr/>
          <p:nvPr/>
        </p:nvSpPr>
        <p:spPr>
          <a:xfrm>
            <a:off x="1078992" y="1538478"/>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the priority list and vaccine-risk calendar in annual RI workplans.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7"/>
          <p:cNvSpPr/>
          <p:nvPr/>
        </p:nvSpPr>
        <p:spPr>
          <a:xfrm>
            <a:off x="548640" y="2338578"/>
            <a:ext cx="384048" cy="384048"/>
          </a:xfrm>
          <a:prstGeom prst="ellipse">
            <a:avLst/>
          </a:prstGeom>
          <a:solidFill>
            <a:srgbClr val="1F3B57"/>
          </a:solidFill>
          <a:ln/>
        </p:spPr>
        <p:txBody>
          <a:bodyPr/>
          <a:lstStyle/>
          <a:p>
            <a:endParaRPr lang="LID4096"/>
          </a:p>
        </p:txBody>
      </p:sp>
      <p:sp>
        <p:nvSpPr>
          <p:cNvPr id="11" name="Text 8"/>
          <p:cNvSpPr/>
          <p:nvPr/>
        </p:nvSpPr>
        <p:spPr>
          <a:xfrm>
            <a:off x="548640" y="233857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2" name="Text 9"/>
          <p:cNvSpPr/>
          <p:nvPr/>
        </p:nvSpPr>
        <p:spPr>
          <a:xfrm>
            <a:off x="1078992" y="232029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Barrier-matched packages</a:t>
            </a:r>
            <a:endParaRPr lang="en-US" sz="1800" dirty="0"/>
          </a:p>
        </p:txBody>
      </p:sp>
      <p:sp>
        <p:nvSpPr>
          <p:cNvPr id="13" name="Text 10"/>
          <p:cNvSpPr/>
          <p:nvPr/>
        </p:nvSpPr>
        <p:spPr>
          <a:xfrm>
            <a:off x="1078992" y="263118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each LGA's measured barriers to choose the package, starting from the state package.</a:t>
            </a:r>
          </a:p>
        </p:txBody>
      </p:sp>
      <p:sp>
        <p:nvSpPr>
          <p:cNvPr id="14" name="Shape 11"/>
          <p:cNvSpPr/>
          <p:nvPr/>
        </p:nvSpPr>
        <p:spPr>
          <a:xfrm>
            <a:off x="548640" y="3698748"/>
            <a:ext cx="384048" cy="384048"/>
          </a:xfrm>
          <a:prstGeom prst="ellipse">
            <a:avLst/>
          </a:prstGeom>
          <a:solidFill>
            <a:srgbClr val="1F3B57"/>
          </a:solidFill>
          <a:ln/>
        </p:spPr>
        <p:txBody>
          <a:bodyPr/>
          <a:lstStyle/>
          <a:p>
            <a:endParaRPr lang="LID4096"/>
          </a:p>
        </p:txBody>
      </p:sp>
      <p:sp>
        <p:nvSpPr>
          <p:cNvPr id="15" name="Text 12"/>
          <p:cNvSpPr/>
          <p:nvPr/>
        </p:nvSpPr>
        <p:spPr>
          <a:xfrm>
            <a:off x="548640" y="369874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3"/>
          <p:cNvSpPr/>
          <p:nvPr/>
        </p:nvSpPr>
        <p:spPr>
          <a:xfrm>
            <a:off x="1078992" y="368046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Campaign and supervision routing</a:t>
            </a:r>
            <a:endParaRPr lang="en-US" sz="1800" dirty="0"/>
          </a:p>
        </p:txBody>
      </p:sp>
      <p:sp>
        <p:nvSpPr>
          <p:cNvPr id="17" name="Text 14"/>
          <p:cNvSpPr/>
          <p:nvPr/>
        </p:nvSpPr>
        <p:spPr>
          <a:xfrm>
            <a:off x="1078992" y="3991356"/>
            <a:ext cx="5577840" cy="848106"/>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hotspot and burden ranking to choose campaign areas and supervision routes.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5"/>
          <p:cNvSpPr/>
          <p:nvPr/>
        </p:nvSpPr>
        <p:spPr>
          <a:xfrm>
            <a:off x="548640" y="5058918"/>
            <a:ext cx="384048" cy="384048"/>
          </a:xfrm>
          <a:prstGeom prst="ellipse">
            <a:avLst/>
          </a:prstGeom>
          <a:solidFill>
            <a:srgbClr val="1F3B57"/>
          </a:solidFill>
          <a:ln/>
        </p:spPr>
        <p:txBody>
          <a:bodyPr/>
          <a:lstStyle/>
          <a:p>
            <a:endParaRPr lang="LID4096"/>
          </a:p>
        </p:txBody>
      </p:sp>
      <p:sp>
        <p:nvSpPr>
          <p:cNvPr id="19" name="Text 16"/>
          <p:cNvSpPr/>
          <p:nvPr/>
        </p:nvSpPr>
        <p:spPr>
          <a:xfrm>
            <a:off x="548640" y="5058918"/>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7"/>
          <p:cNvSpPr/>
          <p:nvPr/>
        </p:nvSpPr>
        <p:spPr>
          <a:xfrm>
            <a:off x="1078992" y="5040630"/>
            <a:ext cx="557784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Leverage beyond immunization</a:t>
            </a:r>
            <a:endParaRPr lang="en-US" sz="1800" dirty="0"/>
          </a:p>
        </p:txBody>
      </p:sp>
      <p:sp>
        <p:nvSpPr>
          <p:cNvPr id="21" name="Text 18"/>
          <p:cNvSpPr/>
          <p:nvPr/>
        </p:nvSpPr>
        <p:spPr>
          <a:xfrm>
            <a:off x="1078992" y="5351526"/>
            <a:ext cx="557784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Many high-risk places also need nutrition and antenatal-care support; one visit can deliver several services.</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2" name="Shape 19"/>
          <p:cNvSpPr/>
          <p:nvPr/>
        </p:nvSpPr>
        <p:spPr>
          <a:xfrm>
            <a:off x="6675120" y="4336542"/>
            <a:ext cx="4965192" cy="1724216"/>
          </a:xfrm>
          <a:prstGeom prst="rect">
            <a:avLst/>
          </a:prstGeom>
          <a:solidFill>
            <a:srgbClr val="E7F1EB"/>
          </a:solidFill>
          <a:ln w="9525">
            <a:solidFill>
              <a:srgbClr val="C9D6E2"/>
            </a:solidFill>
            <a:prstDash val="solid"/>
          </a:ln>
        </p:spPr>
        <p:txBody>
          <a:bodyPr/>
          <a:lstStyle/>
          <a:p>
            <a:endParaRPr lang="LID4096"/>
          </a:p>
        </p:txBody>
      </p:sp>
      <p:sp>
        <p:nvSpPr>
          <p:cNvPr id="23" name="Text 20"/>
          <p:cNvSpPr/>
          <p:nvPr/>
        </p:nvSpPr>
        <p:spPr>
          <a:xfrm>
            <a:off x="6876288" y="4473702"/>
            <a:ext cx="4562856" cy="1449896"/>
          </a:xfrm>
          <a:prstGeom prst="rect">
            <a:avLst/>
          </a:prstGeom>
          <a:noFill/>
          <a:ln/>
        </p:spPr>
        <p:txBody>
          <a:bodyPr wrap="square" lIns="0" tIns="0" rIns="0" bIns="0" rtlCol="0" anchor="t"/>
          <a:lstStyle/>
          <a:p>
            <a:pPr marL="0" indent="0">
              <a:lnSpc>
                <a:spcPct val="105000"/>
              </a:lnSpc>
              <a:buNone/>
            </a:pPr>
            <a:r>
              <a:rPr lang="en-US" sz="1800" b="1" dirty="0">
                <a:solidFill>
                  <a:srgbClr val="1F3B57"/>
                </a:solidFill>
                <a:latin typeface="Arial" pitchFamily="34" charset="0"/>
                <a:ea typeface="Arial" pitchFamily="34" charset="-122"/>
                <a:cs typeface="Arial" pitchFamily="34" charset="-120"/>
              </a:rPr>
              <a:t>Sequencing the money. </a:t>
            </a:r>
            <a:r>
              <a:rPr lang="en-US" sz="1800" dirty="0" b="0">
                <a:solidFill>
                  <a:srgbClr val="22333F"/>
                </a:solidFill>
                <a:latin typeface="Arial" pitchFamily="34" charset="0"/>
                <a:ea typeface="Arial" pitchFamily="34" charset="-122"/>
                <a:cs typeface="Arial" pitchFamily="34" charset="-120"/>
              </a:rPr>
              <a:t>Start with about 151 LGAs to reach half of missed children, expand to about 199 for 60 percent, then toward 342 LGAs to reach 80 percent.</a:t>
            </a:r>
            <a:endParaRPr lang="en-US" sz="1800" dirty="0"/>
          </a:p>
        </p:txBody>
      </p:sp>
      <p:sp>
        <p:nvSpPr>
          <p:cNvPr id="24" name="Text 21"/>
          <p:cNvSpPr/>
          <p:nvPr/>
        </p:nvSpPr>
        <p:spPr>
          <a:xfrm>
            <a:off x="548640" y="6158484"/>
            <a:ext cx="11091672" cy="461772"/>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Model estimate. Source: Domain 5 local-government ranking and Pareto curve (Method 1: Bayesian hierarchical model with DHIS2-calibrated LGA allocation; 773 local government areas; national total 2.10 million).</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The platform: a live tool, not a static report</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A no-code web application that re-runs every model on uploaded data.</a:t>
            </a:r>
            <a:endParaRPr lang="en-US" sz="1800" dirty="0"/>
          </a:p>
        </p:txBody>
      </p:sp>
      <p:sp>
        <p:nvSpPr>
          <p:cNvPr id="4" name="Shape 2"/>
          <p:cNvSpPr/>
          <p:nvPr/>
        </p:nvSpPr>
        <p:spPr>
          <a:xfrm>
            <a:off x="54864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5" name="Text 3"/>
          <p:cNvSpPr/>
          <p:nvPr/>
        </p:nvSpPr>
        <p:spPr>
          <a:xfrm>
            <a:off x="749808" y="1392174"/>
            <a:ext cx="3191256" cy="342900"/>
          </a:xfrm>
          <a:prstGeom prst="rect">
            <a:avLst/>
          </a:prstGeom>
          <a:noFill/>
          <a:ln/>
        </p:spPr>
        <p:txBody>
          <a:bodyPr wrap="square" lIns="0" tIns="0" rIns="0" bIns="0" rtlCol="0" anchor="t"/>
          <a:lstStyle/>
          <a:p>
            <a:pPr marL="0" indent="0">
              <a:lnSpc>
                <a:spcPct val="100000"/>
              </a:lnSpc>
              <a:buNone/>
            </a:pPr>
            <a:r>
              <a:rPr lang="en-US" sz="2000" b="1" dirty="0">
                <a:solidFill>
                  <a:srgbClr val="1F3B57"/>
                </a:solidFill>
                <a:latin typeface="Arial" pitchFamily="34" charset="0"/>
                <a:ea typeface="Arial" pitchFamily="34" charset="-122"/>
                <a:cs typeface="Arial" pitchFamily="34" charset="-120"/>
              </a:rPr>
              <a:t>Live, no-code re-runs</a:t>
            </a:r>
            <a:endParaRPr lang="en-US" sz="2000" dirty="0"/>
          </a:p>
        </p:txBody>
      </p:sp>
      <p:sp>
        <p:nvSpPr>
          <p:cNvPr id="6" name="Text 4"/>
          <p:cNvSpPr/>
          <p:nvPr/>
        </p:nvSpPr>
        <p:spPr>
          <a:xfrm>
            <a:off x="749808" y="1826514"/>
            <a:ext cx="3191256" cy="1730731"/>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Upload new DHIS2 or survey files. The app checks the data and updates the results.</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7" name="Shape 5"/>
          <p:cNvSpPr/>
          <p:nvPr/>
        </p:nvSpPr>
        <p:spPr>
          <a:xfrm>
            <a:off x="4297680" y="1227582"/>
            <a:ext cx="3593592" cy="3246120"/>
          </a:xfrm>
          <a:prstGeom prst="rect">
            <a:avLst/>
          </a:prstGeom>
          <a:solidFill>
            <a:srgbClr val="EEF2F6"/>
          </a:solidFill>
          <a:ln w="9525">
            <a:solidFill>
              <a:srgbClr val="C9D6E2"/>
            </a:solidFill>
            <a:prstDash val="solid"/>
          </a:ln>
        </p:spPr>
        <p:txBody>
          <a:bodyPr/>
          <a:lstStyle/>
          <a:p>
            <a:endParaRPr lang="LID4096"/>
          </a:p>
        </p:txBody>
      </p:sp>
      <p:sp>
        <p:nvSpPr>
          <p:cNvPr id="8" name="Text 6"/>
          <p:cNvSpPr/>
          <p:nvPr/>
        </p:nvSpPr>
        <p:spPr>
          <a:xfrm>
            <a:off x="449884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2E6E8E"/>
                </a:solidFill>
                <a:latin typeface="Arial" pitchFamily="34" charset="0"/>
                <a:ea typeface="Arial" pitchFamily="34" charset="-122"/>
                <a:cs typeface="Arial" pitchFamily="34" charset="-120"/>
              </a:rPr>
              <a:t>The LGA Priority and Archetypes screen</a:t>
            </a:r>
            <a:endParaRPr lang="en-US" sz="2000" dirty="0"/>
          </a:p>
        </p:txBody>
      </p:sp>
      <p:sp>
        <p:nvSpPr>
          <p:cNvPr id="9" name="Text 7"/>
          <p:cNvSpPr/>
          <p:nvPr/>
        </p:nvSpPr>
        <p:spPr>
          <a:xfrm>
            <a:off x="449884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Filter by state or LGA to see vaccine risks, estimated missed children, rank and recommended response type. Results export to Excel.</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p:txBody>
      </p:sp>
      <p:sp>
        <p:nvSpPr>
          <p:cNvPr id="10" name="Shape 8"/>
          <p:cNvSpPr/>
          <p:nvPr/>
        </p:nvSpPr>
        <p:spPr>
          <a:xfrm>
            <a:off x="8046720" y="1227582"/>
            <a:ext cx="3593592" cy="3246120"/>
          </a:xfrm>
          <a:prstGeom prst="rect">
            <a:avLst/>
          </a:prstGeom>
          <a:solidFill>
            <a:srgbClr val="E7F1EB"/>
          </a:solidFill>
          <a:ln w="9525">
            <a:solidFill>
              <a:srgbClr val="C9D6E2"/>
            </a:solidFill>
            <a:prstDash val="solid"/>
          </a:ln>
        </p:spPr>
        <p:txBody>
          <a:bodyPr/>
          <a:lstStyle/>
          <a:p>
            <a:endParaRPr lang="LID4096"/>
          </a:p>
        </p:txBody>
      </p:sp>
      <p:sp>
        <p:nvSpPr>
          <p:cNvPr id="11" name="Text 9"/>
          <p:cNvSpPr/>
          <p:nvPr/>
        </p:nvSpPr>
        <p:spPr>
          <a:xfrm>
            <a:off x="8247888" y="1392174"/>
            <a:ext cx="3191256" cy="640080"/>
          </a:xfrm>
          <a:prstGeom prst="rect">
            <a:avLst/>
          </a:prstGeom>
          <a:noFill/>
          <a:ln/>
        </p:spPr>
        <p:txBody>
          <a:bodyPr wrap="square" lIns="0" tIns="0" rIns="0" bIns="0" rtlCol="0" anchor="t"/>
          <a:lstStyle/>
          <a:p>
            <a:pPr marL="0" indent="0">
              <a:lnSpc>
                <a:spcPct val="100000"/>
              </a:lnSpc>
              <a:buNone/>
            </a:pPr>
            <a:r>
              <a:rPr lang="en-US" sz="2000" b="1" dirty="0">
                <a:solidFill>
                  <a:srgbClr val="1C7A3D"/>
                </a:solidFill>
                <a:latin typeface="Arial" pitchFamily="34" charset="0"/>
                <a:ea typeface="Arial" pitchFamily="34" charset="-122"/>
                <a:cs typeface="Arial" pitchFamily="34" charset="-120"/>
              </a:rPr>
              <a:t>ZARA, the platform's analyst</a:t>
            </a:r>
            <a:endParaRPr lang="en-US" sz="2000" dirty="0"/>
          </a:p>
        </p:txBody>
      </p:sp>
      <p:sp>
        <p:nvSpPr>
          <p:cNvPr id="12" name="Text 10"/>
          <p:cNvSpPr/>
          <p:nvPr/>
        </p:nvSpPr>
        <p:spPr>
          <a:xfrm>
            <a:off x="8247888" y="2123694"/>
            <a:ext cx="3191256" cy="2011566"/>
          </a:xfrm>
          <a:prstGeom prst="rect">
            <a:avLst/>
          </a:prstGeom>
          <a:noFill/>
          <a:ln/>
        </p:spPr>
        <p:txBody>
          <a:bodyPr wrap="square" lIns="0" tIns="0" rIns="0" bIns="0" rtlCol="0" anchor="t"/>
          <a:lstStyle/>
          <a:p>
            <a:pPr marL="0" indent="0">
              <a:lnSpc>
                <a:spcPct val="105000"/>
              </a:lnSpc>
              <a:buNone/>
            </a:pPr>
            <a:r>
              <a:rPr lang="en-US" sz="1800" dirty="0">
                <a:solidFill>
                  <a:srgbClr val="22333F"/>
                </a:solidFill>
                <a:latin typeface="Arial" pitchFamily="34" charset="0"/>
                <a:ea typeface="Arial" pitchFamily="34" charset="-122"/>
                <a:cs typeface="Arial" pitchFamily="34" charset="-120"/>
              </a:rPr>
              <a:t>Zero-dose Analytics and Risk Assistant: ZARA answers simple questions in English, Hausa, Yoruba, Igbo, Pidgin and more, using only the results in the platform.</a:t>
            </a:r>
          </a:p>
          <a:p>
            <a:pPr marL="0" indent="0">
              <a:lnSpc>
                <a:spcPct val="105000"/>
              </a:lnSpc>
              <a:buNone/>
            </a:pPr>
            <a:endParaRPr lang="en-US" sz="1800" dirty="0">
              <a:solidFill>
                <a:srgbClr val="22333F"/>
              </a:solidFill>
              <a:latin typeface="Arial" pitchFamily="34" charset="0"/>
              <a:ea typeface="Arial" pitchFamily="34" charset="-122"/>
              <a:cs typeface="Arial" pitchFamily="34" charset="-120"/>
            </a:endParaRPr>
          </a:p>
          <a:p>
            <a:pPr marL="0" indent="0">
              <a:lnSpc>
                <a:spcPct val="105000"/>
              </a:lnSpc>
              <a:buNone/>
            </a:pPr>
            <a:endParaRPr lang="en-US" sz="1800" dirty="0"/>
          </a:p>
        </p:txBody>
      </p:sp>
      <p:sp>
        <p:nvSpPr>
          <p:cNvPr id="13" name="Shape 11"/>
          <p:cNvSpPr/>
          <p:nvPr/>
        </p:nvSpPr>
        <p:spPr>
          <a:xfrm>
            <a:off x="548640" y="4601718"/>
            <a:ext cx="11091672" cy="1681124"/>
          </a:xfrm>
          <a:prstGeom prst="rect">
            <a:avLst/>
          </a:prstGeom>
          <a:solidFill>
            <a:srgbClr val="1F3B57"/>
          </a:solidFill>
          <a:ln/>
        </p:spPr>
        <p:txBody>
          <a:bodyPr/>
          <a:lstStyle/>
          <a:p>
            <a:endParaRPr lang="LID4096"/>
          </a:p>
        </p:txBody>
      </p:sp>
      <p:sp>
        <p:nvSpPr>
          <p:cNvPr id="14" name="Text 12"/>
          <p:cNvSpPr/>
          <p:nvPr/>
        </p:nvSpPr>
        <p:spPr>
          <a:xfrm>
            <a:off x="804672" y="4711446"/>
            <a:ext cx="5120640" cy="256032"/>
          </a:xfrm>
          <a:prstGeom prst="rect">
            <a:avLst/>
          </a:prstGeom>
          <a:noFill/>
          <a:ln/>
        </p:spPr>
        <p:txBody>
          <a:bodyPr wrap="square" lIns="0" tIns="0" rIns="0" bIns="0" rtlCol="0" anchor="t"/>
          <a:lstStyle/>
          <a:p>
            <a:pPr marL="0" indent="0">
              <a:buNone/>
            </a:pPr>
            <a:r>
              <a:rPr lang="en-US" sz="1800" b="1" dirty="0">
                <a:solidFill>
                  <a:srgbClr val="9BB8D6"/>
                </a:solidFill>
                <a:latin typeface="Arial" pitchFamily="34" charset="0"/>
                <a:ea typeface="Arial" pitchFamily="34" charset="-122"/>
                <a:cs typeface="Arial" pitchFamily="34" charset="-120"/>
              </a:rPr>
              <a:t>Guardrails, on every view</a:t>
            </a:r>
            <a:endParaRPr lang="en-US" sz="1800" dirty="0"/>
          </a:p>
        </p:txBody>
      </p:sp>
      <p:sp>
        <p:nvSpPr>
          <p:cNvPr id="15" name="Text 13"/>
          <p:cNvSpPr/>
          <p:nvPr/>
        </p:nvSpPr>
        <p:spPr>
          <a:xfrm>
            <a:off x="804672" y="5004054"/>
            <a:ext cx="10579608" cy="1169060"/>
          </a:xfrm>
          <a:prstGeom prst="rect">
            <a:avLst/>
          </a:prstGeom>
          <a:noFill/>
          <a:ln/>
        </p:spPr>
        <p:txBody>
          <a:bodyPr wrap="square" lIns="0" tIns="0" rIns="0" bIns="0" rtlCol="0" anchor="t"/>
          <a:lstStyle/>
          <a:p>
            <a:pPr marL="0" indent="0">
              <a:lnSpc>
                <a:spcPct val="105000"/>
              </a:lnSpc>
              <a:buNone/>
            </a:pPr>
            <a:r>
              <a:rPr lang="en-US" sz="1800" dirty="0">
                <a:solidFill>
                  <a:srgbClr val="FFFFFF"/>
                </a:solidFill>
                <a:latin typeface="Arial" pitchFamily="34" charset="0"/>
                <a:ea typeface="Arial" pitchFamily="34" charset="-122"/>
                <a:cs typeface="Arial" pitchFamily="34" charset="-120"/>
              </a:rPr>
              <a:t>Each result shows the data date, reporting completeness and whether it is an estimate. This helps users avoid misreading the figures.</a:t>
            </a:r>
          </a:p>
          <a:p>
            <a:pPr marL="0" indent="0">
              <a:lnSpc>
                <a:spcPct val="105000"/>
              </a:lnSpc>
              <a:buNone/>
            </a:pPr>
            <a:endParaRPr lang="en-US" sz="1800" dirty="0">
              <a:solidFill>
                <a:srgbClr val="FFFFFF"/>
              </a:solidFill>
              <a:latin typeface="Arial" pitchFamily="34" charset="0"/>
              <a:ea typeface="Arial" pitchFamily="34" charset="-122"/>
              <a:cs typeface="Arial" pitchFamily="34" charset="-120"/>
            </a:endParaRPr>
          </a:p>
        </p:txBody>
      </p:sp>
      <p:sp>
        <p:nvSpPr>
          <p:cNvPr id="16" name="Text 14"/>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Live demonstration: huggingface.co/spaces/amobionovo/nphcda-zerodose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65760"/>
            <a:ext cx="11155680" cy="274320"/>
          </a:xfrm>
          <a:prstGeom prst="rect">
            <a:avLst/>
          </a:prstGeom>
          <a:noFill/>
        </p:spPr>
        <p:txBody>
          <a:bodyPr wrap="square" lIns="0" tIns="0" rIns="0" bIns="0" anchor="t">
            <a:spAutoFit/>
          </a:bodyPr>
          <a:lstStyle/>
          <a:p>
            <a:pPr algn="l">
              <a:spcBef>
                <a:spcPts val="0"/>
              </a:spcBef>
              <a:spcAft>
                <a:spcPts val="200"/>
              </a:spcAft>
            </a:pPr>
            <a:r>
              <a:rPr sz="1200" b="1">
                <a:solidFill>
                  <a:srgbClr val="C0392B"/>
                </a:solidFill>
                <a:latin typeface="Calibri"/>
              </a:rPr>
              <a:t>WHAT THE WEB PLATFORM ADDS</a:t>
            </a:r>
          </a:p>
        </p:txBody>
      </p:sp>
      <p:sp>
        <p:nvSpPr>
          <p:cNvPr id="3" name="TextBox 2"/>
          <p:cNvSpPr txBox="1"/>
          <p:nvPr/>
        </p:nvSpPr>
        <p:spPr>
          <a:xfrm>
            <a:off x="502920" y="640080"/>
            <a:ext cx="11155680" cy="868680"/>
          </a:xfrm>
          <a:prstGeom prst="rect">
            <a:avLst/>
          </a:prstGeom>
          <a:noFill/>
        </p:spPr>
        <p:txBody>
          <a:bodyPr wrap="square" lIns="0" tIns="0" rIns="0" bIns="0" anchor="t">
            <a:spAutoFit/>
          </a:bodyPr>
          <a:lstStyle/>
          <a:p>
            <a:pPr algn="l">
              <a:spcBef>
                <a:spcPts val="0"/>
              </a:spcBef>
              <a:spcAft>
                <a:spcPts val="200"/>
              </a:spcAft>
            </a:pPr>
            <a:r>
              <a:rPr sz="2300" b="1">
                <a:solidFill>
                  <a:srgbClr val="1F3B57"/>
                </a:solidFill>
                <a:latin typeface="Georgia"/>
              </a:rPr>
              <a:t>From notebooks to a live decision platform the DIH team can operate</a:t>
            </a:r>
          </a:p>
        </p:txBody>
      </p:sp>
      <p:sp>
        <p:nvSpPr>
          <p:cNvPr id="4" name="TextBox 3"/>
          <p:cNvSpPr txBox="1"/>
          <p:nvPr/>
        </p:nvSpPr>
        <p:spPr>
          <a:xfrm>
            <a:off x="502920" y="6455664"/>
            <a:ext cx="10424160" cy="274320"/>
          </a:xfrm>
          <a:prstGeom prst="rect">
            <a:avLst/>
          </a:prstGeom>
          <a:noFill/>
        </p:spPr>
        <p:txBody>
          <a:bodyPr wrap="square" lIns="0" tIns="0" rIns="0" bIns="0" anchor="t">
            <a:spAutoFit/>
          </a:bodyPr>
          <a:lstStyle/>
          <a:p>
            <a:pPr algn="l">
              <a:spcBef>
                <a:spcPts val="0"/>
              </a:spcBef>
              <a:spcAft>
                <a:spcPts val="200"/>
              </a:spcAft>
            </a:pPr>
            <a:r>
              <a:rPr sz="900" b="0">
                <a:solidFill>
                  <a:srgbClr val="6B7A88"/>
                </a:solidFill>
                <a:latin typeface="Calibri"/>
              </a:rPr>
              <a:t>CIDRE and Quantium Insights LLC  ·  In technical support of NPHCDA  ·  Confidential draft for GAVI and UNICEF review</a:t>
            </a:r>
          </a:p>
        </p:txBody>
      </p:sp>
      <p:sp>
        <p:nvSpPr>
          <p:cNvPr id="5" name="TextBox 4"/>
          <p:cNvSpPr txBox="1"/>
          <p:nvPr/>
        </p:nvSpPr>
        <p:spPr>
          <a:xfrm>
            <a:off x="11430000" y="6455664"/>
            <a:ext cx="502920" cy="274320"/>
          </a:xfrm>
          <a:prstGeom prst="rect">
            <a:avLst/>
          </a:prstGeom>
          <a:noFill/>
        </p:spPr>
        <p:txBody>
          <a:bodyPr wrap="square" lIns="0" tIns="0" rIns="0" bIns="0" anchor="t">
            <a:spAutoFit/>
          </a:bodyPr>
          <a:lstStyle/>
          <a:p>
            <a:pPr algn="r">
              <a:spcBef>
                <a:spcPts val="0"/>
              </a:spcBef>
              <a:spcAft>
                <a:spcPts val="200"/>
              </a:spcAft>
            </a:pPr>
            <a:r>
              <a:rPr sz="1000" b="0">
                <a:solidFill>
                  <a:srgbClr val="6B7A88"/>
                </a:solidFill>
                <a:latin typeface="Calibri"/>
              </a:rPr>
              <a:t>8</a:t>
            </a:r>
          </a:p>
        </p:txBody>
      </p:sp>
      <p:pic>
        <p:nvPicPr>
          <p:cNvPr id="6" name="Picture 5" descr="login_framed.png"/>
          <p:cNvPicPr>
            <a:picLocks noChangeAspect="1"/>
          </p:cNvPicPr>
          <p:nvPr/>
        </p:nvPicPr>
        <p:blipFill>
          <a:blip r:embed="rId2"/>
          <a:stretch>
            <a:fillRect/>
          </a:stretch>
        </p:blipFill>
        <p:spPr>
          <a:xfrm>
            <a:off x="274320" y="1874519"/>
            <a:ext cx="6446520" cy="3747287"/>
          </a:xfrm>
          <a:prstGeom prst="rect">
            <a:avLst/>
          </a:prstGeom>
        </p:spPr>
      </p:pic>
      <p:sp>
        <p:nvSpPr>
          <p:cNvPr id="7" name="TextBox 6"/>
          <p:cNvSpPr txBox="1"/>
          <p:nvPr/>
        </p:nvSpPr>
        <p:spPr>
          <a:xfrm>
            <a:off x="713232" y="5742432"/>
            <a:ext cx="5669280" cy="274320"/>
          </a:xfrm>
          <a:prstGeom prst="rect">
            <a:avLst/>
          </a:prstGeom>
          <a:noFill/>
        </p:spPr>
        <p:txBody>
          <a:bodyPr wrap="square" lIns="0" tIns="0" rIns="0" bIns="0" anchor="t">
            <a:spAutoFit/>
          </a:bodyPr>
          <a:lstStyle/>
          <a:p>
            <a:pPr algn="l">
              <a:spcBef>
                <a:spcPts val="0"/>
              </a:spcBef>
              <a:spcAft>
                <a:spcPts val="200"/>
              </a:spcAft>
            </a:pPr>
            <a:r>
              <a:rPr sz="950" b="0">
                <a:solidFill>
                  <a:srgbClr val="6B7A88"/>
                </a:solidFill>
                <a:latin typeface="Calibri"/>
              </a:rPr>
              <a:t>The live platform on Hugging Face; secure login with usage tracking.</a:t>
            </a:r>
          </a:p>
        </p:txBody>
      </p:sp>
      <p:sp>
        <p:nvSpPr>
          <p:cNvPr id="8" name="Oval 7"/>
          <p:cNvSpPr/>
          <p:nvPr/>
        </p:nvSpPr>
        <p:spPr>
          <a:xfrm>
            <a:off x="7040880" y="1865376"/>
            <a:ext cx="310896" cy="310896"/>
          </a:xfrm>
          <a:prstGeom prst="ellipse">
            <a:avLst/>
          </a:prstGeom>
          <a:solidFill>
            <a:srgbClr val="147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79" y="182880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Live, real-time modelling</a:t>
            </a:r>
          </a:p>
        </p:txBody>
      </p:sp>
      <p:sp>
        <p:nvSpPr>
          <p:cNvPr id="10" name="TextBox 9"/>
          <p:cNvSpPr txBox="1"/>
          <p:nvPr/>
        </p:nvSpPr>
        <p:spPr>
          <a:xfrm>
            <a:off x="7498079" y="208483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Runs on uploaded data, deployed on Hugging Face Docker.</a:t>
            </a:r>
          </a:p>
        </p:txBody>
      </p:sp>
      <p:sp>
        <p:nvSpPr>
          <p:cNvPr id="11" name="Oval 10"/>
          <p:cNvSpPr/>
          <p:nvPr/>
        </p:nvSpPr>
        <p:spPr>
          <a:xfrm>
            <a:off x="7040880" y="2578608"/>
            <a:ext cx="310896" cy="310896"/>
          </a:xfrm>
          <a:prstGeom prst="ellipse">
            <a:avLst/>
          </a:prstGeom>
          <a:solidFill>
            <a:srgbClr val="1C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79" y="2542032"/>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Reproduces the report</a:t>
            </a:r>
          </a:p>
        </p:txBody>
      </p:sp>
      <p:sp>
        <p:nvSpPr>
          <p:cNvPr id="13" name="TextBox 12"/>
          <p:cNvSpPr txBox="1"/>
          <p:nvPr/>
        </p:nvSpPr>
        <p:spPr>
          <a:xfrm>
            <a:off x="7498079" y="2798063"/>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National total within 0.01%; back-tested and wave-validated.</a:t>
            </a:r>
          </a:p>
        </p:txBody>
      </p:sp>
      <p:sp>
        <p:nvSpPr>
          <p:cNvPr id="14" name="Oval 13"/>
          <p:cNvSpPr/>
          <p:nvPr/>
        </p:nvSpPr>
        <p:spPr>
          <a:xfrm>
            <a:off x="7040880" y="3291840"/>
            <a:ext cx="310896" cy="310896"/>
          </a:xfrm>
          <a:prstGeom prst="ellipse">
            <a:avLst/>
          </a:prstGeom>
          <a:solidFill>
            <a:srgbClr val="C89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9" y="3255264"/>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Grounded AI layer</a:t>
            </a:r>
          </a:p>
        </p:txBody>
      </p:sp>
      <p:sp>
        <p:nvSpPr>
          <p:cNvPr id="16" name="TextBox 15"/>
          <p:cNvSpPr txBox="1"/>
          <p:nvPr/>
        </p:nvSpPr>
        <p:spPr>
          <a:xfrm>
            <a:off x="7498079" y="3511296"/>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Interpreter on every output, ZARA analyst, page-cited Q&amp;A.</a:t>
            </a:r>
          </a:p>
        </p:txBody>
      </p:sp>
      <p:sp>
        <p:nvSpPr>
          <p:cNvPr id="17" name="Oval 16"/>
          <p:cNvSpPr/>
          <p:nvPr/>
        </p:nvSpPr>
        <p:spPr>
          <a:xfrm>
            <a:off x="7040880" y="4005071"/>
            <a:ext cx="310896" cy="310896"/>
          </a:xfrm>
          <a:prstGeom prst="ellipse">
            <a:avLst/>
          </a:prstGeom>
          <a:solidFill>
            <a:srgbClr val="2E6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79" y="3968496"/>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Two coverage lenses</a:t>
            </a:r>
          </a:p>
        </p:txBody>
      </p:sp>
      <p:sp>
        <p:nvSpPr>
          <p:cNvPr id="19" name="TextBox 18"/>
          <p:cNvSpPr txBox="1"/>
          <p:nvPr/>
        </p:nvSpPr>
        <p:spPr>
          <a:xfrm>
            <a:off x="7498079" y="4224527"/>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Estimated coverage and the 2024 index, triangulated with NDHS.</a:t>
            </a:r>
          </a:p>
        </p:txBody>
      </p:sp>
      <p:sp>
        <p:nvSpPr>
          <p:cNvPr id="20" name="Oval 19"/>
          <p:cNvSpPr/>
          <p:nvPr/>
        </p:nvSpPr>
        <p:spPr>
          <a:xfrm>
            <a:off x="7040880" y="4718304"/>
            <a:ext cx="310896" cy="310896"/>
          </a:xfrm>
          <a:prstGeom prst="ellipse">
            <a:avLst/>
          </a:prstGeom>
          <a:solidFill>
            <a:srgbClr val="1F3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79" y="4681728"/>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Decision-ready outputs</a:t>
            </a:r>
          </a:p>
        </p:txBody>
      </p:sp>
      <p:sp>
        <p:nvSpPr>
          <p:cNvPr id="22" name="TextBox 21"/>
          <p:cNvSpPr txBox="1"/>
          <p:nvPr/>
        </p:nvSpPr>
        <p:spPr>
          <a:xfrm>
            <a:off x="7498079" y="4937760"/>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Scorecards, maps, GAVI factsheet, policy brief, this deck.</a:t>
            </a:r>
          </a:p>
        </p:txBody>
      </p:sp>
      <p:sp>
        <p:nvSpPr>
          <p:cNvPr id="23" name="Oval 22"/>
          <p:cNvSpPr/>
          <p:nvPr/>
        </p:nvSpPr>
        <p:spPr>
          <a:xfrm>
            <a:off x="7040880" y="5431536"/>
            <a:ext cx="310896" cy="31089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498079" y="5394960"/>
            <a:ext cx="4526280" cy="292608"/>
          </a:xfrm>
          <a:prstGeom prst="rect">
            <a:avLst/>
          </a:prstGeom>
          <a:noFill/>
        </p:spPr>
        <p:txBody>
          <a:bodyPr wrap="square" lIns="0" tIns="0" rIns="0" bIns="0" anchor="t">
            <a:spAutoFit/>
          </a:bodyPr>
          <a:lstStyle/>
          <a:p>
            <a:pPr algn="l">
              <a:spcBef>
                <a:spcPts val="0"/>
              </a:spcBef>
              <a:spcAft>
                <a:spcPts val="200"/>
              </a:spcAft>
            </a:pPr>
            <a:r>
              <a:rPr sz="1250" b="1">
                <a:solidFill>
                  <a:srgbClr val="1F3B57"/>
                </a:solidFill>
                <a:latin typeface="Calibri"/>
              </a:rPr>
              <a:t>Governance built in</a:t>
            </a:r>
          </a:p>
        </p:txBody>
      </p:sp>
      <p:sp>
        <p:nvSpPr>
          <p:cNvPr id="25" name="TextBox 24"/>
          <p:cNvSpPr txBox="1"/>
          <p:nvPr/>
        </p:nvSpPr>
        <p:spPr>
          <a:xfrm>
            <a:off x="7498079" y="5650992"/>
            <a:ext cx="4526280" cy="420624"/>
          </a:xfrm>
          <a:prstGeom prst="rect">
            <a:avLst/>
          </a:prstGeom>
          <a:noFill/>
        </p:spPr>
        <p:txBody>
          <a:bodyPr wrap="square" lIns="0" tIns="0" rIns="0" bIns="0" anchor="t">
            <a:spAutoFit/>
          </a:bodyPr>
          <a:lstStyle/>
          <a:p>
            <a:pPr algn="l">
              <a:spcBef>
                <a:spcPts val="0"/>
              </a:spcBef>
              <a:spcAft>
                <a:spcPts val="100"/>
              </a:spcAft>
            </a:pPr>
            <a:r>
              <a:rPr sz="1000" b="0">
                <a:solidFill>
                  <a:srgbClr val="6B7A88"/>
                </a:solidFill>
                <a:latin typeface="Calibri"/>
              </a:rPr>
              <a:t>Secure login and usage tracking; data stays in-session.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292608"/>
            <a:ext cx="11055096" cy="310896"/>
          </a:xfrm>
          <a:prstGeom prst="rect">
            <a:avLst/>
          </a:prstGeom>
          <a:noFill/>
          <a:ln/>
        </p:spPr>
        <p:txBody>
          <a:bodyPr wrap="square" lIns="0" tIns="0" rIns="0" bIns="0" rtlCol="0" anchor="ctr"/>
          <a:lstStyle/>
          <a:p>
            <a:pPr marL="0" indent="0">
              <a:buNone/>
            </a:pPr>
            <a:r>
              <a:rPr lang="en-US" sz="1400" b="1" kern="0" spc="150" dirty="0">
                <a:solidFill>
                  <a:srgbClr val="1C7A3D"/>
                </a:solidFill>
                <a:latin typeface="Calibri" pitchFamily="34" charset="0"/>
                <a:ea typeface="Calibri" pitchFamily="34" charset="-122"/>
                <a:cs typeface="Calibri" pitchFamily="34" charset="-120"/>
              </a:rPr>
              <a:t>THE HUGGING FACE APPLICATION</a:t>
            </a:r>
            <a:endParaRPr lang="en-US" sz="1400" dirty="0"/>
          </a:p>
        </p:txBody>
      </p:sp>
      <p:sp>
        <p:nvSpPr>
          <p:cNvPr id="3" name="Text 1"/>
          <p:cNvSpPr/>
          <p:nvPr/>
        </p:nvSpPr>
        <p:spPr>
          <a:xfrm>
            <a:off x="566928" y="640080"/>
            <a:ext cx="11055096" cy="566928"/>
          </a:xfrm>
          <a:prstGeom prst="rect">
            <a:avLst/>
          </a:prstGeom>
          <a:noFill/>
          <a:ln/>
        </p:spPr>
        <p:txBody>
          <a:bodyPr wrap="square" lIns="0" tIns="0" rIns="0" bIns="0" rtlCol="0" anchor="t"/>
          <a:lstStyle/>
          <a:p>
            <a:pPr marL="0" indent="0">
              <a:buNone/>
            </a:pPr>
            <a:r>
              <a:rPr lang="en-US" sz="2500" b="1" dirty="0">
                <a:solidFill>
                  <a:srgbClr val="1F3B57"/>
                </a:solidFill>
                <a:latin typeface="Calibri" pitchFamily="34" charset="0"/>
                <a:ea typeface="Calibri" pitchFamily="34" charset="-122"/>
                <a:cs typeface="Calibri" pitchFamily="34" charset="-120"/>
              </a:rPr>
              <a:t>How the tool supports programme discussions</a:t>
            </a:r>
            <a:endParaRPr lang="en-US" sz="2500" dirty="0"/>
          </a:p>
        </p:txBody>
      </p:sp>
      <p:sp>
        <p:nvSpPr>
          <p:cNvPr id="4" name="Text 2"/>
          <p:cNvSpPr/>
          <p:nvPr/>
        </p:nvSpPr>
        <p:spPr>
          <a:xfrm>
            <a:off x="566928" y="1280160"/>
            <a:ext cx="11055096" cy="457200"/>
          </a:xfrm>
          <a:prstGeom prst="rect">
            <a:avLst/>
          </a:prstGeom>
          <a:noFill/>
          <a:ln/>
        </p:spPr>
        <p:txBody>
          <a:bodyPr wrap="square" lIns="0" tIns="0" rIns="0" bIns="0" rtlCol="0" anchor="t"/>
          <a:lstStyle/>
          <a:p>
            <a:pPr marL="0" indent="0">
              <a:lnSpc>
                <a:spcPct val="102000"/>
              </a:lnSpc>
              <a:buNone/>
            </a:pPr>
            <a:r>
              <a:rPr lang="en-US" sz="1500" i="1" dirty="0">
                <a:solidFill>
                  <a:srgbClr val="155E2F"/>
                </a:solidFill>
                <a:latin typeface="Calibri" pitchFamily="34" charset="0"/>
                <a:ea typeface="Calibri" pitchFamily="34" charset="-122"/>
                <a:cs typeface="Calibri" pitchFamily="34" charset="-120"/>
              </a:rPr>
              <a:t>It re-runs live, explains itself in plain language, and produces the documents a meeting needs.</a:t>
            </a:r>
            <a:endParaRPr lang="en-US" sz="1500" dirty="0"/>
          </a:p>
        </p:txBody>
      </p:sp>
      <p:sp>
        <p:nvSpPr>
          <p:cNvPr id="5" name="Shape 3"/>
          <p:cNvSpPr/>
          <p:nvPr/>
        </p:nvSpPr>
        <p:spPr>
          <a:xfrm>
            <a:off x="566928" y="1874520"/>
            <a:ext cx="11055096" cy="960120"/>
          </a:xfrm>
          <a:prstGeom prst="roundRect">
            <a:avLst>
              <a:gd name="adj" fmla="val 7619"/>
            </a:avLst>
          </a:prstGeom>
          <a:solidFill>
            <a:srgbClr val="E8F1EA"/>
          </a:solidFill>
          <a:ln/>
        </p:spPr>
        <p:txBody>
          <a:bodyPr/>
          <a:lstStyle/>
          <a:p>
            <a:endParaRPr lang="LID4096"/>
          </a:p>
        </p:txBody>
      </p:sp>
      <p:sp>
        <p:nvSpPr>
          <p:cNvPr id="6" name="Shape 4"/>
          <p:cNvSpPr/>
          <p:nvPr/>
        </p:nvSpPr>
        <p:spPr>
          <a:xfrm>
            <a:off x="786384" y="2098548"/>
            <a:ext cx="512064" cy="512064"/>
          </a:xfrm>
          <a:prstGeom prst="ellipse">
            <a:avLst/>
          </a:prstGeom>
          <a:solidFill>
            <a:srgbClr val="1C7A3D"/>
          </a:solidFill>
          <a:ln/>
        </p:spPr>
        <p:txBody>
          <a:bodyPr/>
          <a:lstStyle/>
          <a:p>
            <a:endParaRPr lang="LID4096"/>
          </a:p>
        </p:txBody>
      </p:sp>
      <p:sp>
        <p:nvSpPr>
          <p:cNvPr id="7" name="Text 5"/>
          <p:cNvSpPr/>
          <p:nvPr/>
        </p:nvSpPr>
        <p:spPr>
          <a:xfrm>
            <a:off x="786384" y="20985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527048" y="194767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Live re-runs on new data.   </a:t>
            </a:r>
            <a:r>
              <a:rPr lang="en-US" sz="1200" dirty="0">
                <a:solidFill>
                  <a:srgbClr val="2B2B2B"/>
                </a:solidFill>
                <a:latin typeface="Calibri" pitchFamily="34" charset="0"/>
                <a:ea typeface="Calibri" pitchFamily="34" charset="-122"/>
                <a:cs typeface="Calibri" pitchFamily="34" charset="-120"/>
              </a:rPr>
              <a:t>Upload refreshed files; the app validates the structure and recomputes only what changed. No code change is needed.</a:t>
            </a:r>
            <a:endParaRPr lang="en-US" sz="1400" dirty="0"/>
          </a:p>
        </p:txBody>
      </p:sp>
      <p:sp>
        <p:nvSpPr>
          <p:cNvPr id="9" name="Shape 7"/>
          <p:cNvSpPr/>
          <p:nvPr/>
        </p:nvSpPr>
        <p:spPr>
          <a:xfrm>
            <a:off x="566928" y="2926080"/>
            <a:ext cx="11055096" cy="960120"/>
          </a:xfrm>
          <a:prstGeom prst="roundRect">
            <a:avLst>
              <a:gd name="adj" fmla="val 7619"/>
            </a:avLst>
          </a:prstGeom>
          <a:solidFill>
            <a:srgbClr val="F2F5F7"/>
          </a:solidFill>
          <a:ln/>
        </p:spPr>
        <p:txBody>
          <a:bodyPr/>
          <a:lstStyle/>
          <a:p>
            <a:endParaRPr lang="LID4096"/>
          </a:p>
        </p:txBody>
      </p:sp>
      <p:sp>
        <p:nvSpPr>
          <p:cNvPr id="10" name="Shape 8"/>
          <p:cNvSpPr/>
          <p:nvPr/>
        </p:nvSpPr>
        <p:spPr>
          <a:xfrm>
            <a:off x="786384" y="3150108"/>
            <a:ext cx="512064" cy="512064"/>
          </a:xfrm>
          <a:prstGeom prst="ellipse">
            <a:avLst/>
          </a:prstGeom>
          <a:solidFill>
            <a:srgbClr val="1F3B57"/>
          </a:solidFill>
          <a:ln/>
        </p:spPr>
        <p:txBody>
          <a:bodyPr/>
          <a:lstStyle/>
          <a:p>
            <a:endParaRPr lang="LID4096"/>
          </a:p>
        </p:txBody>
      </p:sp>
      <p:sp>
        <p:nvSpPr>
          <p:cNvPr id="11" name="Text 9"/>
          <p:cNvSpPr/>
          <p:nvPr/>
        </p:nvSpPr>
        <p:spPr>
          <a:xfrm>
            <a:off x="786384" y="31501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27048" y="299923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ZARA, a grounded analyst.   </a:t>
            </a:r>
            <a:r>
              <a:rPr lang="en-US" sz="1200" dirty="0">
                <a:solidFill>
                  <a:srgbClr val="2B2B2B"/>
                </a:solidFill>
                <a:latin typeface="Calibri" pitchFamily="34" charset="0"/>
                <a:ea typeface="Calibri" pitchFamily="34" charset="-122"/>
                <a:cs typeface="Calibri" pitchFamily="34" charset="-120"/>
              </a:rPr>
              <a:t>Plain-language and multilingual Q&amp;A (English, French, Hausa, Yoruba, Igbo, Pidgin, Swahili and more). It reads the live outputs and is instructed never to invent numbers.</a:t>
            </a:r>
            <a:endParaRPr lang="en-US" sz="1400" dirty="0"/>
          </a:p>
        </p:txBody>
      </p:sp>
      <p:sp>
        <p:nvSpPr>
          <p:cNvPr id="13" name="Shape 11"/>
          <p:cNvSpPr/>
          <p:nvPr/>
        </p:nvSpPr>
        <p:spPr>
          <a:xfrm>
            <a:off x="566928" y="3977640"/>
            <a:ext cx="11055096" cy="960120"/>
          </a:xfrm>
          <a:prstGeom prst="roundRect">
            <a:avLst>
              <a:gd name="adj" fmla="val 7619"/>
            </a:avLst>
          </a:prstGeom>
          <a:solidFill>
            <a:srgbClr val="E8F1EA"/>
          </a:solidFill>
          <a:ln/>
        </p:spPr>
        <p:txBody>
          <a:bodyPr/>
          <a:lstStyle/>
          <a:p>
            <a:endParaRPr lang="LID4096"/>
          </a:p>
        </p:txBody>
      </p:sp>
      <p:sp>
        <p:nvSpPr>
          <p:cNvPr id="14" name="Shape 12"/>
          <p:cNvSpPr/>
          <p:nvPr/>
        </p:nvSpPr>
        <p:spPr>
          <a:xfrm>
            <a:off x="786384" y="4201668"/>
            <a:ext cx="512064" cy="512064"/>
          </a:xfrm>
          <a:prstGeom prst="ellipse">
            <a:avLst/>
          </a:prstGeom>
          <a:solidFill>
            <a:srgbClr val="1C7A3D"/>
          </a:solidFill>
          <a:ln/>
        </p:spPr>
        <p:txBody>
          <a:bodyPr/>
          <a:lstStyle/>
          <a:p>
            <a:endParaRPr lang="LID4096"/>
          </a:p>
        </p:txBody>
      </p:sp>
      <p:sp>
        <p:nvSpPr>
          <p:cNvPr id="15" name="Text 13"/>
          <p:cNvSpPr/>
          <p:nvPr/>
        </p:nvSpPr>
        <p:spPr>
          <a:xfrm>
            <a:off x="786384" y="42016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527048" y="405079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One-click factsheet and policy brief.   </a:t>
            </a:r>
            <a:r>
              <a:rPr lang="en-US" sz="1200" dirty="0">
                <a:solidFill>
                  <a:srgbClr val="2B2B2B"/>
                </a:solidFill>
                <a:latin typeface="Calibri" pitchFamily="34" charset="0"/>
                <a:ea typeface="Calibri" pitchFamily="34" charset="-122"/>
                <a:cs typeface="Calibri" pitchFamily="34" charset="-120"/>
              </a:rPr>
              <a:t>A GAVI-style factsheet and a Word policy brief regenerate from the same live outputs, so the documents never drift apart.</a:t>
            </a:r>
            <a:endParaRPr lang="en-US" sz="1400" dirty="0"/>
          </a:p>
        </p:txBody>
      </p:sp>
      <p:sp>
        <p:nvSpPr>
          <p:cNvPr id="17" name="Shape 15"/>
          <p:cNvSpPr/>
          <p:nvPr/>
        </p:nvSpPr>
        <p:spPr>
          <a:xfrm>
            <a:off x="566928" y="5029200"/>
            <a:ext cx="11055096" cy="960120"/>
          </a:xfrm>
          <a:prstGeom prst="roundRect">
            <a:avLst>
              <a:gd name="adj" fmla="val 7619"/>
            </a:avLst>
          </a:prstGeom>
          <a:solidFill>
            <a:srgbClr val="F2F5F7"/>
          </a:solidFill>
          <a:ln/>
        </p:spPr>
        <p:txBody>
          <a:bodyPr/>
          <a:lstStyle/>
          <a:p>
            <a:endParaRPr lang="LID4096"/>
          </a:p>
        </p:txBody>
      </p:sp>
      <p:sp>
        <p:nvSpPr>
          <p:cNvPr id="18" name="Shape 16"/>
          <p:cNvSpPr/>
          <p:nvPr/>
        </p:nvSpPr>
        <p:spPr>
          <a:xfrm>
            <a:off x="786384" y="5253228"/>
            <a:ext cx="512064" cy="512064"/>
          </a:xfrm>
          <a:prstGeom prst="ellipse">
            <a:avLst/>
          </a:prstGeom>
          <a:solidFill>
            <a:srgbClr val="1F3B57"/>
          </a:solidFill>
          <a:ln/>
        </p:spPr>
        <p:txBody>
          <a:bodyPr/>
          <a:lstStyle/>
          <a:p>
            <a:endParaRPr lang="LID4096"/>
          </a:p>
        </p:txBody>
      </p:sp>
      <p:sp>
        <p:nvSpPr>
          <p:cNvPr id="19" name="Text 17"/>
          <p:cNvSpPr/>
          <p:nvPr/>
        </p:nvSpPr>
        <p:spPr>
          <a:xfrm>
            <a:off x="786384" y="52532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527048" y="5102352"/>
            <a:ext cx="9866376" cy="813816"/>
          </a:xfrm>
          <a:prstGeom prst="rect">
            <a:avLst/>
          </a:prstGeom>
          <a:noFill/>
          <a:ln/>
        </p:spPr>
        <p:txBody>
          <a:bodyPr wrap="square" lIns="0" tIns="0" rIns="0" bIns="0" rtlCol="0" anchor="ctr"/>
          <a:lstStyle/>
          <a:p>
            <a:pPr marL="0" indent="0">
              <a:lnSpc>
                <a:spcPct val="104000"/>
              </a:lnSpc>
              <a:buNone/>
            </a:pPr>
            <a:r>
              <a:rPr lang="en-US" sz="1400" b="1" dirty="0">
                <a:solidFill>
                  <a:srgbClr val="1F3B57"/>
                </a:solidFill>
                <a:latin typeface="Calibri" pitchFamily="34" charset="0"/>
                <a:ea typeface="Calibri" pitchFamily="34" charset="-122"/>
                <a:cs typeface="Calibri" pitchFamily="34" charset="-120"/>
              </a:rPr>
              <a:t>Governance built in.   </a:t>
            </a:r>
            <a:r>
              <a:rPr lang="en-US" sz="1200" dirty="0">
                <a:solidFill>
                  <a:srgbClr val="2B2B2B"/>
                </a:solidFill>
                <a:latin typeface="Calibri" pitchFamily="34" charset="0"/>
                <a:ea typeface="Calibri" pitchFamily="34" charset="-122"/>
                <a:cs typeface="Calibri" pitchFamily="34" charset="-120"/>
              </a:rPr>
              <a:t>Secure login, data stays in-session, and the load-validate-run-review-approve-release sign-off cycle for the DIH.</a:t>
            </a:r>
            <a:endParaRPr lang="en-US" sz="1400" dirty="0"/>
          </a:p>
        </p:txBody>
      </p:sp>
      <p:sp>
        <p:nvSpPr>
          <p:cNvPr id="21" name="Text 19"/>
          <p:cNvSpPr/>
          <p:nvPr/>
        </p:nvSpPr>
        <p:spPr>
          <a:xfrm>
            <a:off x="566928" y="5943600"/>
            <a:ext cx="11055096" cy="384048"/>
          </a:xfrm>
          <a:prstGeom prst="rect">
            <a:avLst/>
          </a:prstGeom>
          <a:noFill/>
          <a:ln/>
        </p:spPr>
        <p:txBody>
          <a:bodyPr wrap="square" lIns="0" tIns="0" rIns="0" bIns="0" rtlCol="0" anchor="t"/>
          <a:lstStyle/>
          <a:p>
            <a:pPr marL="0" indent="0">
              <a:lnSpc>
                <a:spcPct val="100000"/>
              </a:lnSpc>
              <a:buNone/>
            </a:pPr>
            <a:r>
              <a:rPr lang="en-US" sz="1000" i="1" dirty="0">
                <a:solidFill>
                  <a:srgbClr val="5A6470"/>
                </a:solidFill>
                <a:latin typeface="Calibri" pitchFamily="34" charset="0"/>
                <a:ea typeface="Calibri" pitchFamily="34" charset="-122"/>
                <a:cs typeface="Calibri" pitchFamily="34" charset="-120"/>
              </a:rPr>
              <a:t>ZARA is grounded on the live results and uploaded documents (with page citations). One source of truth feeds the report, factsheet, brief and deck.</a:t>
            </a:r>
            <a:endParaRPr lang="en-US" sz="1000" dirty="0"/>
          </a:p>
        </p:txBody>
      </p:sp>
      <p:sp>
        <p:nvSpPr>
          <p:cNvPr id="22" name="Text 20"/>
          <p:cNvSpPr/>
          <p:nvPr/>
        </p:nvSpPr>
        <p:spPr>
          <a:xfrm>
            <a:off x="566928" y="6473952"/>
            <a:ext cx="10597896" cy="274320"/>
          </a:xfrm>
          <a:prstGeom prst="rect">
            <a:avLst/>
          </a:prstGeom>
          <a:noFill/>
          <a:ln/>
        </p:spPr>
        <p:txBody>
          <a:bodyPr wrap="square" lIns="0" tIns="0" rIns="0" bIns="0" rtlCol="0" anchor="ctr"/>
          <a:lstStyle/>
          <a:p>
            <a:pPr marL="0" indent="0" algn="l">
              <a:buNone/>
            </a:pPr>
            <a:r>
              <a:rPr lang="en-US" sz="850" dirty="0">
                <a:solidFill>
                  <a:srgbClr val="5A6470"/>
                </a:solidFill>
                <a:latin typeface="Calibri" pitchFamily="34" charset="0"/>
                <a:ea typeface="Calibri" pitchFamily="34" charset="-122"/>
                <a:cs typeface="Calibri" pitchFamily="34" charset="-120"/>
              </a:rPr>
              <a:t>CIDRE and Quantium Insights LLC   |   In technical support of NPHCDA   |   For GAVI and UNICEF review</a:t>
            </a:r>
            <a:endParaRPr lang="en-US" sz="850" dirty="0"/>
          </a:p>
        </p:txBody>
      </p:sp>
      <p:sp>
        <p:nvSpPr>
          <p:cNvPr id="23" name="Text 21"/>
          <p:cNvSpPr/>
          <p:nvPr/>
        </p:nvSpPr>
        <p:spPr>
          <a:xfrm>
            <a:off x="11164824" y="6473952"/>
            <a:ext cx="457200" cy="274320"/>
          </a:xfrm>
          <a:prstGeom prst="rect">
            <a:avLst/>
          </a:prstGeom>
          <a:noFill/>
          <a:ln/>
        </p:spPr>
        <p:txBody>
          <a:bodyPr wrap="square" lIns="0" tIns="0" rIns="0" bIns="0" rtlCol="0" anchor="ctr"/>
          <a:lstStyle/>
          <a:p>
            <a:pPr marL="0" indent="0" algn="r">
              <a:buNone/>
            </a:pPr>
            <a:r>
              <a:rPr lang="en-US" sz="1000" dirty="0">
                <a:solidFill>
                  <a:srgbClr val="5A647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Recommendations from the modelling team</a:t>
            </a:r>
            <a:endParaRPr lang="en-US" sz="3200" dirty="0"/>
          </a:p>
        </p:txBody>
      </p:sp>
      <p:sp>
        <p:nvSpPr>
          <p:cNvPr id="3" name="Shape 1"/>
          <p:cNvSpPr/>
          <p:nvPr/>
        </p:nvSpPr>
        <p:spPr>
          <a:xfrm>
            <a:off x="548640" y="88696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4" name="Shape 2"/>
          <p:cNvSpPr/>
          <p:nvPr/>
        </p:nvSpPr>
        <p:spPr>
          <a:xfrm>
            <a:off x="768096" y="1241298"/>
            <a:ext cx="457200" cy="457200"/>
          </a:xfrm>
          <a:prstGeom prst="ellipse">
            <a:avLst/>
          </a:prstGeom>
          <a:solidFill>
            <a:srgbClr val="1F3B57"/>
          </a:solidFill>
          <a:ln/>
        </p:spPr>
        <p:txBody>
          <a:bodyPr/>
          <a:lstStyle/>
          <a:p>
            <a:endParaRPr lang="LID4096"/>
          </a:p>
        </p:txBody>
      </p:sp>
      <p:sp>
        <p:nvSpPr>
          <p:cNvPr id="5" name="Text 3"/>
          <p:cNvSpPr/>
          <p:nvPr/>
        </p:nvSpPr>
        <p:spPr>
          <a:xfrm>
            <a:off x="768096" y="124129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6" name="Text 4"/>
          <p:cNvSpPr/>
          <p:nvPr/>
        </p:nvSpPr>
        <p:spPr>
          <a:xfrm>
            <a:off x="1408176" y="101498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Act first where burden and deprivation meet</a:t>
            </a:r>
            <a:endParaRPr lang="en-US" sz="1800" dirty="0"/>
          </a:p>
        </p:txBody>
      </p:sp>
      <p:sp>
        <p:nvSpPr>
          <p:cNvPr id="7" name="Text 5"/>
          <p:cNvSpPr/>
          <p:nvPr/>
        </p:nvSpPr>
        <p:spPr>
          <a:xfrm>
            <a:off x="1408176" y="132588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Begin with Sokoto, Kebbi, Zamfara and the highest-burden LGAs. About 151 LGAs reach half of missed children; the 107 LGAs ranked in the top 155 by both methods come first.</a:t>
            </a:r>
          </a:p>
        </p:txBody>
      </p:sp>
      <p:sp>
        <p:nvSpPr>
          <p:cNvPr id="8" name="Shape 6"/>
          <p:cNvSpPr/>
          <p:nvPr/>
        </p:nvSpPr>
        <p:spPr>
          <a:xfrm>
            <a:off x="548640" y="209854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9" name="Shape 7"/>
          <p:cNvSpPr/>
          <p:nvPr/>
        </p:nvSpPr>
        <p:spPr>
          <a:xfrm>
            <a:off x="768096" y="2452878"/>
            <a:ext cx="457200" cy="457200"/>
          </a:xfrm>
          <a:prstGeom prst="ellipse">
            <a:avLst/>
          </a:prstGeom>
          <a:solidFill>
            <a:srgbClr val="1F3B57"/>
          </a:solidFill>
          <a:ln/>
        </p:spPr>
        <p:txBody>
          <a:bodyPr/>
          <a:lstStyle/>
          <a:p>
            <a:endParaRPr lang="LID4096"/>
          </a:p>
        </p:txBody>
      </p:sp>
      <p:sp>
        <p:nvSpPr>
          <p:cNvPr id="10" name="Text 8"/>
          <p:cNvSpPr/>
          <p:nvPr/>
        </p:nvSpPr>
        <p:spPr>
          <a:xfrm>
            <a:off x="768096" y="245287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08176" y="222656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Match packages to each LGA's measured barriers</a:t>
            </a:r>
            <a:endParaRPr lang="en-US" sz="1800" dirty="0"/>
          </a:p>
        </p:txBody>
      </p:sp>
      <p:sp>
        <p:nvSpPr>
          <p:cNvPr id="12" name="Text 10"/>
          <p:cNvSpPr/>
          <p:nvPr/>
        </p:nvSpPr>
        <p:spPr>
          <a:xfrm>
            <a:off x="1408176" y="253746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Start from the state package and add outreach, security-sensitive access, maternal-care or nutrition integration, demand support or defaulter tracing where an LGA's barriers call for it; validate locally.</a:t>
            </a:r>
          </a:p>
        </p:txBody>
      </p:sp>
      <p:sp>
        <p:nvSpPr>
          <p:cNvPr id="13" name="Shape 11"/>
          <p:cNvSpPr/>
          <p:nvPr/>
        </p:nvSpPr>
        <p:spPr>
          <a:xfrm>
            <a:off x="548640" y="3310128"/>
            <a:ext cx="11091672" cy="1165860"/>
          </a:xfrm>
          <a:prstGeom prst="rect">
            <a:avLst/>
          </a:prstGeom>
          <a:solidFill>
            <a:srgbClr val="EEF2F6"/>
          </a:solidFill>
          <a:ln w="9525">
            <a:solidFill>
              <a:srgbClr val="C9D6E2"/>
            </a:solidFill>
            <a:prstDash val="solid"/>
          </a:ln>
        </p:spPr>
        <p:txBody>
          <a:bodyPr/>
          <a:lstStyle/>
          <a:p>
            <a:endParaRPr lang="LID4096"/>
          </a:p>
        </p:txBody>
      </p:sp>
      <p:sp>
        <p:nvSpPr>
          <p:cNvPr id="14" name="Shape 12"/>
          <p:cNvSpPr/>
          <p:nvPr/>
        </p:nvSpPr>
        <p:spPr>
          <a:xfrm>
            <a:off x="768096" y="3664458"/>
            <a:ext cx="457200" cy="457200"/>
          </a:xfrm>
          <a:prstGeom prst="ellipse">
            <a:avLst/>
          </a:prstGeom>
          <a:solidFill>
            <a:srgbClr val="1F3B57"/>
          </a:solidFill>
          <a:ln/>
        </p:spPr>
        <p:txBody>
          <a:bodyPr/>
          <a:lstStyle/>
          <a:p>
            <a:endParaRPr lang="LID4096"/>
          </a:p>
        </p:txBody>
      </p:sp>
      <p:sp>
        <p:nvSpPr>
          <p:cNvPr id="15" name="Text 13"/>
          <p:cNvSpPr/>
          <p:nvPr/>
        </p:nvSpPr>
        <p:spPr>
          <a:xfrm>
            <a:off x="768096" y="366445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6" name="Text 14"/>
          <p:cNvSpPr/>
          <p:nvPr/>
        </p:nvSpPr>
        <p:spPr>
          <a:xfrm>
            <a:off x="1408176" y="343814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Adopt the platform for routine microplanning</a:t>
            </a:r>
            <a:endParaRPr lang="en-US" sz="1800" dirty="0"/>
          </a:p>
        </p:txBody>
      </p:sp>
      <p:sp>
        <p:nvSpPr>
          <p:cNvPr id="17" name="Text 15"/>
          <p:cNvSpPr/>
          <p:nvPr/>
        </p:nvSpPr>
        <p:spPr>
          <a:xfrm>
            <a:off x="1408176" y="374904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Use monthly DHIS2 data to update the priority list, flag data problems and support Gavi 6.0 targeting.</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18" name="Shape 16"/>
          <p:cNvSpPr/>
          <p:nvPr/>
        </p:nvSpPr>
        <p:spPr>
          <a:xfrm>
            <a:off x="548640" y="4521708"/>
            <a:ext cx="11091672" cy="1165860"/>
          </a:xfrm>
          <a:prstGeom prst="rect">
            <a:avLst/>
          </a:prstGeom>
          <a:solidFill>
            <a:srgbClr val="FFFFFF"/>
          </a:solidFill>
          <a:ln w="9525">
            <a:solidFill>
              <a:srgbClr val="C9D6E2"/>
            </a:solidFill>
            <a:prstDash val="solid"/>
          </a:ln>
        </p:spPr>
        <p:txBody>
          <a:bodyPr/>
          <a:lstStyle/>
          <a:p>
            <a:endParaRPr lang="LID4096"/>
          </a:p>
        </p:txBody>
      </p:sp>
      <p:sp>
        <p:nvSpPr>
          <p:cNvPr id="19" name="Shape 17"/>
          <p:cNvSpPr/>
          <p:nvPr/>
        </p:nvSpPr>
        <p:spPr>
          <a:xfrm>
            <a:off x="768096" y="4876038"/>
            <a:ext cx="457200" cy="457200"/>
          </a:xfrm>
          <a:prstGeom prst="ellipse">
            <a:avLst/>
          </a:prstGeom>
          <a:solidFill>
            <a:srgbClr val="1F3B57"/>
          </a:solidFill>
          <a:ln/>
        </p:spPr>
        <p:txBody>
          <a:bodyPr/>
          <a:lstStyle/>
          <a:p>
            <a:endParaRPr lang="LID4096"/>
          </a:p>
        </p:txBody>
      </p:sp>
      <p:sp>
        <p:nvSpPr>
          <p:cNvPr id="20" name="Text 18"/>
          <p:cNvSpPr/>
          <p:nvPr/>
        </p:nvSpPr>
        <p:spPr>
          <a:xfrm>
            <a:off x="768096" y="487603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1" name="Text 19"/>
          <p:cNvSpPr/>
          <p:nvPr/>
        </p:nvSpPr>
        <p:spPr>
          <a:xfrm>
            <a:off x="1408176" y="4649724"/>
            <a:ext cx="10058400" cy="274320"/>
          </a:xfrm>
          <a:prstGeom prst="rect">
            <a:avLst/>
          </a:prstGeom>
          <a:noFill/>
          <a:ln/>
        </p:spPr>
        <p:txBody>
          <a:bodyPr wrap="square" lIns="0" tIns="0" rIns="0" bIns="0" rtlCol="0" anchor="t"/>
          <a:lstStyle/>
          <a:p>
            <a:pPr marL="0" indent="0">
              <a:buNone/>
            </a:pPr>
            <a:r>
              <a:rPr lang="en-US" sz="1800" b="1" dirty="0">
                <a:solidFill>
                  <a:srgbClr val="1F3B57"/>
                </a:solidFill>
                <a:latin typeface="Arial" pitchFamily="34" charset="0"/>
                <a:ea typeface="Arial" pitchFamily="34" charset="-122"/>
                <a:cs typeface="Arial" pitchFamily="34" charset="-120"/>
              </a:rPr>
              <a:t>The Digital Innovation Hub leads from here</a:t>
            </a:r>
            <a:endParaRPr lang="en-US" sz="1800" dirty="0"/>
          </a:p>
        </p:txBody>
      </p:sp>
      <p:sp>
        <p:nvSpPr>
          <p:cNvPr id="22" name="Text 20"/>
          <p:cNvSpPr/>
          <p:nvPr/>
        </p:nvSpPr>
        <p:spPr>
          <a:xfrm>
            <a:off x="1408176" y="4960620"/>
            <a:ext cx="10058400" cy="580644"/>
          </a:xfrm>
          <a:prstGeom prst="rect">
            <a:avLst/>
          </a:prstGeom>
          <a:noFill/>
          <a:ln/>
        </p:spPr>
        <p:txBody>
          <a:bodyPr wrap="square" lIns="0" tIns="0" rIns="0" bIns="0" rtlCol="0" anchor="t"/>
          <a:lstStyle/>
          <a:p>
            <a:pPr marL="0" indent="0">
              <a:lnSpc>
                <a:spcPct val="100000"/>
              </a:lnSpc>
              <a:buNone/>
            </a:pPr>
            <a:r>
              <a:rPr lang="en-US" sz="1800" dirty="0">
                <a:solidFill>
                  <a:srgbClr val="22333F"/>
                </a:solidFill>
                <a:latin typeface="Arial" pitchFamily="34" charset="0"/>
                <a:ea typeface="Arial" pitchFamily="34" charset="-122"/>
                <a:cs typeface="Arial" pitchFamily="34" charset="-120"/>
              </a:rPr>
              <a:t>The DIH should lead routine use of the platform, with continued collaboration for upgrades and expansion to nutrition and child health.</a:t>
            </a:r>
          </a:p>
          <a:p>
            <a:pPr marL="0" indent="0">
              <a:lnSpc>
                <a:spcPct val="100000"/>
              </a:lnSpc>
              <a:buNone/>
            </a:pPr>
            <a:endParaRPr lang="en-US" sz="1800" dirty="0">
              <a:solidFill>
                <a:srgbClr val="22333F"/>
              </a:solidFill>
              <a:latin typeface="Arial" pitchFamily="34" charset="0"/>
              <a:ea typeface="Arial" pitchFamily="34" charset="-122"/>
              <a:cs typeface="Arial" pitchFamily="34" charset="-120"/>
            </a:endParaRPr>
          </a:p>
        </p:txBody>
      </p:sp>
      <p:sp>
        <p:nvSpPr>
          <p:cNvPr id="23" name="Text 21"/>
          <p:cNvSpPr/>
          <p:nvPr/>
        </p:nvSpPr>
        <p:spPr>
          <a:xfrm>
            <a:off x="548640" y="5751576"/>
            <a:ext cx="11091672" cy="326555"/>
          </a:xfrm>
          <a:prstGeom prst="rect">
            <a:avLst/>
          </a:prstGeom>
          <a:noFill/>
          <a:ln/>
        </p:spPr>
        <p:txBody>
          <a:bodyPr wrap="square" lIns="0" tIns="0" rIns="0" bIns="0" rtlCol="0" anchor="t"/>
          <a:lstStyle/>
          <a:p>
            <a:pPr marL="0" indent="0">
              <a:lnSpc>
                <a:spcPct val="105000"/>
              </a:lnSpc>
              <a:buNone/>
            </a:pPr>
            <a:r>
              <a:rPr lang="en-US" sz="1800" b="1" dirty="0">
                <a:solidFill>
                  <a:srgbClr val="1C7A3D"/>
                </a:solidFill>
                <a:latin typeface="Arial" pitchFamily="34" charset="0"/>
                <a:ea typeface="Arial" pitchFamily="34" charset="-122"/>
                <a:cs typeface="Arial" pitchFamily="34" charset="-120"/>
              </a:rPr>
              <a:t>The results have been checked against the newest national survey and can support Gavi 6.0 targeting.</a:t>
            </a:r>
          </a:p>
          <a:p>
            <a:pPr marL="0" indent="0">
              <a:lnSpc>
                <a:spcPct val="105000"/>
              </a:lnSpc>
              <a:buNone/>
            </a:pPr>
            <a:endParaRPr lang="en-US" sz="1800" b="1" dirty="0">
              <a:solidFill>
                <a:srgbClr val="1C7A3D"/>
              </a:solidFill>
              <a:latin typeface="Arial" pitchFamily="34" charset="0"/>
              <a:ea typeface="Arial" pitchFamily="34" charset="-122"/>
              <a:cs typeface="Arial" pitchFamily="34" charset="-12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(1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ACLED</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Armed Conflict Location and Event Data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ACSM</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Advocacy, Communication and Social Mobilization</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AFP</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Acute flaccid paralysis</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ANC</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Antenatal care</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BCG</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Bacille Calmette-Guerin (tuberculosis vaccine)</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CHI</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Composite Hesitancy Index</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cVDPV</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Circulating vaccine-derived poliovirus</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DHIS2</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District Health Information System, version 2</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DHS</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Demographic and Health Survey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DIH</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Digital Innovation Hub (NPHCDA)</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DTP1 / Penta1</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FDR</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False discovery rate</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GBD</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Global Burden of Disease study (IHME)</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Getis-Ord Gi*</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spatial hotspot statistic</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GRID3</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Geo-Referenced Infrastructure and Demographic Data for Development</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HTR</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Hard-to-reach</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IDSR</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Integrated Disease Surveillance and Response</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IHME</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Institute for Health Metrics and Evaluation</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ITN</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Insecticide-treated net</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LASSO</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Least absolute shrinkage and selection operator</a:t>
            </a:r>
            <a:endParaRPr lang="en-US" sz="1500" dirty="0"/>
          </a:p>
        </p:txBody>
      </p:sp>
      <p:sp>
        <p:nvSpPr>
          <p:cNvPr id="54" name="Text 52"/>
          <p:cNvSpPr/>
          <p:nvPr/>
        </p:nvSpPr>
        <p:spPr>
          <a:xfrm>
            <a:off x="548640" y="6366510"/>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37744"/>
            <a:ext cx="11091672" cy="521208"/>
          </a:xfrm>
          <a:prstGeom prst="rect">
            <a:avLst/>
          </a:prstGeom>
          <a:noFill/>
          <a:ln/>
        </p:spPr>
        <p:txBody>
          <a:bodyPr wrap="square" lIns="0" tIns="0" rIns="0" bIns="0" rtlCol="0" anchor="t"/>
          <a:lstStyle/>
          <a:p>
            <a:pPr marL="0" indent="0">
              <a:buNone/>
            </a:pPr>
            <a:r>
              <a:rPr lang="en-US" sz="3200" b="1" dirty="0">
                <a:solidFill>
                  <a:srgbClr val="1F3B57"/>
                </a:solidFill>
                <a:latin typeface="Arial" pitchFamily="34" charset="0"/>
                <a:ea typeface="Arial" pitchFamily="34" charset="-122"/>
                <a:cs typeface="Arial" pitchFamily="34" charset="-120"/>
              </a:rPr>
              <a:t>Acronyms and abbreviations (2 of 2)</a:t>
            </a:r>
            <a:endParaRPr lang="en-US" sz="3200" dirty="0"/>
          </a:p>
        </p:txBody>
      </p:sp>
      <p:sp>
        <p:nvSpPr>
          <p:cNvPr id="3" name="Text 1"/>
          <p:cNvSpPr/>
          <p:nvPr/>
        </p:nvSpPr>
        <p:spPr>
          <a:xfrm>
            <a:off x="548640" y="795528"/>
            <a:ext cx="11091672" cy="313182"/>
          </a:xfrm>
          <a:prstGeom prst="rect">
            <a:avLst/>
          </a:prstGeom>
          <a:noFill/>
          <a:ln/>
        </p:spPr>
        <p:txBody>
          <a:bodyPr wrap="square" lIns="0" tIns="0" rIns="0" bIns="0" rtlCol="0" anchor="t"/>
          <a:lstStyle/>
          <a:p>
            <a:pPr marL="0" indent="0">
              <a:buNone/>
            </a:pPr>
            <a:r>
              <a:rPr lang="en-US" sz="1800" dirty="0">
                <a:solidFill>
                  <a:srgbClr val="45596B"/>
                </a:solidFill>
                <a:latin typeface="Arial" pitchFamily="34" charset="0"/>
                <a:ea typeface="Arial" pitchFamily="34" charset="-122"/>
                <a:cs typeface="Arial" pitchFamily="34" charset="-120"/>
              </a:rPr>
              <a:t>Every acronym used in this deck, spelled out.</a:t>
            </a:r>
            <a:endParaRPr lang="en-US" sz="1800" dirty="0"/>
          </a:p>
        </p:txBody>
      </p:sp>
      <p:sp>
        <p:nvSpPr>
          <p:cNvPr id="4" name="Shape 2"/>
          <p:cNvSpPr/>
          <p:nvPr/>
        </p:nvSpPr>
        <p:spPr>
          <a:xfrm>
            <a:off x="548640" y="1227582"/>
            <a:ext cx="5349240" cy="457200"/>
          </a:xfrm>
          <a:prstGeom prst="rect">
            <a:avLst/>
          </a:prstGeom>
          <a:solidFill>
            <a:srgbClr val="EEF2F6"/>
          </a:solidFill>
          <a:ln/>
        </p:spPr>
        <p:txBody>
          <a:bodyPr/>
          <a:lstStyle/>
          <a:p>
            <a:endParaRPr lang="LID4096"/>
          </a:p>
        </p:txBody>
      </p:sp>
      <p:sp>
        <p:nvSpPr>
          <p:cNvPr id="5" name="Text 3"/>
          <p:cNvSpPr/>
          <p:nvPr/>
        </p:nvSpPr>
        <p:spPr>
          <a:xfrm>
            <a:off x="676656"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LGA</a:t>
            </a:r>
            <a:endParaRPr lang="en-US" sz="1500" dirty="0"/>
          </a:p>
        </p:txBody>
      </p:sp>
      <p:sp>
        <p:nvSpPr>
          <p:cNvPr id="6" name="Text 4"/>
          <p:cNvSpPr/>
          <p:nvPr/>
        </p:nvSpPr>
        <p:spPr>
          <a:xfrm>
            <a:off x="2313432"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Local government area</a:t>
            </a:r>
            <a:endParaRPr lang="en-US" sz="1500" dirty="0"/>
          </a:p>
        </p:txBody>
      </p:sp>
      <p:sp>
        <p:nvSpPr>
          <p:cNvPr id="7" name="Text 5"/>
          <p:cNvSpPr/>
          <p:nvPr/>
        </p:nvSpPr>
        <p:spPr>
          <a:xfrm>
            <a:off x="676656"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MCV1 / Measles1</a:t>
            </a:r>
            <a:endParaRPr lang="en-US" sz="1500" dirty="0"/>
          </a:p>
        </p:txBody>
      </p:sp>
      <p:sp>
        <p:nvSpPr>
          <p:cNvPr id="8" name="Text 6"/>
          <p:cNvSpPr/>
          <p:nvPr/>
        </p:nvSpPr>
        <p:spPr>
          <a:xfrm>
            <a:off x="2313432"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First dose of measles-containing vaccine</a:t>
            </a:r>
            <a:endParaRPr lang="en-US" sz="1500" dirty="0"/>
          </a:p>
        </p:txBody>
      </p:sp>
      <p:sp>
        <p:nvSpPr>
          <p:cNvPr id="9" name="Shape 7"/>
          <p:cNvSpPr/>
          <p:nvPr/>
        </p:nvSpPr>
        <p:spPr>
          <a:xfrm>
            <a:off x="548640" y="2141982"/>
            <a:ext cx="5349240" cy="457200"/>
          </a:xfrm>
          <a:prstGeom prst="rect">
            <a:avLst/>
          </a:prstGeom>
          <a:solidFill>
            <a:srgbClr val="EEF2F6"/>
          </a:solidFill>
          <a:ln/>
        </p:spPr>
        <p:txBody>
          <a:bodyPr/>
          <a:lstStyle/>
          <a:p>
            <a:endParaRPr lang="LID4096"/>
          </a:p>
        </p:txBody>
      </p:sp>
      <p:sp>
        <p:nvSpPr>
          <p:cNvPr id="10" name="Text 8"/>
          <p:cNvSpPr/>
          <p:nvPr/>
        </p:nvSpPr>
        <p:spPr>
          <a:xfrm>
            <a:off x="676656"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Measles2</a:t>
            </a:r>
            <a:endParaRPr lang="en-US" sz="1500" dirty="0"/>
          </a:p>
        </p:txBody>
      </p:sp>
      <p:sp>
        <p:nvSpPr>
          <p:cNvPr id="11" name="Text 9"/>
          <p:cNvSpPr/>
          <p:nvPr/>
        </p:nvSpPr>
        <p:spPr>
          <a:xfrm>
            <a:off x="2313432"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Second dose of measles-containing vaccine</a:t>
            </a:r>
            <a:endParaRPr lang="en-US" sz="1500" dirty="0"/>
          </a:p>
        </p:txBody>
      </p:sp>
      <p:sp>
        <p:nvSpPr>
          <p:cNvPr id="12" name="Text 10"/>
          <p:cNvSpPr/>
          <p:nvPr/>
        </p:nvSpPr>
        <p:spPr>
          <a:xfrm>
            <a:off x="676656"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MGWR</a:t>
            </a:r>
            <a:endParaRPr lang="en-US" sz="1500" dirty="0"/>
          </a:p>
        </p:txBody>
      </p:sp>
      <p:sp>
        <p:nvSpPr>
          <p:cNvPr id="13" name="Text 11"/>
          <p:cNvSpPr/>
          <p:nvPr/>
        </p:nvSpPr>
        <p:spPr>
          <a:xfrm>
            <a:off x="2313432"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Multiscale geographically weighted regression</a:t>
            </a:r>
            <a:endParaRPr lang="en-US" sz="1500" dirty="0"/>
          </a:p>
        </p:txBody>
      </p:sp>
      <p:sp>
        <p:nvSpPr>
          <p:cNvPr id="14" name="Shape 12"/>
          <p:cNvSpPr/>
          <p:nvPr/>
        </p:nvSpPr>
        <p:spPr>
          <a:xfrm>
            <a:off x="548640" y="3056382"/>
            <a:ext cx="5349240" cy="457200"/>
          </a:xfrm>
          <a:prstGeom prst="rect">
            <a:avLst/>
          </a:prstGeom>
          <a:solidFill>
            <a:srgbClr val="EEF2F6"/>
          </a:solidFill>
          <a:ln/>
        </p:spPr>
        <p:txBody>
          <a:bodyPr/>
          <a:lstStyle/>
          <a:p>
            <a:endParaRPr lang="LID4096"/>
          </a:p>
        </p:txBody>
      </p:sp>
      <p:sp>
        <p:nvSpPr>
          <p:cNvPr id="15" name="Text 13"/>
          <p:cNvSpPr/>
          <p:nvPr/>
        </p:nvSpPr>
        <p:spPr>
          <a:xfrm>
            <a:off x="676656"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NCDC</a:t>
            </a:r>
            <a:endParaRPr lang="en-US" sz="1500" dirty="0"/>
          </a:p>
        </p:txBody>
      </p:sp>
      <p:sp>
        <p:nvSpPr>
          <p:cNvPr id="16" name="Text 14"/>
          <p:cNvSpPr/>
          <p:nvPr/>
        </p:nvSpPr>
        <p:spPr>
          <a:xfrm>
            <a:off x="2313432"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Centre for Disease Control</a:t>
            </a:r>
            <a:endParaRPr lang="en-US" sz="1500" dirty="0"/>
          </a:p>
        </p:txBody>
      </p:sp>
      <p:sp>
        <p:nvSpPr>
          <p:cNvPr id="17" name="Text 15"/>
          <p:cNvSpPr/>
          <p:nvPr/>
        </p:nvSpPr>
        <p:spPr>
          <a:xfrm>
            <a:off x="676656"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NDHS</a:t>
            </a:r>
            <a:endParaRPr lang="en-US" sz="1500" dirty="0"/>
          </a:p>
        </p:txBody>
      </p:sp>
      <p:sp>
        <p:nvSpPr>
          <p:cNvPr id="18" name="Text 16"/>
          <p:cNvSpPr/>
          <p:nvPr/>
        </p:nvSpPr>
        <p:spPr>
          <a:xfrm>
            <a:off x="2313432"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Demographic and Health Survey</a:t>
            </a:r>
            <a:endParaRPr lang="en-US" sz="1500" dirty="0"/>
          </a:p>
        </p:txBody>
      </p:sp>
      <p:sp>
        <p:nvSpPr>
          <p:cNvPr id="19" name="Shape 17"/>
          <p:cNvSpPr/>
          <p:nvPr/>
        </p:nvSpPr>
        <p:spPr>
          <a:xfrm>
            <a:off x="548640" y="3970782"/>
            <a:ext cx="5349240" cy="457200"/>
          </a:xfrm>
          <a:prstGeom prst="rect">
            <a:avLst/>
          </a:prstGeom>
          <a:solidFill>
            <a:srgbClr val="EEF2F6"/>
          </a:solidFill>
          <a:ln/>
        </p:spPr>
        <p:txBody>
          <a:bodyPr/>
          <a:lstStyle/>
          <a:p>
            <a:endParaRPr lang="LID4096"/>
          </a:p>
        </p:txBody>
      </p:sp>
      <p:sp>
        <p:nvSpPr>
          <p:cNvPr id="20" name="Text 18"/>
          <p:cNvSpPr/>
          <p:nvPr/>
        </p:nvSpPr>
        <p:spPr>
          <a:xfrm>
            <a:off x="676656"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NmDHS</a:t>
            </a:r>
            <a:endParaRPr lang="en-US" sz="1500" dirty="0"/>
          </a:p>
        </p:txBody>
      </p:sp>
      <p:sp>
        <p:nvSpPr>
          <p:cNvPr id="21" name="Text 19"/>
          <p:cNvSpPr/>
          <p:nvPr/>
        </p:nvSpPr>
        <p:spPr>
          <a:xfrm>
            <a:off x="2313432"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Nigeria mini Demographic and Health Survey</a:t>
            </a:r>
            <a:endParaRPr lang="en-US" sz="1500" dirty="0"/>
          </a:p>
        </p:txBody>
      </p:sp>
      <p:sp>
        <p:nvSpPr>
          <p:cNvPr id="22" name="Text 20"/>
          <p:cNvSpPr/>
          <p:nvPr/>
        </p:nvSpPr>
        <p:spPr>
          <a:xfrm>
            <a:off x="676656"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NPC</a:t>
            </a:r>
            <a:endParaRPr lang="en-US" sz="1500" dirty="0"/>
          </a:p>
        </p:txBody>
      </p:sp>
      <p:sp>
        <p:nvSpPr>
          <p:cNvPr id="23" name="Text 21"/>
          <p:cNvSpPr/>
          <p:nvPr/>
        </p:nvSpPr>
        <p:spPr>
          <a:xfrm>
            <a:off x="2313432"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Population Commission</a:t>
            </a:r>
            <a:endParaRPr lang="en-US" sz="1500" dirty="0"/>
          </a:p>
        </p:txBody>
      </p:sp>
      <p:sp>
        <p:nvSpPr>
          <p:cNvPr id="24" name="Shape 22"/>
          <p:cNvSpPr/>
          <p:nvPr/>
        </p:nvSpPr>
        <p:spPr>
          <a:xfrm>
            <a:off x="548640" y="4885182"/>
            <a:ext cx="5349240" cy="457200"/>
          </a:xfrm>
          <a:prstGeom prst="rect">
            <a:avLst/>
          </a:prstGeom>
          <a:solidFill>
            <a:srgbClr val="EEF2F6"/>
          </a:solidFill>
          <a:ln/>
        </p:spPr>
        <p:txBody>
          <a:bodyPr/>
          <a:lstStyle/>
          <a:p>
            <a:endParaRPr lang="LID4096"/>
          </a:p>
        </p:txBody>
      </p:sp>
      <p:sp>
        <p:nvSpPr>
          <p:cNvPr id="25" name="Text 23"/>
          <p:cNvSpPr/>
          <p:nvPr/>
        </p:nvSpPr>
        <p:spPr>
          <a:xfrm>
            <a:off x="676656"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NPHCDA</a:t>
            </a:r>
            <a:endParaRPr lang="en-US" sz="1500" dirty="0"/>
          </a:p>
        </p:txBody>
      </p:sp>
      <p:sp>
        <p:nvSpPr>
          <p:cNvPr id="26" name="Text 24"/>
          <p:cNvSpPr/>
          <p:nvPr/>
        </p:nvSpPr>
        <p:spPr>
          <a:xfrm>
            <a:off x="2313432"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National Primary Health Care Development Agency</a:t>
            </a:r>
            <a:endParaRPr lang="en-US" sz="1500" dirty="0"/>
          </a:p>
        </p:txBody>
      </p:sp>
      <p:sp>
        <p:nvSpPr>
          <p:cNvPr id="27" name="Text 25"/>
          <p:cNvSpPr/>
          <p:nvPr/>
        </p:nvSpPr>
        <p:spPr>
          <a:xfrm>
            <a:off x="676656"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OLS</a:t>
            </a:r>
            <a:endParaRPr lang="en-US" sz="1500" dirty="0"/>
          </a:p>
        </p:txBody>
      </p:sp>
      <p:sp>
        <p:nvSpPr>
          <p:cNvPr id="28" name="Text 26"/>
          <p:cNvSpPr/>
          <p:nvPr/>
        </p:nvSpPr>
        <p:spPr>
          <a:xfrm>
            <a:off x="2313432"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Ordinary least squares regression</a:t>
            </a:r>
            <a:endParaRPr lang="en-US" sz="1500" dirty="0"/>
          </a:p>
        </p:txBody>
      </p:sp>
      <p:sp>
        <p:nvSpPr>
          <p:cNvPr id="29" name="Shape 27"/>
          <p:cNvSpPr/>
          <p:nvPr/>
        </p:nvSpPr>
        <p:spPr>
          <a:xfrm>
            <a:off x="6291072" y="1227582"/>
            <a:ext cx="5349240" cy="457200"/>
          </a:xfrm>
          <a:prstGeom prst="rect">
            <a:avLst/>
          </a:prstGeom>
          <a:solidFill>
            <a:srgbClr val="EEF2F6"/>
          </a:solidFill>
          <a:ln/>
        </p:spPr>
        <p:txBody>
          <a:bodyPr/>
          <a:lstStyle/>
          <a:p>
            <a:endParaRPr lang="LID4096"/>
          </a:p>
        </p:txBody>
      </p:sp>
      <p:sp>
        <p:nvSpPr>
          <p:cNvPr id="30" name="Text 28"/>
          <p:cNvSpPr/>
          <p:nvPr/>
        </p:nvSpPr>
        <p:spPr>
          <a:xfrm>
            <a:off x="6419088" y="1227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Penta3</a:t>
            </a:r>
            <a:endParaRPr lang="en-US" sz="1500" dirty="0"/>
          </a:p>
        </p:txBody>
      </p:sp>
      <p:sp>
        <p:nvSpPr>
          <p:cNvPr id="31" name="Text 29"/>
          <p:cNvSpPr/>
          <p:nvPr/>
        </p:nvSpPr>
        <p:spPr>
          <a:xfrm>
            <a:off x="8055864" y="1227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Third dose of the pentavalent vaccine</a:t>
            </a:r>
            <a:endParaRPr lang="en-US" sz="1500" dirty="0"/>
          </a:p>
        </p:txBody>
      </p:sp>
      <p:sp>
        <p:nvSpPr>
          <p:cNvPr id="32" name="Text 30"/>
          <p:cNvSpPr/>
          <p:nvPr/>
        </p:nvSpPr>
        <p:spPr>
          <a:xfrm>
            <a:off x="6419088" y="1684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R-hat</a:t>
            </a:r>
            <a:endParaRPr lang="en-US" sz="1500" dirty="0"/>
          </a:p>
        </p:txBody>
      </p:sp>
      <p:sp>
        <p:nvSpPr>
          <p:cNvPr id="33" name="Text 31"/>
          <p:cNvSpPr/>
          <p:nvPr/>
        </p:nvSpPr>
        <p:spPr>
          <a:xfrm>
            <a:off x="8055864" y="1684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Gelman-Rubin convergence diagnostic</a:t>
            </a:r>
            <a:endParaRPr lang="en-US" sz="1500" dirty="0"/>
          </a:p>
        </p:txBody>
      </p:sp>
      <p:sp>
        <p:nvSpPr>
          <p:cNvPr id="34" name="Shape 32"/>
          <p:cNvSpPr/>
          <p:nvPr/>
        </p:nvSpPr>
        <p:spPr>
          <a:xfrm>
            <a:off x="6291072" y="2141982"/>
            <a:ext cx="5349240" cy="457200"/>
          </a:xfrm>
          <a:prstGeom prst="rect">
            <a:avLst/>
          </a:prstGeom>
          <a:solidFill>
            <a:srgbClr val="EEF2F6"/>
          </a:solidFill>
          <a:ln/>
        </p:spPr>
        <p:txBody>
          <a:bodyPr/>
          <a:lstStyle/>
          <a:p>
            <a:endParaRPr lang="LID4096"/>
          </a:p>
        </p:txBody>
      </p:sp>
      <p:sp>
        <p:nvSpPr>
          <p:cNvPr id="35" name="Text 33"/>
          <p:cNvSpPr/>
          <p:nvPr/>
        </p:nvSpPr>
        <p:spPr>
          <a:xfrm>
            <a:off x="6419088" y="2141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RI</a:t>
            </a:r>
            <a:endParaRPr lang="en-US" sz="1500" dirty="0"/>
          </a:p>
        </p:txBody>
      </p:sp>
      <p:sp>
        <p:nvSpPr>
          <p:cNvPr id="36" name="Text 34"/>
          <p:cNvSpPr/>
          <p:nvPr/>
        </p:nvSpPr>
        <p:spPr>
          <a:xfrm>
            <a:off x="8055864" y="2141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Routine immunization</a:t>
            </a:r>
            <a:endParaRPr lang="en-US" sz="1500" dirty="0"/>
          </a:p>
        </p:txBody>
      </p:sp>
      <p:sp>
        <p:nvSpPr>
          <p:cNvPr id="37" name="Text 35"/>
          <p:cNvSpPr/>
          <p:nvPr/>
        </p:nvSpPr>
        <p:spPr>
          <a:xfrm>
            <a:off x="6419088" y="2599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RMNCH</a:t>
            </a:r>
            <a:endParaRPr lang="en-US" sz="1500" dirty="0"/>
          </a:p>
        </p:txBody>
      </p:sp>
      <p:sp>
        <p:nvSpPr>
          <p:cNvPr id="38" name="Text 36"/>
          <p:cNvSpPr/>
          <p:nvPr/>
        </p:nvSpPr>
        <p:spPr>
          <a:xfrm>
            <a:off x="8055864" y="2599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Reproductive, maternal, newborn and child health</a:t>
            </a:r>
            <a:endParaRPr lang="en-US" sz="1500" dirty="0"/>
          </a:p>
        </p:txBody>
      </p:sp>
      <p:sp>
        <p:nvSpPr>
          <p:cNvPr id="39" name="Shape 37"/>
          <p:cNvSpPr/>
          <p:nvPr/>
        </p:nvSpPr>
        <p:spPr>
          <a:xfrm>
            <a:off x="6291072" y="3056382"/>
            <a:ext cx="5349240" cy="457200"/>
          </a:xfrm>
          <a:prstGeom prst="rect">
            <a:avLst/>
          </a:prstGeom>
          <a:solidFill>
            <a:srgbClr val="EEF2F6"/>
          </a:solidFill>
          <a:ln/>
        </p:spPr>
        <p:txBody>
          <a:bodyPr/>
          <a:lstStyle/>
          <a:p>
            <a:endParaRPr lang="LID4096"/>
          </a:p>
        </p:txBody>
      </p:sp>
      <p:sp>
        <p:nvSpPr>
          <p:cNvPr id="40" name="Text 38"/>
          <p:cNvSpPr/>
          <p:nvPr/>
        </p:nvSpPr>
        <p:spPr>
          <a:xfrm>
            <a:off x="6419088" y="3056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RR</a:t>
            </a:r>
            <a:endParaRPr lang="en-US" sz="1500" dirty="0"/>
          </a:p>
        </p:txBody>
      </p:sp>
      <p:sp>
        <p:nvSpPr>
          <p:cNvPr id="41" name="Text 39"/>
          <p:cNvSpPr/>
          <p:nvPr/>
        </p:nvSpPr>
        <p:spPr>
          <a:xfrm>
            <a:off x="8055864" y="3056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risk</a:t>
            </a:r>
            <a:endParaRPr lang="en-US" sz="1500" dirty="0"/>
          </a:p>
        </p:txBody>
      </p:sp>
      <p:sp>
        <p:nvSpPr>
          <p:cNvPr id="42" name="Text 40"/>
          <p:cNvSpPr/>
          <p:nvPr/>
        </p:nvSpPr>
        <p:spPr>
          <a:xfrm>
            <a:off x="6419088" y="35135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RWI</a:t>
            </a:r>
            <a:endParaRPr lang="en-US" sz="1500" dirty="0"/>
          </a:p>
        </p:txBody>
      </p:sp>
      <p:sp>
        <p:nvSpPr>
          <p:cNvPr id="43" name="Text 41"/>
          <p:cNvSpPr/>
          <p:nvPr/>
        </p:nvSpPr>
        <p:spPr>
          <a:xfrm>
            <a:off x="8055864" y="35135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Relative Wealth Index (Meta)</a:t>
            </a:r>
            <a:endParaRPr lang="en-US" sz="1500" dirty="0"/>
          </a:p>
        </p:txBody>
      </p:sp>
      <p:sp>
        <p:nvSpPr>
          <p:cNvPr id="44" name="Shape 42"/>
          <p:cNvSpPr/>
          <p:nvPr/>
        </p:nvSpPr>
        <p:spPr>
          <a:xfrm>
            <a:off x="6291072" y="3970782"/>
            <a:ext cx="5349240" cy="457200"/>
          </a:xfrm>
          <a:prstGeom prst="rect">
            <a:avLst/>
          </a:prstGeom>
          <a:solidFill>
            <a:srgbClr val="EEF2F6"/>
          </a:solidFill>
          <a:ln/>
        </p:spPr>
        <p:txBody>
          <a:bodyPr/>
          <a:lstStyle/>
          <a:p>
            <a:endParaRPr lang="LID4096"/>
          </a:p>
        </p:txBody>
      </p:sp>
      <p:sp>
        <p:nvSpPr>
          <p:cNvPr id="45" name="Text 43"/>
          <p:cNvSpPr/>
          <p:nvPr/>
        </p:nvSpPr>
        <p:spPr>
          <a:xfrm>
            <a:off x="6419088" y="39707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SIA</a:t>
            </a:r>
            <a:endParaRPr lang="en-US" sz="1500" dirty="0"/>
          </a:p>
        </p:txBody>
      </p:sp>
      <p:sp>
        <p:nvSpPr>
          <p:cNvPr id="46" name="Text 44"/>
          <p:cNvSpPr/>
          <p:nvPr/>
        </p:nvSpPr>
        <p:spPr>
          <a:xfrm>
            <a:off x="8055864" y="39707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Supplementary immunization activity</a:t>
            </a:r>
            <a:endParaRPr lang="en-US" sz="1500" dirty="0"/>
          </a:p>
        </p:txBody>
      </p:sp>
      <p:sp>
        <p:nvSpPr>
          <p:cNvPr id="47" name="Text 45"/>
          <p:cNvSpPr/>
          <p:nvPr/>
        </p:nvSpPr>
        <p:spPr>
          <a:xfrm>
            <a:off x="6419088" y="44279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UNICEF</a:t>
            </a:r>
            <a:endParaRPr lang="en-US" sz="1500" dirty="0"/>
          </a:p>
        </p:txBody>
      </p:sp>
      <p:sp>
        <p:nvSpPr>
          <p:cNvPr id="48" name="Text 46"/>
          <p:cNvSpPr/>
          <p:nvPr/>
        </p:nvSpPr>
        <p:spPr>
          <a:xfrm>
            <a:off x="8055864" y="44279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United Nations Children's Fund</a:t>
            </a:r>
            <a:endParaRPr lang="en-US" sz="1500" dirty="0"/>
          </a:p>
        </p:txBody>
      </p:sp>
      <p:sp>
        <p:nvSpPr>
          <p:cNvPr id="49" name="Shape 47"/>
          <p:cNvSpPr/>
          <p:nvPr/>
        </p:nvSpPr>
        <p:spPr>
          <a:xfrm>
            <a:off x="6291072" y="4885182"/>
            <a:ext cx="5349240" cy="457200"/>
          </a:xfrm>
          <a:prstGeom prst="rect">
            <a:avLst/>
          </a:prstGeom>
          <a:solidFill>
            <a:srgbClr val="EEF2F6"/>
          </a:solidFill>
          <a:ln/>
        </p:spPr>
        <p:txBody>
          <a:bodyPr/>
          <a:lstStyle/>
          <a:p>
            <a:endParaRPr lang="LID4096"/>
          </a:p>
        </p:txBody>
      </p:sp>
      <p:sp>
        <p:nvSpPr>
          <p:cNvPr id="50" name="Text 48"/>
          <p:cNvSpPr/>
          <p:nvPr/>
        </p:nvSpPr>
        <p:spPr>
          <a:xfrm>
            <a:off x="6419088" y="48851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VPD</a:t>
            </a:r>
            <a:endParaRPr lang="en-US" sz="1500" dirty="0"/>
          </a:p>
        </p:txBody>
      </p:sp>
      <p:sp>
        <p:nvSpPr>
          <p:cNvPr id="51" name="Text 49"/>
          <p:cNvSpPr/>
          <p:nvPr/>
        </p:nvSpPr>
        <p:spPr>
          <a:xfrm>
            <a:off x="8055864" y="48851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Vaccine-preventable disease</a:t>
            </a:r>
            <a:endParaRPr lang="en-US" sz="1500" dirty="0"/>
          </a:p>
        </p:txBody>
      </p:sp>
      <p:sp>
        <p:nvSpPr>
          <p:cNvPr id="52" name="Text 50"/>
          <p:cNvSpPr/>
          <p:nvPr/>
        </p:nvSpPr>
        <p:spPr>
          <a:xfrm>
            <a:off x="6419088" y="5342382"/>
            <a:ext cx="1600200" cy="457200"/>
          </a:xfrm>
          <a:prstGeom prst="rect">
            <a:avLst/>
          </a:prstGeom>
          <a:noFill/>
          <a:ln/>
        </p:spPr>
        <p:txBody>
          <a:bodyPr wrap="square" lIns="0" tIns="0" rIns="0" bIns="0" rtlCol="0" anchor="ctr"/>
          <a:lstStyle/>
          <a:p>
            <a:pPr marL="0" indent="0">
              <a:buNone/>
            </a:pPr>
            <a:r>
              <a:rPr lang="en-US" sz="1500" b="1" dirty="0">
                <a:solidFill>
                  <a:srgbClr val="1F3B57"/>
                </a:solidFill>
                <a:latin typeface="Arial" pitchFamily="34" charset="0"/>
                <a:ea typeface="Arial" pitchFamily="34" charset="-122"/>
                <a:cs typeface="Arial" pitchFamily="34" charset="-120"/>
              </a:rPr>
              <a:t>ZARA</a:t>
            </a:r>
            <a:endParaRPr lang="en-US" sz="1500" dirty="0"/>
          </a:p>
        </p:txBody>
      </p:sp>
      <p:sp>
        <p:nvSpPr>
          <p:cNvPr id="53" name="Text 51"/>
          <p:cNvSpPr/>
          <p:nvPr/>
        </p:nvSpPr>
        <p:spPr>
          <a:xfrm>
            <a:off x="8055864" y="5342382"/>
            <a:ext cx="3456432" cy="457200"/>
          </a:xfrm>
          <a:prstGeom prst="rect">
            <a:avLst/>
          </a:prstGeom>
          <a:noFill/>
          <a:ln/>
        </p:spPr>
        <p:txBody>
          <a:bodyPr wrap="square" lIns="0" tIns="0" rIns="0" bIns="0" rtlCol="0" anchor="ctr"/>
          <a:lstStyle/>
          <a:p>
            <a:pPr marL="0" indent="0">
              <a:lnSpc>
                <a:spcPct val="92000"/>
              </a:lnSpc>
              <a:buNone/>
            </a:pPr>
            <a:r>
              <a:rPr lang="en-US" sz="1500" dirty="0">
                <a:solidFill>
                  <a:srgbClr val="22333F"/>
                </a:solidFill>
                <a:latin typeface="Arial" pitchFamily="34" charset="0"/>
                <a:ea typeface="Arial" pitchFamily="34" charset="-122"/>
                <a:cs typeface="Arial" pitchFamily="34" charset="-120"/>
              </a:rPr>
              <a:t>Zero-dose Analytics and Risk Assistant</a:t>
            </a:r>
            <a:endParaRPr lang="en-US" sz="1500" dirty="0"/>
          </a:p>
        </p:txBody>
      </p:sp>
      <p:sp>
        <p:nvSpPr>
          <p:cNvPr id="54" name="Text 52"/>
          <p:cNvSpPr/>
          <p:nvPr/>
        </p:nvSpPr>
        <p:spPr>
          <a:xfrm>
            <a:off x="548640" y="6382512"/>
            <a:ext cx="11091672" cy="253746"/>
          </a:xfrm>
          <a:prstGeom prst="rect">
            <a:avLst/>
          </a:prstGeom>
          <a:noFill/>
          <a:ln/>
        </p:spPr>
        <p:txBody>
          <a:bodyPr wrap="square" lIns="0" tIns="0" rIns="0" bIns="0" rtlCol="0" anchor="t"/>
          <a:lstStyle/>
          <a:p>
            <a:pPr marL="0" indent="0">
              <a:buNone/>
            </a:pPr>
            <a:r>
              <a:rPr lang="en-US" sz="1400" i="1" dirty="0">
                <a:solidFill>
                  <a:srgbClr val="5C6B78"/>
                </a:solidFill>
                <a:latin typeface="Arial" pitchFamily="34" charset="0"/>
                <a:ea typeface="Arial" pitchFamily="34" charset="-122"/>
                <a:cs typeface="Arial" pitchFamily="34" charset="-120"/>
              </a:rPr>
              <a:t>Reference. CIDRE and Quantium Insights LLC, in technical support of NPHCDA.</a:t>
            </a:r>
            <a:endParaRPr lang="en-US" sz="1400" dirty="0"/>
          </a:p>
        </p:txBody>
      </p:sp>
      <p:sp>
        <p:nvSpPr>
          <p:cNvPr id="55" name="Rectangle 54"/>
          <p:cNvSpPr/>
          <p:nvPr/>
        </p:nvSpPr>
        <p:spPr>
          <a:xfrm>
            <a:off x="548640" y="5797296"/>
            <a:ext cx="5349240" cy="45720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291072" y="5797296"/>
            <a:ext cx="5349240" cy="457200"/>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6" y="5797296"/>
            <a:ext cx="1600200" cy="457200"/>
          </a:xfrm>
          <a:prstGeom prst="rect">
            <a:avLst/>
          </a:prstGeom>
          <a:noFill/>
        </p:spPr>
        <p:txBody>
          <a:bodyPr wrap="square" lIns="0" rIns="0" tIns="0" bIns="0" anchor="ctr">
            <a:spAutoFit/>
          </a:bodyPr>
          <a:lstStyle/>
          <a:p>
            <a:pPr algn="l"/>
            <a:r>
              <a:rPr sz="1400" b="1" i="0">
                <a:solidFill>
                  <a:srgbClr val="1F3B57"/>
                </a:solidFill>
                <a:latin typeface="Arial"/>
              </a:rPr>
              <a:t>SAE</a:t>
            </a:r>
          </a:p>
        </p:txBody>
      </p:sp>
      <p:sp>
        <p:nvSpPr>
          <p:cNvPr id="58" name="TextBox 57"/>
          <p:cNvSpPr txBox="1"/>
          <p:nvPr/>
        </p:nvSpPr>
        <p:spPr>
          <a:xfrm>
            <a:off x="2313432" y="5797296"/>
            <a:ext cx="3456432" cy="457200"/>
          </a:xfrm>
          <a:prstGeom prst="rect">
            <a:avLst/>
          </a:prstGeom>
          <a:noFill/>
        </p:spPr>
        <p:txBody>
          <a:bodyPr wrap="square" lIns="0" rIns="0" tIns="0" bIns="0" anchor="ctr">
            <a:spAutoFit/>
          </a:bodyPr>
          <a:lstStyle/>
          <a:p>
            <a:pPr algn="l"/>
            <a:r>
              <a:rPr sz="1400" b="0" i="0">
                <a:solidFill>
                  <a:srgbClr val="22333F"/>
                </a:solidFill>
                <a:latin typeface="Arial"/>
              </a:rPr>
              <a:t>Small-area estimation</a:t>
            </a:r>
          </a:p>
        </p:txBody>
      </p:sp>
      <p:sp>
        <p:nvSpPr>
          <p:cNvPr id="59" name="TextBox 58"/>
          <p:cNvSpPr txBox="1"/>
          <p:nvPr/>
        </p:nvSpPr>
        <p:spPr>
          <a:xfrm>
            <a:off x="6419088" y="5797296"/>
            <a:ext cx="1600200" cy="457200"/>
          </a:xfrm>
          <a:prstGeom prst="rect">
            <a:avLst/>
          </a:prstGeom>
          <a:noFill/>
        </p:spPr>
        <p:txBody>
          <a:bodyPr wrap="square" lIns="0" rIns="0" tIns="0" bIns="0" anchor="ctr">
            <a:spAutoFit/>
          </a:bodyPr>
          <a:lstStyle/>
          <a:p>
            <a:pPr algn="l"/>
            <a:r>
              <a:rPr sz="1400" b="1" i="0">
                <a:solidFill>
                  <a:srgbClr val="1F3B57"/>
                </a:solidFill>
                <a:latin typeface="Arial"/>
              </a:rPr>
              <a:t>BYM2</a:t>
            </a:r>
          </a:p>
        </p:txBody>
      </p:sp>
      <p:sp>
        <p:nvSpPr>
          <p:cNvPr id="60" name="TextBox 59"/>
          <p:cNvSpPr txBox="1"/>
          <p:nvPr/>
        </p:nvSpPr>
        <p:spPr>
          <a:xfrm>
            <a:off x="8055863" y="5797296"/>
            <a:ext cx="3456432" cy="457200"/>
          </a:xfrm>
          <a:prstGeom prst="rect">
            <a:avLst/>
          </a:prstGeom>
          <a:noFill/>
        </p:spPr>
        <p:txBody>
          <a:bodyPr wrap="square" lIns="0" rIns="0" tIns="0" bIns="0" anchor="ctr">
            <a:spAutoFit/>
          </a:bodyPr>
          <a:lstStyle/>
          <a:p>
            <a:pPr algn="l"/>
            <a:r>
              <a:rPr sz="1400" b="0" i="0">
                <a:solidFill>
                  <a:srgbClr val="22333F"/>
                </a:solidFill>
                <a:latin typeface="Arial"/>
              </a:rPr>
              <a:t>Besag-York-Mollie spatial model, version 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37744"/>
            <a:ext cx="11091672" cy="521207"/>
          </a:xfrm>
          <a:prstGeom prst="rect">
            <a:avLst/>
          </a:prstGeom>
          <a:noFill/>
        </p:spPr>
        <p:txBody>
          <a:bodyPr wrap="square" lIns="0" rIns="0" tIns="0" bIns="0" anchor="t">
            <a:spAutoFit/>
          </a:bodyPr>
          <a:lstStyle/>
          <a:p>
            <a:pPr algn="l"/>
            <a:r>
              <a:rPr sz="2800" b="1" i="0">
                <a:solidFill>
                  <a:srgbClr val="1F3B57"/>
                </a:solidFill>
                <a:latin typeface="Arial"/>
              </a:rPr>
              <a:t>Domain 2: where dropout is highest, by state</a:t>
            </a:r>
          </a:p>
        </p:txBody>
      </p:sp>
      <p:sp>
        <p:nvSpPr>
          <p:cNvPr id="3" name="TextBox 2"/>
          <p:cNvSpPr txBox="1"/>
          <p:nvPr/>
        </p:nvSpPr>
        <p:spPr>
          <a:xfrm>
            <a:off x="548640" y="795528"/>
            <a:ext cx="11091672" cy="310896"/>
          </a:xfrm>
          <a:prstGeom prst="rect">
            <a:avLst/>
          </a:prstGeom>
          <a:noFill/>
        </p:spPr>
        <p:txBody>
          <a:bodyPr wrap="square" lIns="0" rIns="0" tIns="0" bIns="0" anchor="t">
            <a:spAutoFit/>
          </a:bodyPr>
          <a:lstStyle/>
          <a:p>
            <a:pPr algn="l"/>
            <a:r>
              <a:rPr sz="1600" b="0" i="0">
                <a:solidFill>
                  <a:srgbClr val="45596B"/>
                </a:solidFill>
                <a:latin typeface="Arial"/>
              </a:rPr>
              <a:t>Observed 2021-2025 and Prophet forecast 2026-2027, the same view as the web application's heatmap.</a:t>
            </a:r>
          </a:p>
        </p:txBody>
      </p:sp>
      <p:pic>
        <p:nvPicPr>
          <p:cNvPr id="4" name="Picture 3" descr="D2_F2_dropout_heatmap.png"/>
          <p:cNvPicPr>
            <a:picLocks noChangeAspect="1"/>
          </p:cNvPicPr>
          <p:nvPr/>
        </p:nvPicPr>
        <p:blipFill>
          <a:blip r:embed="rId2"/>
          <a:stretch>
            <a:fillRect/>
          </a:stretch>
        </p:blipFill>
        <p:spPr>
          <a:xfrm>
            <a:off x="548640" y="1188720"/>
            <a:ext cx="6949440" cy="4746344"/>
          </a:xfrm>
          <a:prstGeom prst="rect">
            <a:avLst/>
          </a:prstGeom>
        </p:spPr>
      </p:pic>
      <p:sp>
        <p:nvSpPr>
          <p:cNvPr id="5" name="Rectangle 4"/>
          <p:cNvSpPr/>
          <p:nvPr/>
        </p:nvSpPr>
        <p:spPr>
          <a:xfrm>
            <a:off x="7772400" y="1234440"/>
            <a:ext cx="3867912" cy="11887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36992" y="1325880"/>
            <a:ext cx="3538728" cy="457200"/>
          </a:xfrm>
          <a:prstGeom prst="rect">
            <a:avLst/>
          </a:prstGeom>
          <a:noFill/>
        </p:spPr>
        <p:txBody>
          <a:bodyPr wrap="square" lIns="0" rIns="0" tIns="0" bIns="0" anchor="t">
            <a:spAutoFit/>
          </a:bodyPr>
          <a:lstStyle/>
          <a:p>
            <a:pPr algn="l"/>
            <a:r>
              <a:rPr sz="2600" b="1" i="0">
                <a:solidFill>
                  <a:srgbClr val="1C7A3D"/>
                </a:solidFill>
                <a:latin typeface="Arial"/>
              </a:rPr>
              <a:t>34%</a:t>
            </a:r>
          </a:p>
        </p:txBody>
      </p:sp>
      <p:sp>
        <p:nvSpPr>
          <p:cNvPr id="7" name="TextBox 6"/>
          <p:cNvSpPr txBox="1"/>
          <p:nvPr/>
        </p:nvSpPr>
        <p:spPr>
          <a:xfrm>
            <a:off x="7936992" y="1755140"/>
            <a:ext cx="3538728" cy="530860"/>
          </a:xfrm>
          <a:prstGeom prst="rect">
            <a:avLst/>
          </a:prstGeom>
          <a:noFill/>
        </p:spPr>
        <p:txBody>
          <a:bodyPr wrap="square" lIns="0" rIns="0" tIns="0" bIns="0" anchor="t">
            <a:spAutoFit/>
          </a:bodyPr>
          <a:lstStyle/>
          <a:p>
            <a:pPr algn="l"/>
            <a:r>
              <a:rPr sz="1200" b="1" i="0">
                <a:solidFill>
                  <a:srgbClr val="1F3B57"/>
                </a:solidFill>
                <a:latin typeface="Arial"/>
              </a:rPr>
              <a:t>Measles1 to Measles2 dropout nationally in 2025 (60% in 2021)</a:t>
            </a:r>
          </a:p>
        </p:txBody>
      </p:sp>
      <p:sp>
        <p:nvSpPr>
          <p:cNvPr id="8" name="Rectangle 7"/>
          <p:cNvSpPr/>
          <p:nvPr/>
        </p:nvSpPr>
        <p:spPr>
          <a:xfrm>
            <a:off x="7772400" y="2514600"/>
            <a:ext cx="3867912" cy="11887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36992" y="2606040"/>
            <a:ext cx="3538728" cy="457200"/>
          </a:xfrm>
          <a:prstGeom prst="rect">
            <a:avLst/>
          </a:prstGeom>
          <a:noFill/>
        </p:spPr>
        <p:txBody>
          <a:bodyPr wrap="square" lIns="0" rIns="0" tIns="0" bIns="0" anchor="t">
            <a:spAutoFit/>
          </a:bodyPr>
          <a:lstStyle/>
          <a:p>
            <a:pPr algn="l"/>
            <a:r>
              <a:rPr sz="2600" b="1" i="0">
                <a:solidFill>
                  <a:srgbClr val="1C7A3D"/>
                </a:solidFill>
                <a:latin typeface="Arial"/>
              </a:rPr>
              <a:t>34 of 37</a:t>
            </a:r>
          </a:p>
        </p:txBody>
      </p:sp>
      <p:sp>
        <p:nvSpPr>
          <p:cNvPr id="10" name="TextBox 9"/>
          <p:cNvSpPr txBox="1"/>
          <p:nvPr/>
        </p:nvSpPr>
        <p:spPr>
          <a:xfrm>
            <a:off x="7936992" y="3035300"/>
            <a:ext cx="3538728" cy="530860"/>
          </a:xfrm>
          <a:prstGeom prst="rect">
            <a:avLst/>
          </a:prstGeom>
          <a:noFill/>
        </p:spPr>
        <p:txBody>
          <a:bodyPr wrap="square" lIns="0" rIns="0" tIns="0" bIns="0" anchor="t">
            <a:spAutoFit/>
          </a:bodyPr>
          <a:lstStyle/>
          <a:p>
            <a:pPr algn="l"/>
            <a:r>
              <a:rPr sz="1200" b="1" i="0">
                <a:solidFill>
                  <a:srgbClr val="1F3B57"/>
                </a:solidFill>
                <a:latin typeface="Arial"/>
              </a:rPr>
              <a:t>states lost more than 10% of children between the two measles doses in 2025</a:t>
            </a:r>
          </a:p>
        </p:txBody>
      </p:sp>
      <p:sp>
        <p:nvSpPr>
          <p:cNvPr id="11" name="Rectangle 10"/>
          <p:cNvSpPr/>
          <p:nvPr/>
        </p:nvSpPr>
        <p:spPr>
          <a:xfrm>
            <a:off x="7772400" y="3794760"/>
            <a:ext cx="3867912" cy="118872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36992" y="3886200"/>
            <a:ext cx="3538728" cy="457200"/>
          </a:xfrm>
          <a:prstGeom prst="rect">
            <a:avLst/>
          </a:prstGeom>
          <a:noFill/>
        </p:spPr>
        <p:txBody>
          <a:bodyPr wrap="square" lIns="0" rIns="0" tIns="0" bIns="0" anchor="t">
            <a:spAutoFit/>
          </a:bodyPr>
          <a:lstStyle/>
          <a:p>
            <a:pPr algn="l"/>
            <a:r>
              <a:rPr sz="2600" b="1" i="0">
                <a:solidFill>
                  <a:srgbClr val="1C7A3D"/>
                </a:solidFill>
                <a:latin typeface="Arial"/>
              </a:rPr>
              <a:t>about 5%</a:t>
            </a:r>
          </a:p>
        </p:txBody>
      </p:sp>
      <p:sp>
        <p:nvSpPr>
          <p:cNvPr id="13" name="TextBox 12"/>
          <p:cNvSpPr txBox="1"/>
          <p:nvPr/>
        </p:nvSpPr>
        <p:spPr>
          <a:xfrm>
            <a:off x="7936992" y="4315460"/>
            <a:ext cx="3538728" cy="530860"/>
          </a:xfrm>
          <a:prstGeom prst="rect">
            <a:avLst/>
          </a:prstGeom>
          <a:noFill/>
        </p:spPr>
        <p:txBody>
          <a:bodyPr wrap="square" lIns="0" rIns="0" tIns="0" bIns="0" anchor="t">
            <a:spAutoFit/>
          </a:bodyPr>
          <a:lstStyle/>
          <a:p>
            <a:pPr algn="l"/>
            <a:r>
              <a:rPr sz="1200" b="1" i="0">
                <a:solidFill>
                  <a:srgbClr val="1F3B57"/>
                </a:solidFill>
                <a:latin typeface="Arial"/>
              </a:rPr>
              <a:t>Penta1 to Penta3 dropout in 2025; low and stable since 2021</a:t>
            </a:r>
          </a:p>
        </p:txBody>
      </p:sp>
      <p:sp>
        <p:nvSpPr>
          <p:cNvPr id="14" name="Rectangle 13"/>
          <p:cNvSpPr/>
          <p:nvPr/>
        </p:nvSpPr>
        <p:spPr>
          <a:xfrm>
            <a:off x="7772400" y="5074920"/>
            <a:ext cx="3867912" cy="1005840"/>
          </a:xfrm>
          <a:prstGeom prst="rect">
            <a:avLst/>
          </a:prstGeom>
          <a:solidFill>
            <a:srgbClr val="E7F1EB"/>
          </a:solidFill>
          <a:ln w="9525">
            <a:solidFill>
              <a:srgbClr val="C9D6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5157216"/>
            <a:ext cx="3593592" cy="841248"/>
          </a:xfrm>
          <a:prstGeom prst="rect">
            <a:avLst/>
          </a:prstGeom>
          <a:noFill/>
        </p:spPr>
        <p:txBody>
          <a:bodyPr wrap="square" lIns="0" rIns="0" tIns="0" bIns="0" anchor="t">
            <a:spAutoFit/>
          </a:bodyPr>
          <a:lstStyle/>
          <a:p>
            <a:pPr algn="l"/>
            <a:r>
              <a:rPr sz="1150" b="1" i="0">
                <a:solidFill>
                  <a:srgbClr val="1F3B57"/>
                </a:solidFill>
                <a:latin typeface="Arial"/>
              </a:rPr>
              <a:t>Act first </a:t>
            </a:r>
            <a:r>
              <a:rPr sz="1150" b="0" i="0">
                <a:solidFill>
                  <a:srgbClr val="22333F"/>
                </a:solidFill>
                <a:latin typeface="Arial"/>
              </a:rPr>
              <a:t>in Anambra, Akwa Ibom, Imo, Abia and Oyo, where 48-60% of children who receive Measles1 miss Measles2.</a:t>
            </a:r>
          </a:p>
        </p:txBody>
      </p:sp>
      <p:sp>
        <p:nvSpPr>
          <p:cNvPr id="16" name="TextBox 15"/>
          <p:cNvSpPr txBox="1"/>
          <p:nvPr/>
        </p:nvSpPr>
        <p:spPr>
          <a:xfrm>
            <a:off x="548640" y="6217920"/>
            <a:ext cx="11091672" cy="411480"/>
          </a:xfrm>
          <a:prstGeom prst="rect">
            <a:avLst/>
          </a:prstGeom>
          <a:noFill/>
        </p:spPr>
        <p:txBody>
          <a:bodyPr wrap="square" lIns="0" rIns="0" tIns="0" bIns="0" anchor="t">
            <a:spAutoFit/>
          </a:bodyPr>
          <a:lstStyle/>
          <a:p>
            <a:pPr algn="l"/>
            <a:r>
              <a:rPr sz="1000" b="0" i="1">
                <a:solidFill>
                  <a:srgbClr val="5C6B78"/>
                </a:solidFill>
                <a:latin typeface="Arial"/>
              </a:rPr>
              <a:t>Model estimate. DHIS2 monthly counts read with thousands separators; grey = no records for the state that year; negative dropout = later dose recorded at or above the earlier dose.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2406</TotalTime>
  <Words>6188</Words>
  <Application>Microsoft Office PowerPoint</Application>
  <PresentationFormat>Widescreen</PresentationFormat>
  <Paragraphs>765</Paragraphs>
  <Slides>33</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
  <cp:lastModifiedBy>Amobi Onovo</cp:lastModifiedBy>
  <cp:revision>20</cp:revision>
  <dcterms:created xsi:type="dcterms:W3CDTF">2026-07-17T06:33:09Z</dcterms:created>
  <dcterms:modified xsi:type="dcterms:W3CDTF">2026-10-06T14:58:17Z</dcterms:modified>
  <cp:category/>
</cp:coreProperties>
</file>